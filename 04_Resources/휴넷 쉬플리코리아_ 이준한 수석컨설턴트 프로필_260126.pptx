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7775575" cy="10907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내부 컨설턴트" id="{9D464685-0885-4E36-9051-3068A59F210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543" userDrawn="1">
          <p15:clr>
            <a:srgbClr val="A4A3A4"/>
          </p15:clr>
        </p15:guide>
        <p15:guide id="2" pos="975" userDrawn="1">
          <p15:clr>
            <a:srgbClr val="A4A3A4"/>
          </p15:clr>
        </p15:guide>
        <p15:guide id="3" pos="340" userDrawn="1">
          <p15:clr>
            <a:srgbClr val="A4A3A4"/>
          </p15:clr>
        </p15:guide>
        <p15:guide id="4" pos="45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napToGrid="0">
      <p:cViewPr>
        <p:scale>
          <a:sx n="125" d="100"/>
          <a:sy n="125" d="100"/>
        </p:scale>
        <p:origin x="3636" y="-2592"/>
      </p:cViewPr>
      <p:guideLst>
        <p:guide orient="horz" pos="6543"/>
        <p:guide pos="975"/>
        <p:guide pos="340"/>
        <p:guide pos="45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C5624-3224-D966-798D-F5CE42532DA1}"/>
              </a:ext>
            </a:extLst>
          </p:cNvPr>
          <p:cNvSpPr txBox="1"/>
          <p:nvPr/>
        </p:nvSpPr>
        <p:spPr>
          <a:xfrm>
            <a:off x="522490" y="607235"/>
            <a:ext cx="1279196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컨설턴트 소개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5E3129-035E-409A-46B1-964DE19329B9}"/>
              </a:ext>
            </a:extLst>
          </p:cNvPr>
          <p:cNvGrpSpPr/>
          <p:nvPr userDrawn="1"/>
        </p:nvGrpSpPr>
        <p:grpSpPr>
          <a:xfrm>
            <a:off x="0" y="1006475"/>
            <a:ext cx="7775576" cy="2093913"/>
            <a:chOff x="0" y="1006475"/>
            <a:chExt cx="7775576" cy="209391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3F811F3-61D0-D949-FE89-1D9CEEDDE26D}"/>
                </a:ext>
              </a:extLst>
            </p:cNvPr>
            <p:cNvSpPr/>
            <p:nvPr/>
          </p:nvSpPr>
          <p:spPr>
            <a:xfrm>
              <a:off x="0" y="1006475"/>
              <a:ext cx="7775576" cy="2093913"/>
            </a:xfrm>
            <a:prstGeom prst="rect">
              <a:avLst/>
            </a:prstGeom>
            <a:solidFill>
              <a:srgbClr val="04B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48E58A1F-B777-0297-434F-40DB82B8597C}"/>
                </a:ext>
              </a:extLst>
            </p:cNvPr>
            <p:cNvSpPr/>
            <p:nvPr/>
          </p:nvSpPr>
          <p:spPr>
            <a:xfrm rot="16200000">
              <a:off x="5831575" y="1006475"/>
              <a:ext cx="1944000" cy="1944000"/>
            </a:xfrm>
            <a:prstGeom prst="rtTriangle">
              <a:avLst/>
            </a:prstGeom>
            <a:gradFill flip="none" rotWithShape="1">
              <a:gsLst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래픽 7">
            <a:extLst>
              <a:ext uri="{FF2B5EF4-FFF2-40B4-BE49-F238E27FC236}">
                <a16:creationId xmlns:a16="http://schemas.microsoft.com/office/drawing/2014/main" id="{D1EBB021-7700-C55A-7C11-B2196CEA5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7577" y="521577"/>
            <a:ext cx="1135273" cy="36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3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35" userDrawn="1">
          <p15:clr>
            <a:srgbClr val="FBAE40"/>
          </p15:clr>
        </p15:guide>
        <p15:guide id="2" pos="24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71" y="580737"/>
            <a:ext cx="6706433" cy="210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71" y="2903673"/>
            <a:ext cx="6706433" cy="692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571" y="10109836"/>
            <a:ext cx="1749504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9DC9-131C-48BB-8905-0DFF570F0DAF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5659" y="10109836"/>
            <a:ext cx="2624257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91500" y="10109836"/>
            <a:ext cx="1749504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3BAC9-8E0F-422D-958A-AE76E6450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4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777514" rtl="0" eaLnBrk="1" latinLnBrk="1" hangingPunct="1">
        <a:lnSpc>
          <a:spcPct val="90000"/>
        </a:lnSpc>
        <a:spcBef>
          <a:spcPct val="0"/>
        </a:spcBef>
        <a:buNone/>
        <a:defRPr sz="37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79" indent="-194379" algn="l" defTabSz="777514" rtl="0" eaLnBrk="1" latinLnBrk="1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583136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971893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360650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749407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31FDB4CA-4F23-EF18-8548-C79E4815A713}"/>
              </a:ext>
            </a:extLst>
          </p:cNvPr>
          <p:cNvGrpSpPr/>
          <p:nvPr/>
        </p:nvGrpSpPr>
        <p:grpSpPr>
          <a:xfrm>
            <a:off x="510108" y="9387756"/>
            <a:ext cx="7379219" cy="914739"/>
            <a:chOff x="510108" y="9301073"/>
            <a:chExt cx="7379219" cy="91473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920D251-D625-4AC5-B0F0-DA4E0ABC254E}"/>
                </a:ext>
              </a:extLst>
            </p:cNvPr>
            <p:cNvSpPr txBox="1"/>
            <p:nvPr/>
          </p:nvSpPr>
          <p:spPr>
            <a:xfrm>
              <a:off x="510108" y="9301073"/>
              <a:ext cx="31418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04B0C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약력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4C7C05-3033-4251-913E-2174FCE1BE2A}"/>
                </a:ext>
              </a:extLst>
            </p:cNvPr>
            <p:cNvSpPr txBox="1"/>
            <p:nvPr/>
          </p:nvSpPr>
          <p:spPr>
            <a:xfrm>
              <a:off x="510108" y="9610518"/>
              <a:ext cx="7379219" cy="6052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33350" marR="0" lvl="0" indent="-133350" fontAlgn="auto"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0" sz="1200" b="0" i="0" u="none" strike="noStrike" cap="none" spc="0" normalizeH="0" baseline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r>
                <a:rPr lang="ko-KR" altLang="en-US" dirty="0"/>
                <a:t>한국항공대학교 항공운항학과 졸업</a:t>
              </a:r>
            </a:p>
            <a:p>
              <a:r>
                <a:rPr lang="ko-KR" altLang="en-US" dirty="0"/>
                <a:t>공군 대위 예편</a:t>
              </a:r>
              <a:r>
                <a:rPr lang="en-US" altLang="ko-KR" dirty="0"/>
                <a:t>(1996</a:t>
              </a:r>
              <a:r>
                <a:rPr lang="ko-KR" altLang="en-US" dirty="0"/>
                <a:t>년</a:t>
              </a:r>
              <a:r>
                <a:rPr lang="en-US" altLang="ko-KR" dirty="0"/>
                <a:t>)</a:t>
              </a:r>
            </a:p>
            <a:p>
              <a:r>
                <a:rPr lang="ko-KR" altLang="en-US" dirty="0"/>
                <a:t>前 </a:t>
              </a:r>
              <a:r>
                <a:rPr lang="en-US" altLang="ko-KR" dirty="0"/>
                <a:t>LG CNS </a:t>
              </a:r>
              <a:r>
                <a:rPr lang="ko-KR" altLang="en-US" dirty="0"/>
                <a:t>책임</a:t>
              </a:r>
              <a:r>
                <a:rPr lang="en-US" altLang="ko-KR" dirty="0"/>
                <a:t>(20</a:t>
              </a:r>
              <a:r>
                <a:rPr lang="ko-KR" altLang="en-US" dirty="0"/>
                <a:t>년 근속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B2F7BB1-D773-8408-FDA3-8962111EAA8E}"/>
              </a:ext>
            </a:extLst>
          </p:cNvPr>
          <p:cNvSpPr txBox="1"/>
          <p:nvPr/>
        </p:nvSpPr>
        <p:spPr>
          <a:xfrm>
            <a:off x="510108" y="3463643"/>
            <a:ext cx="1670329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주요 제안 및 이행 경력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47E1F-4827-8C99-F5C8-A5E4F203F37B}"/>
              </a:ext>
            </a:extLst>
          </p:cNvPr>
          <p:cNvSpPr txBox="1"/>
          <p:nvPr/>
        </p:nvSpPr>
        <p:spPr>
          <a:xfrm>
            <a:off x="510108" y="3789473"/>
            <a:ext cx="583493" cy="394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133350" indent="-133350">
              <a:spcAft>
                <a:spcPts val="200"/>
              </a:spcAft>
              <a:buFont typeface="Arial" panose="020B0604020202020204" pitchFamily="34" charset="0"/>
              <a:buChar char="•"/>
              <a:defRPr sz="1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marL="0" indent="0">
              <a:buNone/>
              <a:defRPr/>
            </a:pPr>
            <a:r>
              <a: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주요 제안</a:t>
            </a:r>
            <a:endParaRPr lang="en-US" altLang="ko-KR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  <a:defRPr/>
            </a:pPr>
            <a:r>
              <a: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</a:t>
            </a:r>
            <a:endParaRPr lang="en-US" altLang="ko-KR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34C0FE9-6352-2B50-495F-45FB503627C8}"/>
              </a:ext>
            </a:extLst>
          </p:cNvPr>
          <p:cNvGrpSpPr/>
          <p:nvPr/>
        </p:nvGrpSpPr>
        <p:grpSpPr>
          <a:xfrm>
            <a:off x="1185456" y="3789473"/>
            <a:ext cx="5243919" cy="5502739"/>
            <a:chOff x="1001316" y="3789473"/>
            <a:chExt cx="5192217" cy="518942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8BEDD1A-2545-EBE5-7509-0092C3959BF9}"/>
                </a:ext>
              </a:extLst>
            </p:cNvPr>
            <p:cNvSpPr txBox="1"/>
            <p:nvPr/>
          </p:nvSpPr>
          <p:spPr>
            <a:xfrm>
              <a:off x="1263010" y="3789473"/>
              <a:ext cx="4930523" cy="36281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33350" indent="-133350">
                <a:spcAft>
                  <a:spcPts val="200"/>
                </a:spcAft>
                <a:buFont typeface="Arial" panose="020B0604020202020204" pitchFamily="34" charset="0"/>
                <a:buChar char="•"/>
                <a:defRPr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공공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플랫폼 구축 분야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디지털 교과서 통합플랫폼 구축 사업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데이터 중심의 경기교육 디지털플랫폼 구축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디지털 교과서 통합플랫폼 구축 사업</a:t>
              </a:r>
              <a:b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</a:b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국방 분야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MCRC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제안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MIMS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성능개량사업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KFX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구성품 개발사업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(IMC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분야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)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KJTDLS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전술자료처리기 소프트웨어 개발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방위사업청 응용체계 유지보수 용역사업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공공 분야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우즈베키스탄 전자도서관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부산시민플랫폼 구축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(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민간투자형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SW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사업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RFP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작성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)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가스공사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ERP</a:t>
              </a: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ko-KR" altLang="en-US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ko-KR" altLang="en-US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</p:txBody>
        </p: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03161305-86A5-D208-F410-403609CCB65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075" y="3836928"/>
              <a:ext cx="0" cy="5141972"/>
            </a:xfrm>
            <a:prstGeom prst="line">
              <a:avLst/>
            </a:prstGeom>
            <a:ln>
              <a:solidFill>
                <a:srgbClr val="04B0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47B02006-4421-B2F6-FB12-FA651ECEDAB8}"/>
                </a:ext>
              </a:extLst>
            </p:cNvPr>
            <p:cNvSpPr/>
            <p:nvPr/>
          </p:nvSpPr>
          <p:spPr>
            <a:xfrm>
              <a:off x="1001316" y="3836928"/>
              <a:ext cx="89756" cy="8975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rgbClr val="04B0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072512CC-9E0D-4044-A818-6A9A85ED142F}"/>
              </a:ext>
            </a:extLst>
          </p:cNvPr>
          <p:cNvGrpSpPr/>
          <p:nvPr/>
        </p:nvGrpSpPr>
        <p:grpSpPr>
          <a:xfrm>
            <a:off x="510108" y="6978758"/>
            <a:ext cx="6665603" cy="2313454"/>
            <a:chOff x="510108" y="6353016"/>
            <a:chExt cx="6665603" cy="231345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DA87574-0E17-4DD6-058C-C5AB866C3DE1}"/>
                </a:ext>
              </a:extLst>
            </p:cNvPr>
            <p:cNvSpPr txBox="1"/>
            <p:nvPr/>
          </p:nvSpPr>
          <p:spPr>
            <a:xfrm>
              <a:off x="510108" y="6372066"/>
              <a:ext cx="628377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133350" indent="-133350">
                <a:spcAft>
                  <a:spcPts val="200"/>
                </a:spcAft>
                <a:buFont typeface="Arial" panose="020B0604020202020204" pitchFamily="34" charset="0"/>
                <a:buChar char="•"/>
                <a:defRPr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pPr marL="0" marR="0" lvl="0" indent="0" fontAlgn="auto">
                <a:lnSpc>
                  <a:spcPct val="100000"/>
                </a:lnSpc>
                <a:spcBef>
                  <a:spcPts val="0"/>
                </a:spcBef>
                <a:buClrTx/>
                <a:buSzTx/>
                <a:buNone/>
                <a:tabLst/>
                <a:defRPr/>
              </a:pPr>
              <a:r>
                <a:rPr lang="ko-KR" altLang="en-US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주요 이행 </a:t>
              </a:r>
              <a:br>
                <a:rPr lang="en-US" altLang="ko-KR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프로젝트</a:t>
              </a:r>
              <a:endParaRPr lang="en-US" altLang="ko-KR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0B23810A-C120-B9D7-FF09-EABDAE56485F}"/>
                </a:ext>
              </a:extLst>
            </p:cNvPr>
            <p:cNvGrpSpPr/>
            <p:nvPr/>
          </p:nvGrpSpPr>
          <p:grpSpPr>
            <a:xfrm>
              <a:off x="1194981" y="6353016"/>
              <a:ext cx="5980730" cy="2313454"/>
              <a:chOff x="1001316" y="3694223"/>
              <a:chExt cx="5980730" cy="231345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66E74D2-E1D7-C6EC-90F0-68ACCB524032}"/>
                  </a:ext>
                </a:extLst>
              </p:cNvPr>
              <p:cNvSpPr txBox="1"/>
              <p:nvPr/>
            </p:nvSpPr>
            <p:spPr>
              <a:xfrm>
                <a:off x="1263010" y="3694223"/>
                <a:ext cx="5719036" cy="23134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indent="0">
                  <a:spcAft>
                    <a:spcPts val="200"/>
                  </a:spcAft>
                  <a:buFont typeface="Arial" panose="020B0604020202020204" pitchFamily="34" charset="0"/>
                  <a:buNone/>
                  <a:defRPr sz="120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defRPr>
                </a:lvl1pPr>
              </a:lstStyle>
              <a:p>
                <a:pPr marL="133350" indent="-133350">
                  <a:buFont typeface="Wingdings" panose="05000000000000000000" pitchFamily="2" charset="2"/>
                  <a:buChar char="Ø"/>
                </a:pPr>
                <a:r>
                  <a:rPr lang="ko-KR" altLang="en-US" sz="1100" dirty="0"/>
                  <a:t>국방분야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공군 </a:t>
                </a:r>
                <a:r>
                  <a:rPr lang="en-US" altLang="ko-KR" sz="1100" dirty="0"/>
                  <a:t>C4I </a:t>
                </a:r>
                <a:r>
                  <a:rPr lang="ko-KR" altLang="en-US" sz="1100" dirty="0"/>
                  <a:t>체계 개발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합참 전장관리 </a:t>
                </a:r>
                <a:r>
                  <a:rPr lang="en-US" altLang="ko-KR" sz="1100" dirty="0"/>
                  <a:t>EA 2 </a:t>
                </a:r>
                <a:r>
                  <a:rPr lang="ko-KR" altLang="en-US" sz="1100" dirty="0"/>
                  <a:t>단계사업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과학화전투훈련단 중앙통제장비체계 개발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전구합동운용체계 본 사업 </a:t>
                </a:r>
                <a:r>
                  <a:rPr lang="en-US" altLang="ko-KR" sz="1100" dirty="0"/>
                  <a:t>(JFOS-K)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 </a:t>
                </a:r>
                <a:r>
                  <a:rPr lang="ko-KR" altLang="en-US" sz="1100" dirty="0"/>
                  <a:t>해군 </a:t>
                </a:r>
                <a:r>
                  <a:rPr lang="en-US" altLang="ko-KR" sz="1100" dirty="0"/>
                  <a:t>C4I </a:t>
                </a:r>
                <a:r>
                  <a:rPr lang="ko-KR" altLang="en-US" sz="1100" dirty="0"/>
                  <a:t>체계 장비 납품사업</a:t>
                </a:r>
              </a:p>
              <a:p>
                <a:endParaRPr lang="ko-KR" altLang="en-US" sz="1100" dirty="0"/>
              </a:p>
              <a:p>
                <a:pPr marL="133350" indent="-133350">
                  <a:buFont typeface="Wingdings" panose="05000000000000000000" pitchFamily="2" charset="2"/>
                  <a:buChar char="Ø"/>
                </a:pPr>
                <a:r>
                  <a:rPr lang="ko-KR" altLang="en-US" sz="1100" dirty="0"/>
                  <a:t>공공분야 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스마트 </a:t>
                </a:r>
                <a:r>
                  <a:rPr lang="ko-KR" altLang="en-US" sz="1100" dirty="0" err="1"/>
                  <a:t>톨링</a:t>
                </a:r>
                <a:r>
                  <a:rPr lang="ko-KR" altLang="en-US" sz="1100" dirty="0"/>
                  <a:t> 정보시스템 구축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 </a:t>
                </a:r>
                <a:r>
                  <a:rPr lang="ko-KR" altLang="en-US" sz="1100" dirty="0"/>
                  <a:t>온국민 평생배움터 플랫폼 구축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차세대 형사사법정보시스템 구축 사업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문화원 </a:t>
                </a:r>
                <a:r>
                  <a:rPr lang="en-US" altLang="ko-KR" sz="1100" dirty="0"/>
                  <a:t>AI </a:t>
                </a:r>
                <a:r>
                  <a:rPr lang="ko-KR" altLang="en-US" sz="1100" dirty="0"/>
                  <a:t>기반 채용시스템 구축 사업</a:t>
                </a:r>
                <a:endParaRPr lang="en-US" altLang="ko-KR" sz="11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2388124-0C28-0539-6BA1-BE0507A1AB37}"/>
                  </a:ext>
                </a:extLst>
              </p:cNvPr>
              <p:cNvSpPr/>
              <p:nvPr/>
            </p:nvSpPr>
            <p:spPr>
              <a:xfrm>
                <a:off x="1001316" y="3722628"/>
                <a:ext cx="89756" cy="8975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4B0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 err="1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pic>
        <p:nvPicPr>
          <p:cNvPr id="4" name="그림 3" descr="사람, 의류, 인간의 얼굴, 미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FBA341-C0F7-CE8D-EC9B-AEB4716B6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384" y="1179706"/>
            <a:ext cx="1248550" cy="163969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488A1C7-E36B-F300-DC1E-F5CB7F033A15}"/>
              </a:ext>
            </a:extLst>
          </p:cNvPr>
          <p:cNvGrpSpPr/>
          <p:nvPr/>
        </p:nvGrpSpPr>
        <p:grpSpPr>
          <a:xfrm>
            <a:off x="510108" y="1772189"/>
            <a:ext cx="4665240" cy="1302875"/>
            <a:chOff x="510108" y="1939293"/>
            <a:chExt cx="4665240" cy="129722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242E237-A544-71BA-9A68-DA527E9F8BB0}"/>
                </a:ext>
              </a:extLst>
            </p:cNvPr>
            <p:cNvGrpSpPr/>
            <p:nvPr/>
          </p:nvGrpSpPr>
          <p:grpSpPr>
            <a:xfrm>
              <a:off x="510108" y="1939293"/>
              <a:ext cx="4665240" cy="344045"/>
              <a:chOff x="674170" y="2167102"/>
              <a:chExt cx="4665240" cy="34404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ABEBCC-3F5C-1299-DF8E-2C0CADD51560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4430700" cy="344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제안전략 컨설팅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공공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AI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전장관리체계 분야 전문가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 PM, PL</a:t>
                </a: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4E3238E4-7B31-1859-44B2-7A73DCF7C1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42179"/>
                <a:ext cx="139961" cy="139961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006B06E-BE6B-5D20-6650-B1FFA57EAC13}"/>
                </a:ext>
              </a:extLst>
            </p:cNvPr>
            <p:cNvGrpSpPr/>
            <p:nvPr/>
          </p:nvGrpSpPr>
          <p:grpSpPr>
            <a:xfrm>
              <a:off x="510108" y="2216695"/>
              <a:ext cx="2760873" cy="344044"/>
              <a:chOff x="674170" y="2167102"/>
              <a:chExt cx="2760873" cy="34404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A2A227-BC73-5237-2B19-01E5A3E5E615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2526333" cy="344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lnSpc>
                    <a:spcPct val="200000"/>
                  </a:lnSpc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국방 및 대형 공공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SI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사업 제안 및 이행</a:t>
                </a:r>
              </a:p>
            </p:txBody>
          </p:sp>
          <p:pic>
            <p:nvPicPr>
              <p:cNvPr id="12" name="그래픽 11">
                <a:extLst>
                  <a:ext uri="{FF2B5EF4-FFF2-40B4-BE49-F238E27FC236}">
                    <a16:creationId xmlns:a16="http://schemas.microsoft.com/office/drawing/2014/main" id="{8F116588-1CBF-5137-FE3D-9140C6C08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32696"/>
                <a:ext cx="139961" cy="139961"/>
              </a:xfrm>
              <a:prstGeom prst="rect">
                <a:avLst/>
              </a:prstGeom>
            </p:spPr>
          </p:pic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58F7047-6B8F-97F4-4155-E53BFE8DB0A2}"/>
                </a:ext>
              </a:extLst>
            </p:cNvPr>
            <p:cNvGrpSpPr/>
            <p:nvPr/>
          </p:nvGrpSpPr>
          <p:grpSpPr>
            <a:xfrm>
              <a:off x="510108" y="2494097"/>
              <a:ext cx="2853847" cy="742418"/>
              <a:chOff x="674170" y="2167102"/>
              <a:chExt cx="2853847" cy="742418"/>
            </a:xfrm>
          </p:grpSpPr>
          <p:pic>
            <p:nvPicPr>
              <p:cNvPr id="9" name="그래픽 8">
                <a:extLst>
                  <a:ext uri="{FF2B5EF4-FFF2-40B4-BE49-F238E27FC236}">
                    <a16:creationId xmlns:a16="http://schemas.microsoft.com/office/drawing/2014/main" id="{C24FBA32-47E3-D4E9-AC38-0713CB9C1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32695"/>
                <a:ext cx="139961" cy="139961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61CD8D-CA08-BB60-FC1F-87B741FBCA8F}"/>
                  </a:ext>
                </a:extLst>
              </p:cNvPr>
              <p:cNvSpPr txBox="1"/>
              <p:nvPr/>
            </p:nvSpPr>
            <p:spPr>
              <a:xfrm>
                <a:off x="908710" y="2444504"/>
                <a:ext cx="65" cy="344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endParaRPr lang="ko-KR" altLang="en-US" sz="13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4D7B1C-2D96-D529-5381-36E2260E37C6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2619307" cy="742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플랫폼 구축 사업 제안 및 이행 경험 다수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ko-KR" altLang="en-US" sz="1300" b="1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98B768-99BF-E150-D95F-8C57A30E6951}"/>
              </a:ext>
            </a:extLst>
          </p:cNvPr>
          <p:cNvGrpSpPr/>
          <p:nvPr/>
        </p:nvGrpSpPr>
        <p:grpSpPr>
          <a:xfrm>
            <a:off x="510108" y="1179705"/>
            <a:ext cx="2261879" cy="369332"/>
            <a:chOff x="667270" y="1324043"/>
            <a:chExt cx="2261879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C975D8-1E16-E693-A732-EDCDDB57AEBC}"/>
                </a:ext>
              </a:extLst>
            </p:cNvPr>
            <p:cNvSpPr txBox="1"/>
            <p:nvPr/>
          </p:nvSpPr>
          <p:spPr>
            <a:xfrm>
              <a:off x="667270" y="1324043"/>
              <a:ext cx="107240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 준 한 </a:t>
              </a:r>
              <a:endPara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A615FB-37D4-2FA7-3AD8-1FA26E88030D}"/>
                </a:ext>
              </a:extLst>
            </p:cNvPr>
            <p:cNvSpPr txBox="1"/>
            <p:nvPr/>
          </p:nvSpPr>
          <p:spPr>
            <a:xfrm>
              <a:off x="1792619" y="1447154"/>
              <a:ext cx="113653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수석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 컨설턴트</a:t>
              </a:r>
              <a:endPara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3B4F16C-5815-C33B-D58B-1BDC33537E41}"/>
              </a:ext>
            </a:extLst>
          </p:cNvPr>
          <p:cNvCxnSpPr>
            <a:cxnSpLocks/>
          </p:cNvCxnSpPr>
          <p:nvPr/>
        </p:nvCxnSpPr>
        <p:spPr>
          <a:xfrm>
            <a:off x="510108" y="1660613"/>
            <a:ext cx="584093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29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6755</TotalTime>
  <Words>211</Words>
  <Application>Microsoft Office PowerPoint</Application>
  <PresentationFormat>사용자 지정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KoPub돋움체 Bold</vt:lpstr>
      <vt:lpstr>KoPub돋움체 Medium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shipley design</dc:creator>
  <cp:lastModifiedBy>준한 이</cp:lastModifiedBy>
  <cp:revision>149</cp:revision>
  <dcterms:created xsi:type="dcterms:W3CDTF">2019-10-21T05:45:49Z</dcterms:created>
  <dcterms:modified xsi:type="dcterms:W3CDTF">2026-01-26T02:07:16Z</dcterms:modified>
</cp:coreProperties>
</file>