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drawings/drawing1.xml" ContentType="application/vnd.openxmlformats-officedocument.drawingml.chartshapes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theme/themeOverride4.xml" ContentType="application/vnd.openxmlformats-officedocument.themeOverr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heme/themeOverride5.xml" ContentType="application/vnd.openxmlformats-officedocument.themeOverride+xml"/>
  <Override PartName="/ppt/charts/chart11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heme/themeOverride6.xml" ContentType="application/vnd.openxmlformats-officedocument.themeOverride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embedTrueTypeFonts="1" saveSubsetFonts="1" autoCompressPictures="0">
  <p:sldMasterIdLst>
    <p:sldMasterId id="2147483694" r:id="rId1"/>
    <p:sldMasterId id="2147483681" r:id="rId2"/>
  </p:sldMasterIdLst>
  <p:notesMasterIdLst>
    <p:notesMasterId r:id="rId32"/>
  </p:notesMasterIdLst>
  <p:handoutMasterIdLst>
    <p:handoutMasterId r:id="rId33"/>
  </p:handoutMasterIdLst>
  <p:sldIdLst>
    <p:sldId id="383" r:id="rId3"/>
    <p:sldId id="394" r:id="rId4"/>
    <p:sldId id="395" r:id="rId5"/>
    <p:sldId id="449" r:id="rId6"/>
    <p:sldId id="442" r:id="rId7"/>
    <p:sldId id="471" r:id="rId8"/>
    <p:sldId id="443" r:id="rId9"/>
    <p:sldId id="450" r:id="rId10"/>
    <p:sldId id="451" r:id="rId11"/>
    <p:sldId id="452" r:id="rId12"/>
    <p:sldId id="454" r:id="rId13"/>
    <p:sldId id="455" r:id="rId14"/>
    <p:sldId id="461" r:id="rId15"/>
    <p:sldId id="462" r:id="rId16"/>
    <p:sldId id="463" r:id="rId17"/>
    <p:sldId id="464" r:id="rId18"/>
    <p:sldId id="457" r:id="rId19"/>
    <p:sldId id="465" r:id="rId20"/>
    <p:sldId id="399" r:id="rId21"/>
    <p:sldId id="400" r:id="rId22"/>
    <p:sldId id="401" r:id="rId23"/>
    <p:sldId id="402" r:id="rId24"/>
    <p:sldId id="467" r:id="rId25"/>
    <p:sldId id="470" r:id="rId26"/>
    <p:sldId id="475" r:id="rId27"/>
    <p:sldId id="403" r:id="rId28"/>
    <p:sldId id="404" r:id="rId29"/>
    <p:sldId id="405" r:id="rId30"/>
    <p:sldId id="406" r:id="rId31"/>
  </p:sldIdLst>
  <p:sldSz cx="7775575" cy="10907713"/>
  <p:notesSz cx="6797675" cy="9926638"/>
  <p:embeddedFontLst>
    <p:embeddedFont>
      <p:font typeface="Arial Black" panose="020B0A04020102020204" pitchFamily="34" charset="0"/>
      <p:bold r:id="rId34"/>
    </p:embeddedFont>
    <p:embeddedFont>
      <p:font typeface="HY헤드라인M" panose="02030600000101010101" pitchFamily="18" charset="-127"/>
      <p:regular r:id="rId35"/>
    </p:embeddedFont>
    <p:embeddedFont>
      <p:font typeface="KoPub돋움체 Bold" panose="02020603020101020101" pitchFamily="18" charset="-127"/>
      <p:regular r:id="rId36"/>
      <p:bold r:id="rId37"/>
    </p:embeddedFont>
    <p:embeddedFont>
      <p:font typeface="KoPub돋움체 Light" panose="02020603020101020101" pitchFamily="18" charset="-127"/>
      <p:regular r:id="rId38"/>
    </p:embeddedFont>
    <p:embeddedFont>
      <p:font typeface="KoPub돋움체 Medium" panose="02020603020101020101" pitchFamily="18" charset="-127"/>
      <p:regular r:id="rId39"/>
    </p:embeddedFont>
    <p:embeddedFont>
      <p:font typeface="KoPub바탕체 Bold" panose="00000800000000000000" pitchFamily="2" charset="-127"/>
      <p:bold r:id="rId40"/>
    </p:embeddedFont>
    <p:embeddedFont>
      <p:font typeface="KoPub바탕체 Light" panose="00000300000000000000" pitchFamily="2" charset="-127"/>
      <p:regular r:id="rId41"/>
    </p:embeddedFont>
    <p:embeddedFont>
      <p:font typeface="KoPub바탕체 Medium" panose="00000600000000000000" pitchFamily="2" charset="-127"/>
      <p:regular r:id="rId42"/>
    </p:embeddedFont>
    <p:embeddedFont>
      <p:font typeface="Rix모던고딕 B" panose="02020603020101020101" pitchFamily="18" charset="-127"/>
      <p:regular r:id="rId43"/>
    </p:embeddedFont>
    <p:embeddedFont>
      <p:font typeface="Rix모던고딕 L" panose="02020603020101020101" pitchFamily="18" charset="-127"/>
      <p:regular r:id="rId44"/>
    </p:embeddedFont>
    <p:embeddedFont>
      <p:font typeface="Rix모던고딕 M" panose="02020603020101020101" pitchFamily="18" charset="-127"/>
      <p:regular r:id="rId45"/>
    </p:embeddedFont>
  </p:embeddedFontLst>
  <p:defaultTextStyle>
    <a:defPPr>
      <a:defRPr lang="ko-KR"/>
    </a:defPPr>
    <a:lvl1pPr marL="0" algn="l" defTabSz="1018844" rtl="0" eaLnBrk="1" latinLnBrk="1" hangingPunct="1">
      <a:defRPr sz="2006" kern="1200">
        <a:solidFill>
          <a:schemeClr val="tx1"/>
        </a:solidFill>
        <a:latin typeface="+mn-lt"/>
        <a:ea typeface="+mn-ea"/>
        <a:cs typeface="+mn-cs"/>
      </a:defRPr>
    </a:lvl1pPr>
    <a:lvl2pPr marL="509422" algn="l" defTabSz="1018844" rtl="0" eaLnBrk="1" latinLnBrk="1" hangingPunct="1">
      <a:defRPr sz="2006" kern="1200">
        <a:solidFill>
          <a:schemeClr val="tx1"/>
        </a:solidFill>
        <a:latin typeface="+mn-lt"/>
        <a:ea typeface="+mn-ea"/>
        <a:cs typeface="+mn-cs"/>
      </a:defRPr>
    </a:lvl2pPr>
    <a:lvl3pPr marL="1018844" algn="l" defTabSz="1018844" rtl="0" eaLnBrk="1" latinLnBrk="1" hangingPunct="1">
      <a:defRPr sz="2006" kern="1200">
        <a:solidFill>
          <a:schemeClr val="tx1"/>
        </a:solidFill>
        <a:latin typeface="+mn-lt"/>
        <a:ea typeface="+mn-ea"/>
        <a:cs typeface="+mn-cs"/>
      </a:defRPr>
    </a:lvl3pPr>
    <a:lvl4pPr marL="1528266" algn="l" defTabSz="1018844" rtl="0" eaLnBrk="1" latinLnBrk="1" hangingPunct="1">
      <a:defRPr sz="2006" kern="1200">
        <a:solidFill>
          <a:schemeClr val="tx1"/>
        </a:solidFill>
        <a:latin typeface="+mn-lt"/>
        <a:ea typeface="+mn-ea"/>
        <a:cs typeface="+mn-cs"/>
      </a:defRPr>
    </a:lvl4pPr>
    <a:lvl5pPr marL="2037688" algn="l" defTabSz="1018844" rtl="0" eaLnBrk="1" latinLnBrk="1" hangingPunct="1">
      <a:defRPr sz="2006" kern="1200">
        <a:solidFill>
          <a:schemeClr val="tx1"/>
        </a:solidFill>
        <a:latin typeface="+mn-lt"/>
        <a:ea typeface="+mn-ea"/>
        <a:cs typeface="+mn-cs"/>
      </a:defRPr>
    </a:lvl5pPr>
    <a:lvl6pPr marL="2547109" algn="l" defTabSz="1018844" rtl="0" eaLnBrk="1" latinLnBrk="1" hangingPunct="1">
      <a:defRPr sz="2006" kern="1200">
        <a:solidFill>
          <a:schemeClr val="tx1"/>
        </a:solidFill>
        <a:latin typeface="+mn-lt"/>
        <a:ea typeface="+mn-ea"/>
        <a:cs typeface="+mn-cs"/>
      </a:defRPr>
    </a:lvl6pPr>
    <a:lvl7pPr marL="3056532" algn="l" defTabSz="1018844" rtl="0" eaLnBrk="1" latinLnBrk="1" hangingPunct="1">
      <a:defRPr sz="2006" kern="1200">
        <a:solidFill>
          <a:schemeClr val="tx1"/>
        </a:solidFill>
        <a:latin typeface="+mn-lt"/>
        <a:ea typeface="+mn-ea"/>
        <a:cs typeface="+mn-cs"/>
      </a:defRPr>
    </a:lvl7pPr>
    <a:lvl8pPr marL="3565954" algn="l" defTabSz="1018844" rtl="0" eaLnBrk="1" latinLnBrk="1" hangingPunct="1">
      <a:defRPr sz="2006" kern="1200">
        <a:solidFill>
          <a:schemeClr val="tx1"/>
        </a:solidFill>
        <a:latin typeface="+mn-lt"/>
        <a:ea typeface="+mn-ea"/>
        <a:cs typeface="+mn-cs"/>
      </a:defRPr>
    </a:lvl8pPr>
    <a:lvl9pPr marL="4075375" algn="l" defTabSz="1018844" rtl="0" eaLnBrk="1" latinLnBrk="1" hangingPunct="1">
      <a:defRPr sz="2006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간지" id="{880D9213-6978-47CD-8316-1F6B610916A6}">
          <p14:sldIdLst/>
        </p14:section>
        <p14:section name="1.사업이해도" id="{528255AD-D06B-4C96-B3F1-2580007A4B11}">
          <p14:sldIdLst>
            <p14:sldId id="383"/>
            <p14:sldId id="394"/>
            <p14:sldId id="395"/>
            <p14:sldId id="449"/>
            <p14:sldId id="442"/>
          </p14:sldIdLst>
        </p14:section>
        <p14:section name="필수예방점검" id="{F183080D-2F98-47EE-B851-6EF4942F0EA5}">
          <p14:sldIdLst>
            <p14:sldId id="471"/>
            <p14:sldId id="443"/>
            <p14:sldId id="450"/>
            <p14:sldId id="451"/>
            <p14:sldId id="452"/>
            <p14:sldId id="454"/>
            <p14:sldId id="455"/>
          </p14:sldIdLst>
        </p14:section>
        <p14:section name="운영현황" id="{CEDABEB3-CA67-48F2-8482-C6D5DC2709F9}">
          <p14:sldIdLst>
            <p14:sldId id="461"/>
            <p14:sldId id="462"/>
            <p14:sldId id="463"/>
            <p14:sldId id="464"/>
            <p14:sldId id="457"/>
            <p14:sldId id="465"/>
          </p14:sldIdLst>
        </p14:section>
        <p14:section name="1-다.목표" id="{33C9F748-01FF-42A4-9360-E32073A06083}">
          <p14:sldIdLst>
            <p14:sldId id="399"/>
            <p14:sldId id="400"/>
          </p14:sldIdLst>
        </p14:section>
        <p14:section name="1-마.범위" id="{177546A1-93AC-423A-A6A3-530DCE16724C}">
          <p14:sldIdLst>
            <p14:sldId id="401"/>
            <p14:sldId id="402"/>
            <p14:sldId id="467"/>
            <p14:sldId id="470"/>
            <p14:sldId id="475"/>
            <p14:sldId id="403"/>
            <p14:sldId id="404"/>
            <p14:sldId id="405"/>
            <p14:sldId id="406"/>
          </p14:sldIdLst>
        </p14:section>
        <p14:section name="2. 추진 전략" id="{B79D63A9-AA1B-419D-89AF-C4448DB8966D}">
          <p14:sldIdLst/>
        </p14:section>
        <p14:section name="3. 추진 체계" id="{7F86629E-4A46-46A9-8052-11AFEA3DD74E}">
          <p14:sldIdLst/>
        </p14:section>
        <p14:section name="4. 사업추진 방법론" id="{4E07FC02-437D-4719-87C1-74BAFBDCE606}">
          <p14:sldIdLst/>
        </p14:section>
      </p14:sectionLst>
    </p:ext>
    <p:ext uri="{EFAFB233-063F-42B5-8137-9DF3F51BA10A}">
      <p15:sldGuideLst xmlns:p15="http://schemas.microsoft.com/office/powerpoint/2012/main">
        <p15:guide id="4" orient="horz" pos="1848" userDrawn="1">
          <p15:clr>
            <a:srgbClr val="A4A3A4"/>
          </p15:clr>
        </p15:guide>
        <p15:guide id="5" orient="horz" pos="6429" userDrawn="1">
          <p15:clr>
            <a:srgbClr val="A4A3A4"/>
          </p15:clr>
        </p15:guide>
        <p15:guide id="8" orient="horz" pos="1031" userDrawn="1">
          <p15:clr>
            <a:srgbClr val="A4A3A4"/>
          </p15:clr>
        </p15:guide>
        <p15:guide id="9" pos="362" userDrawn="1">
          <p15:clr>
            <a:srgbClr val="A4A3A4"/>
          </p15:clr>
        </p15:guide>
        <p15:guide id="10" orient="horz" pos="623" userDrawn="1">
          <p15:clr>
            <a:srgbClr val="A4A3A4"/>
          </p15:clr>
        </p15:guide>
        <p15:guide id="12" orient="horz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6CBF"/>
    <a:srgbClr val="5093F2"/>
    <a:srgbClr val="003CA0"/>
    <a:srgbClr val="E6E7E9"/>
    <a:srgbClr val="F2F2F2"/>
    <a:srgbClr val="BCD2F1"/>
    <a:srgbClr val="DBDDDF"/>
    <a:srgbClr val="D6E3F6"/>
    <a:srgbClr val="E2E9DF"/>
    <a:srgbClr val="F2F3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596" autoAdjust="0"/>
    <p:restoredTop sz="91957" autoAdjust="0"/>
  </p:normalViewPr>
  <p:slideViewPr>
    <p:cSldViewPr>
      <p:cViewPr varScale="1">
        <p:scale>
          <a:sx n="52" d="100"/>
          <a:sy n="52" d="100"/>
        </p:scale>
        <p:origin x="2661" y="58"/>
      </p:cViewPr>
      <p:guideLst>
        <p:guide orient="horz" pos="1848"/>
        <p:guide orient="horz" pos="6429"/>
        <p:guide orient="horz" pos="1031"/>
        <p:guide pos="362"/>
        <p:guide orient="horz" pos="623"/>
        <p:guide orient="horz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0" d="100"/>
          <a:sy n="80" d="100"/>
        </p:scale>
        <p:origin x="391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6.fntdata"/><Relationship Id="rId21" Type="http://schemas.openxmlformats.org/officeDocument/2006/relationships/slide" Target="slides/slide19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notesMaster" Target="notesMasters/notesMaster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3.fntdata"/><Relationship Id="rId49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1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theme" Target="theme/theme1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handoutMaster" Target="handoutMasters/handoutMaster1.xml"/><Relationship Id="rId38" Type="http://schemas.openxmlformats.org/officeDocument/2006/relationships/font" Target="fonts/font5.fntdata"/><Relationship Id="rId46" Type="http://schemas.openxmlformats.org/officeDocument/2006/relationships/presProps" Target="presProps.xml"/><Relationship Id="rId20" Type="http://schemas.openxmlformats.org/officeDocument/2006/relationships/slide" Target="slides/slide18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2" Type="http://schemas.openxmlformats.org/officeDocument/2006/relationships/chartUserShapes" Target="../drawings/drawing1.xml"/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4.xml"/><Relationship Id="rId2" Type="http://schemas.microsoft.com/office/2011/relationships/chartColorStyle" Target="colors4.xml"/><Relationship Id="rId1" Type="http://schemas.microsoft.com/office/2011/relationships/chartStyle" Target="style4.xml"/><Relationship Id="rId4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5.xm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6.xml"/><Relationship Id="rId1" Type="http://schemas.microsoft.com/office/2011/relationships/chartStyle" Target="style6.xml"/><Relationship Id="rId4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7.xml"/><Relationship Id="rId1" Type="http://schemas.microsoft.com/office/2011/relationships/chartStyle" Target="style7.xml"/><Relationship Id="rId4" Type="http://schemas.openxmlformats.org/officeDocument/2006/relationships/package" Target="../embeddings/Microsoft_Excel_Worksheet1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>
        <c:manualLayout>
          <c:layoutTarget val="inner"/>
          <c:xMode val="edge"/>
          <c:yMode val="edge"/>
          <c:x val="1.3895283092599195E-2"/>
          <c:y val="0"/>
          <c:w val="0.97823081095467301"/>
          <c:h val="0.69660923537207864"/>
        </c:manualLayout>
      </c:layout>
      <c:bar3DChart>
        <c:barDir val="col"/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25년도</c:v>
                </c:pt>
              </c:strCache>
            </c:strRef>
          </c:tx>
          <c:spPr>
            <a:solidFill>
              <a:srgbClr val="0777D3"/>
            </a:solidFill>
            <a:ln>
              <a:noFill/>
            </a:ln>
            <a:effectLst/>
            <a:sp3d/>
          </c:spPr>
          <c:invertIfNegative val="0"/>
          <c:dPt>
            <c:idx val="0"/>
            <c:invertIfNegative val="0"/>
            <c:bubble3D val="0"/>
            <c:spPr>
              <a:solidFill>
                <a:srgbClr val="0777D3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1-2DEC-4631-BCAF-CFFBBE3C3341}"/>
              </c:ext>
            </c:extLst>
          </c:dPt>
          <c:dPt>
            <c:idx val="3"/>
            <c:invertIfNegative val="0"/>
            <c:bubble3D val="0"/>
            <c:spPr>
              <a:solidFill>
                <a:srgbClr val="0777D3"/>
              </a:solidFill>
              <a:ln>
                <a:noFill/>
              </a:ln>
              <a:effectLst/>
              <a:sp3d/>
            </c:spPr>
            <c:extLst>
              <c:ext xmlns:c16="http://schemas.microsoft.com/office/drawing/2014/chart" uri="{C3380CC4-5D6E-409C-BE32-E72D297353CC}">
                <c16:uniqueId val="{00000003-2DEC-4631-BCAF-CFFBBE3C3341}"/>
              </c:ext>
            </c:extLst>
          </c:dPt>
          <c:dLbls>
            <c:dLbl>
              <c:idx val="0"/>
              <c:layout>
                <c:manualLayout>
                  <c:x val="1.910930189657566E-2"/>
                  <c:y val="-1.708680703411382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2DEC-4631-BCAF-CFFBBE3C3341}"/>
                </c:ext>
              </c:extLst>
            </c:dLbl>
            <c:dLbl>
              <c:idx val="1"/>
              <c:layout>
                <c:manualLayout>
                  <c:x val="1.7198371706918045E-2"/>
                  <c:y val="-1.281510527558530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2DEC-4631-BCAF-CFFBBE3C3341}"/>
                </c:ext>
              </c:extLst>
            </c:dLbl>
            <c:dLbl>
              <c:idx val="2"/>
              <c:layout>
                <c:manualLayout>
                  <c:x val="1.1465581137945387E-2"/>
                  <c:y val="-2.1358508792642179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2DEC-4631-BCAF-CFFBBE3C3341}"/>
                </c:ext>
              </c:extLst>
            </c:dLbl>
            <c:dLbl>
              <c:idx val="3"/>
              <c:layout>
                <c:manualLayout>
                  <c:x val="7.6437207586302573E-3"/>
                  <c:y val="-3.417361406822748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2DEC-4631-BCAF-CFFBBE3C3341}"/>
                </c:ext>
              </c:extLst>
            </c:dLbl>
            <c:dLbl>
              <c:idx val="6"/>
              <c:layout>
                <c:manualLayout>
                  <c:x val="8.2169998155275259E-2"/>
                  <c:y val="6.8347228136454968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2DEC-4631-BCAF-CFFBBE3C33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주장비</c:v>
                </c:pt>
                <c:pt idx="1">
                  <c:v>정보보호</c:v>
                </c:pt>
                <c:pt idx="2">
                  <c:v>네트워크</c:v>
                </c:pt>
                <c:pt idx="3">
                  <c:v>기반설비</c:v>
                </c:pt>
                <c:pt idx="4">
                  <c:v>상용SW</c:v>
                </c:pt>
                <c:pt idx="5">
                  <c:v>사무용 전산장비</c:v>
                </c:pt>
                <c:pt idx="6">
                  <c:v>기타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85</c:v>
                </c:pt>
                <c:pt idx="1">
                  <c:v>16</c:v>
                </c:pt>
                <c:pt idx="2">
                  <c:v>711</c:v>
                </c:pt>
                <c:pt idx="3">
                  <c:v>74</c:v>
                </c:pt>
                <c:pt idx="4" formatCode="#,##0">
                  <c:v>7383</c:v>
                </c:pt>
                <c:pt idx="5" formatCode="#,##0">
                  <c:v>12575</c:v>
                </c:pt>
                <c:pt idx="6" formatCode="#,##0">
                  <c:v>27437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4-2DEC-4631-BCAF-CFFBBE3C334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26년도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dLbls>
            <c:dLbl>
              <c:idx val="0"/>
              <c:layout>
                <c:manualLayout>
                  <c:x val="2.8663952844863463E-2"/>
                  <c:y val="-2.56302105511706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2DEC-4631-BCAF-CFFBBE3C3341}"/>
                </c:ext>
              </c:extLst>
            </c:dLbl>
            <c:dLbl>
              <c:idx val="1"/>
              <c:layout>
                <c:manualLayout>
                  <c:x val="2.6753022655205936E-2"/>
                  <c:y val="-1.708680703411374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2DEC-4631-BCAF-CFFBBE3C3341}"/>
                </c:ext>
              </c:extLst>
            </c:dLbl>
            <c:dLbl>
              <c:idx val="2"/>
              <c:layout>
                <c:manualLayout>
                  <c:x val="3.0574883034521029E-2"/>
                  <c:y val="-2.56302105511706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2DEC-4631-BCAF-CFFBBE3C3341}"/>
                </c:ext>
              </c:extLst>
            </c:dLbl>
            <c:dLbl>
              <c:idx val="3"/>
              <c:layout>
                <c:manualLayout>
                  <c:x val="3.0574883034521029E-2"/>
                  <c:y val="-2.135850879264221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2DEC-4631-BCAF-CFFBBE3C3341}"/>
                </c:ext>
              </c:extLst>
            </c:dLbl>
            <c:dLbl>
              <c:idx val="4"/>
              <c:layout>
                <c:manualLayout>
                  <c:x val="2.1020232086233138E-2"/>
                  <c:y val="-2.99019123096990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2DEC-4631-BCAF-CFFBBE3C3341}"/>
                </c:ext>
              </c:extLst>
            </c:dLbl>
            <c:dLbl>
              <c:idx val="5"/>
              <c:layout>
                <c:manualLayout>
                  <c:x val="5.7327905689726934E-3"/>
                  <c:y val="-2.563021055117061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2DEC-4631-BCAF-CFFBBE3C3341}"/>
                </c:ext>
              </c:extLst>
            </c:dLbl>
            <c:dLbl>
              <c:idx val="6"/>
              <c:layout>
                <c:manualLayout>
                  <c:x val="7.6437207586302569E-2"/>
                  <c:y val="4.6988719343812796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2DEC-4631-BCAF-CFFBBE3C33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주장비</c:v>
                </c:pt>
                <c:pt idx="1">
                  <c:v>정보보호</c:v>
                </c:pt>
                <c:pt idx="2">
                  <c:v>네트워크</c:v>
                </c:pt>
                <c:pt idx="3">
                  <c:v>기반설비</c:v>
                </c:pt>
                <c:pt idx="4">
                  <c:v>상용SW</c:v>
                </c:pt>
                <c:pt idx="5">
                  <c:v>사무용 전산장비</c:v>
                </c:pt>
                <c:pt idx="6">
                  <c:v>기타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85</c:v>
                </c:pt>
                <c:pt idx="1">
                  <c:v>16</c:v>
                </c:pt>
                <c:pt idx="2">
                  <c:v>708</c:v>
                </c:pt>
                <c:pt idx="3">
                  <c:v>74</c:v>
                </c:pt>
                <c:pt idx="4" formatCode="#,##0">
                  <c:v>7462</c:v>
                </c:pt>
                <c:pt idx="5" formatCode="#,##0">
                  <c:v>12571</c:v>
                </c:pt>
                <c:pt idx="6" formatCode="#,##0">
                  <c:v>27437</c:v>
                </c:pt>
              </c:numCache>
            </c:numRef>
          </c:val>
          <c:shape val="cylinder"/>
          <c:extLst>
            <c:ext xmlns:c16="http://schemas.microsoft.com/office/drawing/2014/chart" uri="{C3380CC4-5D6E-409C-BE32-E72D297353CC}">
              <c16:uniqueId val="{00000005-2DEC-4631-BCAF-CFFBBE3C334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shape val="box"/>
        <c:axId val="403502768"/>
        <c:axId val="403503160"/>
        <c:axId val="770206591"/>
      </c:bar3DChart>
      <c:catAx>
        <c:axId val="403502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ln>
                  <a:solidFill>
                    <a:schemeClr val="bg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endParaRPr lang="ko-KR"/>
          </a:p>
        </c:txPr>
        <c:crossAx val="403503160"/>
        <c:crosses val="autoZero"/>
        <c:auto val="1"/>
        <c:lblAlgn val="ctr"/>
        <c:lblOffset val="100"/>
        <c:noMultiLvlLbl val="0"/>
      </c:catAx>
      <c:valAx>
        <c:axId val="403503160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crossAx val="403502768"/>
        <c:crosses val="autoZero"/>
        <c:crossBetween val="between"/>
        <c:majorUnit val="10"/>
      </c:valAx>
      <c:serAx>
        <c:axId val="770206591"/>
        <c:scaling>
          <c:orientation val="minMax"/>
        </c:scaling>
        <c:delete val="1"/>
        <c:axPos val="b"/>
        <c:majorTickMark val="out"/>
        <c:minorTickMark val="none"/>
        <c:tickLblPos val="nextTo"/>
        <c:crossAx val="403503160"/>
        <c:crosses val="autoZero"/>
      </c:ser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900" b="0" i="0" u="none" strike="noStrike" kern="1200" baseline="0">
                <a:ln>
                  <a:solidFill>
                    <a:schemeClr val="bg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  <a:cs typeface="+mn-cs"/>
              </a:defRPr>
            </a:pPr>
            <a:endParaRPr lang="ko-KR"/>
          </a:p>
        </c:txPr>
      </c:dTable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n>
            <a:solidFill>
              <a:schemeClr val="bg2">
                <a:lumMod val="20000"/>
                <a:lumOff val="80000"/>
                <a:alpha val="0"/>
              </a:schemeClr>
            </a:solidFill>
          </a:ln>
          <a:solidFill>
            <a:schemeClr val="tx1">
              <a:lumMod val="75000"/>
              <a:lumOff val="25000"/>
            </a:schemeClr>
          </a:solidFill>
          <a:latin typeface="KoPub돋움체 Medium" panose="00000600000000000000" pitchFamily="2" charset="-127"/>
          <a:ea typeface="KoPub돋움체 Medium" panose="00000600000000000000" pitchFamily="2" charset="-127"/>
        </a:defRPr>
      </a:pPr>
      <a:endParaRPr lang="ko-KR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수량</c:v>
                </c:pt>
              </c:strCache>
            </c:strRef>
          </c:tx>
          <c:spPr>
            <a:solidFill>
              <a:srgbClr val="2D58B9"/>
            </a:solidFill>
          </c:spPr>
          <c:dPt>
            <c:idx val="0"/>
            <c:bubble3D val="0"/>
            <c:spPr>
              <a:solidFill>
                <a:srgbClr val="D2DCF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D783-4F79-B34F-75333B81867E}"/>
              </c:ext>
            </c:extLst>
          </c:dPt>
          <c:dPt>
            <c:idx val="1"/>
            <c:bubble3D val="0"/>
            <c:spPr>
              <a:solidFill>
                <a:srgbClr val="2D58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D783-4F79-B34F-75333B81867E}"/>
              </c:ext>
            </c:extLst>
          </c:dPt>
          <c:dPt>
            <c:idx val="2"/>
            <c:bubble3D val="0"/>
            <c:spPr>
              <a:solidFill>
                <a:srgbClr val="7897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D783-4F79-B34F-75333B81867E}"/>
              </c:ext>
            </c:extLst>
          </c:dPt>
          <c:dPt>
            <c:idx val="3"/>
            <c:bubble3D val="0"/>
            <c:spPr>
              <a:solidFill>
                <a:srgbClr val="A5BA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D783-4F79-B34F-75333B81867E}"/>
              </c:ext>
            </c:extLst>
          </c:dPt>
          <c:dPt>
            <c:idx val="4"/>
            <c:bubble3D val="0"/>
            <c:spPr>
              <a:solidFill>
                <a:srgbClr val="D2DCF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D783-4F79-B34F-75333B81867E}"/>
              </c:ext>
            </c:extLst>
          </c:dPt>
          <c:dPt>
            <c:idx val="5"/>
            <c:bubble3D val="0"/>
            <c:spPr>
              <a:solidFill>
                <a:srgbClr val="9ED5F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D783-4F79-B34F-75333B81867E}"/>
              </c:ext>
            </c:extLst>
          </c:dPt>
          <c:cat>
            <c:strRef>
              <c:f>Sheet1!$A$2:$A$7</c:f>
              <c:strCache>
                <c:ptCount val="6"/>
                <c:pt idx="0">
                  <c:v>서버</c:v>
                </c:pt>
                <c:pt idx="1">
                  <c:v>저장장치</c:v>
                </c:pt>
                <c:pt idx="2">
                  <c:v>방화벽</c:v>
                </c:pt>
                <c:pt idx="3">
                  <c:v>NAC</c:v>
                </c:pt>
                <c:pt idx="4">
                  <c:v>VPN</c:v>
                </c:pt>
                <c:pt idx="5">
                  <c:v>IPS/Ddos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7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D783-4F79-B34F-75333B8186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82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  <c:userShapes r:id="rId2"/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2175252817545389E-2"/>
          <c:y val="6.6263928706273872E-2"/>
          <c:w val="0.91217947034282709"/>
          <c:h val="0.810385080228209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25년</c:v>
                </c:pt>
              </c:strCache>
            </c:strRef>
          </c:tx>
          <c:spPr>
            <a:solidFill>
              <a:srgbClr val="E6E7E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9A5-453C-A495-00139B60BFA6}"/>
              </c:ext>
            </c:extLst>
          </c:dPt>
          <c:dPt>
            <c:idx val="3"/>
            <c:invertIfNegative val="0"/>
            <c:bubble3D val="0"/>
            <c:spPr>
              <a:solidFill>
                <a:srgbClr val="E6E7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9A5-453C-A495-00139B60BFA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서버</c:v>
                </c:pt>
                <c:pt idx="1">
                  <c:v>저장장치</c:v>
                </c:pt>
                <c:pt idx="2">
                  <c:v>방화벽</c:v>
                </c:pt>
                <c:pt idx="3">
                  <c:v>NAC</c:v>
                </c:pt>
                <c:pt idx="4">
                  <c:v>VPN</c:v>
                </c:pt>
                <c:pt idx="5">
                  <c:v>IPS/DDoS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78</c:v>
                </c:pt>
                <c:pt idx="1">
                  <c:v>7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9A5-453C-A495-00139B60BFA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26년</c:v>
                </c:pt>
              </c:strCache>
            </c:strRef>
          </c:tx>
          <c:spPr>
            <a:solidFill>
              <a:srgbClr val="426FD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서버</c:v>
                </c:pt>
                <c:pt idx="1">
                  <c:v>저장장치</c:v>
                </c:pt>
                <c:pt idx="2">
                  <c:v>방화벽</c:v>
                </c:pt>
                <c:pt idx="3">
                  <c:v>NAC</c:v>
                </c:pt>
                <c:pt idx="4">
                  <c:v>VPN</c:v>
                </c:pt>
                <c:pt idx="5">
                  <c:v>IPS/DDoS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78</c:v>
                </c:pt>
                <c:pt idx="1">
                  <c:v>7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  <c:pt idx="5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9A5-453C-A495-00139B60BFA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03502768"/>
        <c:axId val="403503160"/>
      </c:barChart>
      <c:catAx>
        <c:axId val="403502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ln>
                  <a:solidFill>
                    <a:schemeClr val="bg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endParaRPr lang="ko-KR"/>
          </a:p>
        </c:txPr>
        <c:crossAx val="403503160"/>
        <c:crosses val="autoZero"/>
        <c:auto val="1"/>
        <c:lblAlgn val="ctr"/>
        <c:lblOffset val="100"/>
        <c:noMultiLvlLbl val="0"/>
      </c:catAx>
      <c:valAx>
        <c:axId val="4035031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03502768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n>
            <a:solidFill>
              <a:schemeClr val="bg2">
                <a:lumMod val="20000"/>
                <a:lumOff val="80000"/>
                <a:alpha val="0"/>
              </a:schemeClr>
            </a:solidFill>
          </a:ln>
          <a:solidFill>
            <a:schemeClr val="tx1">
              <a:lumMod val="75000"/>
              <a:lumOff val="25000"/>
            </a:schemeClr>
          </a:solidFill>
          <a:latin typeface="KoPub돋움체 Medium" panose="00000600000000000000" pitchFamily="2" charset="-127"/>
          <a:ea typeface="KoPub돋움체 Medium" panose="00000600000000000000" pitchFamily="2" charset="-127"/>
        </a:defRPr>
      </a:pPr>
      <a:endParaRPr lang="ko-KR"/>
    </a:p>
  </c:txPr>
  <c:externalData r:id="rId4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수량</c:v>
                </c:pt>
              </c:strCache>
            </c:strRef>
          </c:tx>
          <c:spPr>
            <a:solidFill>
              <a:srgbClr val="2D58B9"/>
            </a:solidFill>
          </c:spPr>
          <c:dPt>
            <c:idx val="0"/>
            <c:bubble3D val="0"/>
            <c:spPr>
              <a:solidFill>
                <a:srgbClr val="2D58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DEF-4C5F-955D-25CBA6F692D2}"/>
              </c:ext>
            </c:extLst>
          </c:dPt>
          <c:dPt>
            <c:idx val="1"/>
            <c:bubble3D val="0"/>
            <c:spPr>
              <a:solidFill>
                <a:srgbClr val="426FD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DEF-4C5F-955D-25CBA6F692D2}"/>
              </c:ext>
            </c:extLst>
          </c:dPt>
          <c:dPt>
            <c:idx val="2"/>
            <c:bubble3D val="0"/>
            <c:spPr>
              <a:solidFill>
                <a:srgbClr val="7897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DEF-4C5F-955D-25CBA6F692D2}"/>
              </c:ext>
            </c:extLst>
          </c:dPt>
          <c:dPt>
            <c:idx val="3"/>
            <c:bubble3D val="0"/>
            <c:spPr>
              <a:solidFill>
                <a:srgbClr val="D2DCF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DEF-4C5F-955D-25CBA6F692D2}"/>
              </c:ext>
            </c:extLst>
          </c:dPt>
          <c:dPt>
            <c:idx val="4"/>
            <c:bubble3D val="0"/>
            <c:spPr>
              <a:solidFill>
                <a:srgbClr val="A5BA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BDEF-4C5F-955D-25CBA6F692D2}"/>
              </c:ext>
            </c:extLst>
          </c:dPt>
          <c:dPt>
            <c:idx val="5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BDEF-4C5F-955D-25CBA6F692D2}"/>
              </c:ext>
            </c:extLst>
          </c:dPt>
          <c:cat>
            <c:strRef>
              <c:f>Sheet1!$A$2:$A$7</c:f>
              <c:strCache>
                <c:ptCount val="5"/>
                <c:pt idx="0">
                  <c:v>라우터</c:v>
                </c:pt>
                <c:pt idx="1">
                  <c:v>백본</c:v>
                </c:pt>
                <c:pt idx="2">
                  <c:v>L4</c:v>
                </c:pt>
                <c:pt idx="3">
                  <c:v>워크그룹</c:v>
                </c:pt>
                <c:pt idx="4">
                  <c:v>기타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47</c:v>
                </c:pt>
                <c:pt idx="2">
                  <c:v>14</c:v>
                </c:pt>
                <c:pt idx="3">
                  <c:v>597</c:v>
                </c:pt>
                <c:pt idx="4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BDEF-4C5F-955D-25CBA6F692D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열1</c:v>
                </c:pt>
              </c:strCache>
            </c:strRef>
          </c:tx>
          <c:cat>
            <c:strRef>
              <c:f>Sheet1!$A$2:$A$7</c:f>
              <c:strCache>
                <c:ptCount val="5"/>
                <c:pt idx="0">
                  <c:v>라우터</c:v>
                </c:pt>
                <c:pt idx="1">
                  <c:v>백본</c:v>
                </c:pt>
                <c:pt idx="2">
                  <c:v>L4</c:v>
                </c:pt>
                <c:pt idx="3">
                  <c:v>워크그룹</c:v>
                </c:pt>
                <c:pt idx="4">
                  <c:v>기타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5</c:v>
                </c:pt>
                <c:pt idx="1">
                  <c:v>47</c:v>
                </c:pt>
                <c:pt idx="2">
                  <c:v>10</c:v>
                </c:pt>
                <c:pt idx="3">
                  <c:v>597</c:v>
                </c:pt>
                <c:pt idx="4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BDEF-4C5F-955D-25CBA6F692D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82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 marL="0" algn="ctr" defTabSz="1018844" rtl="0" eaLnBrk="1" latinLnBrk="1" hangingPunct="1">
        <a:defRPr lang="en-US" altLang="ko-KR" sz="2006" kern="1200">
          <a:solidFill>
            <a:schemeClr val="lt1"/>
          </a:solidFill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25년</c:v>
                </c:pt>
              </c:strCache>
            </c:strRef>
          </c:tx>
          <c:spPr>
            <a:solidFill>
              <a:srgbClr val="E6E7E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78B-42D6-A324-4EB68C8AE4AB}"/>
              </c:ext>
            </c:extLst>
          </c:dPt>
          <c:dPt>
            <c:idx val="3"/>
            <c:invertIfNegative val="0"/>
            <c:bubble3D val="0"/>
            <c:spPr>
              <a:solidFill>
                <a:srgbClr val="E6E7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78B-42D6-A324-4EB68C8AE4A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라우터</c:v>
                </c:pt>
                <c:pt idx="1">
                  <c:v>백본</c:v>
                </c:pt>
                <c:pt idx="2">
                  <c:v>L4</c:v>
                </c:pt>
                <c:pt idx="3">
                  <c:v>워크그룹</c:v>
                </c:pt>
                <c:pt idx="4">
                  <c:v>기타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</c:v>
                </c:pt>
                <c:pt idx="1">
                  <c:v>47</c:v>
                </c:pt>
                <c:pt idx="2">
                  <c:v>14</c:v>
                </c:pt>
                <c:pt idx="3">
                  <c:v>597</c:v>
                </c:pt>
                <c:pt idx="4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78B-42D6-A324-4EB68C8AE4A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26년</c:v>
                </c:pt>
              </c:strCache>
            </c:strRef>
          </c:tx>
          <c:spPr>
            <a:solidFill>
              <a:srgbClr val="426FD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라우터</c:v>
                </c:pt>
                <c:pt idx="1">
                  <c:v>백본</c:v>
                </c:pt>
                <c:pt idx="2">
                  <c:v>L4</c:v>
                </c:pt>
                <c:pt idx="3">
                  <c:v>워크그룹</c:v>
                </c:pt>
                <c:pt idx="4">
                  <c:v>기타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5</c:v>
                </c:pt>
                <c:pt idx="1">
                  <c:v>47</c:v>
                </c:pt>
                <c:pt idx="2">
                  <c:v>10</c:v>
                </c:pt>
                <c:pt idx="3">
                  <c:v>597</c:v>
                </c:pt>
                <c:pt idx="4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78B-42D6-A324-4EB68C8AE4A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03502768"/>
        <c:axId val="403503160"/>
      </c:barChart>
      <c:catAx>
        <c:axId val="403502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ln>
                  <a:solidFill>
                    <a:schemeClr val="bg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endParaRPr lang="ko-KR"/>
          </a:p>
        </c:txPr>
        <c:crossAx val="403503160"/>
        <c:crosses val="autoZero"/>
        <c:auto val="1"/>
        <c:lblAlgn val="ctr"/>
        <c:lblOffset val="100"/>
        <c:noMultiLvlLbl val="0"/>
      </c:catAx>
      <c:valAx>
        <c:axId val="4035031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03502768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n>
            <a:solidFill>
              <a:schemeClr val="bg2">
                <a:lumMod val="20000"/>
                <a:lumOff val="80000"/>
                <a:alpha val="0"/>
              </a:schemeClr>
            </a:solidFill>
          </a:ln>
          <a:solidFill>
            <a:schemeClr val="tx1">
              <a:lumMod val="75000"/>
              <a:lumOff val="25000"/>
            </a:schemeClr>
          </a:solidFill>
          <a:latin typeface="KoPub돋움체 Medium" panose="00000600000000000000" pitchFamily="2" charset="-127"/>
          <a:ea typeface="KoPub돋움체 Medium" panose="00000600000000000000" pitchFamily="2" charset="-127"/>
        </a:defRPr>
      </a:pPr>
      <a:endParaRPr lang="ko-KR"/>
    </a:p>
  </c:txPr>
  <c:externalData r:id="rId4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수량</c:v>
                </c:pt>
              </c:strCache>
            </c:strRef>
          </c:tx>
          <c:spPr>
            <a:solidFill>
              <a:srgbClr val="2D58B9"/>
            </a:solidFill>
          </c:spPr>
          <c:dPt>
            <c:idx val="0"/>
            <c:bubble3D val="0"/>
            <c:spPr>
              <a:solidFill>
                <a:srgbClr val="2D58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F374-4965-B099-D3EF9C1AD69A}"/>
              </c:ext>
            </c:extLst>
          </c:dPt>
          <c:dPt>
            <c:idx val="1"/>
            <c:bubble3D val="0"/>
            <c:spPr>
              <a:solidFill>
                <a:srgbClr val="426FD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F374-4965-B099-D3EF9C1AD69A}"/>
              </c:ext>
            </c:extLst>
          </c:dPt>
          <c:dPt>
            <c:idx val="2"/>
            <c:bubble3D val="0"/>
            <c:spPr>
              <a:solidFill>
                <a:srgbClr val="7897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F374-4965-B099-D3EF9C1AD69A}"/>
              </c:ext>
            </c:extLst>
          </c:dPt>
          <c:dPt>
            <c:idx val="3"/>
            <c:bubble3D val="0"/>
            <c:spPr>
              <a:solidFill>
                <a:srgbClr val="D2DCF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F374-4965-B099-D3EF9C1AD69A}"/>
              </c:ext>
            </c:extLst>
          </c:dPt>
          <c:dPt>
            <c:idx val="4"/>
            <c:bubble3D val="0"/>
            <c:spPr>
              <a:solidFill>
                <a:srgbClr val="A5BA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F374-4965-B099-D3EF9C1AD69A}"/>
              </c:ext>
            </c:extLst>
          </c:dPt>
          <c:dPt>
            <c:idx val="5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F374-4965-B099-D3EF9C1AD69A}"/>
              </c:ext>
            </c:extLst>
          </c:dPt>
          <c:cat>
            <c:strRef>
              <c:f>Sheet1!$A$2:$A$7</c:f>
              <c:strCache>
                <c:ptCount val="5"/>
                <c:pt idx="0">
                  <c:v>UPS</c:v>
                </c:pt>
                <c:pt idx="1">
                  <c:v>항혼항습기</c:v>
                </c:pt>
                <c:pt idx="2">
                  <c:v>소화설비</c:v>
                </c:pt>
                <c:pt idx="3">
                  <c:v>관제설비</c:v>
                </c:pt>
                <c:pt idx="4">
                  <c:v>분전반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</c:v>
                </c:pt>
                <c:pt idx="1">
                  <c:v>16</c:v>
                </c:pt>
                <c:pt idx="2">
                  <c:v>14</c:v>
                </c:pt>
                <c:pt idx="3">
                  <c:v>16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F374-4965-B099-D3EF9C1AD6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82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25년</c:v>
                </c:pt>
              </c:strCache>
            </c:strRef>
          </c:tx>
          <c:spPr>
            <a:solidFill>
              <a:srgbClr val="E6E7E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1EF-4068-AAD9-96282CB5024D}"/>
              </c:ext>
            </c:extLst>
          </c:dPt>
          <c:dPt>
            <c:idx val="3"/>
            <c:invertIfNegative val="0"/>
            <c:bubble3D val="0"/>
            <c:spPr>
              <a:solidFill>
                <a:srgbClr val="E6E7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1EF-4068-AAD9-96282CB5024D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UPS</c:v>
                </c:pt>
                <c:pt idx="1">
                  <c:v>항혼항습기</c:v>
                </c:pt>
                <c:pt idx="2">
                  <c:v>소화설비</c:v>
                </c:pt>
                <c:pt idx="3">
                  <c:v>관제설비</c:v>
                </c:pt>
                <c:pt idx="4">
                  <c:v>분전반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16</c:v>
                </c:pt>
                <c:pt idx="2">
                  <c:v>14</c:v>
                </c:pt>
                <c:pt idx="3">
                  <c:v>16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1EF-4068-AAD9-96282CB5024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26년</c:v>
                </c:pt>
              </c:strCache>
            </c:strRef>
          </c:tx>
          <c:spPr>
            <a:solidFill>
              <a:srgbClr val="426FD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UPS</c:v>
                </c:pt>
                <c:pt idx="1">
                  <c:v>항혼항습기</c:v>
                </c:pt>
                <c:pt idx="2">
                  <c:v>소화설비</c:v>
                </c:pt>
                <c:pt idx="3">
                  <c:v>관제설비</c:v>
                </c:pt>
                <c:pt idx="4">
                  <c:v>분전반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13</c:v>
                </c:pt>
                <c:pt idx="1">
                  <c:v>16</c:v>
                </c:pt>
                <c:pt idx="2">
                  <c:v>14</c:v>
                </c:pt>
                <c:pt idx="3">
                  <c:v>16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B1EF-4068-AAD9-96282CB5024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03502768"/>
        <c:axId val="403503160"/>
      </c:barChart>
      <c:catAx>
        <c:axId val="403502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ln>
                  <a:solidFill>
                    <a:schemeClr val="bg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endParaRPr lang="ko-KR"/>
          </a:p>
        </c:txPr>
        <c:crossAx val="403503160"/>
        <c:crosses val="autoZero"/>
        <c:auto val="1"/>
        <c:lblAlgn val="ctr"/>
        <c:lblOffset val="100"/>
        <c:noMultiLvlLbl val="0"/>
      </c:catAx>
      <c:valAx>
        <c:axId val="4035031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03502768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n>
            <a:solidFill>
              <a:schemeClr val="bg2">
                <a:lumMod val="20000"/>
                <a:lumOff val="80000"/>
                <a:alpha val="0"/>
              </a:schemeClr>
            </a:solidFill>
          </a:ln>
          <a:solidFill>
            <a:schemeClr val="tx1">
              <a:lumMod val="75000"/>
              <a:lumOff val="25000"/>
            </a:schemeClr>
          </a:solidFill>
          <a:latin typeface="KoPub돋움체 Medium" panose="00000600000000000000" pitchFamily="2" charset="-127"/>
          <a:ea typeface="KoPub돋움체 Medium" panose="00000600000000000000" pitchFamily="2" charset="-127"/>
        </a:defRPr>
      </a:pPr>
      <a:endParaRPr lang="ko-KR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수량</c:v>
                </c:pt>
              </c:strCache>
            </c:strRef>
          </c:tx>
          <c:spPr>
            <a:solidFill>
              <a:srgbClr val="2D58B9"/>
            </a:solidFill>
          </c:spPr>
          <c:dPt>
            <c:idx val="0"/>
            <c:bubble3D val="0"/>
            <c:spPr>
              <a:solidFill>
                <a:srgbClr val="2D58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A676-41E7-BA1C-F3205C443C98}"/>
              </c:ext>
            </c:extLst>
          </c:dPt>
          <c:dPt>
            <c:idx val="1"/>
            <c:bubble3D val="0"/>
            <c:spPr>
              <a:solidFill>
                <a:srgbClr val="426FD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A676-41E7-BA1C-F3205C443C98}"/>
              </c:ext>
            </c:extLst>
          </c:dPt>
          <c:dPt>
            <c:idx val="2"/>
            <c:bubble3D val="0"/>
            <c:spPr>
              <a:solidFill>
                <a:srgbClr val="7897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A676-41E7-BA1C-F3205C443C98}"/>
              </c:ext>
            </c:extLst>
          </c:dPt>
          <c:dPt>
            <c:idx val="3"/>
            <c:bubble3D val="0"/>
            <c:spPr>
              <a:solidFill>
                <a:srgbClr val="D2DCF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A676-41E7-BA1C-F3205C443C98}"/>
              </c:ext>
            </c:extLst>
          </c:dPt>
          <c:dPt>
            <c:idx val="4"/>
            <c:bubble3D val="0"/>
            <c:spPr>
              <a:solidFill>
                <a:srgbClr val="A5BA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A676-41E7-BA1C-F3205C443C98}"/>
              </c:ext>
            </c:extLst>
          </c:dPt>
          <c:dPt>
            <c:idx val="5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A676-41E7-BA1C-F3205C443C98}"/>
              </c:ext>
            </c:extLst>
          </c:dPt>
          <c:cat>
            <c:strRef>
              <c:f>Sheet1!$A$2:$A$7</c:f>
              <c:strCache>
                <c:ptCount val="6"/>
                <c:pt idx="0">
                  <c:v>연계</c:v>
                </c:pt>
                <c:pt idx="1">
                  <c:v>관제</c:v>
                </c:pt>
                <c:pt idx="2">
                  <c:v>UI</c:v>
                </c:pt>
                <c:pt idx="3">
                  <c:v>보안관련</c:v>
                </c:pt>
                <c:pt idx="4">
                  <c:v>업무관련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30</c:v>
                </c:pt>
                <c:pt idx="2">
                  <c:v>270</c:v>
                </c:pt>
                <c:pt idx="3">
                  <c:v>1342</c:v>
                </c:pt>
                <c:pt idx="4">
                  <c:v>4120</c:v>
                </c:pt>
                <c:pt idx="5">
                  <c:v>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676-41E7-BA1C-F3205C443C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82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 marL="0" algn="ctr" defTabSz="1018844" rtl="0" eaLnBrk="1" latinLnBrk="1" hangingPunct="1">
        <a:defRPr lang="en-US" altLang="ko-KR" sz="2006" kern="1200">
          <a:solidFill>
            <a:schemeClr val="lt1"/>
          </a:solidFill>
          <a:latin typeface="+mn-lt"/>
          <a:ea typeface="+mn-ea"/>
          <a:cs typeface="+mn-cs"/>
        </a:defRPr>
      </a:pPr>
      <a:endParaRPr lang="ko-KR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수량</c:v>
                </c:pt>
              </c:strCache>
            </c:strRef>
          </c:tx>
          <c:spPr>
            <a:solidFill>
              <a:srgbClr val="2D58B9"/>
            </a:solidFill>
          </c:spPr>
          <c:dPt>
            <c:idx val="0"/>
            <c:bubble3D val="0"/>
            <c:spPr>
              <a:solidFill>
                <a:srgbClr val="D2DCF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61FD-49DE-B1D1-38432895606E}"/>
              </c:ext>
            </c:extLst>
          </c:dPt>
          <c:dPt>
            <c:idx val="1"/>
            <c:bubble3D val="0"/>
            <c:spPr>
              <a:solidFill>
                <a:srgbClr val="2D58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61FD-49DE-B1D1-38432895606E}"/>
              </c:ext>
            </c:extLst>
          </c:dPt>
          <c:dPt>
            <c:idx val="2"/>
            <c:bubble3D val="0"/>
            <c:spPr>
              <a:solidFill>
                <a:srgbClr val="7897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61FD-49DE-B1D1-38432895606E}"/>
              </c:ext>
            </c:extLst>
          </c:dPt>
          <c:dPt>
            <c:idx val="3"/>
            <c:bubble3D val="0"/>
            <c:spPr>
              <a:solidFill>
                <a:srgbClr val="A5BA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61FD-49DE-B1D1-38432895606E}"/>
              </c:ext>
            </c:extLst>
          </c:dPt>
          <c:dPt>
            <c:idx val="4"/>
            <c:bubble3D val="0"/>
            <c:spPr>
              <a:solidFill>
                <a:srgbClr val="D2DCF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61FD-49DE-B1D1-38432895606E}"/>
              </c:ext>
            </c:extLst>
          </c:dPt>
          <c:dPt>
            <c:idx val="5"/>
            <c:bubble3D val="0"/>
            <c:spPr>
              <a:solidFill>
                <a:srgbClr val="9ED5F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61FD-49DE-B1D1-38432895606E}"/>
              </c:ext>
            </c:extLst>
          </c:dPt>
          <c:cat>
            <c:strRef>
              <c:f>Sheet1!$A$2:$A$7</c:f>
              <c:strCache>
                <c:ptCount val="6"/>
                <c:pt idx="0">
                  <c:v>OS</c:v>
                </c:pt>
                <c:pt idx="1">
                  <c:v>WEB/WAS</c:v>
                </c:pt>
                <c:pt idx="2">
                  <c:v>DBMS</c:v>
                </c:pt>
                <c:pt idx="3">
                  <c:v>모니터링</c:v>
                </c:pt>
                <c:pt idx="4">
                  <c:v>시스템보안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</c:v>
                </c:pt>
                <c:pt idx="1">
                  <c:v>61</c:v>
                </c:pt>
                <c:pt idx="2">
                  <c:v>23</c:v>
                </c:pt>
                <c:pt idx="3">
                  <c:v>273</c:v>
                </c:pt>
                <c:pt idx="4">
                  <c:v>279</c:v>
                </c:pt>
                <c:pt idx="5">
                  <c:v>745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61FD-49DE-B1D1-3843289560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82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4.2175252817545389E-2"/>
          <c:y val="6.6263928706273872E-2"/>
          <c:w val="0.91217947034282709"/>
          <c:h val="0.810385080228209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25년</c:v>
                </c:pt>
              </c:strCache>
            </c:strRef>
          </c:tx>
          <c:spPr>
            <a:solidFill>
              <a:srgbClr val="E6E7E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07C-4AC5-BD7C-F756EF3236E9}"/>
              </c:ext>
            </c:extLst>
          </c:dPt>
          <c:dPt>
            <c:idx val="3"/>
            <c:invertIfNegative val="0"/>
            <c:bubble3D val="0"/>
            <c:spPr>
              <a:solidFill>
                <a:srgbClr val="E6E7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07C-4AC5-BD7C-F756EF3236E9}"/>
              </c:ext>
            </c:extLst>
          </c:dPt>
          <c:dLbls>
            <c:dLbl>
              <c:idx val="3"/>
              <c:layout>
                <c:manualLayout>
                  <c:x val="-3.8341138925041965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07C-4AC5-BD7C-F756EF3236E9}"/>
                </c:ext>
              </c:extLst>
            </c:dLbl>
            <c:dLbl>
              <c:idx val="4"/>
              <c:layout>
                <c:manualLayout>
                  <c:x val="-7.6682277850082525E-3"/>
                  <c:y val="5.521930269046482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407C-4AC5-BD7C-F756EF3236E9}"/>
                </c:ext>
              </c:extLst>
            </c:dLbl>
            <c:dLbl>
              <c:idx val="5"/>
              <c:layout>
                <c:manualLayout>
                  <c:x val="-3.834113892504126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07C-4AC5-BD7C-F756EF3236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OS</c:v>
                </c:pt>
                <c:pt idx="1">
                  <c:v>WEB/WAS</c:v>
                </c:pt>
                <c:pt idx="2">
                  <c:v>DBMS</c:v>
                </c:pt>
                <c:pt idx="3">
                  <c:v>모니터링</c:v>
                </c:pt>
                <c:pt idx="4">
                  <c:v>시스템보안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</c:v>
                </c:pt>
                <c:pt idx="1">
                  <c:v>61</c:v>
                </c:pt>
                <c:pt idx="2">
                  <c:v>23</c:v>
                </c:pt>
                <c:pt idx="3">
                  <c:v>273</c:v>
                </c:pt>
                <c:pt idx="4">
                  <c:v>279</c:v>
                </c:pt>
                <c:pt idx="5">
                  <c:v>745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07C-4AC5-BD7C-F756EF3236E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26년</c:v>
                </c:pt>
              </c:strCache>
            </c:strRef>
          </c:tx>
          <c:spPr>
            <a:solidFill>
              <a:srgbClr val="426FD2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3.834113892504126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407C-4AC5-BD7C-F756EF3236E9}"/>
                </c:ext>
              </c:extLst>
            </c:dLbl>
            <c:dLbl>
              <c:idx val="4"/>
              <c:layout>
                <c:manualLayout>
                  <c:x val="7.6682277850082525E-3"/>
                  <c:y val="5.5219302690464829E-17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407C-4AC5-BD7C-F756EF3236E9}"/>
                </c:ext>
              </c:extLst>
            </c:dLbl>
            <c:dLbl>
              <c:idx val="5"/>
              <c:layout>
                <c:manualLayout>
                  <c:x val="3.8341138925041263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407C-4AC5-BD7C-F756EF3236E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OS</c:v>
                </c:pt>
                <c:pt idx="1">
                  <c:v>WEB/WAS</c:v>
                </c:pt>
                <c:pt idx="2">
                  <c:v>DBMS</c:v>
                </c:pt>
                <c:pt idx="3">
                  <c:v>모니터링</c:v>
                </c:pt>
                <c:pt idx="4">
                  <c:v>시스템보안</c:v>
                </c:pt>
                <c:pt idx="5">
                  <c:v>기타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21</c:v>
                </c:pt>
                <c:pt idx="1">
                  <c:v>61</c:v>
                </c:pt>
                <c:pt idx="2">
                  <c:v>23</c:v>
                </c:pt>
                <c:pt idx="3">
                  <c:v>273</c:v>
                </c:pt>
                <c:pt idx="4">
                  <c:v>279</c:v>
                </c:pt>
                <c:pt idx="5">
                  <c:v>745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407C-4AC5-BD7C-F756EF3236E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03502768"/>
        <c:axId val="403503160"/>
      </c:barChart>
      <c:catAx>
        <c:axId val="403502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ln>
                  <a:solidFill>
                    <a:schemeClr val="bg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endParaRPr lang="ko-KR"/>
          </a:p>
        </c:txPr>
        <c:crossAx val="403503160"/>
        <c:crosses val="autoZero"/>
        <c:auto val="1"/>
        <c:lblAlgn val="ctr"/>
        <c:lblOffset val="100"/>
        <c:noMultiLvlLbl val="0"/>
      </c:catAx>
      <c:valAx>
        <c:axId val="4035031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03502768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n>
            <a:solidFill>
              <a:schemeClr val="bg2">
                <a:lumMod val="20000"/>
                <a:lumOff val="80000"/>
                <a:alpha val="0"/>
              </a:schemeClr>
            </a:solidFill>
          </a:ln>
          <a:solidFill>
            <a:schemeClr val="tx1">
              <a:lumMod val="75000"/>
              <a:lumOff val="25000"/>
            </a:schemeClr>
          </a:solidFill>
          <a:latin typeface="KoPub돋움체 Medium" panose="00000600000000000000" pitchFamily="2" charset="-127"/>
          <a:ea typeface="KoPub돋움체 Medium" panose="00000600000000000000" pitchFamily="2" charset="-127"/>
        </a:defRPr>
      </a:pPr>
      <a:endParaRPr lang="ko-KR"/>
    </a:p>
  </c:txPr>
  <c:externalData r:id="rId4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25년</c:v>
                </c:pt>
              </c:strCache>
            </c:strRef>
          </c:tx>
          <c:spPr>
            <a:solidFill>
              <a:srgbClr val="E6E7E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C49-492C-B84E-5E18500B3377}"/>
              </c:ext>
            </c:extLst>
          </c:dPt>
          <c:dPt>
            <c:idx val="3"/>
            <c:invertIfNegative val="0"/>
            <c:bubble3D val="0"/>
            <c:spPr>
              <a:solidFill>
                <a:srgbClr val="E6E7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C49-492C-B84E-5E18500B3377}"/>
              </c:ext>
            </c:extLst>
          </c:dPt>
          <c:dLbls>
            <c:dLbl>
              <c:idx val="2"/>
              <c:layout>
                <c:manualLayout>
                  <c:x val="-6.7834343192636716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8C49-492C-B84E-5E18500B3377}"/>
                </c:ext>
              </c:extLst>
            </c:dLbl>
            <c:dLbl>
              <c:idx val="3"/>
              <c:layout>
                <c:manualLayout>
                  <c:x val="-1.6958585798159179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1,342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8C49-492C-B84E-5E18500B3377}"/>
                </c:ext>
              </c:extLst>
            </c:dLbl>
            <c:dLbl>
              <c:idx val="4"/>
              <c:layout>
                <c:manualLayout>
                  <c:x val="-2.3742020117422914E-2"/>
                  <c:y val="-8.6280160453851296E-19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4,120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8C49-492C-B84E-5E18500B3377}"/>
                </c:ext>
              </c:extLst>
            </c:dLbl>
            <c:dLbl>
              <c:idx val="5"/>
              <c:layout>
                <c:manualLayout>
                  <c:x val="-3.3917171596318358E-3"/>
                  <c:y val="-1.1043860538092966E-16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8C49-492C-B84E-5E18500B33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연계</c:v>
                </c:pt>
                <c:pt idx="1">
                  <c:v>관제</c:v>
                </c:pt>
                <c:pt idx="2">
                  <c:v>UI</c:v>
                </c:pt>
                <c:pt idx="3">
                  <c:v>보안</c:v>
                </c:pt>
                <c:pt idx="4">
                  <c:v>업무</c:v>
                </c:pt>
                <c:pt idx="5">
                  <c:v>기타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80</c:v>
                </c:pt>
                <c:pt idx="1">
                  <c:v>30</c:v>
                </c:pt>
                <c:pt idx="2">
                  <c:v>270</c:v>
                </c:pt>
                <c:pt idx="3">
                  <c:v>1342</c:v>
                </c:pt>
                <c:pt idx="4">
                  <c:v>4120</c:v>
                </c:pt>
                <c:pt idx="5">
                  <c:v>139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8C49-492C-B84E-5E18500B337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26년</c:v>
                </c:pt>
              </c:strCache>
            </c:strRef>
          </c:tx>
          <c:spPr>
            <a:solidFill>
              <a:srgbClr val="426FD2"/>
            </a:solidFill>
            <a:ln>
              <a:noFill/>
            </a:ln>
            <a:effectLst/>
          </c:spPr>
          <c:invertIfNegative val="0"/>
          <c:dLbls>
            <c:dLbl>
              <c:idx val="2"/>
              <c:layout>
                <c:manualLayout>
                  <c:x val="3.391717159631835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8C49-492C-B84E-5E18500B3377}"/>
                </c:ext>
              </c:extLst>
            </c:dLbl>
            <c:dLbl>
              <c:idx val="3"/>
              <c:layout>
                <c:manualLayout>
                  <c:x val="1.3566868638527281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1,363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C49-492C-B84E-5E18500B3377}"/>
                </c:ext>
              </c:extLst>
            </c:dLbl>
            <c:dLbl>
              <c:idx val="4"/>
              <c:layout>
                <c:manualLayout>
                  <c:x val="1.3566868638527218E-2"/>
                  <c:y val="-2.1570040113462824E-19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4,153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8C49-492C-B84E-5E18500B3377}"/>
                </c:ext>
              </c:extLst>
            </c:dLbl>
            <c:dLbl>
              <c:idx val="5"/>
              <c:layout>
                <c:manualLayout>
                  <c:x val="3.3917171596318358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8C49-492C-B84E-5E18500B337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Sheet1!$A$2:$A$7</c:f>
              <c:strCache>
                <c:ptCount val="6"/>
                <c:pt idx="0">
                  <c:v>연계</c:v>
                </c:pt>
                <c:pt idx="1">
                  <c:v>관제</c:v>
                </c:pt>
                <c:pt idx="2">
                  <c:v>UI</c:v>
                </c:pt>
                <c:pt idx="3">
                  <c:v>보안</c:v>
                </c:pt>
                <c:pt idx="4">
                  <c:v>업무</c:v>
                </c:pt>
                <c:pt idx="5">
                  <c:v>기타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82</c:v>
                </c:pt>
                <c:pt idx="1">
                  <c:v>30</c:v>
                </c:pt>
                <c:pt idx="2">
                  <c:v>276</c:v>
                </c:pt>
                <c:pt idx="3">
                  <c:v>1363</c:v>
                </c:pt>
                <c:pt idx="4">
                  <c:v>4153</c:v>
                </c:pt>
                <c:pt idx="5">
                  <c:v>156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C49-492C-B84E-5E18500B3377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03502768"/>
        <c:axId val="403503160"/>
      </c:barChart>
      <c:catAx>
        <c:axId val="403502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ln>
                  <a:solidFill>
                    <a:schemeClr val="bg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endParaRPr lang="ko-KR"/>
          </a:p>
        </c:txPr>
        <c:crossAx val="403503160"/>
        <c:crosses val="autoZero"/>
        <c:auto val="1"/>
        <c:lblAlgn val="ctr"/>
        <c:lblOffset val="100"/>
        <c:noMultiLvlLbl val="0"/>
      </c:catAx>
      <c:valAx>
        <c:axId val="4035031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03502768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n>
            <a:solidFill>
              <a:schemeClr val="bg2">
                <a:lumMod val="20000"/>
                <a:lumOff val="80000"/>
                <a:alpha val="0"/>
              </a:schemeClr>
            </a:solidFill>
          </a:ln>
          <a:solidFill>
            <a:schemeClr val="tx1">
              <a:lumMod val="75000"/>
              <a:lumOff val="25000"/>
            </a:schemeClr>
          </a:solidFill>
          <a:latin typeface="KoPub돋움체 Medium" panose="00000600000000000000" pitchFamily="2" charset="-127"/>
          <a:ea typeface="KoPub돋움체 Medium" panose="00000600000000000000" pitchFamily="2" charset="-127"/>
        </a:defRPr>
      </a:pPr>
      <a:endParaRPr lang="ko-KR"/>
    </a:p>
  </c:txPr>
  <c:externalData r:id="rId4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수량</c:v>
                </c:pt>
              </c:strCache>
            </c:strRef>
          </c:tx>
          <c:spPr>
            <a:solidFill>
              <a:srgbClr val="2D58B9"/>
            </a:solidFill>
          </c:spPr>
          <c:dPt>
            <c:idx val="0"/>
            <c:bubble3D val="0"/>
            <c:spPr>
              <a:solidFill>
                <a:srgbClr val="2D58B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8416-4B0C-9EFF-9DE43FD04D07}"/>
              </c:ext>
            </c:extLst>
          </c:dPt>
          <c:dPt>
            <c:idx val="1"/>
            <c:bubble3D val="0"/>
            <c:spPr>
              <a:solidFill>
                <a:srgbClr val="426FD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8416-4B0C-9EFF-9DE43FD04D07}"/>
              </c:ext>
            </c:extLst>
          </c:dPt>
          <c:dPt>
            <c:idx val="2"/>
            <c:bubble3D val="0"/>
            <c:spPr>
              <a:solidFill>
                <a:srgbClr val="7897D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8416-4B0C-9EFF-9DE43FD04D07}"/>
              </c:ext>
            </c:extLst>
          </c:dPt>
          <c:dPt>
            <c:idx val="3"/>
            <c:bubble3D val="0"/>
            <c:spPr>
              <a:solidFill>
                <a:srgbClr val="D2DCF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8416-4B0C-9EFF-9DE43FD04D07}"/>
              </c:ext>
            </c:extLst>
          </c:dPt>
          <c:dPt>
            <c:idx val="4"/>
            <c:bubble3D val="0"/>
            <c:spPr>
              <a:solidFill>
                <a:srgbClr val="A5BA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8416-4B0C-9EFF-9DE43FD04D07}"/>
              </c:ext>
            </c:extLst>
          </c:dPt>
          <c:dPt>
            <c:idx val="5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8416-4B0C-9EFF-9DE43FD04D07}"/>
              </c:ext>
            </c:extLst>
          </c:dPt>
          <c:cat>
            <c:strRef>
              <c:f>Sheet1!$A$2:$A$8</c:f>
              <c:strCache>
                <c:ptCount val="7"/>
                <c:pt idx="0">
                  <c:v>PC</c:v>
                </c:pt>
                <c:pt idx="1">
                  <c:v>노트북</c:v>
                </c:pt>
                <c:pt idx="2">
                  <c:v>모니터</c:v>
                </c:pt>
                <c:pt idx="3">
                  <c:v>프린터</c:v>
                </c:pt>
                <c:pt idx="4">
                  <c:v>스캐너</c:v>
                </c:pt>
                <c:pt idx="5">
                  <c:v>프로젝터</c:v>
                </c:pt>
                <c:pt idx="6">
                  <c:v>기타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5417</c:v>
                </c:pt>
                <c:pt idx="1">
                  <c:v>298</c:v>
                </c:pt>
                <c:pt idx="2">
                  <c:v>5495</c:v>
                </c:pt>
                <c:pt idx="3">
                  <c:v>1228</c:v>
                </c:pt>
                <c:pt idx="4">
                  <c:v>121</c:v>
                </c:pt>
                <c:pt idx="5">
                  <c:v>14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416-4B0C-9EFF-9DE43FD04D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82"/>
      </c:pieChart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 w="9525" cap="flat" cmpd="sng" algn="ctr">
      <a:noFill/>
      <a:prstDash val="solid"/>
    </a:ln>
    <a:effectLst/>
  </c:spPr>
  <c:txPr>
    <a:bodyPr/>
    <a:lstStyle/>
    <a:p>
      <a:pPr>
        <a:defRPr/>
      </a:pPr>
      <a:endParaRPr lang="ko-KR"/>
    </a:p>
  </c:tx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3.6618063635746462E-2"/>
          <c:y val="6.6263928706273872E-2"/>
          <c:w val="0.8072390530469139"/>
          <c:h val="0.8103850802282097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25년</c:v>
                </c:pt>
              </c:strCache>
            </c:strRef>
          </c:tx>
          <c:spPr>
            <a:solidFill>
              <a:srgbClr val="E6E7E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D9D9D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3C9-4EE9-8B89-F4E10A160273}"/>
              </c:ext>
            </c:extLst>
          </c:dPt>
          <c:dPt>
            <c:idx val="3"/>
            <c:invertIfNegative val="0"/>
            <c:bubble3D val="0"/>
            <c:spPr>
              <a:solidFill>
                <a:srgbClr val="E6E7E9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3C9-4EE9-8B89-F4E10A160273}"/>
              </c:ext>
            </c:extLst>
          </c:dPt>
          <c:dLbls>
            <c:dLbl>
              <c:idx val="0"/>
              <c:layout>
                <c:manualLayout>
                  <c:x val="-2.330240413183866E-2"/>
                  <c:y val="6.0239935187521697E-3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5,417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13C9-4EE9-8B89-F4E10A160273}"/>
                </c:ext>
              </c:extLst>
            </c:dLbl>
            <c:dLbl>
              <c:idx val="1"/>
              <c:layout>
                <c:manualLayout>
                  <c:x val="-6.6578297519539181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13C9-4EE9-8B89-F4E10A160273}"/>
                </c:ext>
              </c:extLst>
            </c:dLbl>
            <c:dLbl>
              <c:idx val="2"/>
              <c:layout>
                <c:manualLayout>
                  <c:x val="-2.3302404131838692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5,495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13C9-4EE9-8B89-F4E10A160273}"/>
                </c:ext>
              </c:extLst>
            </c:dLbl>
            <c:dLbl>
              <c:idx val="3"/>
              <c:layout>
                <c:manualLayout>
                  <c:x val="-1.6644574379884758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1,228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13C9-4EE9-8B89-F4E10A160273}"/>
                </c:ext>
              </c:extLst>
            </c:dLbl>
            <c:dLbl>
              <c:idx val="4"/>
              <c:layout>
                <c:manualLayout>
                  <c:x val="-6.657829751953964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13C9-4EE9-8B89-F4E10A16027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PC</c:v>
                </c:pt>
                <c:pt idx="1">
                  <c:v>노트북</c:v>
                </c:pt>
                <c:pt idx="2">
                  <c:v>모니터</c:v>
                </c:pt>
                <c:pt idx="3">
                  <c:v>프린터</c:v>
                </c:pt>
                <c:pt idx="4">
                  <c:v>스캐너</c:v>
                </c:pt>
                <c:pt idx="5">
                  <c:v>프로젝터</c:v>
                </c:pt>
                <c:pt idx="6">
                  <c:v>플로터</c:v>
                </c:pt>
                <c:pt idx="7">
                  <c:v>다가우저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5417</c:v>
                </c:pt>
                <c:pt idx="1">
                  <c:v>298</c:v>
                </c:pt>
                <c:pt idx="2">
                  <c:v>5495</c:v>
                </c:pt>
                <c:pt idx="3">
                  <c:v>1228</c:v>
                </c:pt>
                <c:pt idx="4">
                  <c:v>121</c:v>
                </c:pt>
                <c:pt idx="5">
                  <c:v>14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3C9-4EE9-8B89-F4E10A16027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26년</c:v>
                </c:pt>
              </c:strCache>
            </c:strRef>
          </c:tx>
          <c:spPr>
            <a:solidFill>
              <a:srgbClr val="426FD2"/>
            </a:solidFill>
            <a:ln>
              <a:noFill/>
            </a:ln>
            <a:effectLst/>
          </c:spPr>
          <c:invertIfNegative val="0"/>
          <c:dLbls>
            <c:dLbl>
              <c:idx val="0"/>
              <c:layout>
                <c:manualLayout>
                  <c:x val="1.6644574379884758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5,418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13C9-4EE9-8B89-F4E10A160273}"/>
                </c:ext>
              </c:extLst>
            </c:dLbl>
            <c:dLbl>
              <c:idx val="1"/>
              <c:layout>
                <c:manualLayout>
                  <c:x val="1.3315659503907805E-2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13C9-4EE9-8B89-F4E10A160273}"/>
                </c:ext>
              </c:extLst>
            </c:dLbl>
            <c:dLbl>
              <c:idx val="2"/>
              <c:layout>
                <c:manualLayout>
                  <c:x val="1.9973489255861707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sz="800" b="0" i="0" u="none" strike="noStrike" kern="1200" baseline="0" dirty="0">
                        <a:ln>
                          <a:solidFill>
                            <a:srgbClr val="51565D">
                              <a:lumMod val="20000"/>
                              <a:lumOff val="80000"/>
                              <a:alpha val="0"/>
                            </a:srgbClr>
                          </a:solidFill>
                        </a:ln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rPr>
                      <a:t>5,495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13C9-4EE9-8B89-F4E10A160273}"/>
                </c:ext>
              </c:extLst>
            </c:dLbl>
            <c:dLbl>
              <c:idx val="3"/>
              <c:layout>
                <c:manualLayout>
                  <c:x val="2.330240413183866E-2"/>
                  <c:y val="0"/>
                </c:manualLayout>
              </c:layout>
              <c:tx>
                <c:rich>
                  <a:bodyPr/>
                  <a:lstStyle/>
                  <a:p>
                    <a:r>
                      <a:rPr lang="en-US" altLang="ko-KR" dirty="0"/>
                      <a:t>1,213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13C9-4EE9-8B89-F4E10A160273}"/>
                </c:ext>
              </c:extLst>
            </c:dLbl>
            <c:dLbl>
              <c:idx val="4"/>
              <c:layout>
                <c:manualLayout>
                  <c:x val="6.6578297519538417E-3"/>
                  <c:y val="0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C-13C9-4EE9-8B89-F4E10A16027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ln>
                      <a:solidFill>
                        <a:schemeClr val="bg2">
                          <a:lumMod val="20000"/>
                          <a:lumOff val="80000"/>
                          <a:alpha val="0"/>
                        </a:schemeClr>
                      </a:solidFill>
                    </a:ln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+mn-cs"/>
                  </a:defRPr>
                </a:pPr>
                <a:endParaRPr lang="ko-KR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Sheet1!$A$2:$A$9</c:f>
              <c:strCache>
                <c:ptCount val="8"/>
                <c:pt idx="0">
                  <c:v>PC</c:v>
                </c:pt>
                <c:pt idx="1">
                  <c:v>노트북</c:v>
                </c:pt>
                <c:pt idx="2">
                  <c:v>모니터</c:v>
                </c:pt>
                <c:pt idx="3">
                  <c:v>프린터</c:v>
                </c:pt>
                <c:pt idx="4">
                  <c:v>스캐너</c:v>
                </c:pt>
                <c:pt idx="5">
                  <c:v>프로젝터</c:v>
                </c:pt>
                <c:pt idx="6">
                  <c:v>플로터</c:v>
                </c:pt>
                <c:pt idx="7">
                  <c:v>다가우저</c:v>
                </c:pt>
              </c:strCache>
            </c:strRef>
          </c:cat>
          <c:val>
            <c:numRef>
              <c:f>Sheet1!$C$2:$C$9</c:f>
              <c:numCache>
                <c:formatCode>General</c:formatCode>
                <c:ptCount val="8"/>
                <c:pt idx="0">
                  <c:v>5418</c:v>
                </c:pt>
                <c:pt idx="1">
                  <c:v>298</c:v>
                </c:pt>
                <c:pt idx="2">
                  <c:v>5495</c:v>
                </c:pt>
                <c:pt idx="3">
                  <c:v>1213</c:v>
                </c:pt>
                <c:pt idx="4">
                  <c:v>121</c:v>
                </c:pt>
                <c:pt idx="5">
                  <c:v>14</c:v>
                </c:pt>
                <c:pt idx="6">
                  <c:v>1</c:v>
                </c:pt>
                <c:pt idx="7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13C9-4EE9-8B89-F4E10A16027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403502768"/>
        <c:axId val="403503160"/>
      </c:barChart>
      <c:catAx>
        <c:axId val="4035027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ln>
                  <a:solidFill>
                    <a:schemeClr val="bg2">
                      <a:lumMod val="20000"/>
                      <a:lumOff val="80000"/>
                      <a:alpha val="0"/>
                    </a:scheme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defRPr>
            </a:pPr>
            <a:endParaRPr lang="ko-KR"/>
          </a:p>
        </c:txPr>
        <c:crossAx val="403503160"/>
        <c:crosses val="autoZero"/>
        <c:auto val="1"/>
        <c:lblAlgn val="ctr"/>
        <c:lblOffset val="100"/>
        <c:noMultiLvlLbl val="0"/>
      </c:catAx>
      <c:valAx>
        <c:axId val="403503160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403502768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 sz="800">
          <a:ln>
            <a:solidFill>
              <a:schemeClr val="bg2">
                <a:lumMod val="20000"/>
                <a:lumOff val="80000"/>
                <a:alpha val="0"/>
              </a:schemeClr>
            </a:solidFill>
          </a:ln>
          <a:solidFill>
            <a:schemeClr val="tx1">
              <a:lumMod val="75000"/>
              <a:lumOff val="25000"/>
            </a:schemeClr>
          </a:solidFill>
          <a:latin typeface="KoPub돋움체 Medium" panose="00000600000000000000" pitchFamily="2" charset="-127"/>
          <a:ea typeface="KoPub돋움체 Medium" panose="00000600000000000000" pitchFamily="2" charset="-127"/>
        </a:defRPr>
      </a:pPr>
      <a:endParaRPr lang="ko-KR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0.77252</cdr:x>
      <cdr:y>0.2176</cdr:y>
    </cdr:from>
    <cdr:to>
      <cdr:x>0.94977</cdr:x>
      <cdr:y>0.2176</cdr:y>
    </cdr:to>
    <cdr:sp macro="" textlink="">
      <cdr:nvSpPr>
        <cdr:cNvPr id="2" name="자유형: 도형 1">
          <a:extLst xmlns:a="http://schemas.openxmlformats.org/drawingml/2006/main">
            <a:ext uri="{FF2B5EF4-FFF2-40B4-BE49-F238E27FC236}">
              <a16:creationId xmlns:a16="http://schemas.microsoft.com/office/drawing/2014/main" id="{70BF1B53-0B5E-63A1-3FCB-6196C2BB9B32}"/>
            </a:ext>
          </a:extLst>
        </cdr:cNvPr>
        <cdr:cNvSpPr/>
      </cdr:nvSpPr>
      <cdr:spPr>
        <a:xfrm xmlns:a="http://schemas.openxmlformats.org/drawingml/2006/main">
          <a:off x="1961519" y="462503"/>
          <a:ext cx="450056" cy="0"/>
        </a:xfrm>
        <a:custGeom xmlns:a="http://schemas.openxmlformats.org/drawingml/2006/main">
          <a:avLst/>
          <a:gdLst>
            <a:gd name="connsiteX0" fmla="*/ 450056 w 450056"/>
            <a:gd name="connsiteY0" fmla="*/ 0 h 0"/>
            <a:gd name="connsiteX1" fmla="*/ 0 w 450056"/>
            <a:gd name="connsiteY1" fmla="*/ 0 h 0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</a:cxnLst>
          <a:rect l="l" t="t" r="r" b="b"/>
          <a:pathLst>
            <a:path w="450056">
              <a:moveTo>
                <a:pt x="450056" y="0"/>
              </a:moveTo>
              <a:lnTo>
                <a:pt x="0" y="0"/>
              </a:lnTo>
            </a:path>
          </a:pathLst>
        </a:custGeom>
        <a:noFill xmlns:a="http://schemas.openxmlformats.org/drawingml/2006/main"/>
        <a:ln xmlns:a="http://schemas.openxmlformats.org/drawingml/2006/main" w="9525">
          <a:solidFill>
            <a:schemeClr val="bg1">
              <a:lumMod val="50000"/>
            </a:schemeClr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/>
        <a:p xmlns:a="http://schemas.openxmlformats.org/drawingml/2006/main">
          <a:pPr marL="0" algn="ctr" defTabSz="1018844" rtl="0" eaLnBrk="1" latinLnBrk="1" hangingPunct="1"/>
          <a:endParaRPr lang="ko-KR" altLang="en-US" sz="2006" kern="1200">
            <a:solidFill>
              <a:schemeClr val="lt1"/>
            </a:solidFill>
            <a:latin typeface="+mn-lt"/>
            <a:ea typeface="+mn-ea"/>
            <a:cs typeface="+mn-cs"/>
          </a:endParaRPr>
        </a:p>
      </cdr:txBody>
    </cdr:sp>
  </cdr:relSizeAnchor>
  <cdr:relSizeAnchor xmlns:cdr="http://schemas.openxmlformats.org/drawingml/2006/chartDrawing">
    <cdr:from>
      <cdr:x>0.74438</cdr:x>
      <cdr:y>0.12013</cdr:y>
    </cdr:from>
    <cdr:to>
      <cdr:x>0.95258</cdr:x>
      <cdr:y>0.17839</cdr:y>
    </cdr:to>
    <cdr:sp macro="" textlink="">
      <cdr:nvSpPr>
        <cdr:cNvPr id="3" name="자유형: 도형 2">
          <a:extLst xmlns:a="http://schemas.openxmlformats.org/drawingml/2006/main">
            <a:ext uri="{FF2B5EF4-FFF2-40B4-BE49-F238E27FC236}">
              <a16:creationId xmlns:a16="http://schemas.microsoft.com/office/drawing/2014/main" id="{5BFD77F0-1568-80B5-F05D-7024E99F5196}"/>
            </a:ext>
          </a:extLst>
        </cdr:cNvPr>
        <cdr:cNvSpPr/>
      </cdr:nvSpPr>
      <cdr:spPr>
        <a:xfrm xmlns:a="http://schemas.openxmlformats.org/drawingml/2006/main">
          <a:off x="1890081" y="255334"/>
          <a:ext cx="528638" cy="123825"/>
        </a:xfrm>
        <a:custGeom xmlns:a="http://schemas.openxmlformats.org/drawingml/2006/main">
          <a:avLst/>
          <a:gdLst>
            <a:gd name="connsiteX0" fmla="*/ 528638 w 528638"/>
            <a:gd name="connsiteY0" fmla="*/ 0 h 123825"/>
            <a:gd name="connsiteX1" fmla="*/ 78582 w 528638"/>
            <a:gd name="connsiteY1" fmla="*/ 0 h 123825"/>
            <a:gd name="connsiteX2" fmla="*/ 0 w 528638"/>
            <a:gd name="connsiteY2" fmla="*/ 123825 h 123825"/>
          </a:gdLst>
          <a:ahLst/>
          <a:cxnLst>
            <a:cxn ang="0">
              <a:pos x="connsiteX0" y="connsiteY0"/>
            </a:cxn>
            <a:cxn ang="0">
              <a:pos x="connsiteX1" y="connsiteY1"/>
            </a:cxn>
            <a:cxn ang="0">
              <a:pos x="connsiteX2" y="connsiteY2"/>
            </a:cxn>
          </a:cxnLst>
          <a:rect l="l" t="t" r="r" b="b"/>
          <a:pathLst>
            <a:path w="528638" h="123825">
              <a:moveTo>
                <a:pt x="528638" y="0"/>
              </a:moveTo>
              <a:lnTo>
                <a:pt x="78582" y="0"/>
              </a:lnTo>
              <a:lnTo>
                <a:pt x="0" y="123825"/>
              </a:lnTo>
            </a:path>
          </a:pathLst>
        </a:custGeom>
        <a:noFill xmlns:a="http://schemas.openxmlformats.org/drawingml/2006/main"/>
        <a:ln xmlns:a="http://schemas.openxmlformats.org/drawingml/2006/main" w="9525">
          <a:solidFill>
            <a:schemeClr val="bg1">
              <a:lumMod val="50000"/>
            </a:schemeClr>
          </a:solidFill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/>
        <a:p xmlns:a="http://schemas.openxmlformats.org/drawingml/2006/main">
          <a:pPr marL="0" algn="ctr" defTabSz="1018844" rtl="0" eaLnBrk="1" latinLnBrk="1" hangingPunct="1"/>
          <a:endParaRPr lang="ko-KR" altLang="en-US" sz="2006" kern="1200">
            <a:solidFill>
              <a:schemeClr val="lt1"/>
            </a:solidFill>
            <a:latin typeface="+mn-lt"/>
            <a:ea typeface="+mn-ea"/>
            <a:cs typeface="+mn-cs"/>
          </a:endParaRP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0BDE7350-D5A0-44F1-94B9-C1A06349908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5550" tIns="47775" rIns="95550" bIns="47775" rtlCol="0"/>
          <a:lstStyle>
            <a:lvl1pPr algn="l">
              <a:defRPr sz="1200"/>
            </a:lvl1pPr>
          </a:lstStyle>
          <a:p>
            <a:endParaRPr lang="ko-KR" altLang="en-US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B3C7925-CABB-457B-B448-5486D70AD26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5550" tIns="47775" rIns="95550" bIns="47775" rtlCol="0"/>
          <a:lstStyle>
            <a:lvl1pPr algn="r">
              <a:defRPr sz="1200"/>
            </a:lvl1pPr>
          </a:lstStyle>
          <a:p>
            <a:fld id="{282BC94A-AD41-488A-A6E8-B1DD8B4F8351}" type="datetimeFigureOut">
              <a:rPr lang="ko-KR" altLang="en-US" smtClean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11-19(Tue)</a:t>
            </a:fld>
            <a:endParaRPr lang="ko-KR" altLang="en-US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6A1812F-26FE-41E0-B541-583D4EA11D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5550" tIns="47775" rIns="95550" bIns="47775" rtlCol="0" anchor="b"/>
          <a:lstStyle>
            <a:lvl1pPr algn="l">
              <a:defRPr sz="1200"/>
            </a:lvl1pPr>
          </a:lstStyle>
          <a:p>
            <a:endParaRPr lang="ko-KR" altLang="en-US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E60868E9-3EF3-4658-AEF1-4BDFE3BD1C7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5550" tIns="47775" rIns="95550" bIns="47775" rtlCol="0" anchor="b"/>
          <a:lstStyle>
            <a:lvl1pPr algn="r">
              <a:defRPr sz="1200"/>
            </a:lvl1pPr>
          </a:lstStyle>
          <a:p>
            <a:fld id="{C089FCC5-8B67-46AB-936A-0AE417B585F0}" type="slidenum">
              <a:rPr lang="ko-KR" altLang="en-US" smtClean="0">
                <a:latin typeface="KoPub돋움체 Light" panose="00000300000000000000" pitchFamily="2" charset="-127"/>
                <a:ea typeface="KoPub돋움체 Light" panose="00000300000000000000" pitchFamily="2" charset="-127"/>
              </a:rPr>
              <a:t>‹#›</a:t>
            </a:fld>
            <a:endParaRPr lang="ko-KR" altLang="en-US" dirty="0">
              <a:latin typeface="KoPub돋움체 Light" panose="00000300000000000000" pitchFamily="2" charset="-127"/>
              <a:ea typeface="KoPub돋움체 Light" panose="000003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6748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5659" cy="498056"/>
          </a:xfrm>
          <a:prstGeom prst="rect">
            <a:avLst/>
          </a:prstGeom>
        </p:spPr>
        <p:txBody>
          <a:bodyPr vert="horz" lIns="95550" tIns="47775" rIns="95550" bIns="47775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5550" tIns="47775" rIns="95550" bIns="47775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CC09CD2B-AE9C-444A-AE1A-667286B8880A}" type="datetimeFigureOut">
              <a:rPr lang="ko-KR" altLang="en-US" smtClean="0"/>
              <a:pPr/>
              <a:t>11-19(Tue)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05038" y="1241425"/>
            <a:ext cx="23876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550" tIns="47775" rIns="95550" bIns="47775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768" y="4777195"/>
            <a:ext cx="5438140" cy="3908614"/>
          </a:xfrm>
          <a:prstGeom prst="rect">
            <a:avLst/>
          </a:prstGeom>
        </p:spPr>
        <p:txBody>
          <a:bodyPr vert="horz" lIns="95550" tIns="47775" rIns="95550" bIns="47775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28584"/>
            <a:ext cx="2945659" cy="498055"/>
          </a:xfrm>
          <a:prstGeom prst="rect">
            <a:avLst/>
          </a:prstGeom>
        </p:spPr>
        <p:txBody>
          <a:bodyPr vert="horz" lIns="95550" tIns="47775" rIns="95550" bIns="47775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5550" tIns="47775" rIns="95550" bIns="47775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FBA37A1B-D57D-4413-92A8-88D8D0E5A0D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516057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18844" rtl="0" eaLnBrk="1" latinLnBrk="1" hangingPunct="1">
      <a:defRPr sz="1337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  <a:lvl2pPr marL="509422" algn="l" defTabSz="1018844" rtl="0" eaLnBrk="1" latinLnBrk="1" hangingPunct="1">
      <a:defRPr sz="1337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2pPr>
    <a:lvl3pPr marL="1018844" algn="l" defTabSz="1018844" rtl="0" eaLnBrk="1" latinLnBrk="1" hangingPunct="1">
      <a:defRPr sz="1337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3pPr>
    <a:lvl4pPr marL="1528266" algn="l" defTabSz="1018844" rtl="0" eaLnBrk="1" latinLnBrk="1" hangingPunct="1">
      <a:defRPr sz="1337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4pPr>
    <a:lvl5pPr marL="2037688" algn="l" defTabSz="1018844" rtl="0" eaLnBrk="1" latinLnBrk="1" hangingPunct="1">
      <a:defRPr sz="1337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5pPr>
    <a:lvl6pPr marL="2547109" algn="l" defTabSz="1018844" rtl="0" eaLnBrk="1" latinLnBrk="1" hangingPunct="1">
      <a:defRPr sz="1337" kern="1200">
        <a:solidFill>
          <a:schemeClr val="tx1"/>
        </a:solidFill>
        <a:latin typeface="+mn-lt"/>
        <a:ea typeface="+mn-ea"/>
        <a:cs typeface="+mn-cs"/>
      </a:defRPr>
    </a:lvl6pPr>
    <a:lvl7pPr marL="3056532" algn="l" defTabSz="1018844" rtl="0" eaLnBrk="1" latinLnBrk="1" hangingPunct="1">
      <a:defRPr sz="1337" kern="1200">
        <a:solidFill>
          <a:schemeClr val="tx1"/>
        </a:solidFill>
        <a:latin typeface="+mn-lt"/>
        <a:ea typeface="+mn-ea"/>
        <a:cs typeface="+mn-cs"/>
      </a:defRPr>
    </a:lvl7pPr>
    <a:lvl8pPr marL="3565954" algn="l" defTabSz="1018844" rtl="0" eaLnBrk="1" latinLnBrk="1" hangingPunct="1">
      <a:defRPr sz="1337" kern="1200">
        <a:solidFill>
          <a:schemeClr val="tx1"/>
        </a:solidFill>
        <a:latin typeface="+mn-lt"/>
        <a:ea typeface="+mn-ea"/>
        <a:cs typeface="+mn-cs"/>
      </a:defRPr>
    </a:lvl8pPr>
    <a:lvl9pPr marL="4075375" algn="l" defTabSz="1018844" rtl="0" eaLnBrk="1" latinLnBrk="1" hangingPunct="1">
      <a:defRPr sz="1337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3655C1AC-72FA-5520-93F6-D62B7B8D13D4}"/>
              </a:ext>
            </a:extLst>
          </p:cNvPr>
          <p:cNvSpPr/>
          <p:nvPr/>
        </p:nvSpPr>
        <p:spPr>
          <a:xfrm>
            <a:off x="1" y="0"/>
            <a:ext cx="799898" cy="10882065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lvl="0" algn="ctr"/>
            <a:endParaRPr lang="ko-KR" altLang="en-US" sz="1000" noProof="0" dirty="0">
              <a:latin typeface="KoPub바탕체 Medium" pitchFamily="18" charset="-127"/>
              <a:ea typeface="KoPub바탕체 Medium" pitchFamily="18" charset="-127"/>
            </a:endParaRPr>
          </a:p>
        </p:txBody>
      </p: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27D4F71A-9B3D-A2C4-4BFF-45E3F1EEC307}"/>
              </a:ext>
            </a:extLst>
          </p:cNvPr>
          <p:cNvCxnSpPr/>
          <p:nvPr/>
        </p:nvCxnSpPr>
        <p:spPr>
          <a:xfrm flipV="1">
            <a:off x="4565211" y="773336"/>
            <a:ext cx="3185546" cy="1854272"/>
          </a:xfrm>
          <a:prstGeom prst="line">
            <a:avLst/>
          </a:prstGeom>
          <a:noFill/>
          <a:ln w="9525" cap="flat" cmpd="sng" algn="ctr">
            <a:gradFill>
              <a:gsLst>
                <a:gs pos="0">
                  <a:srgbClr val="4F81BD">
                    <a:lumMod val="5000"/>
                    <a:lumOff val="95000"/>
                  </a:srgbClr>
                </a:gs>
                <a:gs pos="100000">
                  <a:srgbClr val="5093F2"/>
                </a:gs>
              </a:gsLst>
              <a:lin ang="5400000" scaled="1"/>
            </a:gradFill>
            <a:prstDash val="solid"/>
          </a:ln>
          <a:effectLst/>
        </p:spPr>
      </p:cxnSp>
      <p:sp>
        <p:nvSpPr>
          <p:cNvPr id="24" name="모서리가 둥근 직사각형 7">
            <a:extLst>
              <a:ext uri="{FF2B5EF4-FFF2-40B4-BE49-F238E27FC236}">
                <a16:creationId xmlns:a16="http://schemas.microsoft.com/office/drawing/2014/main" id="{5E04F734-400F-A053-8DB0-57879E51543F}"/>
              </a:ext>
            </a:extLst>
          </p:cNvPr>
          <p:cNvSpPr/>
          <p:nvPr/>
        </p:nvSpPr>
        <p:spPr>
          <a:xfrm>
            <a:off x="633443" y="3572839"/>
            <a:ext cx="7358800" cy="1031111"/>
          </a:xfrm>
          <a:prstGeom prst="roundRect">
            <a:avLst>
              <a:gd name="adj" fmla="val 10427"/>
            </a:avLst>
          </a:prstGeom>
          <a:solidFill>
            <a:srgbClr val="003CA0">
              <a:alpha val="73000"/>
            </a:srgbClr>
          </a:solidFill>
          <a:ln w="41275" cap="flat" cmpd="sng" algn="ctr">
            <a:noFill/>
            <a:prstDash val="solid"/>
          </a:ln>
          <a:effectLst>
            <a:outerShdw dist="88900" dir="10800000" algn="r" rotWithShape="0">
              <a:srgbClr val="5093F2"/>
            </a:outerShdw>
          </a:effectLst>
        </p:spPr>
        <p:txBody>
          <a:bodyPr lIns="36000" tIns="36000" rIns="36000" bIns="3600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바탕체 Medium" pitchFamily="18" charset="-127"/>
              <a:ea typeface="KoPub바탕체 Medium" pitchFamily="18" charset="-127"/>
              <a:cs typeface="+mn-cs"/>
            </a:endParaRP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AEEDFB3C-2A69-1FD3-1CDC-307790DCCF6A}"/>
              </a:ext>
            </a:extLst>
          </p:cNvPr>
          <p:cNvCxnSpPr/>
          <p:nvPr/>
        </p:nvCxnSpPr>
        <p:spPr>
          <a:xfrm flipV="1">
            <a:off x="5576157" y="1082012"/>
            <a:ext cx="2174599" cy="1265810"/>
          </a:xfrm>
          <a:prstGeom prst="line">
            <a:avLst/>
          </a:prstGeom>
          <a:noFill/>
          <a:ln w="9525" cap="flat" cmpd="sng" algn="ctr">
            <a:gradFill>
              <a:gsLst>
                <a:gs pos="0">
                  <a:srgbClr val="4F81BD">
                    <a:lumMod val="5000"/>
                    <a:lumOff val="95000"/>
                  </a:srgbClr>
                </a:gs>
                <a:gs pos="100000">
                  <a:srgbClr val="5093F2"/>
                </a:gs>
              </a:gsLst>
              <a:lin ang="5400000" scaled="1"/>
            </a:gradFill>
            <a:prstDash val="solid"/>
          </a:ln>
          <a:effectLst/>
        </p:spPr>
      </p:cxn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C177F12B-C46C-742E-625D-3CAB677FE3C8}"/>
              </a:ext>
            </a:extLst>
          </p:cNvPr>
          <p:cNvSpPr/>
          <p:nvPr/>
        </p:nvSpPr>
        <p:spPr>
          <a:xfrm>
            <a:off x="2591579" y="3272789"/>
            <a:ext cx="2708158" cy="15388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0" marR="0" lvl="0" indent="0" defTabSz="9870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-3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‘25-’26</a:t>
            </a:r>
            <a:r>
              <a:rPr kumimoji="0" lang="ko-KR" altLang="en-US" sz="1000" b="0" i="0" u="none" strike="noStrike" kern="0" cap="none" spc="-3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년 전산장비 유지보수</a:t>
            </a:r>
          </a:p>
        </p:txBody>
      </p:sp>
      <p:sp>
        <p:nvSpPr>
          <p:cNvPr id="28" name="직사각형 61">
            <a:extLst>
              <a:ext uri="{FF2B5EF4-FFF2-40B4-BE49-F238E27FC236}">
                <a16:creationId xmlns:a16="http://schemas.microsoft.com/office/drawing/2014/main" id="{23B3106D-D9FC-BF8A-B7A8-C2ECE5B13BA6}"/>
              </a:ext>
            </a:extLst>
          </p:cNvPr>
          <p:cNvSpPr/>
          <p:nvPr/>
        </p:nvSpPr>
        <p:spPr>
          <a:xfrm>
            <a:off x="724358" y="3572839"/>
            <a:ext cx="1075132" cy="435019"/>
          </a:xfrm>
          <a:custGeom>
            <a:avLst/>
            <a:gdLst>
              <a:gd name="connsiteX0" fmla="*/ 0 w 2952328"/>
              <a:gd name="connsiteY0" fmla="*/ 0 h 429391"/>
              <a:gd name="connsiteX1" fmla="*/ 2952328 w 2952328"/>
              <a:gd name="connsiteY1" fmla="*/ 0 h 429391"/>
              <a:gd name="connsiteX2" fmla="*/ 2952328 w 2952328"/>
              <a:gd name="connsiteY2" fmla="*/ 429391 h 429391"/>
              <a:gd name="connsiteX3" fmla="*/ 0 w 2952328"/>
              <a:gd name="connsiteY3" fmla="*/ 429391 h 429391"/>
              <a:gd name="connsiteX4" fmla="*/ 0 w 2952328"/>
              <a:gd name="connsiteY4" fmla="*/ 0 h 429391"/>
              <a:gd name="connsiteX0" fmla="*/ 0 w 2952328"/>
              <a:gd name="connsiteY0" fmla="*/ 0 h 429391"/>
              <a:gd name="connsiteX1" fmla="*/ 2952328 w 2952328"/>
              <a:gd name="connsiteY1" fmla="*/ 0 h 429391"/>
              <a:gd name="connsiteX2" fmla="*/ 0 w 2952328"/>
              <a:gd name="connsiteY2" fmla="*/ 429391 h 429391"/>
              <a:gd name="connsiteX3" fmla="*/ 0 w 2952328"/>
              <a:gd name="connsiteY3" fmla="*/ 0 h 429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2328" h="429391">
                <a:moveTo>
                  <a:pt x="0" y="0"/>
                </a:moveTo>
                <a:lnTo>
                  <a:pt x="2952328" y="0"/>
                </a:lnTo>
                <a:lnTo>
                  <a:pt x="0" y="429391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100000">
                <a:sysClr val="window" lastClr="FFFFFF">
                  <a:alpha val="20000"/>
                </a:sysClr>
              </a:gs>
              <a:gs pos="0">
                <a:sysClr val="window" lastClr="FFFFFF">
                  <a:alpha val="0"/>
                </a:sysClr>
              </a:gs>
            </a:gsLst>
            <a:lin ang="0" scaled="0"/>
          </a:gradFill>
          <a:ln>
            <a:noFill/>
          </a:ln>
        </p:spPr>
        <p:txBody>
          <a:bodyPr wrap="none" lIns="81933" tIns="40965" rIns="81933" bIns="40965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819328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100" b="0" i="0" u="none" strike="noStrike" kern="1200" cap="none" spc="-30" normalizeH="0" baseline="0" noProof="0" dirty="0">
              <a:ln>
                <a:solidFill>
                  <a:srgbClr val="9BCFFF">
                    <a:alpha val="0"/>
                  </a:srgbClr>
                </a:solidFill>
              </a:ln>
              <a:solidFill>
                <a:srgbClr val="FFFFFF"/>
              </a:solidFill>
              <a:effectLst/>
              <a:uLnTx/>
              <a:uFillTx/>
              <a:latin typeface="KoPub돋움체 Bold" pitchFamily="2" charset="-127"/>
              <a:ea typeface="KoPub돋움체 Bold" pitchFamily="2" charset="-127"/>
              <a:cs typeface="+mn-cs"/>
            </a:endParaRPr>
          </a:p>
        </p:txBody>
      </p:sp>
      <p:pic>
        <p:nvPicPr>
          <p:cNvPr id="35" name="그림 34" descr="컴퓨터, 스크린샷, 운영 체제, 디자인이(가) 표시된 사진&#10;&#10;자동 생성된 설명">
            <a:extLst>
              <a:ext uri="{FF2B5EF4-FFF2-40B4-BE49-F238E27FC236}">
                <a16:creationId xmlns:a16="http://schemas.microsoft.com/office/drawing/2014/main" id="{46BA0C1B-90F0-27C6-91D8-57FF13DF0AE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51367" y="1349400"/>
            <a:ext cx="2461755" cy="1997857"/>
          </a:xfrm>
          <a:prstGeom prst="rect">
            <a:avLst/>
          </a:prstGeom>
        </p:spPr>
      </p:pic>
      <p:pic>
        <p:nvPicPr>
          <p:cNvPr id="3" name="그림 2" descr="상징, 엠블럼, 로고, 국기이(가) 표시된 사진&#10;&#10;자동 생성된 설명">
            <a:extLst>
              <a:ext uri="{FF2B5EF4-FFF2-40B4-BE49-F238E27FC236}">
                <a16:creationId xmlns:a16="http://schemas.microsoft.com/office/drawing/2014/main" id="{0B77867A-5EC8-F8DA-69FA-CA0089D2237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5664" y="3094119"/>
            <a:ext cx="1760818" cy="405639"/>
          </a:xfrm>
          <a:prstGeom prst="rect">
            <a:avLst/>
          </a:prstGeom>
        </p:spPr>
      </p:pic>
      <p:pic>
        <p:nvPicPr>
          <p:cNvPr id="10" name="그림 9" descr="친필, 서예, 칠판, 텍스트이(가) 표시된 사진&#10;&#10;자동 생성된 설명">
            <a:extLst>
              <a:ext uri="{FF2B5EF4-FFF2-40B4-BE49-F238E27FC236}">
                <a16:creationId xmlns:a16="http://schemas.microsoft.com/office/drawing/2014/main" id="{A9502BA2-FA82-5AAE-7C53-D47D9C6FA61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58650" y="1036304"/>
            <a:ext cx="1590746" cy="7149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5747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CECC904F-D2B7-5F74-C85E-F909CBA8C38C}"/>
              </a:ext>
            </a:extLst>
          </p:cNvPr>
          <p:cNvSpPr/>
          <p:nvPr userDrawn="1"/>
        </p:nvSpPr>
        <p:spPr>
          <a:xfrm>
            <a:off x="912286" y="2501528"/>
            <a:ext cx="6288613" cy="897118"/>
          </a:xfrm>
          <a:prstGeom prst="roundRect">
            <a:avLst>
              <a:gd name="adj" fmla="val 12122"/>
            </a:avLst>
          </a:prstGeom>
          <a:gradFill flip="none" rotWithShape="1">
            <a:gsLst>
              <a:gs pos="0">
                <a:srgbClr val="4472C4">
                  <a:alpha val="34000"/>
                </a:srgbClr>
              </a:gs>
              <a:gs pos="48000">
                <a:srgbClr val="215AB6"/>
              </a:gs>
              <a:gs pos="100000">
                <a:srgbClr val="215AB6"/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5094512-97A3-D7C2-D0B5-E69E846CAD03}"/>
              </a:ext>
            </a:extLst>
          </p:cNvPr>
          <p:cNvCxnSpPr/>
          <p:nvPr userDrawn="1"/>
        </p:nvCxnSpPr>
        <p:spPr>
          <a:xfrm flipV="1">
            <a:off x="4565211" y="428804"/>
            <a:ext cx="3185546" cy="1854272"/>
          </a:xfrm>
          <a:prstGeom prst="line">
            <a:avLst/>
          </a:prstGeom>
          <a:noFill/>
          <a:ln w="9525" cap="flat" cmpd="sng" algn="ctr">
            <a:gradFill>
              <a:gsLst>
                <a:gs pos="0">
                  <a:srgbClr val="4F81BD">
                    <a:lumMod val="5000"/>
                    <a:lumOff val="95000"/>
                  </a:srgbClr>
                </a:gs>
                <a:gs pos="100000">
                  <a:srgbClr val="5093F2"/>
                </a:gs>
              </a:gsLst>
              <a:lin ang="5400000" scaled="1"/>
            </a:gradFill>
            <a:prstDash val="solid"/>
          </a:ln>
          <a:effectLst/>
        </p:spPr>
      </p:cxn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5262CEE-E021-3028-6B2C-34D5479E96B2}"/>
              </a:ext>
            </a:extLst>
          </p:cNvPr>
          <p:cNvCxnSpPr/>
          <p:nvPr userDrawn="1"/>
        </p:nvCxnSpPr>
        <p:spPr>
          <a:xfrm flipV="1">
            <a:off x="5576157" y="737480"/>
            <a:ext cx="2174599" cy="1265810"/>
          </a:xfrm>
          <a:prstGeom prst="line">
            <a:avLst/>
          </a:prstGeom>
          <a:noFill/>
          <a:ln w="9525" cap="flat" cmpd="sng" algn="ctr">
            <a:gradFill>
              <a:gsLst>
                <a:gs pos="0">
                  <a:srgbClr val="4F81BD">
                    <a:lumMod val="5000"/>
                    <a:lumOff val="95000"/>
                  </a:srgbClr>
                </a:gs>
                <a:gs pos="100000">
                  <a:srgbClr val="5093F2"/>
                </a:gs>
              </a:gsLst>
              <a:lin ang="5400000" scaled="1"/>
            </a:gradFill>
            <a:prstDash val="solid"/>
          </a:ln>
          <a:effectLst/>
        </p:spPr>
      </p:cxnSp>
      <p:sp>
        <p:nvSpPr>
          <p:cNvPr id="6" name="직사각형 5">
            <a:extLst>
              <a:ext uri="{FF2B5EF4-FFF2-40B4-BE49-F238E27FC236}">
                <a16:creationId xmlns:a16="http://schemas.microsoft.com/office/drawing/2014/main" id="{8E9AFD2B-1A05-7EA0-2C65-D8BE7760493C}"/>
              </a:ext>
            </a:extLst>
          </p:cNvPr>
          <p:cNvSpPr/>
          <p:nvPr userDrawn="1"/>
        </p:nvSpPr>
        <p:spPr>
          <a:xfrm>
            <a:off x="2591579" y="2069999"/>
            <a:ext cx="2708158" cy="153888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0" marR="0" lvl="0" indent="0" defTabSz="9870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000" b="0" i="0" u="none" strike="noStrike" kern="0" cap="none" spc="-3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‘25-’26</a:t>
            </a:r>
            <a:r>
              <a:rPr kumimoji="0" lang="ko-KR" altLang="en-US" sz="1000" b="0" i="0" u="none" strike="noStrike" kern="0" cap="none" spc="-3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년 전산장비 유지보수</a:t>
            </a:r>
          </a:p>
        </p:txBody>
      </p:sp>
      <p:pic>
        <p:nvPicPr>
          <p:cNvPr id="7" name="그림 6" descr="컴퓨터, 스크린샷, 운영 체제, 디자인이(가) 표시된 사진&#10;&#10;자동 생성된 설명">
            <a:extLst>
              <a:ext uri="{FF2B5EF4-FFF2-40B4-BE49-F238E27FC236}">
                <a16:creationId xmlns:a16="http://schemas.microsoft.com/office/drawing/2014/main" id="{D564B418-2822-5E90-BE65-1CBD6A21698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2456" y="1004868"/>
            <a:ext cx="2461755" cy="1997857"/>
          </a:xfrm>
          <a:prstGeom prst="rect">
            <a:avLst/>
          </a:prstGeom>
        </p:spPr>
      </p:pic>
      <p:pic>
        <p:nvPicPr>
          <p:cNvPr id="8" name="그림 7" descr="상징, 엠블럼, 로고, 국기이(가) 표시된 사진&#10;&#10;자동 생성된 설명">
            <a:extLst>
              <a:ext uri="{FF2B5EF4-FFF2-40B4-BE49-F238E27FC236}">
                <a16:creationId xmlns:a16="http://schemas.microsoft.com/office/drawing/2014/main" id="{1EADB0D6-1F30-5714-281D-73FE4B0E9F7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745664" y="1891329"/>
            <a:ext cx="1760818" cy="405639"/>
          </a:xfrm>
          <a:prstGeom prst="rect">
            <a:avLst/>
          </a:prstGeom>
        </p:spPr>
      </p:pic>
      <p:pic>
        <p:nvPicPr>
          <p:cNvPr id="9" name="그림 8" descr="친필, 서예, 칠판, 텍스트이(가) 표시된 사진&#10;&#10;자동 생성된 설명">
            <a:extLst>
              <a:ext uri="{FF2B5EF4-FFF2-40B4-BE49-F238E27FC236}">
                <a16:creationId xmlns:a16="http://schemas.microsoft.com/office/drawing/2014/main" id="{3E782B91-6B67-0F9D-642D-23F8C500480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658650" y="691772"/>
            <a:ext cx="1590746" cy="714942"/>
          </a:xfrm>
          <a:prstGeom prst="rect">
            <a:avLst/>
          </a:prstGeom>
        </p:spPr>
      </p:pic>
      <p:pic>
        <p:nvPicPr>
          <p:cNvPr id="11" name="그림 10" descr="상징, 엠블럼, 로고이(가) 표시된 사진&#10;&#10;자동 생성된 설명">
            <a:extLst>
              <a:ext uri="{FF2B5EF4-FFF2-40B4-BE49-F238E27FC236}">
                <a16:creationId xmlns:a16="http://schemas.microsoft.com/office/drawing/2014/main" id="{05E22BFC-7880-FD62-2FB2-447E7BE9E5E0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6358753" y="1070234"/>
            <a:ext cx="895312" cy="876362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E81553C0-21DE-D117-2668-5B95DCAA1B97}"/>
              </a:ext>
            </a:extLst>
          </p:cNvPr>
          <p:cNvSpPr/>
          <p:nvPr userDrawn="1"/>
        </p:nvSpPr>
        <p:spPr>
          <a:xfrm>
            <a:off x="0" y="25648"/>
            <a:ext cx="574675" cy="10882065"/>
          </a:xfrm>
          <a:prstGeom prst="rect">
            <a:avLst/>
          </a:prstGeom>
          <a:solidFill>
            <a:srgbClr val="F1F6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lvl="0" algn="ctr"/>
            <a:endParaRPr lang="ko-KR" altLang="en-US" sz="1000" noProof="0" dirty="0">
              <a:latin typeface="KoPub바탕체 Medium" pitchFamily="18" charset="-127"/>
              <a:ea typeface="KoPub바탕체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3715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2-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 userDrawn="1"/>
        </p:nvSpPr>
        <p:spPr>
          <a:xfrm>
            <a:off x="3540088" y="10506399"/>
            <a:ext cx="656945" cy="246221"/>
          </a:xfrm>
          <a:prstGeom prst="rect">
            <a:avLst/>
          </a:prstGeom>
        </p:spPr>
        <p:txBody>
          <a:bodyPr wrap="none" lIns="118921" rIns="118921" anchor="ctr" anchorCtr="0">
            <a:spAutoFit/>
            <a:scene3d>
              <a:camera prst="orthographicFront"/>
              <a:lightRig rig="threePt" dir="t"/>
            </a:scene3d>
            <a:sp3d contourW="1270"/>
          </a:bodyPr>
          <a:lstStyle/>
          <a:p>
            <a:pPr algn="l"/>
            <a:r>
              <a:rPr lang="en-US" altLang="ko-KR" sz="1000" b="0" spc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Ⅰ - </a:t>
            </a:r>
            <a:fld id="{E58593FD-C212-4C5E-BE92-F69CC86ED5D8}" type="slidenum">
              <a:rPr lang="en-US" altLang="ko-KR" sz="1000" b="0" spc="0" baseline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pPr algn="l"/>
              <a:t>‹#›</a:t>
            </a:fld>
            <a:endParaRPr lang="ko-KR" altLang="en-US" sz="1000" b="0" spc="0" baseline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46" name="사각형: 둥근 위쪽 모서리 45">
            <a:extLst>
              <a:ext uri="{FF2B5EF4-FFF2-40B4-BE49-F238E27FC236}">
                <a16:creationId xmlns:a16="http://schemas.microsoft.com/office/drawing/2014/main" id="{50B86299-0FF2-FAEF-6274-E83CFBF41B0E}"/>
              </a:ext>
            </a:extLst>
          </p:cNvPr>
          <p:cNvSpPr/>
          <p:nvPr userDrawn="1"/>
        </p:nvSpPr>
        <p:spPr>
          <a:xfrm rot="16200000">
            <a:off x="6294730" y="484251"/>
            <a:ext cx="363978" cy="151821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0" name="사각형: 둥근 한쪽 모서리 49">
            <a:extLst>
              <a:ext uri="{FF2B5EF4-FFF2-40B4-BE49-F238E27FC236}">
                <a16:creationId xmlns:a16="http://schemas.microsoft.com/office/drawing/2014/main" id="{F193363B-4481-D448-EEB6-617995E1B8BD}"/>
              </a:ext>
            </a:extLst>
          </p:cNvPr>
          <p:cNvSpPr/>
          <p:nvPr/>
        </p:nvSpPr>
        <p:spPr>
          <a:xfrm flipH="1">
            <a:off x="533564" y="1631325"/>
            <a:ext cx="6702261" cy="695138"/>
          </a:xfrm>
          <a:prstGeom prst="round1Rect">
            <a:avLst>
              <a:gd name="adj" fmla="val 0"/>
            </a:avLst>
          </a:prstGeom>
          <a:solidFill>
            <a:srgbClr val="F2F3F6"/>
          </a:solidFill>
          <a:ln>
            <a:noFill/>
          </a:ln>
          <a:effectLst/>
        </p:spPr>
        <p:txBody>
          <a:bodyPr wrap="none" lIns="82404" tIns="41202" rIns="82404" bIns="41202" anchor="ctr">
            <a:scene3d>
              <a:camera prst="orthographicFront"/>
              <a:lightRig rig="threePt" dir="t"/>
            </a:scene3d>
            <a:sp3d>
              <a:bevelT w="0"/>
            </a:sp3d>
          </a:bodyPr>
          <a:lstStyle/>
          <a:p>
            <a:pPr defTabSz="935980" latinLnBrk="0"/>
            <a:endParaRPr lang="ko-KR" altLang="en-US" sz="900" kern="0" dirty="0">
              <a:solidFill>
                <a:srgbClr val="035EAD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51" name="모서리가 둥근 직사각형 8">
            <a:extLst>
              <a:ext uri="{FF2B5EF4-FFF2-40B4-BE49-F238E27FC236}">
                <a16:creationId xmlns:a16="http://schemas.microsoft.com/office/drawing/2014/main" id="{5342029F-8E0D-8688-10DE-8A200E9737E0}"/>
              </a:ext>
            </a:extLst>
          </p:cNvPr>
          <p:cNvSpPr/>
          <p:nvPr userDrawn="1"/>
        </p:nvSpPr>
        <p:spPr>
          <a:xfrm>
            <a:off x="487212" y="1698538"/>
            <a:ext cx="815611" cy="567918"/>
          </a:xfrm>
          <a:prstGeom prst="roundRect">
            <a:avLst>
              <a:gd name="adj" fmla="val 6781"/>
            </a:avLst>
          </a:prstGeom>
          <a:solidFill>
            <a:schemeClr val="bg1"/>
          </a:solidFill>
          <a:ln w="9525">
            <a:noFill/>
          </a:ln>
          <a:effectLst>
            <a:outerShdw dist="25400" algn="l" rotWithShape="0">
              <a:srgbClr val="003CA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lvl="0"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B7080B54-4DC0-A3FE-3DBD-B45AB6E73526}"/>
              </a:ext>
            </a:extLst>
          </p:cNvPr>
          <p:cNvGrpSpPr/>
          <p:nvPr userDrawn="1"/>
        </p:nvGrpSpPr>
        <p:grpSpPr>
          <a:xfrm>
            <a:off x="621473" y="1773751"/>
            <a:ext cx="614878" cy="389848"/>
            <a:chOff x="551768" y="1496031"/>
            <a:chExt cx="542148" cy="343734"/>
          </a:xfrm>
        </p:grpSpPr>
        <p:sp>
          <p:nvSpPr>
            <p:cNvPr id="59" name="Rectangle 10" descr="흐름도-39">
              <a:extLst>
                <a:ext uri="{FF2B5EF4-FFF2-40B4-BE49-F238E27FC236}">
                  <a16:creationId xmlns:a16="http://schemas.microsoft.com/office/drawing/2014/main" id="{A285A356-8CC6-4E31-79D6-B6B3174E2196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 flipH="1">
              <a:off x="551768" y="1496031"/>
              <a:ext cx="268715" cy="162822"/>
            </a:xfrm>
            <a:prstGeom prst="rect">
              <a:avLst/>
            </a:prstGeom>
            <a:noFill/>
            <a:ln w="3175" algn="ctr">
              <a:solidFill>
                <a:schemeClr val="bg1">
                  <a:lumMod val="85000"/>
                  <a:alpha val="0"/>
                </a:schemeClr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algn="ctr"/>
              <a:r>
                <a:rPr lang="en-US" altLang="ko-KR" sz="1200" spc="-4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rgbClr val="0061EB"/>
                  </a:solidFill>
                  <a:effectLst/>
                  <a:latin typeface="Arial Black" panose="020B0A04020102020204" pitchFamily="34" charset="0"/>
                  <a:ea typeface="KoPub돋움체 Bold" panose="02020603020101020101" pitchFamily="18" charset="-127"/>
                </a:rPr>
                <a:t>Key</a:t>
              </a:r>
              <a:endParaRPr lang="ko-KR" altLang="en-US" sz="1200" spc="-4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0061EB"/>
                </a:solidFill>
                <a:effectLst/>
                <a:latin typeface="Arial Black" panose="020B0A04020102020204" pitchFamily="34" charset="0"/>
                <a:ea typeface="KoPub돋움체 Bold" panose="02020603020101020101" pitchFamily="18" charset="-127"/>
              </a:endParaRPr>
            </a:p>
          </p:txBody>
        </p:sp>
        <p:sp>
          <p:nvSpPr>
            <p:cNvPr id="60" name="Rectangle 10" descr="흐름도-39">
              <a:extLst>
                <a:ext uri="{FF2B5EF4-FFF2-40B4-BE49-F238E27FC236}">
                  <a16:creationId xmlns:a16="http://schemas.microsoft.com/office/drawing/2014/main" id="{C047DFC4-B5AB-D24C-539C-1447A95D226D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 flipH="1">
              <a:off x="735591" y="1676943"/>
              <a:ext cx="358325" cy="162822"/>
            </a:xfrm>
            <a:prstGeom prst="rect">
              <a:avLst/>
            </a:prstGeom>
            <a:noFill/>
            <a:ln w="3175" algn="ctr">
              <a:solidFill>
                <a:schemeClr val="bg1">
                  <a:lumMod val="85000"/>
                  <a:alpha val="0"/>
                </a:schemeClr>
              </a:solidFill>
              <a:round/>
              <a:headEnd/>
              <a:tailEnd/>
            </a:ln>
            <a:effectLst/>
          </p:spPr>
          <p:txBody>
            <a:bodyPr wrap="none" lIns="0" tIns="0" rIns="0" bIns="0" anchor="ctr">
              <a:spAutoFit/>
            </a:bodyPr>
            <a:lstStyle/>
            <a:p>
              <a:pPr marL="0" algn="ctr" defTabSz="1018844" rtl="0" eaLnBrk="1" latinLnBrk="1" hangingPunct="1"/>
              <a:r>
                <a:rPr lang="en-US" altLang="ko-KR" sz="1200" kern="1200" spc="-40" dirty="0">
                  <a:ln>
                    <a:solidFill>
                      <a:schemeClr val="bg1">
                        <a:lumMod val="85000"/>
                        <a:alpha val="0"/>
                      </a:schemeClr>
                    </a:solidFill>
                  </a:ln>
                  <a:solidFill>
                    <a:srgbClr val="0061EB"/>
                  </a:solidFill>
                  <a:effectLst/>
                  <a:latin typeface="Arial Black" panose="020B0A04020102020204" pitchFamily="34" charset="0"/>
                  <a:ea typeface="KoPub돋움체 Bold" panose="02020603020101020101" pitchFamily="18" charset="-127"/>
                  <a:cs typeface="+mn-cs"/>
                </a:rPr>
                <a:t>Point</a:t>
              </a:r>
              <a:endParaRPr lang="ko-KR" altLang="en-US" sz="1200" kern="1200" spc="-40" dirty="0">
                <a:ln>
                  <a:solidFill>
                    <a:schemeClr val="bg1">
                      <a:lumMod val="85000"/>
                      <a:alpha val="0"/>
                    </a:schemeClr>
                  </a:solidFill>
                </a:ln>
                <a:solidFill>
                  <a:srgbClr val="0061EB"/>
                </a:solidFill>
                <a:effectLst/>
                <a:latin typeface="Arial Black" panose="020B0A04020102020204" pitchFamily="34" charset="0"/>
                <a:ea typeface="KoPub돋움체 Bold" panose="02020603020101020101" pitchFamily="18" charset="-127"/>
                <a:cs typeface="+mn-cs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B190291-A9B9-7735-BAD0-953A50389B64}"/>
              </a:ext>
            </a:extLst>
          </p:cNvPr>
          <p:cNvGrpSpPr/>
          <p:nvPr userDrawn="1"/>
        </p:nvGrpSpPr>
        <p:grpSpPr>
          <a:xfrm flipH="1">
            <a:off x="473383" y="2010942"/>
            <a:ext cx="192578" cy="184667"/>
            <a:chOff x="8951179" y="6345627"/>
            <a:chExt cx="265303" cy="254411"/>
          </a:xfrm>
        </p:grpSpPr>
        <p:sp>
          <p:nvSpPr>
            <p:cNvPr id="54" name="자유형: 도형 396">
              <a:extLst>
                <a:ext uri="{FF2B5EF4-FFF2-40B4-BE49-F238E27FC236}">
                  <a16:creationId xmlns:a16="http://schemas.microsoft.com/office/drawing/2014/main" id="{97A3D160-19EE-5E8A-2B69-B854012A8856}"/>
                </a:ext>
              </a:extLst>
            </p:cNvPr>
            <p:cNvSpPr/>
            <p:nvPr userDrawn="1"/>
          </p:nvSpPr>
          <p:spPr>
            <a:xfrm>
              <a:off x="9021271" y="6397285"/>
              <a:ext cx="48928" cy="51775"/>
            </a:xfrm>
            <a:custGeom>
              <a:avLst/>
              <a:gdLst>
                <a:gd name="connsiteX0" fmla="*/ 16148 w 48928"/>
                <a:gd name="connsiteY0" fmla="*/ 51550 h 51775"/>
                <a:gd name="connsiteX1" fmla="*/ 1435 w 48928"/>
                <a:gd name="connsiteY1" fmla="*/ 24227 h 51775"/>
                <a:gd name="connsiteX2" fmla="*/ 6662 w 48928"/>
                <a:gd name="connsiteY2" fmla="*/ 6656 h 51775"/>
                <a:gd name="connsiteX3" fmla="*/ 6690 w 48928"/>
                <a:gd name="connsiteY3" fmla="*/ 6642 h 51775"/>
                <a:gd name="connsiteX4" fmla="*/ 16498 w 48928"/>
                <a:gd name="connsiteY4" fmla="*/ 1318 h 51775"/>
                <a:gd name="connsiteX5" fmla="*/ 34083 w 48928"/>
                <a:gd name="connsiteY5" fmla="*/ 6572 h 51775"/>
                <a:gd name="connsiteX6" fmla="*/ 48795 w 48928"/>
                <a:gd name="connsiteY6" fmla="*/ 33895 h 51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8928" h="51775">
                  <a:moveTo>
                    <a:pt x="16148" y="51550"/>
                  </a:moveTo>
                  <a:lnTo>
                    <a:pt x="1435" y="24227"/>
                  </a:lnTo>
                  <a:cubicBezTo>
                    <a:pt x="-1976" y="17936"/>
                    <a:pt x="364" y="10068"/>
                    <a:pt x="6662" y="6656"/>
                  </a:cubicBezTo>
                  <a:cubicBezTo>
                    <a:pt x="6669" y="6656"/>
                    <a:pt x="6683" y="6650"/>
                    <a:pt x="6690" y="6642"/>
                  </a:cubicBezTo>
                  <a:lnTo>
                    <a:pt x="16498" y="1318"/>
                  </a:lnTo>
                  <a:cubicBezTo>
                    <a:pt x="22811" y="-2059"/>
                    <a:pt x="30657" y="288"/>
                    <a:pt x="34083" y="6572"/>
                  </a:cubicBezTo>
                  <a:lnTo>
                    <a:pt x="48795" y="33895"/>
                  </a:lnTo>
                </a:path>
              </a:pathLst>
            </a:custGeom>
            <a:noFill/>
            <a:ln w="12700" cap="rnd">
              <a:solidFill>
                <a:srgbClr val="273387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5" name="자유형: 도형 397">
              <a:extLst>
                <a:ext uri="{FF2B5EF4-FFF2-40B4-BE49-F238E27FC236}">
                  <a16:creationId xmlns:a16="http://schemas.microsoft.com/office/drawing/2014/main" id="{D22A5CF5-E505-B360-70B4-F12E69C0B326}"/>
                </a:ext>
              </a:extLst>
            </p:cNvPr>
            <p:cNvSpPr/>
            <p:nvPr userDrawn="1"/>
          </p:nvSpPr>
          <p:spPr>
            <a:xfrm>
              <a:off x="9058893" y="6388811"/>
              <a:ext cx="44023" cy="42594"/>
            </a:xfrm>
            <a:custGeom>
              <a:avLst/>
              <a:gdLst>
                <a:gd name="connsiteX0" fmla="*/ 11174 w 44023"/>
                <a:gd name="connsiteY0" fmla="*/ 42369 h 42594"/>
                <a:gd name="connsiteX1" fmla="*/ 1435 w 44023"/>
                <a:gd name="connsiteY1" fmla="*/ 24224 h 42594"/>
                <a:gd name="connsiteX2" fmla="*/ 6662 w 44023"/>
                <a:gd name="connsiteY2" fmla="*/ 6653 h 42594"/>
                <a:gd name="connsiteX3" fmla="*/ 6690 w 44023"/>
                <a:gd name="connsiteY3" fmla="*/ 6639 h 42594"/>
                <a:gd name="connsiteX4" fmla="*/ 16498 w 44023"/>
                <a:gd name="connsiteY4" fmla="*/ 1315 h 42594"/>
                <a:gd name="connsiteX5" fmla="*/ 34083 w 44023"/>
                <a:gd name="connsiteY5" fmla="*/ 6569 h 42594"/>
                <a:gd name="connsiteX6" fmla="*/ 43891 w 44023"/>
                <a:gd name="connsiteY6" fmla="*/ 24714 h 425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4023" h="42594">
                  <a:moveTo>
                    <a:pt x="11174" y="42369"/>
                  </a:moveTo>
                  <a:lnTo>
                    <a:pt x="1435" y="24224"/>
                  </a:lnTo>
                  <a:cubicBezTo>
                    <a:pt x="-1976" y="17933"/>
                    <a:pt x="364" y="10065"/>
                    <a:pt x="6662" y="6653"/>
                  </a:cubicBezTo>
                  <a:cubicBezTo>
                    <a:pt x="6669" y="6646"/>
                    <a:pt x="6683" y="6646"/>
                    <a:pt x="6690" y="6639"/>
                  </a:cubicBezTo>
                  <a:lnTo>
                    <a:pt x="16498" y="1315"/>
                  </a:lnTo>
                  <a:cubicBezTo>
                    <a:pt x="22811" y="-2055"/>
                    <a:pt x="30657" y="285"/>
                    <a:pt x="34083" y="6569"/>
                  </a:cubicBezTo>
                  <a:lnTo>
                    <a:pt x="43891" y="24714"/>
                  </a:lnTo>
                </a:path>
              </a:pathLst>
            </a:custGeom>
            <a:noFill/>
            <a:ln w="12700" cap="rnd">
              <a:solidFill>
                <a:srgbClr val="273387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6" name="자유형: 도형 398">
              <a:extLst>
                <a:ext uri="{FF2B5EF4-FFF2-40B4-BE49-F238E27FC236}">
                  <a16:creationId xmlns:a16="http://schemas.microsoft.com/office/drawing/2014/main" id="{72F7199A-E79D-20B7-6F05-F56AF21050B1}"/>
                </a:ext>
              </a:extLst>
            </p:cNvPr>
            <p:cNvSpPr/>
            <p:nvPr userDrawn="1"/>
          </p:nvSpPr>
          <p:spPr>
            <a:xfrm>
              <a:off x="9094790" y="6380306"/>
              <a:ext cx="37271" cy="24477"/>
            </a:xfrm>
            <a:custGeom>
              <a:avLst/>
              <a:gdLst>
                <a:gd name="connsiteX0" fmla="*/ -133 w 37271"/>
                <a:gd name="connsiteY0" fmla="*/ 18717 h 24477"/>
                <a:gd name="connsiteX1" fmla="*/ 2880 w 37271"/>
                <a:gd name="connsiteY1" fmla="*/ 24252 h 24477"/>
                <a:gd name="connsiteX2" fmla="*/ 8106 w 37271"/>
                <a:gd name="connsiteY2" fmla="*/ 6681 h 24477"/>
                <a:gd name="connsiteX3" fmla="*/ 8134 w 37271"/>
                <a:gd name="connsiteY3" fmla="*/ 6667 h 24477"/>
                <a:gd name="connsiteX4" fmla="*/ 17943 w 37271"/>
                <a:gd name="connsiteY4" fmla="*/ 1343 h 24477"/>
                <a:gd name="connsiteX5" fmla="*/ 35513 w 37271"/>
                <a:gd name="connsiteY5" fmla="*/ 6569 h 24477"/>
                <a:gd name="connsiteX6" fmla="*/ 35527 w 37271"/>
                <a:gd name="connsiteY6" fmla="*/ 6597 h 24477"/>
                <a:gd name="connsiteX7" fmla="*/ 37139 w 37271"/>
                <a:gd name="connsiteY7" fmla="*/ 9609 h 244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7271" h="24477">
                  <a:moveTo>
                    <a:pt x="-133" y="18717"/>
                  </a:moveTo>
                  <a:lnTo>
                    <a:pt x="2880" y="24252"/>
                  </a:lnTo>
                  <a:cubicBezTo>
                    <a:pt x="-532" y="17961"/>
                    <a:pt x="1808" y="10093"/>
                    <a:pt x="8106" y="6681"/>
                  </a:cubicBezTo>
                  <a:cubicBezTo>
                    <a:pt x="8113" y="6681"/>
                    <a:pt x="8127" y="6674"/>
                    <a:pt x="8134" y="6667"/>
                  </a:cubicBezTo>
                  <a:lnTo>
                    <a:pt x="17943" y="1343"/>
                  </a:lnTo>
                  <a:cubicBezTo>
                    <a:pt x="24234" y="-2069"/>
                    <a:pt x="32101" y="271"/>
                    <a:pt x="35513" y="6569"/>
                  </a:cubicBezTo>
                  <a:cubicBezTo>
                    <a:pt x="35520" y="6576"/>
                    <a:pt x="35520" y="6590"/>
                    <a:pt x="35527" y="6597"/>
                  </a:cubicBezTo>
                  <a:lnTo>
                    <a:pt x="37139" y="9609"/>
                  </a:lnTo>
                </a:path>
              </a:pathLst>
            </a:custGeom>
            <a:noFill/>
            <a:ln w="12700" cap="rnd">
              <a:solidFill>
                <a:srgbClr val="273387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7" name="자유형: 도형 399">
              <a:extLst>
                <a:ext uri="{FF2B5EF4-FFF2-40B4-BE49-F238E27FC236}">
                  <a16:creationId xmlns:a16="http://schemas.microsoft.com/office/drawing/2014/main" id="{4F5E08C9-02D0-7D75-72B9-7932B6481FF1}"/>
                </a:ext>
              </a:extLst>
            </p:cNvPr>
            <p:cNvSpPr/>
            <p:nvPr userDrawn="1"/>
          </p:nvSpPr>
          <p:spPr>
            <a:xfrm>
              <a:off x="8982857" y="6385868"/>
              <a:ext cx="233625" cy="214170"/>
            </a:xfrm>
            <a:custGeom>
              <a:avLst/>
              <a:gdLst>
                <a:gd name="connsiteX0" fmla="*/ 146830 w 233625"/>
                <a:gd name="connsiteY0" fmla="*/ -226 h 214170"/>
                <a:gd name="connsiteX1" fmla="*/ 233493 w 233625"/>
                <a:gd name="connsiteY1" fmla="*/ 160279 h 214170"/>
                <a:gd name="connsiteX2" fmla="*/ 134009 w 233625"/>
                <a:gd name="connsiteY2" fmla="*/ 213944 h 214170"/>
                <a:gd name="connsiteX3" fmla="*/ 122380 w 233625"/>
                <a:gd name="connsiteY3" fmla="*/ 192366 h 214170"/>
                <a:gd name="connsiteX4" fmla="*/ 116004 w 233625"/>
                <a:gd name="connsiteY4" fmla="*/ 195799 h 214170"/>
                <a:gd name="connsiteX5" fmla="*/ 79251 w 233625"/>
                <a:gd name="connsiteY5" fmla="*/ 184856 h 214170"/>
                <a:gd name="connsiteX6" fmla="*/ 79223 w 233625"/>
                <a:gd name="connsiteY6" fmla="*/ 184800 h 214170"/>
                <a:gd name="connsiteX7" fmla="*/ 79223 w 233625"/>
                <a:gd name="connsiteY7" fmla="*/ 184800 h 214170"/>
                <a:gd name="connsiteX8" fmla="*/ 9164 w 233625"/>
                <a:gd name="connsiteY8" fmla="*/ 163782 h 214170"/>
                <a:gd name="connsiteX9" fmla="*/ 400 w 233625"/>
                <a:gd name="connsiteY9" fmla="*/ 147683 h 214170"/>
                <a:gd name="connsiteX10" fmla="*/ 407 w 233625"/>
                <a:gd name="connsiteY10" fmla="*/ 147669 h 214170"/>
                <a:gd name="connsiteX11" fmla="*/ 3630 w 233625"/>
                <a:gd name="connsiteY11" fmla="*/ 136950 h 214170"/>
                <a:gd name="connsiteX12" fmla="*/ 19813 w 233625"/>
                <a:gd name="connsiteY12" fmla="*/ 128192 h 214170"/>
                <a:gd name="connsiteX13" fmla="*/ 50149 w 233625"/>
                <a:gd name="connsiteY13" fmla="*/ 137300 h 214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33625" h="214170">
                  <a:moveTo>
                    <a:pt x="146830" y="-226"/>
                  </a:moveTo>
                  <a:lnTo>
                    <a:pt x="233493" y="160279"/>
                  </a:lnTo>
                  <a:lnTo>
                    <a:pt x="134009" y="213944"/>
                  </a:lnTo>
                  <a:lnTo>
                    <a:pt x="122380" y="192366"/>
                  </a:lnTo>
                  <a:lnTo>
                    <a:pt x="116004" y="195799"/>
                  </a:lnTo>
                  <a:cubicBezTo>
                    <a:pt x="102833" y="202924"/>
                    <a:pt x="86383" y="198027"/>
                    <a:pt x="79251" y="184856"/>
                  </a:cubicBezTo>
                  <a:cubicBezTo>
                    <a:pt x="79245" y="184842"/>
                    <a:pt x="79237" y="184821"/>
                    <a:pt x="79223" y="184800"/>
                  </a:cubicBezTo>
                  <a:lnTo>
                    <a:pt x="79223" y="184800"/>
                  </a:lnTo>
                  <a:lnTo>
                    <a:pt x="9164" y="163782"/>
                  </a:lnTo>
                  <a:cubicBezTo>
                    <a:pt x="2299" y="161758"/>
                    <a:pt x="-1625" y="154548"/>
                    <a:pt x="400" y="147683"/>
                  </a:cubicBezTo>
                  <a:cubicBezTo>
                    <a:pt x="407" y="147676"/>
                    <a:pt x="407" y="147676"/>
                    <a:pt x="407" y="147669"/>
                  </a:cubicBezTo>
                  <a:lnTo>
                    <a:pt x="3630" y="136950"/>
                  </a:lnTo>
                  <a:cubicBezTo>
                    <a:pt x="5690" y="130070"/>
                    <a:pt x="12927" y="126154"/>
                    <a:pt x="19813" y="128192"/>
                  </a:cubicBezTo>
                  <a:lnTo>
                    <a:pt x="50149" y="137300"/>
                  </a:lnTo>
                </a:path>
              </a:pathLst>
            </a:custGeom>
            <a:noFill/>
            <a:ln w="12700" cap="rnd">
              <a:solidFill>
                <a:srgbClr val="003CA0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  <p:sp>
          <p:nvSpPr>
            <p:cNvPr id="58" name="자유형: 도형 400">
              <a:extLst>
                <a:ext uri="{FF2B5EF4-FFF2-40B4-BE49-F238E27FC236}">
                  <a16:creationId xmlns:a16="http://schemas.microsoft.com/office/drawing/2014/main" id="{1FBDF7F7-1836-046E-24F9-23D43EA88F5E}"/>
                </a:ext>
              </a:extLst>
            </p:cNvPr>
            <p:cNvSpPr/>
            <p:nvPr userDrawn="1"/>
          </p:nvSpPr>
          <p:spPr>
            <a:xfrm>
              <a:off x="8951179" y="6345627"/>
              <a:ext cx="86372" cy="176785"/>
            </a:xfrm>
            <a:custGeom>
              <a:avLst/>
              <a:gdLst>
                <a:gd name="connsiteX0" fmla="*/ 83648 w 86372"/>
                <a:gd name="connsiteY0" fmla="*/ 176560 h 176785"/>
                <a:gd name="connsiteX1" fmla="*/ 1398 w 86372"/>
                <a:gd name="connsiteY1" fmla="*/ 24252 h 176785"/>
                <a:gd name="connsiteX2" fmla="*/ 6723 w 86372"/>
                <a:gd name="connsiteY2" fmla="*/ 6597 h 176785"/>
                <a:gd name="connsiteX3" fmla="*/ 16531 w 86372"/>
                <a:gd name="connsiteY3" fmla="*/ 1343 h 176785"/>
                <a:gd name="connsiteX4" fmla="*/ 34102 w 86372"/>
                <a:gd name="connsiteY4" fmla="*/ 6569 h 176785"/>
                <a:gd name="connsiteX5" fmla="*/ 34116 w 86372"/>
                <a:gd name="connsiteY5" fmla="*/ 6597 h 176785"/>
                <a:gd name="connsiteX6" fmla="*/ 86240 w 86372"/>
                <a:gd name="connsiteY6" fmla="*/ 103208 h 1767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6372" h="176785">
                  <a:moveTo>
                    <a:pt x="83648" y="176560"/>
                  </a:moveTo>
                  <a:lnTo>
                    <a:pt x="1398" y="24252"/>
                  </a:lnTo>
                  <a:cubicBezTo>
                    <a:pt x="-1971" y="17905"/>
                    <a:pt x="404" y="10023"/>
                    <a:pt x="6723" y="6597"/>
                  </a:cubicBezTo>
                  <a:lnTo>
                    <a:pt x="16531" y="1343"/>
                  </a:lnTo>
                  <a:cubicBezTo>
                    <a:pt x="22823" y="-2069"/>
                    <a:pt x="30690" y="271"/>
                    <a:pt x="34102" y="6569"/>
                  </a:cubicBezTo>
                  <a:cubicBezTo>
                    <a:pt x="34102" y="6576"/>
                    <a:pt x="34109" y="6590"/>
                    <a:pt x="34116" y="6597"/>
                  </a:cubicBezTo>
                  <a:lnTo>
                    <a:pt x="86240" y="103208"/>
                  </a:lnTo>
                </a:path>
              </a:pathLst>
            </a:custGeom>
            <a:noFill/>
            <a:ln w="12700" cap="rnd">
              <a:solidFill>
                <a:srgbClr val="273387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ko-KR" altLang="en-US"/>
            </a:p>
          </p:txBody>
        </p:sp>
      </p:grpSp>
      <p:cxnSp>
        <p:nvCxnSpPr>
          <p:cNvPr id="61" name="직선 연결선 60">
            <a:extLst>
              <a:ext uri="{FF2B5EF4-FFF2-40B4-BE49-F238E27FC236}">
                <a16:creationId xmlns:a16="http://schemas.microsoft.com/office/drawing/2014/main" id="{8AA88E96-9DC6-7A27-C8DE-3EA3F487A79C}"/>
              </a:ext>
            </a:extLst>
          </p:cNvPr>
          <p:cNvCxnSpPr>
            <a:cxnSpLocks/>
          </p:cNvCxnSpPr>
          <p:nvPr userDrawn="1"/>
        </p:nvCxnSpPr>
        <p:spPr>
          <a:xfrm>
            <a:off x="538163" y="1792277"/>
            <a:ext cx="0" cy="150280"/>
          </a:xfrm>
          <a:prstGeom prst="line">
            <a:avLst/>
          </a:prstGeom>
          <a:ln w="22225" cap="rnd">
            <a:solidFill>
              <a:srgbClr val="0061E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D282667-BB6A-F825-68F0-38AA58C68D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89642" y="1094670"/>
            <a:ext cx="1518210" cy="13656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제안요청서</a:t>
            </a:r>
            <a:r>
              <a:rPr kumimoji="1" lang="en-US" altLang="ko-KR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요구사항 </a:t>
            </a:r>
            <a:r>
              <a:rPr kumimoji="1" lang="en-US" altLang="ko-KR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ID</a:t>
            </a:r>
          </a:p>
        </p:txBody>
      </p:sp>
      <p:pic>
        <p:nvPicPr>
          <p:cNvPr id="66" name="그림 65" descr="손거울, 원이(가) 표시된 사진&#10;&#10;자동 생성된 설명">
            <a:extLst>
              <a:ext uri="{FF2B5EF4-FFF2-40B4-BE49-F238E27FC236}">
                <a16:creationId xmlns:a16="http://schemas.microsoft.com/office/drawing/2014/main" id="{D0FA490E-D7F4-4645-6957-A08F3609FF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653" y="1068275"/>
            <a:ext cx="294414" cy="35195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58DAB62C-81DB-2A4D-FE8C-7DD75C103B9E}"/>
              </a:ext>
            </a:extLst>
          </p:cNvPr>
          <p:cNvSpPr txBox="1"/>
          <p:nvPr userDrawn="1"/>
        </p:nvSpPr>
        <p:spPr>
          <a:xfrm>
            <a:off x="293847" y="151124"/>
            <a:ext cx="7393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>
                <a:ln>
                  <a:solidFill>
                    <a:srgbClr val="00B0F0">
                      <a:alpha val="0"/>
                    </a:srgbClr>
                  </a:solidFill>
                </a:ln>
                <a:solidFill>
                  <a:srgbClr val="003CA0"/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Ⅰ</a:t>
            </a:r>
            <a:endParaRPr lang="ko-KR" altLang="en-US" sz="4800" dirty="0">
              <a:ln>
                <a:solidFill>
                  <a:srgbClr val="00B0F0">
                    <a:alpha val="0"/>
                  </a:srgbClr>
                </a:solidFill>
              </a:ln>
              <a:solidFill>
                <a:srgbClr val="003CA0"/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05F0276-9DA8-2CAA-4EEB-42822DF3EEE1}"/>
              </a:ext>
            </a:extLst>
          </p:cNvPr>
          <p:cNvSpPr txBox="1"/>
          <p:nvPr userDrawn="1"/>
        </p:nvSpPr>
        <p:spPr>
          <a:xfrm>
            <a:off x="1116401" y="516590"/>
            <a:ext cx="1540527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ko-KR" altLang="en-US" sz="2000" dirty="0">
                <a:ln>
                  <a:solidFill>
                    <a:srgbClr val="00B0F0">
                      <a:alpha val="0"/>
                    </a:srgbClr>
                  </a:solidFill>
                </a:ln>
                <a:solidFill>
                  <a:srgbClr val="003CA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제안개요</a:t>
            </a: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AEBCA9D-0DE7-6DDD-56CA-39E673DEAF89}"/>
              </a:ext>
            </a:extLst>
          </p:cNvPr>
          <p:cNvSpPr/>
          <p:nvPr userDrawn="1"/>
        </p:nvSpPr>
        <p:spPr>
          <a:xfrm>
            <a:off x="1116402" y="341288"/>
            <a:ext cx="2775842" cy="12311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0" marR="0" lvl="0" indent="0" defTabSz="9870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-3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‘25-’26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년 전산장비 유지보수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1EEF4F9E-64A5-7CB3-7387-E38D41ED77D7}"/>
              </a:ext>
            </a:extLst>
          </p:cNvPr>
          <p:cNvGrpSpPr/>
          <p:nvPr userDrawn="1"/>
        </p:nvGrpSpPr>
        <p:grpSpPr>
          <a:xfrm>
            <a:off x="533564" y="2480711"/>
            <a:ext cx="6698077" cy="360000"/>
            <a:chOff x="533564" y="2480711"/>
            <a:chExt cx="6698077" cy="360000"/>
          </a:xfrm>
        </p:grpSpPr>
        <p:sp>
          <p:nvSpPr>
            <p:cNvPr id="5" name="모서리가 둥근 직사각형 105">
              <a:extLst>
                <a:ext uri="{FF2B5EF4-FFF2-40B4-BE49-F238E27FC236}">
                  <a16:creationId xmlns:a16="http://schemas.microsoft.com/office/drawing/2014/main" id="{EB0CB0DC-53F8-C58C-49DE-AF177A3DAD6F}"/>
                </a:ext>
              </a:extLst>
            </p:cNvPr>
            <p:cNvSpPr/>
            <p:nvPr userDrawn="1"/>
          </p:nvSpPr>
          <p:spPr bwMode="gray">
            <a:xfrm>
              <a:off x="677248" y="2520149"/>
              <a:ext cx="6554393" cy="280881"/>
            </a:xfrm>
            <a:prstGeom prst="roundRect">
              <a:avLst>
                <a:gd name="adj" fmla="val 12821"/>
              </a:avLst>
            </a:prstGeom>
            <a:solidFill>
              <a:srgbClr val="003CA0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52000" r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1202116" latinLnBrk="0">
                <a:spcBef>
                  <a:spcPts val="200"/>
                </a:spcBef>
                <a:spcAft>
                  <a:spcPts val="200"/>
                </a:spcAft>
                <a:defRPr/>
              </a:pPr>
              <a:endParaRPr kumimoji="1" lang="ko-KR" altLang="en-US" sz="1000" b="1" dirty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endParaRPr>
            </a:p>
          </p:txBody>
        </p:sp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065C8551-3F4C-0E83-8A53-2A7536F4F7D8}"/>
                </a:ext>
              </a:extLst>
            </p:cNvPr>
            <p:cNvGrpSpPr/>
            <p:nvPr userDrawn="1"/>
          </p:nvGrpSpPr>
          <p:grpSpPr>
            <a:xfrm>
              <a:off x="533564" y="2480711"/>
              <a:ext cx="360000" cy="360000"/>
              <a:chOff x="533564" y="2480711"/>
              <a:chExt cx="360000" cy="360000"/>
            </a:xfrm>
          </p:grpSpPr>
          <p:sp>
            <p:nvSpPr>
              <p:cNvPr id="7" name="타원 6">
                <a:extLst>
                  <a:ext uri="{FF2B5EF4-FFF2-40B4-BE49-F238E27FC236}">
                    <a16:creationId xmlns:a16="http://schemas.microsoft.com/office/drawing/2014/main" id="{38574FF1-2C1D-3DA4-C3AA-005551897551}"/>
                  </a:ext>
                </a:extLst>
              </p:cNvPr>
              <p:cNvSpPr/>
              <p:nvPr userDrawn="1"/>
            </p:nvSpPr>
            <p:spPr>
              <a:xfrm>
                <a:off x="533564" y="2480711"/>
                <a:ext cx="360000" cy="360000"/>
              </a:xfrm>
              <a:prstGeom prst="ellipse">
                <a:avLst/>
              </a:prstGeom>
              <a:solidFill>
                <a:srgbClr val="5093F2"/>
              </a:solidFill>
              <a:ln w="12700">
                <a:solidFill>
                  <a:schemeClr val="bg1"/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 latinLnBrk="0"/>
                <a:endParaRPr lang="ko-KR" altLang="en-US" sz="13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pic>
            <p:nvPicPr>
              <p:cNvPr id="8" name="그림 7" descr="상징, 로고, 클립아트, 그래픽이(가) 표시된 사진&#10;&#10;자동 생성된 설명">
                <a:extLst>
                  <a:ext uri="{FF2B5EF4-FFF2-40B4-BE49-F238E27FC236}">
                    <a16:creationId xmlns:a16="http://schemas.microsoft.com/office/drawing/2014/main" id="{DBF3842D-9EB7-DA9A-9EBE-F8FDFE2DC001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551801" y="2542121"/>
                <a:ext cx="323527" cy="255027"/>
              </a:xfrm>
              <a:prstGeom prst="rect">
                <a:avLst/>
              </a:prstGeom>
            </p:spPr>
          </p:pic>
        </p:grp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4E76A505-8E88-79E1-9441-5DE24161F3D5}"/>
              </a:ext>
            </a:extLst>
          </p:cNvPr>
          <p:cNvSpPr/>
          <p:nvPr userDrawn="1"/>
        </p:nvSpPr>
        <p:spPr>
          <a:xfrm>
            <a:off x="574675" y="2929424"/>
            <a:ext cx="6626226" cy="7276960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371272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48" userDrawn="1">
          <p15:clr>
            <a:srgbClr val="FBAE40"/>
          </p15:clr>
        </p15:guide>
        <p15:guide id="2" orient="horz" pos="6429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 userDrawn="1"/>
        </p:nvSpPr>
        <p:spPr>
          <a:xfrm>
            <a:off x="3540088" y="10506399"/>
            <a:ext cx="656945" cy="246221"/>
          </a:xfrm>
          <a:prstGeom prst="rect">
            <a:avLst/>
          </a:prstGeom>
        </p:spPr>
        <p:txBody>
          <a:bodyPr wrap="none" lIns="118921" rIns="118921" anchor="ctr" anchorCtr="0">
            <a:spAutoFit/>
            <a:scene3d>
              <a:camera prst="orthographicFront"/>
              <a:lightRig rig="threePt" dir="t"/>
            </a:scene3d>
            <a:sp3d contourW="1270"/>
          </a:bodyPr>
          <a:lstStyle/>
          <a:p>
            <a:pPr algn="l"/>
            <a:r>
              <a:rPr lang="en-US" altLang="ko-KR" sz="1000" b="0" spc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Ⅰ - </a:t>
            </a:r>
            <a:fld id="{E58593FD-C212-4C5E-BE92-F69CC86ED5D8}" type="slidenum">
              <a:rPr lang="en-US" altLang="ko-KR" sz="1000" b="0" spc="0" baseline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pPr algn="l"/>
              <a:t>‹#›</a:t>
            </a:fld>
            <a:endParaRPr lang="ko-KR" altLang="en-US" sz="1000" b="0" spc="0" baseline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46" name="사각형: 둥근 위쪽 모서리 45">
            <a:extLst>
              <a:ext uri="{FF2B5EF4-FFF2-40B4-BE49-F238E27FC236}">
                <a16:creationId xmlns:a16="http://schemas.microsoft.com/office/drawing/2014/main" id="{50B86299-0FF2-FAEF-6274-E83CFBF41B0E}"/>
              </a:ext>
            </a:extLst>
          </p:cNvPr>
          <p:cNvSpPr/>
          <p:nvPr userDrawn="1"/>
        </p:nvSpPr>
        <p:spPr>
          <a:xfrm rot="16200000">
            <a:off x="6294730" y="484251"/>
            <a:ext cx="363978" cy="151821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D282667-BB6A-F825-68F0-38AA58C68D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89642" y="1094670"/>
            <a:ext cx="1518210" cy="13656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제안요청서</a:t>
            </a:r>
            <a:r>
              <a:rPr kumimoji="1" lang="en-US" altLang="ko-KR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요구사항 </a:t>
            </a:r>
            <a:r>
              <a:rPr kumimoji="1" lang="en-US" altLang="ko-KR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ID</a:t>
            </a:r>
          </a:p>
        </p:txBody>
      </p:sp>
      <p:pic>
        <p:nvPicPr>
          <p:cNvPr id="66" name="그림 65" descr="손거울, 원이(가) 표시된 사진&#10;&#10;자동 생성된 설명">
            <a:extLst>
              <a:ext uri="{FF2B5EF4-FFF2-40B4-BE49-F238E27FC236}">
                <a16:creationId xmlns:a16="http://schemas.microsoft.com/office/drawing/2014/main" id="{D0FA490E-D7F4-4645-6957-A08F3609FF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653" y="1068275"/>
            <a:ext cx="294414" cy="35195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58DAB62C-81DB-2A4D-FE8C-7DD75C103B9E}"/>
              </a:ext>
            </a:extLst>
          </p:cNvPr>
          <p:cNvSpPr txBox="1"/>
          <p:nvPr userDrawn="1"/>
        </p:nvSpPr>
        <p:spPr>
          <a:xfrm>
            <a:off x="293847" y="151124"/>
            <a:ext cx="7393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>
                <a:ln>
                  <a:solidFill>
                    <a:srgbClr val="00B0F0">
                      <a:alpha val="0"/>
                    </a:srgbClr>
                  </a:solidFill>
                </a:ln>
                <a:solidFill>
                  <a:srgbClr val="003CA0"/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Ⅰ</a:t>
            </a:r>
            <a:endParaRPr lang="ko-KR" altLang="en-US" sz="4800" dirty="0">
              <a:ln>
                <a:solidFill>
                  <a:srgbClr val="00B0F0">
                    <a:alpha val="0"/>
                  </a:srgbClr>
                </a:solidFill>
              </a:ln>
              <a:solidFill>
                <a:srgbClr val="003CA0"/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05F0276-9DA8-2CAA-4EEB-42822DF3EEE1}"/>
              </a:ext>
            </a:extLst>
          </p:cNvPr>
          <p:cNvSpPr txBox="1"/>
          <p:nvPr userDrawn="1"/>
        </p:nvSpPr>
        <p:spPr>
          <a:xfrm>
            <a:off x="1116401" y="516590"/>
            <a:ext cx="1540527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ko-KR" altLang="en-US" sz="2000" dirty="0">
                <a:ln>
                  <a:solidFill>
                    <a:srgbClr val="00B0F0">
                      <a:alpha val="0"/>
                    </a:srgbClr>
                  </a:solidFill>
                </a:ln>
                <a:solidFill>
                  <a:srgbClr val="003CA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제안개요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4E1709-2ED4-28C5-D456-1F7DFB91F8AA}"/>
              </a:ext>
            </a:extLst>
          </p:cNvPr>
          <p:cNvSpPr/>
          <p:nvPr userDrawn="1"/>
        </p:nvSpPr>
        <p:spPr>
          <a:xfrm>
            <a:off x="1116402" y="341288"/>
            <a:ext cx="2775842" cy="12311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0" marR="0" lvl="0" indent="0" defTabSz="9870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-3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‘25-’26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년 전산장비 유지보수</a:t>
            </a: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699CA07E-B524-5455-89D9-96DEC05F7CD5}"/>
              </a:ext>
            </a:extLst>
          </p:cNvPr>
          <p:cNvGrpSpPr/>
          <p:nvPr userDrawn="1"/>
        </p:nvGrpSpPr>
        <p:grpSpPr>
          <a:xfrm>
            <a:off x="533564" y="1595061"/>
            <a:ext cx="6698077" cy="360000"/>
            <a:chOff x="533564" y="1595061"/>
            <a:chExt cx="6698077" cy="360000"/>
          </a:xfrm>
        </p:grpSpPr>
        <p:sp>
          <p:nvSpPr>
            <p:cNvPr id="17" name="모서리가 둥근 직사각형 105">
              <a:extLst>
                <a:ext uri="{FF2B5EF4-FFF2-40B4-BE49-F238E27FC236}">
                  <a16:creationId xmlns:a16="http://schemas.microsoft.com/office/drawing/2014/main" id="{867A6852-7D4B-726F-FC5E-C9CAB1DEE458}"/>
                </a:ext>
              </a:extLst>
            </p:cNvPr>
            <p:cNvSpPr/>
            <p:nvPr userDrawn="1"/>
          </p:nvSpPr>
          <p:spPr bwMode="gray">
            <a:xfrm>
              <a:off x="677248" y="1634621"/>
              <a:ext cx="6554393" cy="280881"/>
            </a:xfrm>
            <a:prstGeom prst="roundRect">
              <a:avLst>
                <a:gd name="adj" fmla="val 12821"/>
              </a:avLst>
            </a:prstGeom>
            <a:solidFill>
              <a:srgbClr val="003CA0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52000" r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1202116" latinLnBrk="0">
                <a:spcBef>
                  <a:spcPts val="200"/>
                </a:spcBef>
                <a:spcAft>
                  <a:spcPts val="200"/>
                </a:spcAft>
                <a:defRPr/>
              </a:pPr>
              <a:endParaRPr kumimoji="1" lang="ko-KR" altLang="en-US" sz="1000" b="1" dirty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endParaRPr>
            </a:p>
          </p:txBody>
        </p: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4D93D455-2919-69F2-8FD6-C19FCFC500D3}"/>
                </a:ext>
              </a:extLst>
            </p:cNvPr>
            <p:cNvGrpSpPr/>
            <p:nvPr userDrawn="1"/>
          </p:nvGrpSpPr>
          <p:grpSpPr>
            <a:xfrm>
              <a:off x="533564" y="1595061"/>
              <a:ext cx="360000" cy="360000"/>
              <a:chOff x="533564" y="1608269"/>
              <a:chExt cx="360000" cy="360000"/>
            </a:xfrm>
          </p:grpSpPr>
          <p:sp>
            <p:nvSpPr>
              <p:cNvPr id="19" name="타원 18">
                <a:extLst>
                  <a:ext uri="{FF2B5EF4-FFF2-40B4-BE49-F238E27FC236}">
                    <a16:creationId xmlns:a16="http://schemas.microsoft.com/office/drawing/2014/main" id="{85CDCA39-7620-3FD5-59B5-A8A35CCC0AED}"/>
                  </a:ext>
                </a:extLst>
              </p:cNvPr>
              <p:cNvSpPr/>
              <p:nvPr userDrawn="1"/>
            </p:nvSpPr>
            <p:spPr>
              <a:xfrm>
                <a:off x="533564" y="1608269"/>
                <a:ext cx="360000" cy="360000"/>
              </a:xfrm>
              <a:prstGeom prst="ellipse">
                <a:avLst/>
              </a:prstGeom>
              <a:solidFill>
                <a:srgbClr val="5093F2"/>
              </a:solidFill>
              <a:ln w="12700">
                <a:solidFill>
                  <a:schemeClr val="bg1"/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 latinLnBrk="0"/>
                <a:endParaRPr lang="ko-KR" altLang="en-US" sz="13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pic>
            <p:nvPicPr>
              <p:cNvPr id="20" name="그림 19" descr="상징, 로고, 클립아트, 그래픽이(가) 표시된 사진&#10;&#10;자동 생성된 설명">
                <a:extLst>
                  <a:ext uri="{FF2B5EF4-FFF2-40B4-BE49-F238E27FC236}">
                    <a16:creationId xmlns:a16="http://schemas.microsoft.com/office/drawing/2014/main" id="{60C16C31-4B53-52C4-A7B6-846DE6E3635D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551801" y="1669679"/>
                <a:ext cx="323527" cy="255027"/>
              </a:xfrm>
              <a:prstGeom prst="rect">
                <a:avLst/>
              </a:prstGeom>
            </p:spPr>
          </p:pic>
        </p:grpSp>
      </p:grp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00E67FA1-D8FA-4A02-EA69-C68C856F241E}"/>
              </a:ext>
            </a:extLst>
          </p:cNvPr>
          <p:cNvSpPr/>
          <p:nvPr userDrawn="1"/>
        </p:nvSpPr>
        <p:spPr>
          <a:xfrm>
            <a:off x="575419" y="2090933"/>
            <a:ext cx="6625481" cy="8115451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61453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1" userDrawn="1">
          <p15:clr>
            <a:srgbClr val="FBAE40"/>
          </p15:clr>
        </p15:guide>
        <p15:guide id="2" orient="horz" pos="130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2-1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직사각형 25"/>
          <p:cNvSpPr/>
          <p:nvPr userDrawn="1"/>
        </p:nvSpPr>
        <p:spPr>
          <a:xfrm>
            <a:off x="3540088" y="10506399"/>
            <a:ext cx="656945" cy="246221"/>
          </a:xfrm>
          <a:prstGeom prst="rect">
            <a:avLst/>
          </a:prstGeom>
        </p:spPr>
        <p:txBody>
          <a:bodyPr wrap="none" lIns="118921" rIns="118921" anchor="ctr" anchorCtr="0">
            <a:spAutoFit/>
            <a:scene3d>
              <a:camera prst="orthographicFront"/>
              <a:lightRig rig="threePt" dir="t"/>
            </a:scene3d>
            <a:sp3d contourW="1270"/>
          </a:bodyPr>
          <a:lstStyle/>
          <a:p>
            <a:pPr algn="l"/>
            <a:r>
              <a:rPr lang="en-US" altLang="ko-KR" sz="1000" b="0" spc="0" baseline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t>Ⅰ - </a:t>
            </a:r>
            <a:fld id="{E58593FD-C212-4C5E-BE92-F69CC86ED5D8}" type="slidenum">
              <a:rPr lang="en-US" altLang="ko-KR" sz="1000" b="0" spc="0" baseline="0" smtClean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KoPub바탕체 Medium" panose="02020603020101020101" pitchFamily="18" charset="-127"/>
                <a:ea typeface="KoPub바탕체 Medium" panose="02020603020101020101" pitchFamily="18" charset="-127"/>
              </a:rPr>
              <a:pPr algn="l"/>
              <a:t>‹#›</a:t>
            </a:fld>
            <a:endParaRPr lang="ko-KR" altLang="en-US" sz="1000" b="0" spc="0" baseline="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KoPub바탕체 Medium" panose="02020603020101020101" pitchFamily="18" charset="-127"/>
              <a:ea typeface="KoPub바탕체 Medium" panose="02020603020101020101" pitchFamily="18" charset="-127"/>
            </a:endParaRPr>
          </a:p>
        </p:txBody>
      </p:sp>
      <p:sp>
        <p:nvSpPr>
          <p:cNvPr id="46" name="사각형: 둥근 위쪽 모서리 45">
            <a:extLst>
              <a:ext uri="{FF2B5EF4-FFF2-40B4-BE49-F238E27FC236}">
                <a16:creationId xmlns:a16="http://schemas.microsoft.com/office/drawing/2014/main" id="{50B86299-0FF2-FAEF-6274-E83CFBF41B0E}"/>
              </a:ext>
            </a:extLst>
          </p:cNvPr>
          <p:cNvSpPr/>
          <p:nvPr userDrawn="1"/>
        </p:nvSpPr>
        <p:spPr>
          <a:xfrm rot="16200000">
            <a:off x="6294730" y="484251"/>
            <a:ext cx="363978" cy="1518213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2F3F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65" name="직사각형 64">
            <a:extLst>
              <a:ext uri="{FF2B5EF4-FFF2-40B4-BE49-F238E27FC236}">
                <a16:creationId xmlns:a16="http://schemas.microsoft.com/office/drawing/2014/main" id="{5D282667-BB6A-F825-68F0-38AA58C68D4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89642" y="1094670"/>
            <a:ext cx="1518210" cy="13656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제안요청서</a:t>
            </a:r>
            <a:r>
              <a:rPr kumimoji="1" lang="en-US" altLang="ko-KR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요구사항 </a:t>
            </a:r>
            <a:r>
              <a:rPr kumimoji="1" lang="en-US" altLang="ko-KR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gradFill>
                  <a:gsLst>
                    <a:gs pos="0">
                      <a:schemeClr val="tx1">
                        <a:lumMod val="75000"/>
                        <a:lumOff val="25000"/>
                      </a:schemeClr>
                    </a:gs>
                    <a:gs pos="100000">
                      <a:schemeClr val="tx1">
                        <a:lumMod val="75000"/>
                        <a:lumOff val="25000"/>
                      </a:schemeClr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ID</a:t>
            </a:r>
          </a:p>
        </p:txBody>
      </p:sp>
      <p:pic>
        <p:nvPicPr>
          <p:cNvPr id="66" name="그림 65" descr="손거울, 원이(가) 표시된 사진&#10;&#10;자동 생성된 설명">
            <a:extLst>
              <a:ext uri="{FF2B5EF4-FFF2-40B4-BE49-F238E27FC236}">
                <a16:creationId xmlns:a16="http://schemas.microsoft.com/office/drawing/2014/main" id="{D0FA490E-D7F4-4645-6957-A08F3609FF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6653" y="1068275"/>
            <a:ext cx="294414" cy="351959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58DAB62C-81DB-2A4D-FE8C-7DD75C103B9E}"/>
              </a:ext>
            </a:extLst>
          </p:cNvPr>
          <p:cNvSpPr txBox="1"/>
          <p:nvPr userDrawn="1"/>
        </p:nvSpPr>
        <p:spPr>
          <a:xfrm>
            <a:off x="293847" y="151124"/>
            <a:ext cx="73930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800" dirty="0">
                <a:ln>
                  <a:solidFill>
                    <a:srgbClr val="00B0F0">
                      <a:alpha val="0"/>
                    </a:srgbClr>
                  </a:solidFill>
                </a:ln>
                <a:solidFill>
                  <a:srgbClr val="003CA0"/>
                </a:solidFill>
                <a:latin typeface="KoPub바탕체 Light" panose="02020603020101020101" pitchFamily="18" charset="-127"/>
                <a:ea typeface="KoPub바탕체 Light" panose="02020603020101020101" pitchFamily="18" charset="-127"/>
              </a:rPr>
              <a:t>Ⅰ</a:t>
            </a:r>
            <a:endParaRPr lang="ko-KR" altLang="en-US" sz="4800" dirty="0">
              <a:ln>
                <a:solidFill>
                  <a:srgbClr val="00B0F0">
                    <a:alpha val="0"/>
                  </a:srgbClr>
                </a:solidFill>
              </a:ln>
              <a:solidFill>
                <a:srgbClr val="003CA0"/>
              </a:solidFill>
              <a:latin typeface="KoPub바탕체 Light" panose="02020603020101020101" pitchFamily="18" charset="-127"/>
              <a:ea typeface="KoPub바탕체 Light" panose="02020603020101020101" pitchFamily="18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05F0276-9DA8-2CAA-4EEB-42822DF3EEE1}"/>
              </a:ext>
            </a:extLst>
          </p:cNvPr>
          <p:cNvSpPr txBox="1"/>
          <p:nvPr userDrawn="1"/>
        </p:nvSpPr>
        <p:spPr>
          <a:xfrm>
            <a:off x="1116401" y="516590"/>
            <a:ext cx="1540527" cy="30777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r>
              <a:rPr lang="ko-KR" altLang="en-US" sz="2000" dirty="0">
                <a:ln>
                  <a:solidFill>
                    <a:srgbClr val="00B0F0">
                      <a:alpha val="0"/>
                    </a:srgbClr>
                  </a:solidFill>
                </a:ln>
                <a:solidFill>
                  <a:srgbClr val="003CA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제안개요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004E1709-2ED4-28C5-D456-1F7DFB91F8AA}"/>
              </a:ext>
            </a:extLst>
          </p:cNvPr>
          <p:cNvSpPr/>
          <p:nvPr userDrawn="1"/>
        </p:nvSpPr>
        <p:spPr>
          <a:xfrm>
            <a:off x="1116402" y="341288"/>
            <a:ext cx="2775842" cy="123111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/>
          <a:p>
            <a:pPr marL="0" marR="0" lvl="0" indent="0" defTabSz="987095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0" i="0" u="none" strike="noStrike" kern="0" cap="none" spc="-3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‘25-’26</a:t>
            </a:r>
            <a:r>
              <a:rPr kumimoji="0" lang="ko-KR" altLang="en-US" sz="800" b="0" i="0" u="none" strike="noStrike" kern="0" cap="none" spc="-30" normalizeH="0" baseline="0" noProof="0" dirty="0">
                <a:ln>
                  <a:solidFill>
                    <a:srgbClr val="5B9BD5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년 전산장비 유지보수</a:t>
            </a: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F072E06F-46BA-D682-B4E4-606EEEDBDD5F}"/>
              </a:ext>
            </a:extLst>
          </p:cNvPr>
          <p:cNvGrpSpPr/>
          <p:nvPr userDrawn="1"/>
        </p:nvGrpSpPr>
        <p:grpSpPr>
          <a:xfrm>
            <a:off x="533564" y="6029920"/>
            <a:ext cx="6698077" cy="360000"/>
            <a:chOff x="533564" y="1595061"/>
            <a:chExt cx="6698077" cy="360000"/>
          </a:xfrm>
        </p:grpSpPr>
        <p:sp>
          <p:nvSpPr>
            <p:cNvPr id="12" name="모서리가 둥근 직사각형 105">
              <a:extLst>
                <a:ext uri="{FF2B5EF4-FFF2-40B4-BE49-F238E27FC236}">
                  <a16:creationId xmlns:a16="http://schemas.microsoft.com/office/drawing/2014/main" id="{8FACA548-52A5-EBD5-93C8-F91D9DAA98DB}"/>
                </a:ext>
              </a:extLst>
            </p:cNvPr>
            <p:cNvSpPr/>
            <p:nvPr userDrawn="1"/>
          </p:nvSpPr>
          <p:spPr bwMode="gray">
            <a:xfrm>
              <a:off x="677248" y="1634621"/>
              <a:ext cx="6554393" cy="280881"/>
            </a:xfrm>
            <a:prstGeom prst="roundRect">
              <a:avLst>
                <a:gd name="adj" fmla="val 12821"/>
              </a:avLst>
            </a:prstGeom>
            <a:solidFill>
              <a:srgbClr val="003CA0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52000" r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1202116" latinLnBrk="0">
                <a:spcBef>
                  <a:spcPts val="200"/>
                </a:spcBef>
                <a:spcAft>
                  <a:spcPts val="200"/>
                </a:spcAft>
                <a:defRPr/>
              </a:pPr>
              <a:endParaRPr kumimoji="1" lang="ko-KR" altLang="en-US" sz="1000" b="1" dirty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endParaRPr>
            </a:p>
          </p:txBody>
        </p:sp>
        <p:grpSp>
          <p:nvGrpSpPr>
            <p:cNvPr id="13" name="그룹 12">
              <a:extLst>
                <a:ext uri="{FF2B5EF4-FFF2-40B4-BE49-F238E27FC236}">
                  <a16:creationId xmlns:a16="http://schemas.microsoft.com/office/drawing/2014/main" id="{DBA27B1F-FCFC-8CA9-C986-2A28A1CF329F}"/>
                </a:ext>
              </a:extLst>
            </p:cNvPr>
            <p:cNvGrpSpPr/>
            <p:nvPr userDrawn="1"/>
          </p:nvGrpSpPr>
          <p:grpSpPr>
            <a:xfrm>
              <a:off x="533564" y="1595061"/>
              <a:ext cx="360000" cy="360000"/>
              <a:chOff x="533564" y="1608269"/>
              <a:chExt cx="360000" cy="360000"/>
            </a:xfrm>
          </p:grpSpPr>
          <p:sp>
            <p:nvSpPr>
              <p:cNvPr id="14" name="타원 13">
                <a:extLst>
                  <a:ext uri="{FF2B5EF4-FFF2-40B4-BE49-F238E27FC236}">
                    <a16:creationId xmlns:a16="http://schemas.microsoft.com/office/drawing/2014/main" id="{0B7EB0F1-402D-6739-F2F6-DC353361827E}"/>
                  </a:ext>
                </a:extLst>
              </p:cNvPr>
              <p:cNvSpPr/>
              <p:nvPr userDrawn="1"/>
            </p:nvSpPr>
            <p:spPr>
              <a:xfrm>
                <a:off x="533564" y="1608269"/>
                <a:ext cx="360000" cy="360000"/>
              </a:xfrm>
              <a:prstGeom prst="ellipse">
                <a:avLst/>
              </a:prstGeom>
              <a:solidFill>
                <a:srgbClr val="5093F2"/>
              </a:solidFill>
              <a:ln w="12700">
                <a:solidFill>
                  <a:schemeClr val="bg1"/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 latinLnBrk="0"/>
                <a:endParaRPr lang="ko-KR" altLang="en-US" sz="13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pic>
            <p:nvPicPr>
              <p:cNvPr id="15" name="그림 14" descr="상징, 로고, 클립아트, 그래픽이(가) 표시된 사진&#10;&#10;자동 생성된 설명">
                <a:extLst>
                  <a:ext uri="{FF2B5EF4-FFF2-40B4-BE49-F238E27FC236}">
                    <a16:creationId xmlns:a16="http://schemas.microsoft.com/office/drawing/2014/main" id="{FEFFF30A-22A0-106A-4DB9-F6C459CA327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551801" y="1669679"/>
                <a:ext cx="323527" cy="255027"/>
              </a:xfrm>
              <a:prstGeom prst="rect">
                <a:avLst/>
              </a:prstGeom>
            </p:spPr>
          </p:pic>
        </p:grpSp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729C386F-7DB7-AD6E-12D3-FBF8E5F2E0EF}"/>
              </a:ext>
            </a:extLst>
          </p:cNvPr>
          <p:cNvGrpSpPr/>
          <p:nvPr userDrawn="1"/>
        </p:nvGrpSpPr>
        <p:grpSpPr>
          <a:xfrm>
            <a:off x="533564" y="1595061"/>
            <a:ext cx="6698077" cy="360000"/>
            <a:chOff x="533564" y="1595061"/>
            <a:chExt cx="6698077" cy="360000"/>
          </a:xfrm>
        </p:grpSpPr>
        <p:sp>
          <p:nvSpPr>
            <p:cNvPr id="18" name="모서리가 둥근 직사각형 105">
              <a:extLst>
                <a:ext uri="{FF2B5EF4-FFF2-40B4-BE49-F238E27FC236}">
                  <a16:creationId xmlns:a16="http://schemas.microsoft.com/office/drawing/2014/main" id="{C8D1DD05-B558-27C4-75CD-0084BEA9CD6D}"/>
                </a:ext>
              </a:extLst>
            </p:cNvPr>
            <p:cNvSpPr/>
            <p:nvPr userDrawn="1"/>
          </p:nvSpPr>
          <p:spPr bwMode="gray">
            <a:xfrm>
              <a:off x="677248" y="1634621"/>
              <a:ext cx="6554393" cy="280881"/>
            </a:xfrm>
            <a:prstGeom prst="roundRect">
              <a:avLst>
                <a:gd name="adj" fmla="val 12821"/>
              </a:avLst>
            </a:prstGeom>
            <a:solidFill>
              <a:srgbClr val="003CA0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252000" rIns="0" rtlCol="0" anchor="ctr"/>
            <a:lstStyle>
              <a:defPPr>
                <a:defRPr lang="ko-KR"/>
              </a:defPPr>
              <a:lvl1pPr marL="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1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lvl="0" defTabSz="1202116" latinLnBrk="0">
                <a:spcBef>
                  <a:spcPts val="200"/>
                </a:spcBef>
                <a:spcAft>
                  <a:spcPts val="200"/>
                </a:spcAft>
                <a:defRPr/>
              </a:pPr>
              <a:endParaRPr kumimoji="1" lang="ko-KR" altLang="en-US" sz="1000" b="1" dirty="0"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endParaRPr>
            </a:p>
          </p:txBody>
        </p: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C2D6595-7891-8784-D08C-5BDA3790A923}"/>
                </a:ext>
              </a:extLst>
            </p:cNvPr>
            <p:cNvGrpSpPr/>
            <p:nvPr userDrawn="1"/>
          </p:nvGrpSpPr>
          <p:grpSpPr>
            <a:xfrm>
              <a:off x="533564" y="1595061"/>
              <a:ext cx="360000" cy="360000"/>
              <a:chOff x="533564" y="1608269"/>
              <a:chExt cx="360000" cy="360000"/>
            </a:xfrm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47ACCBE1-D172-BAE9-96FC-A9EA12CDA565}"/>
                  </a:ext>
                </a:extLst>
              </p:cNvPr>
              <p:cNvSpPr/>
              <p:nvPr userDrawn="1"/>
            </p:nvSpPr>
            <p:spPr>
              <a:xfrm>
                <a:off x="533564" y="1608269"/>
                <a:ext cx="360000" cy="360000"/>
              </a:xfrm>
              <a:prstGeom prst="ellipse">
                <a:avLst/>
              </a:prstGeom>
              <a:solidFill>
                <a:srgbClr val="5093F2"/>
              </a:solidFill>
              <a:ln w="12700">
                <a:solidFill>
                  <a:schemeClr val="bg1"/>
                </a:solidFill>
                <a:miter lim="800000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 defTabSz="914400" latinLnBrk="0"/>
                <a:endParaRPr lang="ko-KR" altLang="en-US" sz="13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prstClr val="white"/>
                  </a:solidFill>
                  <a:latin typeface="KoPub돋움체 Medium" panose="02020603020101020101" pitchFamily="18" charset="-127"/>
                  <a:ea typeface="KoPub돋움체 Medium" panose="02020603020101020101" pitchFamily="18" charset="-127"/>
                </a:endParaRPr>
              </a:p>
            </p:txBody>
          </p:sp>
          <p:pic>
            <p:nvPicPr>
              <p:cNvPr id="21" name="그림 20" descr="상징, 로고, 클립아트, 그래픽이(가) 표시된 사진&#10;&#10;자동 생성된 설명">
                <a:extLst>
                  <a:ext uri="{FF2B5EF4-FFF2-40B4-BE49-F238E27FC236}">
                    <a16:creationId xmlns:a16="http://schemas.microsoft.com/office/drawing/2014/main" id="{480F3D28-7A12-95AC-88AE-EB3F7397A83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/>
              <a:stretch>
                <a:fillRect/>
              </a:stretch>
            </p:blipFill>
            <p:spPr>
              <a:xfrm>
                <a:off x="551801" y="1669679"/>
                <a:ext cx="323527" cy="255027"/>
              </a:xfrm>
              <a:prstGeom prst="rect">
                <a:avLst/>
              </a:prstGeom>
            </p:spPr>
          </p:pic>
        </p:grpSp>
      </p:grp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FFB253A-9525-5120-FA21-A5A5F8346050}"/>
              </a:ext>
            </a:extLst>
          </p:cNvPr>
          <p:cNvSpPr/>
          <p:nvPr userDrawn="1"/>
        </p:nvSpPr>
        <p:spPr>
          <a:xfrm>
            <a:off x="575419" y="2090934"/>
            <a:ext cx="6625481" cy="3650954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7322D62-1032-0A1B-FB36-26BD97F507C4}"/>
              </a:ext>
            </a:extLst>
          </p:cNvPr>
          <p:cNvSpPr/>
          <p:nvPr userDrawn="1"/>
        </p:nvSpPr>
        <p:spPr>
          <a:xfrm>
            <a:off x="575419" y="6555430"/>
            <a:ext cx="6625481" cy="3650954"/>
          </a:xfrm>
          <a:prstGeom prst="rect">
            <a:avLst/>
          </a:prstGeom>
          <a:noFill/>
          <a:ln>
            <a:solidFill>
              <a:srgbClr val="C0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968533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31">
          <p15:clr>
            <a:srgbClr val="FBAE40"/>
          </p15:clr>
        </p15:guide>
        <p15:guide id="2" orient="horz" pos="1803" userDrawn="1">
          <p15:clr>
            <a:srgbClr val="FBAE40"/>
          </p15:clr>
        </p15:guide>
        <p15:guide id="3" orient="horz" pos="6429" userDrawn="1">
          <p15:clr>
            <a:srgbClr val="FBAE40"/>
          </p15:clr>
        </p15:guide>
        <p15:guide id="4" orient="horz" pos="3753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heme" Target="../theme/theme2.xml"/><Relationship Id="rId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78816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707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435" userDrawn="1">
          <p15:clr>
            <a:srgbClr val="F26B43"/>
          </p15:clr>
        </p15:guide>
        <p15:guide id="2" pos="2449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직사각형 114">
            <a:extLst>
              <a:ext uri="{FF2B5EF4-FFF2-40B4-BE49-F238E27FC236}">
                <a16:creationId xmlns:a16="http://schemas.microsoft.com/office/drawing/2014/main" id="{7111CF70-323A-7B68-BC33-DF05A37FE9FE}"/>
              </a:ext>
            </a:extLst>
          </p:cNvPr>
          <p:cNvSpPr/>
          <p:nvPr userDrawn="1"/>
        </p:nvSpPr>
        <p:spPr>
          <a:xfrm>
            <a:off x="-1" y="462"/>
            <a:ext cx="7775575" cy="816160"/>
          </a:xfrm>
          <a:prstGeom prst="rect">
            <a:avLst/>
          </a:prstGeom>
          <a:solidFill>
            <a:srgbClr val="176BB4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110" name="자유형: 도형 109">
            <a:extLst>
              <a:ext uri="{FF2B5EF4-FFF2-40B4-BE49-F238E27FC236}">
                <a16:creationId xmlns:a16="http://schemas.microsoft.com/office/drawing/2014/main" id="{63EC08F2-1C62-033A-B6D8-1EB4BD1F09D9}"/>
              </a:ext>
            </a:extLst>
          </p:cNvPr>
          <p:cNvSpPr/>
          <p:nvPr userDrawn="1"/>
        </p:nvSpPr>
        <p:spPr>
          <a:xfrm>
            <a:off x="5707013" y="462"/>
            <a:ext cx="2068561" cy="816160"/>
          </a:xfrm>
          <a:custGeom>
            <a:avLst/>
            <a:gdLst>
              <a:gd name="connsiteX0" fmla="*/ 775200 w 2068561"/>
              <a:gd name="connsiteY0" fmla="*/ 0 h 816160"/>
              <a:gd name="connsiteX1" fmla="*/ 1818417 w 2068561"/>
              <a:gd name="connsiteY1" fmla="*/ 0 h 816160"/>
              <a:gd name="connsiteX2" fmla="*/ 2068561 w 2068561"/>
              <a:gd name="connsiteY2" fmla="*/ 410518 h 816160"/>
              <a:gd name="connsiteX3" fmla="*/ 2068561 w 2068561"/>
              <a:gd name="connsiteY3" fmla="*/ 816160 h 816160"/>
              <a:gd name="connsiteX4" fmla="*/ 37172 w 2068561"/>
              <a:gd name="connsiteY4" fmla="*/ 816160 h 816160"/>
              <a:gd name="connsiteX5" fmla="*/ 3823 w 2068561"/>
              <a:gd name="connsiteY5" fmla="*/ 724244 h 816160"/>
              <a:gd name="connsiteX6" fmla="*/ 170540 w 2068561"/>
              <a:gd name="connsiteY6" fmla="*/ 368443 h 816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68561" h="816160">
                <a:moveTo>
                  <a:pt x="775200" y="0"/>
                </a:moveTo>
                <a:lnTo>
                  <a:pt x="1818417" y="0"/>
                </a:lnTo>
                <a:lnTo>
                  <a:pt x="2068561" y="410518"/>
                </a:lnTo>
                <a:lnTo>
                  <a:pt x="2068561" y="816160"/>
                </a:lnTo>
                <a:lnTo>
                  <a:pt x="37172" y="816160"/>
                </a:lnTo>
                <a:lnTo>
                  <a:pt x="3823" y="724244"/>
                </a:lnTo>
                <a:cubicBezTo>
                  <a:pt x="-16481" y="587225"/>
                  <a:pt x="44813" y="445053"/>
                  <a:pt x="170540" y="368443"/>
                </a:cubicBezTo>
                <a:close/>
              </a:path>
            </a:pathLst>
          </a:custGeom>
          <a:solidFill>
            <a:srgbClr val="176BB4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000" tIns="36000" rIns="36000" bIns="36000" rtlCol="0" anchor="ctr">
            <a:noAutofit/>
          </a:bodyPr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14" name="한쪽 모서리가 둥근 사각형 130" hidden="1">
            <a:extLst>
              <a:ext uri="{FF2B5EF4-FFF2-40B4-BE49-F238E27FC236}">
                <a16:creationId xmlns:a16="http://schemas.microsoft.com/office/drawing/2014/main" id="{A7720B5E-B5A9-49A9-BC4E-B21C41CFB34F}"/>
              </a:ext>
            </a:extLst>
          </p:cNvPr>
          <p:cNvSpPr/>
          <p:nvPr userDrawn="1"/>
        </p:nvSpPr>
        <p:spPr>
          <a:xfrm flipV="1">
            <a:off x="377554" y="2376210"/>
            <a:ext cx="7020467" cy="7932894"/>
          </a:xfrm>
          <a:prstGeom prst="rect">
            <a:avLst/>
          </a:prstGeom>
          <a:noFill/>
          <a:ln w="6350"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842" tIns="0" rIns="0" bIns="0" rtlCol="0" anchor="ctr"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endParaRPr lang="en-US" altLang="ko-KR" sz="132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12" name="자유형: 도형 111">
            <a:extLst>
              <a:ext uri="{FF2B5EF4-FFF2-40B4-BE49-F238E27FC236}">
                <a16:creationId xmlns:a16="http://schemas.microsoft.com/office/drawing/2014/main" id="{83F9C003-39A7-553F-22C5-116517CB4A64}"/>
              </a:ext>
            </a:extLst>
          </p:cNvPr>
          <p:cNvSpPr/>
          <p:nvPr userDrawn="1"/>
        </p:nvSpPr>
        <p:spPr>
          <a:xfrm rot="3632692">
            <a:off x="6036123" y="-343066"/>
            <a:ext cx="1361634" cy="1951317"/>
          </a:xfrm>
          <a:custGeom>
            <a:avLst/>
            <a:gdLst>
              <a:gd name="connsiteX0" fmla="*/ 0 w 1361634"/>
              <a:gd name="connsiteY0" fmla="*/ 895708 h 1951317"/>
              <a:gd name="connsiteX1" fmla="*/ 505842 w 1361634"/>
              <a:gd name="connsiteY1" fmla="*/ 0 h 1951317"/>
              <a:gd name="connsiteX2" fmla="*/ 1106015 w 1361634"/>
              <a:gd name="connsiteY2" fmla="*/ 0 h 1951317"/>
              <a:gd name="connsiteX3" fmla="*/ 1361634 w 1361634"/>
              <a:gd name="connsiteY3" fmla="*/ 144358 h 1951317"/>
              <a:gd name="connsiteX4" fmla="*/ 341172 w 1361634"/>
              <a:gd name="connsiteY4" fmla="*/ 1951317 h 1951317"/>
              <a:gd name="connsiteX5" fmla="*/ 217612 w 1361634"/>
              <a:gd name="connsiteY5" fmla="*/ 1926371 h 1951317"/>
              <a:gd name="connsiteX6" fmla="*/ 0 w 1361634"/>
              <a:gd name="connsiteY6" fmla="*/ 1598070 h 19513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361634" h="1951317">
                <a:moveTo>
                  <a:pt x="0" y="895708"/>
                </a:moveTo>
                <a:lnTo>
                  <a:pt x="505842" y="0"/>
                </a:lnTo>
                <a:lnTo>
                  <a:pt x="1106015" y="0"/>
                </a:lnTo>
                <a:lnTo>
                  <a:pt x="1361634" y="144358"/>
                </a:lnTo>
                <a:lnTo>
                  <a:pt x="341172" y="1951317"/>
                </a:lnTo>
                <a:lnTo>
                  <a:pt x="217612" y="1926371"/>
                </a:lnTo>
                <a:cubicBezTo>
                  <a:pt x="89731" y="1872282"/>
                  <a:pt x="0" y="1745655"/>
                  <a:pt x="0" y="1598070"/>
                </a:cubicBezTo>
                <a:close/>
              </a:path>
            </a:pathLst>
          </a:custGeom>
          <a:noFill/>
          <a:ln w="95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CDB352B9-EEC2-E718-504D-B8E39A9DBEE3}"/>
              </a:ext>
            </a:extLst>
          </p:cNvPr>
          <p:cNvCxnSpPr>
            <a:cxnSpLocks/>
          </p:cNvCxnSpPr>
          <p:nvPr userDrawn="1"/>
        </p:nvCxnSpPr>
        <p:spPr>
          <a:xfrm flipV="1">
            <a:off x="6048027" y="-18752"/>
            <a:ext cx="576064" cy="337646"/>
          </a:xfrm>
          <a:prstGeom prst="line">
            <a:avLst/>
          </a:prstGeom>
          <a:ln>
            <a:gradFill>
              <a:gsLst>
                <a:gs pos="0">
                  <a:schemeClr val="accent1">
                    <a:lumMod val="5000"/>
                    <a:lumOff val="95000"/>
                    <a:alpha val="0"/>
                  </a:schemeClr>
                </a:gs>
                <a:gs pos="40400">
                  <a:srgbClr val="93BCF5"/>
                </a:gs>
                <a:gs pos="100000">
                  <a:srgbClr val="0061EB">
                    <a:alpha val="50000"/>
                  </a:srgb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그림 3" descr="상징, 엠블럼, 로고, 국기이(가) 표시된 사진&#10;&#10;자동 생성된 설명">
            <a:extLst>
              <a:ext uri="{FF2B5EF4-FFF2-40B4-BE49-F238E27FC236}">
                <a16:creationId xmlns:a16="http://schemas.microsoft.com/office/drawing/2014/main" id="{34B307FF-8771-AA00-D94F-47F27B7833E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39750" y="10366228"/>
            <a:ext cx="1368152" cy="315181"/>
          </a:xfrm>
          <a:prstGeom prst="rect">
            <a:avLst/>
          </a:prstGeom>
        </p:spPr>
      </p:pic>
      <p:pic>
        <p:nvPicPr>
          <p:cNvPr id="5" name="그림 4" descr="친필, 서예, 칠판, 텍스트이(가) 표시된 사진&#10;&#10;자동 생성된 설명">
            <a:extLst>
              <a:ext uri="{FF2B5EF4-FFF2-40B4-BE49-F238E27FC236}">
                <a16:creationId xmlns:a16="http://schemas.microsoft.com/office/drawing/2014/main" id="{995DAC6B-8FEA-2682-30E1-1DE33272895B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564680" y="282483"/>
            <a:ext cx="748174" cy="336258"/>
          </a:xfrm>
          <a:prstGeom prst="rect">
            <a:avLst/>
          </a:prstGeom>
        </p:spPr>
      </p:pic>
      <p:pic>
        <p:nvPicPr>
          <p:cNvPr id="6" name="그림 5" descr="컴퓨터, 스크린샷, 운영 체제, 디자인이(가) 표시된 사진&#10;&#10;자동 생성된 설명">
            <a:extLst>
              <a:ext uri="{FF2B5EF4-FFF2-40B4-BE49-F238E27FC236}">
                <a16:creationId xmlns:a16="http://schemas.microsoft.com/office/drawing/2014/main" id="{212AF78E-7513-C6CC-5413-BE79D7028DF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2083" y="53256"/>
            <a:ext cx="1097214" cy="890453"/>
          </a:xfrm>
          <a:prstGeom prst="rect">
            <a:avLst/>
          </a:prstGeom>
        </p:spPr>
      </p:pic>
      <p:pic>
        <p:nvPicPr>
          <p:cNvPr id="11" name="그림 10" descr="상징, 엠블럼, 로고이(가) 표시된 사진&#10;&#10;자동 생성된 설명">
            <a:extLst>
              <a:ext uri="{FF2B5EF4-FFF2-40B4-BE49-F238E27FC236}">
                <a16:creationId xmlns:a16="http://schemas.microsoft.com/office/drawing/2014/main" id="{6C08050D-70F8-5536-49B3-18181CF08A0B}"/>
              </a:ext>
            </a:extLst>
          </p:cNvPr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6403137" y="389135"/>
            <a:ext cx="364970" cy="357245"/>
          </a:xfrm>
          <a:prstGeom prst="rect">
            <a:avLst/>
          </a:prstGeom>
        </p:spPr>
      </p:pic>
      <p:pic>
        <p:nvPicPr>
          <p:cNvPr id="2" name="그림 1" descr="폰트, 텍스트, 그래픽, 그래픽 디자인이(가) 표시된 사진&#10;&#10;자동 생성된 설명">
            <a:extLst>
              <a:ext uri="{FF2B5EF4-FFF2-40B4-BE49-F238E27FC236}">
                <a16:creationId xmlns:a16="http://schemas.microsoft.com/office/drawing/2014/main" id="{B375A768-F3AA-DDE4-473B-15E00BD265CA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6109542" y="10392099"/>
            <a:ext cx="1094234" cy="22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7316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5" r:id="rId2"/>
    <p:sldLayoutId id="2147483708" r:id="rId3"/>
  </p:sldLayoutIdLst>
  <p:txStyles>
    <p:titleStyle>
      <a:lvl1pPr algn="ctr" defTabSz="1006846" rtl="0" eaLnBrk="1" latinLnBrk="1" hangingPunct="1">
        <a:spcBef>
          <a:spcPct val="0"/>
        </a:spcBef>
        <a:buNone/>
        <a:defRPr sz="484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77567" indent="-377567" algn="l" defTabSz="1006846" rtl="0" eaLnBrk="1" latinLnBrk="1" hangingPunct="1">
        <a:spcBef>
          <a:spcPct val="20000"/>
        </a:spcBef>
        <a:buFont typeface="Arial" pitchFamily="34" charset="0"/>
        <a:buChar char="•"/>
        <a:defRPr sz="3524" kern="1200">
          <a:solidFill>
            <a:schemeClr val="tx1"/>
          </a:solidFill>
          <a:latin typeface="+mn-lt"/>
          <a:ea typeface="+mn-ea"/>
          <a:cs typeface="+mn-cs"/>
        </a:defRPr>
      </a:lvl1pPr>
      <a:lvl2pPr marL="818062" indent="-314639" algn="l" defTabSz="1006846" rtl="0" eaLnBrk="1" latinLnBrk="1" hangingPunct="1">
        <a:spcBef>
          <a:spcPct val="20000"/>
        </a:spcBef>
        <a:buFont typeface="Arial" pitchFamily="34" charset="0"/>
        <a:buChar char="–"/>
        <a:defRPr sz="3083" kern="1200">
          <a:solidFill>
            <a:schemeClr val="tx1"/>
          </a:solidFill>
          <a:latin typeface="+mn-lt"/>
          <a:ea typeface="+mn-ea"/>
          <a:cs typeface="+mn-cs"/>
        </a:defRPr>
      </a:lvl2pPr>
      <a:lvl3pPr marL="1258557" indent="-251711" algn="l" defTabSz="1006846" rtl="0" eaLnBrk="1" latinLnBrk="1" hangingPunct="1">
        <a:spcBef>
          <a:spcPct val="20000"/>
        </a:spcBef>
        <a:buFont typeface="Arial" pitchFamily="34" charset="0"/>
        <a:buChar char="•"/>
        <a:defRPr sz="2643" kern="1200">
          <a:solidFill>
            <a:schemeClr val="tx1"/>
          </a:solidFill>
          <a:latin typeface="+mn-lt"/>
          <a:ea typeface="+mn-ea"/>
          <a:cs typeface="+mn-cs"/>
        </a:defRPr>
      </a:lvl3pPr>
      <a:lvl4pPr marL="1761980" indent="-251711" algn="l" defTabSz="1006846" rtl="0" eaLnBrk="1" latinLnBrk="1" hangingPunct="1">
        <a:spcBef>
          <a:spcPct val="20000"/>
        </a:spcBef>
        <a:buFont typeface="Arial" pitchFamily="34" charset="0"/>
        <a:buChar char="–"/>
        <a:defRPr sz="2202" kern="1200">
          <a:solidFill>
            <a:schemeClr val="tx1"/>
          </a:solidFill>
          <a:latin typeface="+mn-lt"/>
          <a:ea typeface="+mn-ea"/>
          <a:cs typeface="+mn-cs"/>
        </a:defRPr>
      </a:lvl4pPr>
      <a:lvl5pPr marL="2265403" indent="-251711" algn="l" defTabSz="1006846" rtl="0" eaLnBrk="1" latinLnBrk="1" hangingPunct="1">
        <a:spcBef>
          <a:spcPct val="20000"/>
        </a:spcBef>
        <a:buFont typeface="Arial" pitchFamily="34" charset="0"/>
        <a:buChar char="»"/>
        <a:defRPr sz="2202" kern="1200">
          <a:solidFill>
            <a:schemeClr val="tx1"/>
          </a:solidFill>
          <a:latin typeface="+mn-lt"/>
          <a:ea typeface="+mn-ea"/>
          <a:cs typeface="+mn-cs"/>
        </a:defRPr>
      </a:lvl5pPr>
      <a:lvl6pPr marL="2768826" indent="-251711" algn="l" defTabSz="1006846" rtl="0" eaLnBrk="1" latinLnBrk="1" hangingPunct="1">
        <a:spcBef>
          <a:spcPct val="20000"/>
        </a:spcBef>
        <a:buFont typeface="Arial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6pPr>
      <a:lvl7pPr marL="3272249" indent="-251711" algn="l" defTabSz="1006846" rtl="0" eaLnBrk="1" latinLnBrk="1" hangingPunct="1">
        <a:spcBef>
          <a:spcPct val="20000"/>
        </a:spcBef>
        <a:buFont typeface="Arial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7pPr>
      <a:lvl8pPr marL="3775672" indent="-251711" algn="l" defTabSz="1006846" rtl="0" eaLnBrk="1" latinLnBrk="1" hangingPunct="1">
        <a:spcBef>
          <a:spcPct val="20000"/>
        </a:spcBef>
        <a:buFont typeface="Arial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8pPr>
      <a:lvl9pPr marL="4279095" indent="-251711" algn="l" defTabSz="1006846" rtl="0" eaLnBrk="1" latinLnBrk="1" hangingPunct="1">
        <a:spcBef>
          <a:spcPct val="20000"/>
        </a:spcBef>
        <a:buFont typeface="Arial" pitchFamily="34" charset="0"/>
        <a:buChar char="•"/>
        <a:defRPr sz="220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006846" rtl="0" eaLnBrk="1" latinLnBrk="1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1pPr>
      <a:lvl2pPr marL="503423" algn="l" defTabSz="1006846" rtl="0" eaLnBrk="1" latinLnBrk="1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2pPr>
      <a:lvl3pPr marL="1006846" algn="l" defTabSz="1006846" rtl="0" eaLnBrk="1" latinLnBrk="1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3pPr>
      <a:lvl4pPr marL="1510269" algn="l" defTabSz="1006846" rtl="0" eaLnBrk="1" latinLnBrk="1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4pPr>
      <a:lvl5pPr marL="2013692" algn="l" defTabSz="1006846" rtl="0" eaLnBrk="1" latinLnBrk="1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5pPr>
      <a:lvl6pPr marL="2517115" algn="l" defTabSz="1006846" rtl="0" eaLnBrk="1" latinLnBrk="1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6pPr>
      <a:lvl7pPr marL="3020538" algn="l" defTabSz="1006846" rtl="0" eaLnBrk="1" latinLnBrk="1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7pPr>
      <a:lvl8pPr marL="3523960" algn="l" defTabSz="1006846" rtl="0" eaLnBrk="1" latinLnBrk="1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8pPr>
      <a:lvl9pPr marL="4027383" algn="l" defTabSz="1006846" rtl="0" eaLnBrk="1" latinLnBrk="1" hangingPunct="1">
        <a:defRPr sz="198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362" userDrawn="1">
          <p15:clr>
            <a:srgbClr val="F26B43"/>
          </p15:clr>
        </p15:guide>
        <p15:guide id="3" pos="453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chart" Target="../charts/chart6.xml"/><Relationship Id="rId3" Type="http://schemas.microsoft.com/office/2007/relationships/hdphoto" Target="../media/hdphoto1.wdp"/><Relationship Id="rId7" Type="http://schemas.openxmlformats.org/officeDocument/2006/relationships/chart" Target="../charts/chart5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4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Relationship Id="rId9" Type="http://schemas.openxmlformats.org/officeDocument/2006/relationships/chart" Target="../charts/char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chart" Target="../charts/chart12.xml"/><Relationship Id="rId3" Type="http://schemas.microsoft.com/office/2007/relationships/hdphoto" Target="../media/hdphoto1.wdp"/><Relationship Id="rId7" Type="http://schemas.openxmlformats.org/officeDocument/2006/relationships/chart" Target="../charts/chart1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6" Type="http://schemas.openxmlformats.org/officeDocument/2006/relationships/chart" Target="../charts/chart10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Relationship Id="rId9" Type="http://schemas.openxmlformats.org/officeDocument/2006/relationships/chart" Target="../charts/char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9.png"/><Relationship Id="rId7" Type="http://schemas.openxmlformats.org/officeDocument/2006/relationships/image" Target="../media/image28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6.png"/><Relationship Id="rId5" Type="http://schemas.openxmlformats.org/officeDocument/2006/relationships/image" Target="../media/image21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5EB94BF4-269D-4ADE-8025-A904DB6FAF1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113" name="제목 1">
            <a:extLst>
              <a:ext uri="{FF2B5EF4-FFF2-40B4-BE49-F238E27FC236}">
                <a16:creationId xmlns:a16="http://schemas.microsoft.com/office/drawing/2014/main" id="{52B47547-9CDD-51B7-4015-F53BDBBC8519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D15C4-AF98-EFE3-EB7A-8C48293D6D4B}"/>
              </a:ext>
            </a:extLst>
          </p:cNvPr>
          <p:cNvSpPr txBox="1"/>
          <p:nvPr/>
        </p:nvSpPr>
        <p:spPr>
          <a:xfrm>
            <a:off x="934361" y="2524932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안정성 극대화로 신속한 대응이 가능한 유지보수 서비스 제공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F03E0E-F6C0-91ED-93A3-245C8135B495}"/>
              </a:ext>
            </a:extLst>
          </p:cNvPr>
          <p:cNvSpPr/>
          <p:nvPr/>
        </p:nvSpPr>
        <p:spPr>
          <a:xfrm>
            <a:off x="1381398" y="1696926"/>
            <a:ext cx="5849058" cy="56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marL="127000" indent="-127000" defTabSz="1018844" latinLnBrk="1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>
                <a:srgbClr val="0061EB"/>
              </a:buClr>
              <a:buSzPct val="80000"/>
              <a:buFont typeface="KoPub돋움체 Bold" panose="02020603020101020101" pitchFamily="18" charset="-127"/>
              <a:buChar char="▶"/>
              <a:defRPr/>
            </a:pP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국방전산정보원 ‘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25-’26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년 전산장비 유지보수의 체계 확립으로 정보체계의 안정성을 확보하고 신속하고 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정확한 업무지원으로 시스템 활용능력 향상 및 사용자 만족도를 제고하고 장애 예방활동 및 신속한 대응으로 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365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일 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24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시간 최적의 전산장비 및 정보체계를 유지합니다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8FA33E-FCA6-5565-BB5E-627D28B7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535E31A1-D9D1-17FD-BB14-135486F69725}"/>
              </a:ext>
            </a:extLst>
          </p:cNvPr>
          <p:cNvGrpSpPr/>
          <p:nvPr/>
        </p:nvGrpSpPr>
        <p:grpSpPr>
          <a:xfrm>
            <a:off x="575631" y="2933700"/>
            <a:ext cx="6625270" cy="7272338"/>
            <a:chOff x="8797408" y="3385230"/>
            <a:chExt cx="6348036" cy="6402301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BF8F47B1-5E74-B45A-7EDF-CC0CDB182F5A}"/>
                </a:ext>
              </a:extLst>
            </p:cNvPr>
            <p:cNvGrpSpPr/>
            <p:nvPr/>
          </p:nvGrpSpPr>
          <p:grpSpPr>
            <a:xfrm>
              <a:off x="8797408" y="3385230"/>
              <a:ext cx="6301525" cy="1192263"/>
              <a:chOff x="649664" y="2942735"/>
              <a:chExt cx="6301525" cy="1192263"/>
            </a:xfrm>
          </p:grpSpPr>
          <p:grpSp>
            <p:nvGrpSpPr>
              <p:cNvPr id="54" name="그룹 53">
                <a:extLst>
                  <a:ext uri="{FF2B5EF4-FFF2-40B4-BE49-F238E27FC236}">
                    <a16:creationId xmlns:a16="http://schemas.microsoft.com/office/drawing/2014/main" id="{99CE1F68-22B2-FE13-9AA8-E06043E4974E}"/>
                  </a:ext>
                </a:extLst>
              </p:cNvPr>
              <p:cNvGrpSpPr/>
              <p:nvPr/>
            </p:nvGrpSpPr>
            <p:grpSpPr>
              <a:xfrm>
                <a:off x="649664" y="2942735"/>
                <a:ext cx="6301525" cy="1192263"/>
                <a:chOff x="437284" y="2598273"/>
                <a:chExt cx="6215932" cy="1290350"/>
              </a:xfrm>
            </p:grpSpPr>
            <p:pic>
              <p:nvPicPr>
                <p:cNvPr id="56" name="그림 55">
                  <a:extLst>
                    <a:ext uri="{FF2B5EF4-FFF2-40B4-BE49-F238E27FC236}">
                      <a16:creationId xmlns:a16="http://schemas.microsoft.com/office/drawing/2014/main" id="{4447D5BF-545B-A955-3AAF-AAC40760B28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9925" b="8005"/>
                <a:stretch/>
              </p:blipFill>
              <p:spPr bwMode="gray">
                <a:xfrm flipH="1">
                  <a:off x="5037958" y="2599004"/>
                  <a:ext cx="1615258" cy="737508"/>
                </a:xfrm>
                <a:prstGeom prst="rect">
                  <a:avLst/>
                </a:prstGeom>
              </p:spPr>
            </p:pic>
            <p:grpSp>
              <p:nvGrpSpPr>
                <p:cNvPr id="57" name="그룹 56">
                  <a:extLst>
                    <a:ext uri="{FF2B5EF4-FFF2-40B4-BE49-F238E27FC236}">
                      <a16:creationId xmlns:a16="http://schemas.microsoft.com/office/drawing/2014/main" id="{0A467902-A4E7-6BFB-0C5B-F1FF92A19A21}"/>
                    </a:ext>
                  </a:extLst>
                </p:cNvPr>
                <p:cNvGrpSpPr/>
                <p:nvPr/>
              </p:nvGrpSpPr>
              <p:grpSpPr bwMode="gray">
                <a:xfrm flipH="1">
                  <a:off x="437284" y="2598273"/>
                  <a:ext cx="5424632" cy="1290350"/>
                  <a:chOff x="1244825" y="3261061"/>
                  <a:chExt cx="5833294" cy="1387558"/>
                </a:xfrm>
              </p:grpSpPr>
              <p:pic>
                <p:nvPicPr>
                  <p:cNvPr id="58" name="Picture 5">
                    <a:extLst>
                      <a:ext uri="{FF2B5EF4-FFF2-40B4-BE49-F238E27FC236}">
                        <a16:creationId xmlns:a16="http://schemas.microsoft.com/office/drawing/2014/main" id="{1C0A0366-5A9D-BE39-A081-2688AA89511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gray">
                  <a:xfrm>
                    <a:off x="1904335" y="3261298"/>
                    <a:ext cx="5173784" cy="1387321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59" name="직사각형 58">
                    <a:extLst>
                      <a:ext uri="{FF2B5EF4-FFF2-40B4-BE49-F238E27FC236}">
                        <a16:creationId xmlns:a16="http://schemas.microsoft.com/office/drawing/2014/main" id="{E9D33887-1409-E7C1-E357-E0003E641036}"/>
                      </a:ext>
                    </a:extLst>
                  </p:cNvPr>
                  <p:cNvSpPr/>
                  <p:nvPr/>
                </p:nvSpPr>
                <p:spPr bwMode="gray">
                  <a:xfrm>
                    <a:off x="2068367" y="3261061"/>
                    <a:ext cx="1568821" cy="1295765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latinLnBrk="0"/>
                    <a:endParaRPr lang="ko-KR" altLang="en-US" dirty="0"/>
                  </a:p>
                </p:txBody>
              </p:sp>
              <p:sp>
                <p:nvSpPr>
                  <p:cNvPr id="60" name="직사각형 59">
                    <a:extLst>
                      <a:ext uri="{FF2B5EF4-FFF2-40B4-BE49-F238E27FC236}">
                        <a16:creationId xmlns:a16="http://schemas.microsoft.com/office/drawing/2014/main" id="{FFBCB23D-1064-2E58-5FCD-6A56A2894921}"/>
                      </a:ext>
                    </a:extLst>
                  </p:cNvPr>
                  <p:cNvSpPr/>
                  <p:nvPr/>
                </p:nvSpPr>
                <p:spPr bwMode="gray">
                  <a:xfrm flipH="1">
                    <a:off x="1244825" y="3277691"/>
                    <a:ext cx="1002085" cy="1295764"/>
                  </a:xfrm>
                  <a:prstGeom prst="rect">
                    <a:avLst/>
                  </a:prstGeom>
                  <a:gradFill flip="none" rotWithShape="1">
                    <a:gsLst>
                      <a:gs pos="0">
                        <a:schemeClr val="bg1"/>
                      </a:gs>
                      <a:gs pos="100000">
                        <a:schemeClr val="bg1">
                          <a:alpha val="0"/>
                        </a:schemeClr>
                      </a:gs>
                    </a:gsLst>
                    <a:lin ang="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latinLnBrk="0"/>
                    <a:endParaRPr lang="ko-KR" altLang="en-US" dirty="0"/>
                  </a:p>
                </p:txBody>
              </p:sp>
            </p:grpSp>
          </p:grpSp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71E764B7-395C-1F87-7577-0949B9608F76}"/>
                  </a:ext>
                </a:extLst>
              </p:cNvPr>
              <p:cNvSpPr/>
              <p:nvPr/>
            </p:nvSpPr>
            <p:spPr>
              <a:xfrm>
                <a:off x="1509449" y="3165410"/>
                <a:ext cx="4620064" cy="447076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0" rIns="0" bIns="0" rtlCol="0" anchor="ctr" anchorCtr="0">
                <a:spAutoFit/>
              </a:bodyPr>
              <a:lstStyle/>
              <a:p>
                <a:pPr algn="ctr" fontAlgn="ctr" latinLnBrk="0">
                  <a:spcBef>
                    <a:spcPts val="300"/>
                  </a:spcBef>
                  <a:spcAft>
                    <a:spcPts val="300"/>
                  </a:spcAft>
                  <a:defRPr/>
                </a:pPr>
                <a:r>
                  <a:rPr lang="ko-KR" altLang="en-US" sz="1200" kern="0" dirty="0">
                    <a:solidFill>
                      <a:prstClr val="black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분야별 전문기술과 풍부한 업무 경험을 보유한 최적의 업체선정으로 </a:t>
                </a:r>
                <a:endParaRPr lang="en-US" altLang="ko-KR" sz="1200" kern="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endParaRPr>
              </a:p>
              <a:p>
                <a:pPr marL="0" marR="0" lvl="0" indent="0" algn="ctr" defTabSz="914400" eaLnBrk="1" fontAlgn="ctr" latinLnBrk="0" hangingPunct="1">
                  <a:spcBef>
                    <a:spcPts val="300"/>
                  </a:spcBef>
                  <a:spcAft>
                    <a:spcPts val="3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600" kern="0" dirty="0">
                    <a:solidFill>
                      <a:schemeClr val="accent6">
                        <a:lumMod val="7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전산장비 및 정보체계의 </a:t>
                </a:r>
                <a:r>
                  <a:rPr kumimoji="0" lang="en-US" altLang="ko-KR" sz="1600" kern="0" dirty="0">
                    <a:solidFill>
                      <a:schemeClr val="accent6">
                        <a:lumMod val="7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24</a:t>
                </a:r>
                <a:r>
                  <a:rPr kumimoji="0" lang="ko-KR" altLang="en-US" sz="1600" kern="0" dirty="0">
                    <a:solidFill>
                      <a:schemeClr val="accent6">
                        <a:lumMod val="7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시간 </a:t>
                </a:r>
                <a:r>
                  <a:rPr kumimoji="0" lang="en-US" altLang="ko-KR" sz="1600" kern="0" dirty="0">
                    <a:solidFill>
                      <a:schemeClr val="accent6">
                        <a:lumMod val="7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365</a:t>
                </a:r>
                <a:r>
                  <a:rPr kumimoji="0" lang="ko-KR" altLang="en-US" sz="1600" kern="0" dirty="0">
                    <a:solidFill>
                      <a:schemeClr val="accent6">
                        <a:lumMod val="75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일 무 중단 안정적 운영</a:t>
                </a:r>
              </a:p>
            </p:txBody>
          </p:sp>
        </p:grpSp>
        <p:pic>
          <p:nvPicPr>
            <p:cNvPr id="10" name="Picture 5">
              <a:extLst>
                <a:ext uri="{FF2B5EF4-FFF2-40B4-BE49-F238E27FC236}">
                  <a16:creationId xmlns:a16="http://schemas.microsoft.com/office/drawing/2014/main" id="{2000EB29-09FC-51EC-D2E5-2685C1AE96B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962"/>
            <a:stretch/>
          </p:blipFill>
          <p:spPr bwMode="auto">
            <a:xfrm>
              <a:off x="8804774" y="6249834"/>
              <a:ext cx="6327970" cy="3537697"/>
            </a:xfrm>
            <a:prstGeom prst="rect">
              <a:avLst/>
            </a:prstGeom>
            <a:noFill/>
            <a:ln w="12700" cap="rnd">
              <a:noFill/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1" name="그룹 10">
              <a:extLst>
                <a:ext uri="{FF2B5EF4-FFF2-40B4-BE49-F238E27FC236}">
                  <a16:creationId xmlns:a16="http://schemas.microsoft.com/office/drawing/2014/main" id="{87C72F81-B88A-0C5E-7CB0-FE6E793B6714}"/>
                </a:ext>
              </a:extLst>
            </p:cNvPr>
            <p:cNvGrpSpPr/>
            <p:nvPr/>
          </p:nvGrpSpPr>
          <p:grpSpPr>
            <a:xfrm>
              <a:off x="8817559" y="4203402"/>
              <a:ext cx="6327885" cy="3394684"/>
              <a:chOff x="499398" y="3617343"/>
              <a:chExt cx="6346038" cy="3394684"/>
            </a:xfrm>
          </p:grpSpPr>
          <p:pic>
            <p:nvPicPr>
              <p:cNvPr id="31" name="그림 30">
                <a:extLst>
                  <a:ext uri="{FF2B5EF4-FFF2-40B4-BE49-F238E27FC236}">
                    <a16:creationId xmlns:a16="http://schemas.microsoft.com/office/drawing/2014/main" id="{48AE26CE-B0CE-1034-BF3A-896CF409BFEC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4798703" y="3617343"/>
                <a:ext cx="1930771" cy="842827"/>
              </a:xfrm>
              <a:prstGeom prst="round2SameRect">
                <a:avLst/>
              </a:prstGeom>
              <a:noFill/>
              <a:ln w="25400">
                <a:gradFill flip="none" rotWithShape="1">
                  <a:gsLst>
                    <a:gs pos="0">
                      <a:sysClr val="window" lastClr="FFFFFF">
                        <a:alpha val="0"/>
                      </a:sysClr>
                    </a:gs>
                    <a:gs pos="100000">
                      <a:srgbClr val="3798AB"/>
                    </a:gs>
                  </a:gsLst>
                  <a:lin ang="16200000" scaled="1"/>
                  <a:tileRect/>
                </a:gradFill>
              </a:ln>
            </p:spPr>
          </p:pic>
          <p:pic>
            <p:nvPicPr>
              <p:cNvPr id="32" name="그림 31">
                <a:extLst>
                  <a:ext uri="{FF2B5EF4-FFF2-40B4-BE49-F238E27FC236}">
                    <a16:creationId xmlns:a16="http://schemas.microsoft.com/office/drawing/2014/main" id="{F9914F36-F7E2-31D5-399F-D76784B01A1F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2691154" y="3617343"/>
                <a:ext cx="1930769" cy="842827"/>
              </a:xfrm>
              <a:prstGeom prst="round2SameRect">
                <a:avLst/>
              </a:prstGeom>
              <a:noFill/>
              <a:ln w="25400">
                <a:gradFill flip="none" rotWithShape="1">
                  <a:gsLst>
                    <a:gs pos="0">
                      <a:sysClr val="window" lastClr="FFFFFF">
                        <a:alpha val="0"/>
                      </a:sysClr>
                    </a:gs>
                    <a:gs pos="100000">
                      <a:srgbClr val="4472C4"/>
                    </a:gs>
                  </a:gsLst>
                  <a:lin ang="16200000" scaled="1"/>
                  <a:tileRect/>
                </a:gradFill>
              </a:ln>
            </p:spPr>
          </p:pic>
          <p:pic>
            <p:nvPicPr>
              <p:cNvPr id="33" name="그림 32">
                <a:extLst>
                  <a:ext uri="{FF2B5EF4-FFF2-40B4-BE49-F238E27FC236}">
                    <a16:creationId xmlns:a16="http://schemas.microsoft.com/office/drawing/2014/main" id="{A109BE9B-AA8A-98F6-6CCC-1D1CF793E003}"/>
                  </a:ext>
                </a:extLst>
              </p:cNvPr>
              <p:cNvPicPr>
                <a:picLocks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 bwMode="auto">
              <a:xfrm>
                <a:off x="593600" y="3617343"/>
                <a:ext cx="1930771" cy="842827"/>
              </a:xfrm>
              <a:prstGeom prst="round2SameRect">
                <a:avLst/>
              </a:prstGeom>
              <a:noFill/>
              <a:ln w="25400">
                <a:gradFill flip="none" rotWithShape="1">
                  <a:gsLst>
                    <a:gs pos="0">
                      <a:sysClr val="window" lastClr="FFFFFF">
                        <a:alpha val="0"/>
                      </a:sysClr>
                    </a:gs>
                    <a:gs pos="100000">
                      <a:srgbClr val="4D99D3"/>
                    </a:gs>
                  </a:gsLst>
                  <a:lin ang="16200000" scaled="1"/>
                  <a:tileRect/>
                </a:gradFill>
              </a:ln>
            </p:spPr>
          </p:pic>
          <p:pic>
            <p:nvPicPr>
              <p:cNvPr id="34" name="그림 113">
                <a:extLst>
                  <a:ext uri="{FF2B5EF4-FFF2-40B4-BE49-F238E27FC236}">
                    <a16:creationId xmlns:a16="http://schemas.microsoft.com/office/drawing/2014/main" id="{0C11382D-FA48-C5C1-09E5-A4CBE8F56F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194547" y="4158813"/>
                <a:ext cx="728876" cy="501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5" name="그림 114">
                <a:extLst>
                  <a:ext uri="{FF2B5EF4-FFF2-40B4-BE49-F238E27FC236}">
                    <a16:creationId xmlns:a16="http://schemas.microsoft.com/office/drawing/2014/main" id="{3BC0DDCB-2E68-210F-4D02-E933F6ACAE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88072" y="4158813"/>
                <a:ext cx="728876" cy="501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" name="그림 116">
                <a:extLst>
                  <a:ext uri="{FF2B5EF4-FFF2-40B4-BE49-F238E27FC236}">
                    <a16:creationId xmlns:a16="http://schemas.microsoft.com/office/drawing/2014/main" id="{C22C8E69-216F-37CE-5919-F2428B37F7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399650" y="4158813"/>
                <a:ext cx="728876" cy="50135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37" name="양쪽 모서리가 둥근 사각형 157">
                <a:extLst>
                  <a:ext uri="{FF2B5EF4-FFF2-40B4-BE49-F238E27FC236}">
                    <a16:creationId xmlns:a16="http://schemas.microsoft.com/office/drawing/2014/main" id="{9BAB151B-2801-8059-B533-2480A75DDC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6200" y="5484216"/>
                <a:ext cx="2049028" cy="1527811"/>
              </a:xfrm>
              <a:custGeom>
                <a:avLst/>
                <a:gdLst>
                  <a:gd name="T0" fmla="*/ 4526845 w 4526845"/>
                  <a:gd name="T1" fmla="*/ 382950 h 765899"/>
                  <a:gd name="T2" fmla="*/ 2263423 w 4526845"/>
                  <a:gd name="T3" fmla="*/ 765899 h 765899"/>
                  <a:gd name="T4" fmla="*/ 0 w 4526845"/>
                  <a:gd name="T5" fmla="*/ 382950 h 765899"/>
                  <a:gd name="T6" fmla="*/ 2263423 w 4526845"/>
                  <a:gd name="T7" fmla="*/ 0 h 765899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  <a:gd name="T12" fmla="*/ 0 w 4526845"/>
                  <a:gd name="T13" fmla="*/ 0 h 765899"/>
                  <a:gd name="T14" fmla="*/ 4526845 w 4526845"/>
                  <a:gd name="T15" fmla="*/ 765899 h 7658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26845" h="765899">
                    <a:moveTo>
                      <a:pt x="0" y="0"/>
                    </a:moveTo>
                    <a:lnTo>
                      <a:pt x="4526845" y="0"/>
                    </a:lnTo>
                    <a:lnTo>
                      <a:pt x="4526845" y="765899"/>
                    </a:lnTo>
                    <a:lnTo>
                      <a:pt x="0" y="7658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lIns="72000" tIns="144000" rIns="72000" bIns="72000"/>
              <a:lstStyle/>
              <a:p>
                <a:pPr marL="95236" marR="0" lvl="1" indent="-95236" defTabSz="914400" eaLnBrk="0" fontAlgn="ctr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24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Wingdings" pitchFamily="2" charset="2"/>
                  <a:buChar char="§"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분야별 전문기술 인력의 상주를 통해 </a:t>
                </a:r>
                <a:r>
                  <a:rPr lang="ko-KR" altLang="en-US" sz="1000" kern="0" dirty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전산장비 및 정보체계</a:t>
                </a: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의 안정성 및 신뢰성 향상 도모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  <a:p>
                <a:pPr marL="95236" marR="0" lvl="1" indent="-95236" defTabSz="914400" eaLnBrk="0" fontAlgn="ctr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24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Wingdings" pitchFamily="2" charset="2"/>
                  <a:buChar char="§"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기존 용역 계약 만료 도래로 인해 국방전산정보원에서 요구하는 전문성과 역량을 가진 차기 사업자의 선정 필요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  <a:p>
                <a:pPr marL="95236" marR="0" lvl="1" indent="-95236" defTabSz="914400" eaLnBrk="0" fontAlgn="ctr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24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Wingdings" pitchFamily="2" charset="2"/>
                  <a:buChar char="§"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선진화된 운영관리 및 전문업체를 통한 통합관리 필요</a:t>
                </a:r>
              </a:p>
            </p:txBody>
          </p:sp>
          <p:sp>
            <p:nvSpPr>
              <p:cNvPr id="38" name="양쪽 모서리가 둥근 사각형 158">
                <a:extLst>
                  <a:ext uri="{FF2B5EF4-FFF2-40B4-BE49-F238E27FC236}">
                    <a16:creationId xmlns:a16="http://schemas.microsoft.com/office/drawing/2014/main" id="{34622B41-B27D-B3F2-E82D-E64F419E9A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9398" y="4964501"/>
                <a:ext cx="2062631" cy="518005"/>
              </a:xfrm>
              <a:custGeom>
                <a:avLst/>
                <a:gdLst>
                  <a:gd name="T0" fmla="*/ 2251476 w 4526845"/>
                  <a:gd name="T1" fmla="*/ 131763 h 287391"/>
                  <a:gd name="T2" fmla="*/ 1125738 w 4526845"/>
                  <a:gd name="T3" fmla="*/ 263525 h 287391"/>
                  <a:gd name="T4" fmla="*/ 0 w 4526845"/>
                  <a:gd name="T5" fmla="*/ 131763 h 287391"/>
                  <a:gd name="T6" fmla="*/ 1125738 w 4526845"/>
                  <a:gd name="T7" fmla="*/ 0 h 287391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  <a:gd name="T12" fmla="*/ 0 w 4526845"/>
                  <a:gd name="T13" fmla="*/ 0 h 287391"/>
                  <a:gd name="T14" fmla="*/ 4526845 w 4526845"/>
                  <a:gd name="T15" fmla="*/ 287391 h 28739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26845" h="287391">
                    <a:moveTo>
                      <a:pt x="0" y="0"/>
                    </a:moveTo>
                    <a:lnTo>
                      <a:pt x="4526845" y="0"/>
                    </a:lnTo>
                    <a:lnTo>
                      <a:pt x="4526845" y="287391"/>
                    </a:lnTo>
                    <a:lnTo>
                      <a:pt x="0" y="28739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84C0D8"/>
                  </a:gs>
                  <a:gs pos="100000">
                    <a:srgbClr val="59A2BF"/>
                  </a:gs>
                </a:gsLst>
                <a:lin ang="5400000" scaled="0"/>
              </a:gradFill>
              <a:ln w="6350" cap="flat" cmpd="sng" algn="ctr">
                <a:solidFill>
                  <a:srgbClr val="63A8C5"/>
                </a:solidFill>
                <a:prstDash val="solid"/>
              </a:ln>
              <a:effectLst/>
            </p:spPr>
            <p:txBody>
              <a:bodyPr lIns="0" tIns="0" rIns="0" bIns="0" anchor="ctr"/>
              <a:lstStyle/>
              <a:p>
                <a:pPr indent="-180948" algn="ctr" fontAlgn="auto" latinLnBrk="0">
                  <a:spcBef>
                    <a:spcPts val="0"/>
                  </a:spcBef>
                  <a:spcAft>
                    <a:spcPts val="240"/>
                  </a:spcAft>
                </a:pPr>
                <a:r>
                  <a:rPr kumimoji="0" lang="ko-KR" altLang="en-US" sz="1050" kern="0" dirty="0">
                    <a:solidFill>
                      <a:sysClr val="window" lastClr="FFFFFF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전문기술과 풍부한 경험을 보유한</a:t>
                </a:r>
                <a:endParaRPr kumimoji="0" lang="en-US" altLang="ko-KR" sz="1050" kern="0" dirty="0">
                  <a:solidFill>
                    <a:sysClr val="window" lastClr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pPr indent="-180948" algn="ctr" fontAlgn="auto" latinLnBrk="0">
                  <a:spcBef>
                    <a:spcPts val="0"/>
                  </a:spcBef>
                  <a:spcAft>
                    <a:spcPts val="240"/>
                  </a:spcAft>
                </a:pPr>
                <a:r>
                  <a:rPr kumimoji="0" lang="ko-KR" altLang="en-US" sz="1050" kern="0" dirty="0">
                    <a:solidFill>
                      <a:sysClr val="window" lastClr="FFFFFF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역량 있는 차기 사업자 선정</a:t>
                </a:r>
              </a:p>
            </p:txBody>
          </p:sp>
          <p:sp>
            <p:nvSpPr>
              <p:cNvPr id="39" name="양쪽 모서리가 둥근 사각형 157">
                <a:extLst>
                  <a:ext uri="{FF2B5EF4-FFF2-40B4-BE49-F238E27FC236}">
                    <a16:creationId xmlns:a16="http://schemas.microsoft.com/office/drawing/2014/main" id="{41F64B40-64E7-9376-ADAF-2211165567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8955" y="5484216"/>
                <a:ext cx="2047329" cy="1527811"/>
              </a:xfrm>
              <a:custGeom>
                <a:avLst/>
                <a:gdLst>
                  <a:gd name="T0" fmla="*/ 4526845 w 4526845"/>
                  <a:gd name="T1" fmla="*/ 382950 h 765899"/>
                  <a:gd name="T2" fmla="*/ 2263423 w 4526845"/>
                  <a:gd name="T3" fmla="*/ 765899 h 765899"/>
                  <a:gd name="T4" fmla="*/ 0 w 4526845"/>
                  <a:gd name="T5" fmla="*/ 382950 h 765899"/>
                  <a:gd name="T6" fmla="*/ 2263423 w 4526845"/>
                  <a:gd name="T7" fmla="*/ 0 h 765899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  <a:gd name="T12" fmla="*/ 0 w 4526845"/>
                  <a:gd name="T13" fmla="*/ 0 h 765899"/>
                  <a:gd name="T14" fmla="*/ 4526845 w 4526845"/>
                  <a:gd name="T15" fmla="*/ 765899 h 7658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26845" h="765899">
                    <a:moveTo>
                      <a:pt x="0" y="0"/>
                    </a:moveTo>
                    <a:lnTo>
                      <a:pt x="4526845" y="0"/>
                    </a:lnTo>
                    <a:lnTo>
                      <a:pt x="4526845" y="765899"/>
                    </a:lnTo>
                    <a:lnTo>
                      <a:pt x="0" y="7658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lIns="72000" tIns="144000" rIns="72000" bIns="72000"/>
              <a:lstStyle/>
              <a:p>
                <a:pPr marL="95236" marR="0" lvl="1" indent="-95236" defTabSz="914400" eaLnBrk="0" fontAlgn="ctr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24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Wingdings" pitchFamily="2" charset="2"/>
                  <a:buChar char="§"/>
                  <a:tabLst/>
                  <a:defRPr/>
                </a:pPr>
                <a:r>
                  <a:rPr kumimoji="0" lang="ko-KR" altLang="en-US" sz="1000" kern="0" dirty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운영 및 유지관리 체계 확립으로 정보체계의 안정성 확보</a:t>
                </a:r>
                <a:endParaRPr kumimoji="0" lang="en-US" altLang="ko-KR" sz="1000" kern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  <a:p>
                <a:pPr marL="95236" marR="0" lvl="1" indent="-95236" defTabSz="914400" eaLnBrk="0" fontAlgn="ctr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24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Wingdings" pitchFamily="2" charset="2"/>
                  <a:buChar char="§"/>
                  <a:tabLst/>
                  <a:defRPr/>
                </a:pPr>
                <a:r>
                  <a:rPr kumimoji="0" lang="ko-KR" altLang="en-US" sz="1000" kern="0" dirty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주기적인 유지관리 수행으로 장애 사전예방</a:t>
                </a:r>
                <a:r>
                  <a:rPr kumimoji="0" lang="en-US" altLang="ko-KR" sz="1000" kern="0" dirty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, </a:t>
                </a:r>
                <a:r>
                  <a:rPr kumimoji="0" lang="ko-KR" altLang="en-US" sz="1000" kern="0" dirty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상시 대응체계 확보 및 사용자 요구사항의 신속한 반영 등 시스템의 효율적 관리 및 안정적 운영을 통한 서비스 품질 제고</a:t>
                </a:r>
                <a:endParaRPr kumimoji="0" lang="en-US" altLang="ko-KR" sz="1000" kern="0" dirty="0">
                  <a:solidFill>
                    <a:sysClr val="windowText" lastClr="000000">
                      <a:lumMod val="75000"/>
                      <a:lumOff val="25000"/>
                    </a:sysClr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40" name="양쪽 모서리가 둥근 사각형 158">
                <a:extLst>
                  <a:ext uri="{FF2B5EF4-FFF2-40B4-BE49-F238E27FC236}">
                    <a16:creationId xmlns:a16="http://schemas.microsoft.com/office/drawing/2014/main" id="{9E3CB1BE-E42A-D8D6-5392-DDAC22C4BF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47052" y="4964501"/>
                <a:ext cx="2066034" cy="518005"/>
              </a:xfrm>
              <a:custGeom>
                <a:avLst/>
                <a:gdLst>
                  <a:gd name="T0" fmla="*/ 2251476 w 4526845"/>
                  <a:gd name="T1" fmla="*/ 131763 h 287391"/>
                  <a:gd name="T2" fmla="*/ 1125738 w 4526845"/>
                  <a:gd name="T3" fmla="*/ 263525 h 287391"/>
                  <a:gd name="T4" fmla="*/ 0 w 4526845"/>
                  <a:gd name="T5" fmla="*/ 131763 h 287391"/>
                  <a:gd name="T6" fmla="*/ 1125738 w 4526845"/>
                  <a:gd name="T7" fmla="*/ 0 h 287391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  <a:gd name="T12" fmla="*/ 0 w 4526845"/>
                  <a:gd name="T13" fmla="*/ 0 h 287391"/>
                  <a:gd name="T14" fmla="*/ 4526845 w 4526845"/>
                  <a:gd name="T15" fmla="*/ 287391 h 28739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26845" h="287391">
                    <a:moveTo>
                      <a:pt x="0" y="0"/>
                    </a:moveTo>
                    <a:lnTo>
                      <a:pt x="4526845" y="0"/>
                    </a:lnTo>
                    <a:lnTo>
                      <a:pt x="4526845" y="287391"/>
                    </a:lnTo>
                    <a:lnTo>
                      <a:pt x="0" y="28739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578CA7"/>
                  </a:gs>
                  <a:gs pos="100000">
                    <a:srgbClr val="3E667A"/>
                  </a:gs>
                </a:gsLst>
                <a:lin ang="5400000" scaled="0"/>
              </a:gradFill>
              <a:ln w="6350" cap="flat" cmpd="sng" algn="ctr">
                <a:solidFill>
                  <a:srgbClr val="4A7990"/>
                </a:solidFill>
                <a:prstDash val="solid"/>
              </a:ln>
              <a:effectLst/>
            </p:spPr>
            <p:txBody>
              <a:bodyPr lIns="0" tIns="0" rIns="0" bIns="0" anchor="ctr"/>
              <a:lstStyle/>
              <a:p>
                <a:pPr indent="-180948" algn="ctr" fontAlgn="auto" latinLnBrk="0">
                  <a:spcBef>
                    <a:spcPts val="0"/>
                  </a:spcBef>
                  <a:spcAft>
                    <a:spcPts val="240"/>
                  </a:spcAft>
                </a:pPr>
                <a:r>
                  <a:rPr kumimoji="0" lang="ko-KR" altLang="en-US" sz="1050" kern="0" dirty="0">
                    <a:solidFill>
                      <a:sysClr val="window" lastClr="FFFFFF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전산장비 및 정보체계의 </a:t>
                </a:r>
              </a:p>
              <a:p>
                <a:pPr indent="-180948" algn="ctr" fontAlgn="auto" latinLnBrk="0">
                  <a:spcBef>
                    <a:spcPts val="0"/>
                  </a:spcBef>
                  <a:spcAft>
                    <a:spcPts val="240"/>
                  </a:spcAft>
                </a:pPr>
                <a:r>
                  <a:rPr kumimoji="0" lang="ko-KR" altLang="en-US" sz="1050" kern="0" dirty="0">
                    <a:solidFill>
                      <a:sysClr val="window" lastClr="FFFFFF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안정적 운영과 유지관리</a:t>
                </a:r>
              </a:p>
            </p:txBody>
          </p:sp>
          <p:sp>
            <p:nvSpPr>
              <p:cNvPr id="41" name="양쪽 모서리가 둥근 사각형 157">
                <a:extLst>
                  <a:ext uri="{FF2B5EF4-FFF2-40B4-BE49-F238E27FC236}">
                    <a16:creationId xmlns:a16="http://schemas.microsoft.com/office/drawing/2014/main" id="{854E0B24-3662-D998-7AEC-C41F983890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7904" y="5484216"/>
                <a:ext cx="2050729" cy="1527811"/>
              </a:xfrm>
              <a:custGeom>
                <a:avLst/>
                <a:gdLst>
                  <a:gd name="T0" fmla="*/ 4526845 w 4526845"/>
                  <a:gd name="T1" fmla="*/ 382950 h 765899"/>
                  <a:gd name="T2" fmla="*/ 2263423 w 4526845"/>
                  <a:gd name="T3" fmla="*/ 765899 h 765899"/>
                  <a:gd name="T4" fmla="*/ 0 w 4526845"/>
                  <a:gd name="T5" fmla="*/ 382950 h 765899"/>
                  <a:gd name="T6" fmla="*/ 2263423 w 4526845"/>
                  <a:gd name="T7" fmla="*/ 0 h 765899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  <a:gd name="T12" fmla="*/ 0 w 4526845"/>
                  <a:gd name="T13" fmla="*/ 0 h 765899"/>
                  <a:gd name="T14" fmla="*/ 4526845 w 4526845"/>
                  <a:gd name="T15" fmla="*/ 765899 h 76589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26845" h="765899">
                    <a:moveTo>
                      <a:pt x="0" y="0"/>
                    </a:moveTo>
                    <a:lnTo>
                      <a:pt x="4526845" y="0"/>
                    </a:lnTo>
                    <a:lnTo>
                      <a:pt x="4526845" y="765899"/>
                    </a:lnTo>
                    <a:lnTo>
                      <a:pt x="0" y="76589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ysClr val="window" lastClr="FFFFFF"/>
              </a:solidFill>
              <a:ln w="9525" cap="flat" cmpd="sng" algn="ctr">
                <a:solidFill>
                  <a:sysClr val="window" lastClr="FFFFFF">
                    <a:lumMod val="85000"/>
                  </a:sysClr>
                </a:solidFill>
                <a:prstDash val="solid"/>
                <a:round/>
                <a:headEnd/>
                <a:tailEnd/>
              </a:ln>
              <a:effectLst/>
            </p:spPr>
            <p:txBody>
              <a:bodyPr lIns="72000" tIns="144000" rIns="72000" bIns="72000"/>
              <a:lstStyle/>
              <a:p>
                <a:pPr marL="95236" marR="0" lvl="1" indent="-95236" defTabSz="914400" eaLnBrk="0" fontAlgn="ctr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24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Wingdings" pitchFamily="2" charset="2"/>
                  <a:buChar char="§"/>
                  <a:tabLst/>
                  <a:defRPr/>
                </a:pPr>
                <a:r>
                  <a:rPr kumimoji="0" lang="ko-KR" altLang="en-US" sz="1000" kern="0" dirty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수시 및 정기점검과 신속한 </a:t>
                </a:r>
                <a:r>
                  <a:rPr lang="ko-KR" altLang="en-US" sz="1000" kern="0" dirty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장애 </a:t>
                </a:r>
                <a:r>
                  <a:rPr kumimoji="0" lang="ko-KR" altLang="en-US" sz="1000" kern="0" dirty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조치와 정상복구 수행으로 최적의 정보체계 유지</a:t>
                </a:r>
                <a:endParaRPr kumimoji="0" lang="ko-KR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  <a:p>
                <a:pPr marL="95236" marR="0" lvl="1" indent="-95236" defTabSz="914400" eaLnBrk="0" fontAlgn="ctr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24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Wingdings" pitchFamily="2" charset="2"/>
                  <a:buChar char="§"/>
                  <a:tabLst/>
                  <a:defRPr/>
                </a:pPr>
                <a:r>
                  <a:rPr kumimoji="0" lang="ko-KR" altLang="en-US" sz="1000" b="0" i="0" u="none" strike="noStrike" kern="0" cap="none" spc="0" normalizeH="0" baseline="0" noProof="0" dirty="0">
                    <a:ln>
                      <a:noFill/>
                    </a:ln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effectLst/>
                    <a:uLnTx/>
                    <a:uFillTx/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단순 운영 위주가 아닌 운영개선과 고도화를 고려하여 정보체계 환경에 맞는 운영 관리 체계 확립</a:t>
                </a:r>
                <a:endParaRPr kumimoji="0" lang="en-US" altLang="ko-KR" sz="1000" b="0" i="0" u="none" strike="noStrike" kern="0" cap="none" spc="0" normalizeH="0" baseline="0" noProof="0" dirty="0">
                  <a:ln>
                    <a:noFill/>
                  </a:ln>
                  <a:solidFill>
                    <a:sysClr val="windowText" lastClr="000000">
                      <a:lumMod val="75000"/>
                      <a:lumOff val="25000"/>
                    </a:sysClr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  <a:p>
                <a:pPr marL="95236" marR="0" lvl="1" indent="-95236" defTabSz="914400" eaLnBrk="0" fontAlgn="ctr" latinLnBrk="0" hangingPunct="0">
                  <a:lnSpc>
                    <a:spcPct val="100000"/>
                  </a:lnSpc>
                  <a:spcBef>
                    <a:spcPts val="200"/>
                  </a:spcBef>
                  <a:spcAft>
                    <a:spcPts val="240"/>
                  </a:spcAft>
                  <a:buClr>
                    <a:schemeClr val="tx1">
                      <a:lumMod val="50000"/>
                      <a:lumOff val="50000"/>
                    </a:schemeClr>
                  </a:buClr>
                  <a:buSzPct val="100000"/>
                  <a:buFont typeface="Wingdings" pitchFamily="2" charset="2"/>
                  <a:buChar char="§"/>
                  <a:tabLst/>
                  <a:defRPr/>
                </a:pPr>
                <a:r>
                  <a:rPr kumimoji="0" lang="ko-KR" altLang="en-US" sz="1000" kern="0" dirty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전군 지원 정보체계 및 국방부 영내 지원</a:t>
                </a:r>
                <a:r>
                  <a:rPr kumimoji="0" lang="en-US" altLang="ko-KR" sz="1000" kern="0" dirty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, </a:t>
                </a:r>
                <a:r>
                  <a:rPr kumimoji="0" lang="ko-KR" altLang="en-US" sz="1000" kern="0" dirty="0">
                    <a:solidFill>
                      <a:sysClr val="windowText" lastClr="000000">
                        <a:lumMod val="75000"/>
                        <a:lumOff val="25000"/>
                      </a:sys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對 국민 서비스의 품질향상 도모</a:t>
                </a:r>
              </a:p>
            </p:txBody>
          </p:sp>
          <p:sp>
            <p:nvSpPr>
              <p:cNvPr id="42" name="양쪽 모서리가 둥근 사각형 158">
                <a:extLst>
                  <a:ext uri="{FF2B5EF4-FFF2-40B4-BE49-F238E27FC236}">
                    <a16:creationId xmlns:a16="http://schemas.microsoft.com/office/drawing/2014/main" id="{FA463957-2269-614E-B16F-CDA33C3D85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779402" y="4964501"/>
                <a:ext cx="2066034" cy="518005"/>
              </a:xfrm>
              <a:custGeom>
                <a:avLst/>
                <a:gdLst>
                  <a:gd name="T0" fmla="*/ 2251476 w 4526845"/>
                  <a:gd name="T1" fmla="*/ 131763 h 287391"/>
                  <a:gd name="T2" fmla="*/ 1125738 w 4526845"/>
                  <a:gd name="T3" fmla="*/ 263525 h 287391"/>
                  <a:gd name="T4" fmla="*/ 0 w 4526845"/>
                  <a:gd name="T5" fmla="*/ 131763 h 287391"/>
                  <a:gd name="T6" fmla="*/ 1125738 w 4526845"/>
                  <a:gd name="T7" fmla="*/ 0 h 287391"/>
                  <a:gd name="T8" fmla="*/ 0 60000 65536"/>
                  <a:gd name="T9" fmla="*/ 5898240 60000 65536"/>
                  <a:gd name="T10" fmla="*/ 11796480 60000 65536"/>
                  <a:gd name="T11" fmla="*/ 17694720 60000 65536"/>
                  <a:gd name="T12" fmla="*/ 0 w 4526845"/>
                  <a:gd name="T13" fmla="*/ 0 h 287391"/>
                  <a:gd name="T14" fmla="*/ 4526845 w 4526845"/>
                  <a:gd name="T15" fmla="*/ 287391 h 28739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526845" h="287391">
                    <a:moveTo>
                      <a:pt x="0" y="0"/>
                    </a:moveTo>
                    <a:lnTo>
                      <a:pt x="4526845" y="0"/>
                    </a:lnTo>
                    <a:lnTo>
                      <a:pt x="4526845" y="287391"/>
                    </a:lnTo>
                    <a:lnTo>
                      <a:pt x="0" y="287391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84C0D8"/>
                  </a:gs>
                  <a:gs pos="100000">
                    <a:srgbClr val="59A2BF"/>
                  </a:gs>
                </a:gsLst>
                <a:lin ang="5400000" scaled="0"/>
              </a:gradFill>
              <a:ln w="6350" cap="flat" cmpd="sng" algn="ctr">
                <a:solidFill>
                  <a:srgbClr val="63A8C5"/>
                </a:solidFill>
                <a:prstDash val="solid"/>
              </a:ln>
              <a:effectLst/>
            </p:spPr>
            <p:txBody>
              <a:bodyPr lIns="0" tIns="0" rIns="0" bIns="0" anchor="ctr"/>
              <a:lstStyle/>
              <a:p>
                <a:pPr indent="-180948" algn="ctr" fontAlgn="auto" latinLnBrk="0">
                  <a:spcBef>
                    <a:spcPts val="0"/>
                  </a:spcBef>
                  <a:spcAft>
                    <a:spcPts val="240"/>
                  </a:spcAft>
                </a:pPr>
                <a:r>
                  <a:rPr kumimoji="0" lang="ko-KR" altLang="en-US" sz="1050" kern="0" dirty="0">
                    <a:solidFill>
                      <a:sysClr val="window" lastClr="FFFFFF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예방활동과 장애 발생 시 신속한 </a:t>
                </a:r>
                <a:endParaRPr kumimoji="0" lang="en-US" altLang="ko-KR" sz="1050" kern="0" dirty="0">
                  <a:solidFill>
                    <a:sysClr val="window" lastClr="FFFFFF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pPr indent="-180948" algn="ctr" fontAlgn="auto" latinLnBrk="0">
                  <a:spcBef>
                    <a:spcPts val="0"/>
                  </a:spcBef>
                  <a:spcAft>
                    <a:spcPts val="240"/>
                  </a:spcAft>
                </a:pPr>
                <a:r>
                  <a:rPr kumimoji="0" lang="ko-KR" altLang="en-US" sz="1050" kern="0" dirty="0">
                    <a:solidFill>
                      <a:sysClr val="window" lastClr="FFFFFF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대응으로 서비스 연속성 확보</a:t>
                </a:r>
              </a:p>
            </p:txBody>
          </p:sp>
          <p:sp>
            <p:nvSpPr>
              <p:cNvPr id="43" name="AutoShape 251">
                <a:extLst>
                  <a:ext uri="{FF2B5EF4-FFF2-40B4-BE49-F238E27FC236}">
                    <a16:creationId xmlns:a16="http://schemas.microsoft.com/office/drawing/2014/main" id="{1DB0CDB5-E7CF-A3E7-3BDC-640AD51D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99398" y="4776690"/>
                <a:ext cx="6323932" cy="181216"/>
              </a:xfrm>
              <a:custGeom>
                <a:avLst/>
                <a:gdLst>
                  <a:gd name="T0" fmla="*/ 2147483647 w 21600"/>
                  <a:gd name="T1" fmla="*/ 2147483647 h 21600"/>
                  <a:gd name="T2" fmla="*/ 2147483647 w 21600"/>
                  <a:gd name="T3" fmla="*/ 2147483647 h 21600"/>
                  <a:gd name="T4" fmla="*/ 2147483647 w 21600"/>
                  <a:gd name="T5" fmla="*/ 2147483647 h 21600"/>
                  <a:gd name="T6" fmla="*/ 2147483647 w 21600"/>
                  <a:gd name="T7" fmla="*/ 0 h 2160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3235 w 21600"/>
                  <a:gd name="T13" fmla="*/ 3176 h 21600"/>
                  <a:gd name="T14" fmla="*/ 18365 w 21600"/>
                  <a:gd name="T15" fmla="*/ 18424 h 2160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600" h="21600">
                    <a:moveTo>
                      <a:pt x="0" y="0"/>
                    </a:moveTo>
                    <a:lnTo>
                      <a:pt x="2866" y="21600"/>
                    </a:lnTo>
                    <a:lnTo>
                      <a:pt x="18734" y="2160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FFFFFF">
                      <a:alpha val="50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3175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/>
              <a:p>
                <a:pPr fontAlgn="auto">
                  <a:spcBef>
                    <a:spcPts val="0"/>
                  </a:spcBef>
                  <a:spcAft>
                    <a:spcPts val="0"/>
                  </a:spcAft>
                </a:pPr>
                <a:endParaRPr kumimoji="0" lang="ko-KR" altLang="en-US" dirty="0">
                  <a:solidFill>
                    <a:prstClr val="black"/>
                  </a:solidFill>
                  <a:latin typeface="KoPub바탕체 Light"/>
                  <a:ea typeface="KoPub바탕체 Light"/>
                </a:endParaRP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463370F3-9B4C-89FC-220F-667EED682FFE}"/>
                  </a:ext>
                </a:extLst>
              </p:cNvPr>
              <p:cNvSpPr txBox="1"/>
              <p:nvPr/>
            </p:nvSpPr>
            <p:spPr bwMode="auto">
              <a:xfrm>
                <a:off x="2901194" y="4681638"/>
                <a:ext cx="1506444" cy="18966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b">
                <a:spAutoFit/>
                <a:scene3d>
                  <a:camera prst="orthographicFront"/>
                  <a:lightRig rig="threePt" dir="t"/>
                </a:scene3d>
                <a:sp3d extrusionH="12700" contourW="31750">
                  <a:bevelT w="0"/>
                  <a:contourClr>
                    <a:schemeClr val="bg1"/>
                  </a:contourClr>
                </a:sp3d>
              </a:bodyPr>
              <a:lstStyle>
                <a:defPPr>
                  <a:defRPr lang="ko-KR"/>
                </a:defPPr>
                <a:lvl1pPr algn="ctr">
                  <a:defRPr>
                    <a:solidFill>
                      <a:srgbClr val="17375E"/>
                    </a:solidFill>
                    <a:latin typeface="KoPub돋움체 Bold" panose="02030504000101010101" pitchFamily="18" charset="-127"/>
                    <a:ea typeface="KoPub돋움체 Bold" panose="02030504000101010101" pitchFamily="18" charset="-127"/>
                  </a:defRPr>
                </a:lvl1pPr>
                <a:lvl2pPr marL="742950" indent="-285750" eaLnBrk="0" hangingPunct="0">
                  <a:defRPr sz="1100">
                    <a:latin typeface="-윤고딕330" pitchFamily="18" charset="-127"/>
                    <a:ea typeface="-윤고딕330" pitchFamily="18" charset="-127"/>
                  </a:defRPr>
                </a:lvl2pPr>
                <a:lvl3pPr marL="1143000" indent="-228600" eaLnBrk="0" hangingPunct="0">
                  <a:defRPr sz="1100">
                    <a:latin typeface="-윤고딕330" pitchFamily="18" charset="-127"/>
                    <a:ea typeface="-윤고딕330" pitchFamily="18" charset="-127"/>
                  </a:defRPr>
                </a:lvl3pPr>
                <a:lvl4pPr marL="1600200" indent="-228600" eaLnBrk="0" hangingPunct="0">
                  <a:defRPr sz="1100">
                    <a:latin typeface="-윤고딕330" pitchFamily="18" charset="-127"/>
                    <a:ea typeface="-윤고딕330" pitchFamily="18" charset="-127"/>
                  </a:defRPr>
                </a:lvl4pPr>
                <a:lvl5pPr marL="2057400" indent="-228600" eaLnBrk="0" hangingPunct="0">
                  <a:defRPr sz="1100">
                    <a:latin typeface="-윤고딕330" pitchFamily="18" charset="-127"/>
                    <a:ea typeface="-윤고딕330" pitchFamily="18" charset="-127"/>
                  </a:defRPr>
                </a:lvl5pPr>
                <a:lvl6pPr marL="2514600" indent="-228600" eaLnBrk="0" fontAlgn="base" hangingPunct="0">
                  <a:lnSpc>
                    <a:spcPct val="130000"/>
                  </a:lnSpc>
                  <a:spcBef>
                    <a:spcPct val="30000"/>
                  </a:spcBef>
                  <a:spcAft>
                    <a:spcPct val="30000"/>
                  </a:spcAft>
                  <a:buChar char="•"/>
                  <a:defRPr sz="1100">
                    <a:latin typeface="-윤고딕330" pitchFamily="18" charset="-127"/>
                    <a:ea typeface="-윤고딕330" pitchFamily="18" charset="-127"/>
                  </a:defRPr>
                </a:lvl6pPr>
                <a:lvl7pPr marL="2971800" indent="-228600" eaLnBrk="0" fontAlgn="base" hangingPunct="0">
                  <a:lnSpc>
                    <a:spcPct val="130000"/>
                  </a:lnSpc>
                  <a:spcBef>
                    <a:spcPct val="30000"/>
                  </a:spcBef>
                  <a:spcAft>
                    <a:spcPct val="30000"/>
                  </a:spcAft>
                  <a:buChar char="•"/>
                  <a:defRPr sz="1100">
                    <a:latin typeface="-윤고딕330" pitchFamily="18" charset="-127"/>
                    <a:ea typeface="-윤고딕330" pitchFamily="18" charset="-127"/>
                  </a:defRPr>
                </a:lvl7pPr>
                <a:lvl8pPr marL="3429000" indent="-228600" eaLnBrk="0" fontAlgn="base" hangingPunct="0">
                  <a:lnSpc>
                    <a:spcPct val="130000"/>
                  </a:lnSpc>
                  <a:spcBef>
                    <a:spcPct val="30000"/>
                  </a:spcBef>
                  <a:spcAft>
                    <a:spcPct val="30000"/>
                  </a:spcAft>
                  <a:buChar char="•"/>
                  <a:defRPr sz="1100">
                    <a:latin typeface="-윤고딕330" pitchFamily="18" charset="-127"/>
                    <a:ea typeface="-윤고딕330" pitchFamily="18" charset="-127"/>
                  </a:defRPr>
                </a:lvl8pPr>
                <a:lvl9pPr marL="3886200" indent="-228600" eaLnBrk="0" fontAlgn="base" hangingPunct="0">
                  <a:lnSpc>
                    <a:spcPct val="130000"/>
                  </a:lnSpc>
                  <a:spcBef>
                    <a:spcPct val="30000"/>
                  </a:spcBef>
                  <a:spcAft>
                    <a:spcPct val="30000"/>
                  </a:spcAft>
                  <a:buChar char="•"/>
                  <a:defRPr sz="1100">
                    <a:latin typeface="-윤고딕330" pitchFamily="18" charset="-127"/>
                    <a:ea typeface="-윤고딕330" pitchFamily="18" charset="-127"/>
                  </a:defRPr>
                </a:lvl9pPr>
              </a:lstStyle>
              <a:p>
                <a:pPr fontAlgn="auto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kumimoji="0" lang="ko-KR" altLang="en-US" sz="1400" dirty="0">
                    <a:solidFill>
                      <a:srgbClr val="003668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제안사의 본</a:t>
                </a:r>
                <a:r>
                  <a:rPr kumimoji="0" lang="en-US" altLang="ko-KR" sz="1400" dirty="0">
                    <a:solidFill>
                      <a:srgbClr val="003668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 </a:t>
                </a:r>
                <a:r>
                  <a:rPr kumimoji="0" lang="ko-KR" altLang="en-US" sz="1400" dirty="0">
                    <a:solidFill>
                      <a:srgbClr val="003668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사업 이해</a:t>
                </a:r>
              </a:p>
            </p:txBody>
          </p:sp>
          <p:sp>
            <p:nvSpPr>
              <p:cNvPr id="45" name="TextBox 4">
                <a:extLst>
                  <a:ext uri="{FF2B5EF4-FFF2-40B4-BE49-F238E27FC236}">
                    <a16:creationId xmlns:a16="http://schemas.microsoft.com/office/drawing/2014/main" id="{33604894-08A8-AF5B-1110-D579B4EFDD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955796" y="3713080"/>
                <a:ext cx="1206388" cy="413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300"/>
                  </a:spcAft>
                </a:pPr>
                <a:r>
                  <a:rPr kumimoji="0" lang="ko-KR" altLang="en-US" sz="1100" dirty="0">
                    <a:solidFill>
                      <a:prstClr val="black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운영 및 유지관리의</a:t>
                </a:r>
                <a:endParaRPr kumimoji="0" lang="en-US" altLang="ko-KR" sz="110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pPr algn="ctr" fontAlgn="auto">
                  <a:spcBef>
                    <a:spcPts val="0"/>
                  </a:spcBef>
                  <a:spcAft>
                    <a:spcPts val="300"/>
                  </a:spcAft>
                </a:pPr>
                <a:r>
                  <a:rPr kumimoji="0" lang="ko-KR" altLang="en-US" sz="1100" dirty="0">
                    <a:solidFill>
                      <a:prstClr val="black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전문성 확보</a:t>
                </a:r>
              </a:p>
            </p:txBody>
          </p:sp>
          <p:sp>
            <p:nvSpPr>
              <p:cNvPr id="46" name="TextBox 117">
                <a:extLst>
                  <a:ext uri="{FF2B5EF4-FFF2-40B4-BE49-F238E27FC236}">
                    <a16:creationId xmlns:a16="http://schemas.microsoft.com/office/drawing/2014/main" id="{D578BED9-2AE9-4D0F-A16E-5811A933487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057271" y="3713080"/>
                <a:ext cx="1221791" cy="413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300"/>
                  </a:spcAft>
                </a:pPr>
                <a:r>
                  <a:rPr kumimoji="0" lang="ko-KR" altLang="en-US" sz="1100" dirty="0">
                    <a:solidFill>
                      <a:prstClr val="black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품질향상으로</a:t>
                </a:r>
                <a:endParaRPr kumimoji="0" lang="en-US" altLang="ko-KR" sz="110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pPr algn="ctr" fontAlgn="auto">
                  <a:spcBef>
                    <a:spcPts val="0"/>
                  </a:spcBef>
                  <a:spcAft>
                    <a:spcPts val="300"/>
                  </a:spcAft>
                </a:pPr>
                <a:r>
                  <a:rPr kumimoji="0" lang="ko-KR" altLang="en-US" sz="1100" dirty="0">
                    <a:solidFill>
                      <a:prstClr val="black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사용자 만족도 제고</a:t>
                </a:r>
              </a:p>
            </p:txBody>
          </p:sp>
          <p:sp>
            <p:nvSpPr>
              <p:cNvPr id="47" name="TextBox 118">
                <a:extLst>
                  <a:ext uri="{FF2B5EF4-FFF2-40B4-BE49-F238E27FC236}">
                    <a16:creationId xmlns:a16="http://schemas.microsoft.com/office/drawing/2014/main" id="{47113554-725E-0E99-5D36-59019AB6692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83637" y="3687435"/>
                <a:ext cx="1760907" cy="4132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defRPr>
                </a:lvl9pPr>
              </a:lstStyle>
              <a:p>
                <a:pPr algn="ctr" fontAlgn="auto">
                  <a:spcBef>
                    <a:spcPts val="0"/>
                  </a:spcBef>
                  <a:spcAft>
                    <a:spcPts val="300"/>
                  </a:spcAft>
                </a:pPr>
                <a:r>
                  <a:rPr kumimoji="0" lang="ko-KR" altLang="en-US" sz="1100" dirty="0">
                    <a:solidFill>
                      <a:prstClr val="black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체계적 장애 예방 및 대응으로</a:t>
                </a:r>
                <a:endParaRPr kumimoji="0" lang="en-US" altLang="ko-KR" sz="110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pPr algn="ctr" fontAlgn="auto">
                  <a:spcBef>
                    <a:spcPts val="0"/>
                  </a:spcBef>
                  <a:spcAft>
                    <a:spcPts val="300"/>
                  </a:spcAft>
                </a:pPr>
                <a:r>
                  <a:rPr kumimoji="0" lang="ko-KR" altLang="en-US" sz="1100" dirty="0">
                    <a:solidFill>
                      <a:prstClr val="black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최적의 정보체계 유지</a:t>
                </a:r>
              </a:p>
            </p:txBody>
          </p:sp>
        </p:grpSp>
        <p:grpSp>
          <p:nvGrpSpPr>
            <p:cNvPr id="12" name="그룹 11">
              <a:extLst>
                <a:ext uri="{FF2B5EF4-FFF2-40B4-BE49-F238E27FC236}">
                  <a16:creationId xmlns:a16="http://schemas.microsoft.com/office/drawing/2014/main" id="{7793F438-701A-F379-3AE0-9C170FBB2A10}"/>
                </a:ext>
              </a:extLst>
            </p:cNvPr>
            <p:cNvGrpSpPr/>
            <p:nvPr/>
          </p:nvGrpSpPr>
          <p:grpSpPr>
            <a:xfrm>
              <a:off x="11041641" y="7821585"/>
              <a:ext cx="1860403" cy="1785926"/>
              <a:chOff x="2935161" y="7751437"/>
              <a:chExt cx="1899355" cy="1897065"/>
            </a:xfrm>
          </p:grpSpPr>
          <p:pic>
            <p:nvPicPr>
              <p:cNvPr id="29" name="그림 28">
                <a:extLst>
                  <a:ext uri="{FF2B5EF4-FFF2-40B4-BE49-F238E27FC236}">
                    <a16:creationId xmlns:a16="http://schemas.microsoft.com/office/drawing/2014/main" id="{1C934A0E-49D4-0B0C-5209-95AFCE8B577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935161" y="7751437"/>
                <a:ext cx="1899355" cy="1897065"/>
              </a:xfrm>
              <a:prstGeom prst="rect">
                <a:avLst/>
              </a:prstGeom>
            </p:spPr>
          </p:pic>
          <p:sp>
            <p:nvSpPr>
              <p:cNvPr id="30" name="직사각형 29">
                <a:extLst>
                  <a:ext uri="{FF2B5EF4-FFF2-40B4-BE49-F238E27FC236}">
                    <a16:creationId xmlns:a16="http://schemas.microsoft.com/office/drawing/2014/main" id="{C4A18AC6-0F4D-B912-E5A8-6B10F8015C2F}"/>
                  </a:ext>
                </a:extLst>
              </p:cNvPr>
              <p:cNvSpPr/>
              <p:nvPr/>
            </p:nvSpPr>
            <p:spPr>
              <a:xfrm>
                <a:off x="3299142" y="8317432"/>
                <a:ext cx="1158093" cy="78430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 latinLnBrk="0">
                  <a:buClr>
                    <a:srgbClr val="000000"/>
                  </a:buClr>
                  <a:buSzPct val="80000"/>
                </a:pPr>
                <a:r>
                  <a:rPr lang="en-US" altLang="ko-KR" sz="1400" b="1" dirty="0">
                    <a:ln w="6350">
                      <a:noFill/>
                      <a:miter lim="800000"/>
                    </a:ln>
                    <a:solidFill>
                      <a:srgbClr val="2379A9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4</a:t>
                </a:r>
                <a:r>
                  <a:rPr lang="ko-KR" altLang="en-US" sz="1400" b="1" dirty="0">
                    <a:ln w="6350">
                      <a:noFill/>
                      <a:miter lim="800000"/>
                    </a:ln>
                    <a:solidFill>
                      <a:srgbClr val="2379A9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대 핵심</a:t>
                </a:r>
                <a:endParaRPr lang="en-US" altLang="ko-KR" sz="1400" b="1" dirty="0">
                  <a:ln w="6350">
                    <a:noFill/>
                    <a:miter lim="800000"/>
                  </a:ln>
                  <a:solidFill>
                    <a:srgbClr val="2379A9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pPr algn="ctr" latinLnBrk="0">
                  <a:buClr>
                    <a:srgbClr val="000000"/>
                  </a:buClr>
                  <a:buSzPct val="80000"/>
                </a:pPr>
                <a:endParaRPr lang="en-US" altLang="ko-KR" sz="300" b="1" dirty="0">
                  <a:ln w="6350">
                    <a:noFill/>
                    <a:miter lim="800000"/>
                  </a:ln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80000"/>
                </a:pPr>
                <a:r>
                  <a:rPr lang="ko-KR" altLang="en-US" sz="1050" b="1" dirty="0">
                    <a:ln w="6350">
                      <a:noFill/>
                      <a:miter lim="800000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추진배경</a:t>
                </a:r>
                <a:endParaRPr lang="en-US" altLang="ko-KR" sz="1050" b="1" dirty="0">
                  <a:ln w="6350">
                    <a:noFill/>
                    <a:miter lim="800000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80000"/>
                </a:pPr>
                <a:r>
                  <a:rPr lang="ko-KR" altLang="en-US" sz="1050" b="1" dirty="0">
                    <a:ln w="6350">
                      <a:noFill/>
                      <a:miter lim="800000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및</a:t>
                </a:r>
                <a:endParaRPr lang="en-US" altLang="ko-KR" sz="1050" b="1" dirty="0">
                  <a:ln w="6350">
                    <a:noFill/>
                    <a:miter lim="800000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pPr algn="ctr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srgbClr val="000000"/>
                  </a:buClr>
                  <a:buSzPct val="80000"/>
                </a:pPr>
                <a:r>
                  <a:rPr lang="ko-KR" altLang="en-US" sz="1050" b="1" dirty="0">
                    <a:ln w="6350">
                      <a:noFill/>
                      <a:miter lim="800000"/>
                    </a:ln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필요성</a:t>
                </a:r>
                <a:endParaRPr lang="en-US" altLang="ko-KR" sz="1050" b="1" dirty="0">
                  <a:ln w="6350">
                    <a:noFill/>
                    <a:miter lim="800000"/>
                  </a:ln>
                  <a:solidFill>
                    <a:schemeClr val="tx1">
                      <a:lumMod val="50000"/>
                      <a:lumOff val="50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cxnSp>
          <p:nvCxnSpPr>
            <p:cNvPr id="13" name="직선 연결선 12">
              <a:extLst>
                <a:ext uri="{FF2B5EF4-FFF2-40B4-BE49-F238E27FC236}">
                  <a16:creationId xmlns:a16="http://schemas.microsoft.com/office/drawing/2014/main" id="{A8C6E41D-81A1-3392-DA97-B09F70B6828B}"/>
                </a:ext>
              </a:extLst>
            </p:cNvPr>
            <p:cNvCxnSpPr/>
            <p:nvPr/>
          </p:nvCxnSpPr>
          <p:spPr>
            <a:xfrm flipV="1">
              <a:off x="12727032" y="8272940"/>
              <a:ext cx="511579" cy="0"/>
            </a:xfrm>
            <a:prstGeom prst="line">
              <a:avLst/>
            </a:prstGeom>
            <a:ln w="15875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411121E5-C9AF-BAA0-11E8-B3ABBAA5B87B}"/>
                </a:ext>
              </a:extLst>
            </p:cNvPr>
            <p:cNvSpPr/>
            <p:nvPr/>
          </p:nvSpPr>
          <p:spPr>
            <a:xfrm>
              <a:off x="12676821" y="8223039"/>
              <a:ext cx="97234" cy="93452"/>
            </a:xfrm>
            <a:prstGeom prst="ellipse">
              <a:avLst/>
            </a:prstGeom>
            <a:solidFill>
              <a:srgbClr val="0D5180"/>
            </a:solidFill>
            <a:ln w="19050">
              <a:solidFill>
                <a:schemeClr val="bg1"/>
              </a:solidFill>
            </a:ln>
            <a:effectLst>
              <a:outerShdw sx="120000" sy="120000" algn="c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5" name="모서리가 둥근 직사각형 213">
              <a:extLst>
                <a:ext uri="{FF2B5EF4-FFF2-40B4-BE49-F238E27FC236}">
                  <a16:creationId xmlns:a16="http://schemas.microsoft.com/office/drawing/2014/main" id="{EEB7CE47-5917-1D79-81E2-8AE39703D1EF}"/>
                </a:ext>
              </a:extLst>
            </p:cNvPr>
            <p:cNvSpPr/>
            <p:nvPr/>
          </p:nvSpPr>
          <p:spPr>
            <a:xfrm>
              <a:off x="12967093" y="7898369"/>
              <a:ext cx="1922970" cy="756000"/>
            </a:xfrm>
            <a:prstGeom prst="roundRect">
              <a:avLst>
                <a:gd name="adj" fmla="val 8614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rgbClr val="B6DBF0">
                    <a:lumMod val="53000"/>
                    <a:lumOff val="47000"/>
                  </a:srgbClr>
                </a:gs>
              </a:gsLst>
              <a:lin ang="10800000" scaled="1"/>
              <a:tileRect/>
            </a:gradFill>
            <a:ln w="158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77088639-52A0-A05A-C643-5FC380E52AFB}"/>
                </a:ext>
              </a:extLst>
            </p:cNvPr>
            <p:cNvCxnSpPr/>
            <p:nvPr/>
          </p:nvCxnSpPr>
          <p:spPr>
            <a:xfrm flipV="1">
              <a:off x="12727032" y="9126380"/>
              <a:ext cx="511579" cy="0"/>
            </a:xfrm>
            <a:prstGeom prst="line">
              <a:avLst/>
            </a:prstGeom>
            <a:ln w="15875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E66C9D46-B585-9909-C726-EEEFA6C15CB7}"/>
                </a:ext>
              </a:extLst>
            </p:cNvPr>
            <p:cNvSpPr/>
            <p:nvPr/>
          </p:nvSpPr>
          <p:spPr>
            <a:xfrm>
              <a:off x="12676821" y="9076479"/>
              <a:ext cx="97234" cy="93452"/>
            </a:xfrm>
            <a:prstGeom prst="ellipse">
              <a:avLst/>
            </a:prstGeom>
            <a:solidFill>
              <a:srgbClr val="0D5180"/>
            </a:solidFill>
            <a:ln w="19050">
              <a:solidFill>
                <a:schemeClr val="bg1"/>
              </a:solidFill>
            </a:ln>
            <a:effectLst>
              <a:outerShdw sx="120000" sy="120000" algn="c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8" name="모서리가 둥근 직사각형 222">
              <a:extLst>
                <a:ext uri="{FF2B5EF4-FFF2-40B4-BE49-F238E27FC236}">
                  <a16:creationId xmlns:a16="http://schemas.microsoft.com/office/drawing/2014/main" id="{8CD14822-CC48-1624-6D7B-DF59813768CE}"/>
                </a:ext>
              </a:extLst>
            </p:cNvPr>
            <p:cNvSpPr/>
            <p:nvPr/>
          </p:nvSpPr>
          <p:spPr>
            <a:xfrm>
              <a:off x="12967093" y="8756115"/>
              <a:ext cx="1922970" cy="756000"/>
            </a:xfrm>
            <a:prstGeom prst="roundRect">
              <a:avLst>
                <a:gd name="adj" fmla="val 8614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rgbClr val="B6DBF0">
                    <a:lumMod val="53000"/>
                    <a:lumOff val="47000"/>
                  </a:srgbClr>
                </a:gs>
              </a:gsLst>
              <a:lin ang="10800000" scaled="1"/>
              <a:tileRect/>
            </a:gradFill>
            <a:ln w="158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86342872-5B21-5F81-0D91-1F4134A57491}"/>
                </a:ext>
              </a:extLst>
            </p:cNvPr>
            <p:cNvCxnSpPr/>
            <p:nvPr/>
          </p:nvCxnSpPr>
          <p:spPr>
            <a:xfrm flipH="1" flipV="1">
              <a:off x="10714909" y="8272940"/>
              <a:ext cx="511580" cy="0"/>
            </a:xfrm>
            <a:prstGeom prst="line">
              <a:avLst/>
            </a:prstGeom>
            <a:ln w="15875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타원 19">
              <a:extLst>
                <a:ext uri="{FF2B5EF4-FFF2-40B4-BE49-F238E27FC236}">
                  <a16:creationId xmlns:a16="http://schemas.microsoft.com/office/drawing/2014/main" id="{E2E00FC1-31A8-23F5-3304-F0D6F52B927C}"/>
                </a:ext>
              </a:extLst>
            </p:cNvPr>
            <p:cNvSpPr/>
            <p:nvPr/>
          </p:nvSpPr>
          <p:spPr>
            <a:xfrm flipH="1">
              <a:off x="11179466" y="8223039"/>
              <a:ext cx="97234" cy="93452"/>
            </a:xfrm>
            <a:prstGeom prst="ellipse">
              <a:avLst/>
            </a:prstGeom>
            <a:solidFill>
              <a:srgbClr val="0D5180"/>
            </a:solidFill>
            <a:ln w="19050">
              <a:solidFill>
                <a:schemeClr val="bg1"/>
              </a:solidFill>
            </a:ln>
            <a:effectLst>
              <a:outerShdw sx="120000" sy="120000" algn="c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1" name="모서리가 둥근 직사각형 226">
              <a:extLst>
                <a:ext uri="{FF2B5EF4-FFF2-40B4-BE49-F238E27FC236}">
                  <a16:creationId xmlns:a16="http://schemas.microsoft.com/office/drawing/2014/main" id="{6CF76B47-F4A1-5CCF-334E-49B229D14852}"/>
                </a:ext>
              </a:extLst>
            </p:cNvPr>
            <p:cNvSpPr/>
            <p:nvPr/>
          </p:nvSpPr>
          <p:spPr>
            <a:xfrm flipH="1">
              <a:off x="8984561" y="7914881"/>
              <a:ext cx="2001600" cy="756000"/>
            </a:xfrm>
            <a:prstGeom prst="roundRect">
              <a:avLst>
                <a:gd name="adj" fmla="val 8614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rgbClr val="B6DBF0">
                    <a:lumMod val="53000"/>
                    <a:lumOff val="47000"/>
                  </a:srgbClr>
                </a:gs>
              </a:gsLst>
              <a:lin ang="10800000" scaled="1"/>
              <a:tileRect/>
            </a:gradFill>
            <a:ln w="158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cxnSp>
          <p:nvCxnSpPr>
            <p:cNvPr id="22" name="직선 연결선 21">
              <a:extLst>
                <a:ext uri="{FF2B5EF4-FFF2-40B4-BE49-F238E27FC236}">
                  <a16:creationId xmlns:a16="http://schemas.microsoft.com/office/drawing/2014/main" id="{15321586-9B7D-7119-4B8F-1502846EF88D}"/>
                </a:ext>
              </a:extLst>
            </p:cNvPr>
            <p:cNvCxnSpPr/>
            <p:nvPr/>
          </p:nvCxnSpPr>
          <p:spPr>
            <a:xfrm flipH="1" flipV="1">
              <a:off x="10714909" y="9126380"/>
              <a:ext cx="511580" cy="0"/>
            </a:xfrm>
            <a:prstGeom prst="line">
              <a:avLst/>
            </a:prstGeom>
            <a:ln w="15875" cap="rnd">
              <a:solidFill>
                <a:schemeClr val="bg1">
                  <a:lumMod val="6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타원 22">
              <a:extLst>
                <a:ext uri="{FF2B5EF4-FFF2-40B4-BE49-F238E27FC236}">
                  <a16:creationId xmlns:a16="http://schemas.microsoft.com/office/drawing/2014/main" id="{6C07D021-336B-C478-140F-DFE2A1B690DE}"/>
                </a:ext>
              </a:extLst>
            </p:cNvPr>
            <p:cNvSpPr/>
            <p:nvPr/>
          </p:nvSpPr>
          <p:spPr>
            <a:xfrm flipH="1">
              <a:off x="11179466" y="9076479"/>
              <a:ext cx="97234" cy="93452"/>
            </a:xfrm>
            <a:prstGeom prst="ellipse">
              <a:avLst/>
            </a:prstGeom>
            <a:solidFill>
              <a:srgbClr val="0D5180"/>
            </a:solidFill>
            <a:ln w="19050">
              <a:solidFill>
                <a:schemeClr val="bg1"/>
              </a:solidFill>
            </a:ln>
            <a:effectLst>
              <a:outerShdw sx="120000" sy="120000" algn="ctr" rotWithShape="0">
                <a:prstClr val="black">
                  <a:alpha val="31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4" name="모서리가 둥근 직사각형 230">
              <a:extLst>
                <a:ext uri="{FF2B5EF4-FFF2-40B4-BE49-F238E27FC236}">
                  <a16:creationId xmlns:a16="http://schemas.microsoft.com/office/drawing/2014/main" id="{E298C27C-6B08-C51E-159B-6E195E2F95D4}"/>
                </a:ext>
              </a:extLst>
            </p:cNvPr>
            <p:cNvSpPr/>
            <p:nvPr/>
          </p:nvSpPr>
          <p:spPr>
            <a:xfrm flipH="1">
              <a:off x="8994701" y="8760369"/>
              <a:ext cx="1991726" cy="756000"/>
            </a:xfrm>
            <a:prstGeom prst="roundRect">
              <a:avLst>
                <a:gd name="adj" fmla="val 8614"/>
              </a:avLst>
            </a:prstGeom>
            <a:gradFill flip="none" rotWithShape="1">
              <a:gsLst>
                <a:gs pos="0">
                  <a:schemeClr val="bg1">
                    <a:alpha val="0"/>
                  </a:schemeClr>
                </a:gs>
                <a:gs pos="50000">
                  <a:srgbClr val="B6DBF0">
                    <a:lumMod val="53000"/>
                    <a:lumOff val="47000"/>
                  </a:srgbClr>
                </a:gs>
              </a:gsLst>
              <a:lin ang="10800000" scaled="1"/>
              <a:tileRect/>
            </a:gradFill>
            <a:ln w="15875">
              <a:solidFill>
                <a:schemeClr val="bg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5" name="Rectangle 165">
              <a:extLst>
                <a:ext uri="{FF2B5EF4-FFF2-40B4-BE49-F238E27FC236}">
                  <a16:creationId xmlns:a16="http://schemas.microsoft.com/office/drawing/2014/main" id="{CEB9D01F-E7FA-0DBA-2B7C-89F666E283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0150" y="8050973"/>
              <a:ext cx="1894391" cy="4694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marL="88900" indent="-88900"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09550" indent="-119063"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298450" indent="-87313"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marL="0" indent="0" algn="ctr" fontAlgn="ctr" latinLnBrk="0">
                <a:lnSpc>
                  <a:spcPct val="110000"/>
                </a:lnSpc>
                <a:buClr>
                  <a:srgbClr val="808080"/>
                </a:buClr>
              </a:pPr>
              <a:r>
                <a:rPr kumimoji="1" lang="ko-KR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국방정보체계의 기반이 되는 전산장비의 안정적 운영을 위한 유지보수 필요</a:t>
              </a:r>
            </a:p>
          </p:txBody>
        </p:sp>
        <p:sp>
          <p:nvSpPr>
            <p:cNvPr id="26" name="Rectangle 165">
              <a:extLst>
                <a:ext uri="{FF2B5EF4-FFF2-40B4-BE49-F238E27FC236}">
                  <a16:creationId xmlns:a16="http://schemas.microsoft.com/office/drawing/2014/main" id="{D5C0B868-85FE-54B8-1FF3-A7DB7A85EB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70150" y="8892915"/>
              <a:ext cx="1894391" cy="4694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marL="88900" indent="-88900"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09550" indent="-119063"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298450" indent="-87313"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marL="0" indent="0" algn="ctr" fontAlgn="ctr" latinLnBrk="0">
                <a:lnSpc>
                  <a:spcPct val="110000"/>
                </a:lnSpc>
                <a:buClr>
                  <a:srgbClr val="808080"/>
                </a:buClr>
              </a:pPr>
              <a:r>
                <a:rPr kumimoji="1" lang="ko-KR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국방정보체계의 중단 없는 운영을 위해 전문적인 능력을 보유한 유지보수 업체 필요</a:t>
              </a:r>
              <a:endParaRPr kumimoji="1"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7" name="Rectangle 165">
              <a:extLst>
                <a:ext uri="{FF2B5EF4-FFF2-40B4-BE49-F238E27FC236}">
                  <a16:creationId xmlns:a16="http://schemas.microsoft.com/office/drawing/2014/main" id="{F13256C8-758E-FB19-762B-C3C172649B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7507" y="8036673"/>
              <a:ext cx="1866879" cy="4694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marL="88900" indent="-88900"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09550" indent="-119063"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298450" indent="-87313"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marL="0" indent="0" algn="ctr" fontAlgn="ctr" latinLnBrk="0">
                <a:lnSpc>
                  <a:spcPct val="110000"/>
                </a:lnSpc>
                <a:buClr>
                  <a:srgbClr val="808080"/>
                </a:buClr>
              </a:pPr>
              <a:r>
                <a:rPr kumimoji="1" lang="ko-KR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유지보수 업체의 사업관리 및 기술지원 능력을 통한 장애 예방 및 신속한 복구 필요</a:t>
              </a:r>
              <a:endParaRPr kumimoji="1"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28" name="Rectangle 165">
              <a:extLst>
                <a:ext uri="{FF2B5EF4-FFF2-40B4-BE49-F238E27FC236}">
                  <a16:creationId xmlns:a16="http://schemas.microsoft.com/office/drawing/2014/main" id="{620A00FD-02F1-5E22-E4C9-42084852793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77507" y="8875364"/>
              <a:ext cx="1856981" cy="4694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square" lIns="0" tIns="0" rIns="0" bIns="0" anchor="ctr" anchorCtr="0">
              <a:spAutoFit/>
            </a:bodyPr>
            <a:lstStyle>
              <a:lvl1pPr marL="88900" indent="-88900"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1pPr>
              <a:lvl2pPr marL="209550" indent="-119063"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2pPr>
              <a:lvl3pPr marL="298450" indent="-87313"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3pPr>
              <a:lvl4pPr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4pPr>
              <a:lvl5pPr algn="l"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defRPr>
              </a:lvl9pPr>
            </a:lstStyle>
            <a:p>
              <a:pPr marL="0" indent="0" algn="ctr" fontAlgn="ctr" latinLnBrk="0">
                <a:lnSpc>
                  <a:spcPct val="110000"/>
                </a:lnSpc>
                <a:buClr>
                  <a:srgbClr val="808080"/>
                </a:buClr>
              </a:pPr>
              <a:r>
                <a:rPr kumimoji="1" lang="ko-KR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국방통합데이터센터 內 국방정보체계에 탑재된 상용 </a:t>
              </a:r>
              <a:r>
                <a:rPr kumimoji="1" lang="en-US" altLang="ko-KR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SW</a:t>
              </a:r>
              <a:r>
                <a:rPr kumimoji="1" lang="ko-KR" altLang="en-US" sz="105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의 안정적인 운영방안 마련</a:t>
              </a:r>
              <a:endParaRPr kumimoji="1" lang="en-US" altLang="ko-KR" sz="1050" dirty="0">
                <a:solidFill>
                  <a:schemeClr val="tx1">
                    <a:lumMod val="75000"/>
                    <a:lumOff val="2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62" name="제목 1">
            <a:extLst>
              <a:ext uri="{FF2B5EF4-FFF2-40B4-BE49-F238E27FC236}">
                <a16:creationId xmlns:a16="http://schemas.microsoft.com/office/drawing/2014/main" id="{4446D9CC-7D1D-8F88-0C5B-D2308EE3594B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가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배경</a:t>
            </a:r>
          </a:p>
        </p:txBody>
      </p:sp>
    </p:spTree>
    <p:extLst>
      <p:ext uri="{BB962C8B-B14F-4D97-AF65-F5344CB8AC3E}">
        <p14:creationId xmlns:p14="http://schemas.microsoft.com/office/powerpoint/2010/main" val="1504747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5EB94BF4-269D-4ADE-8025-A904DB6FAF1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D15C4-AF98-EFE3-EB7A-8C48293D6D4B}"/>
              </a:ext>
            </a:extLst>
          </p:cNvPr>
          <p:cNvSpPr txBox="1"/>
          <p:nvPr/>
        </p:nvSpPr>
        <p:spPr>
          <a:xfrm>
            <a:off x="934361" y="2524932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en-US" altLang="ko-KR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4</a:t>
            </a: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가지 분야에 대한 사업환경 분석으로 성공적인 사업 수행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F03E0E-F6C0-91ED-93A3-245C8135B495}"/>
              </a:ext>
            </a:extLst>
          </p:cNvPr>
          <p:cNvSpPr/>
          <p:nvPr/>
        </p:nvSpPr>
        <p:spPr>
          <a:xfrm>
            <a:off x="1381398" y="1696926"/>
            <a:ext cx="5849058" cy="56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>
                <a:srgbClr val="0061EB"/>
              </a:buClr>
              <a:buSzPct val="80000"/>
              <a:buFont typeface="KoPub돋움체 Bold" panose="02020603020101020101" pitchFamily="18" charset="-127"/>
              <a:buChar char="▶"/>
            </a:pP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본 사업은 국방전산정보원에서 관리하는 국방정보체계의 업무 특성을 고려한 운영방안 수립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효율화 달성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대내외 서비스 만족도 향상을 달성해야 하는 사업입니다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제안사는 전사적 수행역량을 본 사업에 집중함으로써 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이러한 요구사항 및 목표를 달성합니다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8FA33E-FCA6-5565-BB5E-627D28B7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1982BB11-C1E5-4AF2-A6F0-772CF0E444E6}"/>
              </a:ext>
            </a:extLst>
          </p:cNvPr>
          <p:cNvGrpSpPr/>
          <p:nvPr/>
        </p:nvGrpSpPr>
        <p:grpSpPr>
          <a:xfrm>
            <a:off x="606407" y="2952302"/>
            <a:ext cx="6519606" cy="1563320"/>
            <a:chOff x="678264" y="2545495"/>
            <a:chExt cx="5684014" cy="1397856"/>
          </a:xfrm>
        </p:grpSpPr>
        <p:grpSp>
          <p:nvGrpSpPr>
            <p:cNvPr id="115" name="그룹 114">
              <a:extLst>
                <a:ext uri="{FF2B5EF4-FFF2-40B4-BE49-F238E27FC236}">
                  <a16:creationId xmlns:a16="http://schemas.microsoft.com/office/drawing/2014/main" id="{DFBD80A0-9ABB-3800-6E5F-07B2A93F77E1}"/>
                </a:ext>
              </a:extLst>
            </p:cNvPr>
            <p:cNvGrpSpPr/>
            <p:nvPr/>
          </p:nvGrpSpPr>
          <p:grpSpPr>
            <a:xfrm>
              <a:off x="1297931" y="2556636"/>
              <a:ext cx="5064347" cy="1386715"/>
              <a:chOff x="1304764" y="2556636"/>
              <a:chExt cx="4964559" cy="1386715"/>
            </a:xfrm>
          </p:grpSpPr>
          <p:sp>
            <p:nvSpPr>
              <p:cNvPr id="123" name="육각형 77">
                <a:extLst>
                  <a:ext uri="{FF2B5EF4-FFF2-40B4-BE49-F238E27FC236}">
                    <a16:creationId xmlns:a16="http://schemas.microsoft.com/office/drawing/2014/main" id="{690277B4-1FB2-5D3A-C573-66E775A582CE}"/>
                  </a:ext>
                </a:extLst>
              </p:cNvPr>
              <p:cNvSpPr/>
              <p:nvPr/>
            </p:nvSpPr>
            <p:spPr>
              <a:xfrm rot="5400000">
                <a:off x="3553909" y="1212260"/>
                <a:ext cx="466269" cy="4964559"/>
              </a:xfrm>
              <a:prstGeom prst="round1Rect">
                <a:avLst/>
              </a:prstGeom>
              <a:solidFill>
                <a:srgbClr val="EAEAEA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 lang="ko-KR" altLang="en-US" sz="8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cxnSp>
            <p:nvCxnSpPr>
              <p:cNvPr id="124" name="직선 연결선 123">
                <a:extLst>
                  <a:ext uri="{FF2B5EF4-FFF2-40B4-BE49-F238E27FC236}">
                    <a16:creationId xmlns:a16="http://schemas.microsoft.com/office/drawing/2014/main" id="{F2E8A7BF-B6E5-16F9-01AB-CA64F15D7560}"/>
                  </a:ext>
                </a:extLst>
              </p:cNvPr>
              <p:cNvCxnSpPr/>
              <p:nvPr/>
            </p:nvCxnSpPr>
            <p:spPr>
              <a:xfrm>
                <a:off x="1516704" y="3461405"/>
                <a:ext cx="4744396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25" name="그룹 124">
                <a:extLst>
                  <a:ext uri="{FF2B5EF4-FFF2-40B4-BE49-F238E27FC236}">
                    <a16:creationId xmlns:a16="http://schemas.microsoft.com/office/drawing/2014/main" id="{B55DD33C-A9F7-3A54-A42E-2F35DBCEECDD}"/>
                  </a:ext>
                </a:extLst>
              </p:cNvPr>
              <p:cNvGrpSpPr/>
              <p:nvPr/>
            </p:nvGrpSpPr>
            <p:grpSpPr>
              <a:xfrm>
                <a:off x="2024844" y="3463787"/>
                <a:ext cx="450985" cy="479564"/>
                <a:chOff x="2108453" y="3461405"/>
                <a:chExt cx="450985" cy="450990"/>
              </a:xfrm>
            </p:grpSpPr>
            <p:pic>
              <p:nvPicPr>
                <p:cNvPr id="129" name="그림 128">
                  <a:extLst>
                    <a:ext uri="{FF2B5EF4-FFF2-40B4-BE49-F238E27FC236}">
                      <a16:creationId xmlns:a16="http://schemas.microsoft.com/office/drawing/2014/main" id="{1C34248D-8B67-B8F2-5B15-5C4F30054F8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2194"/>
                <a:stretch/>
              </p:blipFill>
              <p:spPr>
                <a:xfrm>
                  <a:off x="2108453" y="3461405"/>
                  <a:ext cx="450985" cy="450990"/>
                </a:xfrm>
                <a:prstGeom prst="rect">
                  <a:avLst/>
                </a:prstGeom>
              </p:spPr>
            </p:pic>
            <p:sp>
              <p:nvSpPr>
                <p:cNvPr id="130" name="TextBox 129">
                  <a:extLst>
                    <a:ext uri="{FF2B5EF4-FFF2-40B4-BE49-F238E27FC236}">
                      <a16:creationId xmlns:a16="http://schemas.microsoft.com/office/drawing/2014/main" id="{69E2FCD9-86E6-E909-17CE-31C6169E608D}"/>
                    </a:ext>
                  </a:extLst>
                </p:cNvPr>
                <p:cNvSpPr txBox="1"/>
                <p:nvPr/>
              </p:nvSpPr>
              <p:spPr>
                <a:xfrm>
                  <a:off x="2235305" y="3494209"/>
                  <a:ext cx="197282" cy="2588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spAutoFit/>
                </a:bodyPr>
                <a:lstStyle/>
                <a:p>
                  <a:pPr algn="ctr" latinLnBrk="0">
                    <a:buSzPts val="1700"/>
                  </a:pPr>
                  <a:r>
                    <a:rPr lang="ko-KR" altLang="en-US" sz="10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성공</a:t>
                  </a:r>
                  <a:endParaRPr lang="en-US" altLang="ko-KR" sz="1000" dirty="0">
                    <a:ln>
                      <a:solidFill>
                        <a:srgbClr val="ADADA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  <a:p>
                  <a:pPr algn="ctr" latinLnBrk="0">
                    <a:buSzPts val="1700"/>
                  </a:pPr>
                  <a:r>
                    <a:rPr lang="ko-KR" altLang="en-US" sz="10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요소</a:t>
                  </a:r>
                </a:p>
              </p:txBody>
            </p:sp>
          </p:grpSp>
          <p:sp>
            <p:nvSpPr>
              <p:cNvPr id="126" name="직사각형 125">
                <a:extLst>
                  <a:ext uri="{FF2B5EF4-FFF2-40B4-BE49-F238E27FC236}">
                    <a16:creationId xmlns:a16="http://schemas.microsoft.com/office/drawing/2014/main" id="{66769385-0588-13B9-4FE2-770CC4B26EE5}"/>
                  </a:ext>
                </a:extLst>
              </p:cNvPr>
              <p:cNvSpPr/>
              <p:nvPr/>
            </p:nvSpPr>
            <p:spPr>
              <a:xfrm>
                <a:off x="2430414" y="3528617"/>
                <a:ext cx="3719513" cy="349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 latinLnBrk="0">
                  <a:lnSpc>
                    <a:spcPct val="110000"/>
                  </a:lnSpc>
                  <a:spcAft>
                    <a:spcPts val="500"/>
                  </a:spcAft>
                  <a:defRPr/>
                </a:pPr>
                <a:r>
                  <a:rPr kumimoji="1"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운영 및 유지보수 사업 경험이 풍부한 전문 인력 투입과 이전 사업자로부터 신속한 인수인계</a:t>
                </a:r>
                <a:r>
                  <a:rPr kumimoji="1"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, </a:t>
                </a:r>
                <a:r>
                  <a:rPr kumimoji="1"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원만한 유지관리를 위한 의사소통 채널 확보</a:t>
                </a:r>
                <a:endParaRPr kumimoji="1" lang="en-US" altLang="ko-KR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127" name="직사각형 126">
                <a:extLst>
                  <a:ext uri="{FF2B5EF4-FFF2-40B4-BE49-F238E27FC236}">
                    <a16:creationId xmlns:a16="http://schemas.microsoft.com/office/drawing/2014/main" id="{C1D46C58-B935-D7B8-9C3C-4C9578E6CA8B}"/>
                  </a:ext>
                </a:extLst>
              </p:cNvPr>
              <p:cNvSpPr/>
              <p:nvPr/>
            </p:nvSpPr>
            <p:spPr>
              <a:xfrm>
                <a:off x="1993801" y="2631669"/>
                <a:ext cx="4219296" cy="759247"/>
              </a:xfrm>
              <a:prstGeom prst="rect">
                <a:avLst/>
              </a:prstGeom>
            </p:spPr>
            <p:txBody>
              <a:bodyPr wrap="square" anchor="ctr" anchorCtr="0">
                <a:noAutofit/>
              </a:bodyPr>
              <a:lstStyle/>
              <a:p>
                <a:pPr marL="114300" indent="-114300" fontAlgn="base" latinLnBrk="0">
                  <a:lnSpc>
                    <a:spcPct val="110000"/>
                  </a:lnSpc>
                  <a:spcAft>
                    <a:spcPts val="400"/>
                  </a:spcAft>
                  <a:buFont typeface="Wingdings" pitchFamily="2" charset="2"/>
                  <a:buChar char="§"/>
                </a:pPr>
                <a:r>
                  <a:rPr kumimoji="1"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국방전산정보원 전산장비 유지보수 계약만료에 따른 유지보수 서비스의 연속성을 위한 차기 유지보수 사업자 선정</a:t>
                </a:r>
              </a:p>
              <a:p>
                <a:pPr marL="114300" indent="-114300" fontAlgn="base" latinLnBrk="0">
                  <a:lnSpc>
                    <a:spcPct val="110000"/>
                  </a:lnSpc>
                  <a:spcAft>
                    <a:spcPts val="400"/>
                  </a:spcAft>
                  <a:buFont typeface="Wingdings" pitchFamily="2" charset="2"/>
                  <a:buChar char="§"/>
                </a:pPr>
                <a:r>
                  <a:rPr kumimoji="1"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대기업 참여제한에 따른 국방정보체계의 안정적인 운영 노하우와 기술지원 체계를 보유한 통합유지관리 사업자 선정</a:t>
                </a:r>
              </a:p>
            </p:txBody>
          </p:sp>
          <p:sp>
            <p:nvSpPr>
              <p:cNvPr id="128" name="육각형 77">
                <a:extLst>
                  <a:ext uri="{FF2B5EF4-FFF2-40B4-BE49-F238E27FC236}">
                    <a16:creationId xmlns:a16="http://schemas.microsoft.com/office/drawing/2014/main" id="{AE0462AD-2438-D273-4B73-743958501AD5}"/>
                  </a:ext>
                </a:extLst>
              </p:cNvPr>
              <p:cNvSpPr/>
              <p:nvPr/>
            </p:nvSpPr>
            <p:spPr>
              <a:xfrm rot="5400000">
                <a:off x="3101524" y="759876"/>
                <a:ext cx="1371039" cy="4964559"/>
              </a:xfrm>
              <a:prstGeom prst="roundRect">
                <a:avLst>
                  <a:gd name="adj" fmla="val 5783"/>
                </a:avLst>
              </a:prstGeom>
              <a:noFill/>
              <a:ln w="19050">
                <a:solidFill>
                  <a:srgbClr val="EAEA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 lang="ko-KR" altLang="en-US" sz="8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116" name="그룹 115">
              <a:extLst>
                <a:ext uri="{FF2B5EF4-FFF2-40B4-BE49-F238E27FC236}">
                  <a16:creationId xmlns:a16="http://schemas.microsoft.com/office/drawing/2014/main" id="{0FF41A30-0416-1F3A-0B35-37260617F5DA}"/>
                </a:ext>
              </a:extLst>
            </p:cNvPr>
            <p:cNvGrpSpPr/>
            <p:nvPr/>
          </p:nvGrpSpPr>
          <p:grpSpPr>
            <a:xfrm>
              <a:off x="678264" y="2545495"/>
              <a:ext cx="1148513" cy="1386817"/>
              <a:chOff x="936420" y="3524513"/>
              <a:chExt cx="1327809" cy="1540754"/>
            </a:xfrm>
          </p:grpSpPr>
          <p:grpSp>
            <p:nvGrpSpPr>
              <p:cNvPr id="117" name="그룹 116">
                <a:extLst>
                  <a:ext uri="{FF2B5EF4-FFF2-40B4-BE49-F238E27FC236}">
                    <a16:creationId xmlns:a16="http://schemas.microsoft.com/office/drawing/2014/main" id="{7A82B28A-0029-DA21-1839-DC4819BCE203}"/>
                  </a:ext>
                </a:extLst>
              </p:cNvPr>
              <p:cNvGrpSpPr/>
              <p:nvPr/>
            </p:nvGrpSpPr>
            <p:grpSpPr>
              <a:xfrm>
                <a:off x="936420" y="3524513"/>
                <a:ext cx="1327809" cy="1540754"/>
                <a:chOff x="1982887" y="1882357"/>
                <a:chExt cx="1608633" cy="1866613"/>
              </a:xfrm>
            </p:grpSpPr>
            <p:sp>
              <p:nvSpPr>
                <p:cNvPr id="119" name="육각형 118">
                  <a:extLst>
                    <a:ext uri="{FF2B5EF4-FFF2-40B4-BE49-F238E27FC236}">
                      <a16:creationId xmlns:a16="http://schemas.microsoft.com/office/drawing/2014/main" id="{5CDBF708-6217-0B89-6AFA-F739B252DCC7}"/>
                    </a:ext>
                  </a:extLst>
                </p:cNvPr>
                <p:cNvSpPr/>
                <p:nvPr/>
              </p:nvSpPr>
              <p:spPr>
                <a:xfrm rot="5400000">
                  <a:off x="1853896" y="2011349"/>
                  <a:ext cx="1866613" cy="1608630"/>
                </a:xfrm>
                <a:prstGeom prst="hexagon">
                  <a:avLst>
                    <a:gd name="adj" fmla="val 30658"/>
                    <a:gd name="vf" fmla="val 115470"/>
                  </a:avLst>
                </a:prstGeom>
                <a:solidFill>
                  <a:schemeClr val="lt1"/>
                </a:solidFill>
                <a:ln w="38100" cap="rnd">
                  <a:solidFill>
                    <a:srgbClr val="7CC1EC"/>
                  </a:solidFill>
                  <a:round/>
                </a:ln>
                <a:effectLst>
                  <a:outerShdw sx="109000" sy="109000" algn="ctr" rotWithShape="0">
                    <a:schemeClr val="bg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sz="1400" dirty="0">
                    <a:ln>
                      <a:solidFill>
                        <a:srgbClr val="ADADAD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20" name="육각형 77">
                  <a:extLst>
                    <a:ext uri="{FF2B5EF4-FFF2-40B4-BE49-F238E27FC236}">
                      <a16:creationId xmlns:a16="http://schemas.microsoft.com/office/drawing/2014/main" id="{FAA53AC7-B0A6-ED6C-1E44-49519C9ED64A}"/>
                    </a:ext>
                  </a:extLst>
                </p:cNvPr>
                <p:cNvSpPr/>
                <p:nvPr/>
              </p:nvSpPr>
              <p:spPr>
                <a:xfrm rot="5400000">
                  <a:off x="2415220" y="1450026"/>
                  <a:ext cx="743968" cy="1608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968" h="1608633">
                      <a:moveTo>
                        <a:pt x="0" y="804317"/>
                      </a:moveTo>
                      <a:lnTo>
                        <a:pt x="493175" y="0"/>
                      </a:lnTo>
                      <a:lnTo>
                        <a:pt x="635779" y="0"/>
                      </a:lnTo>
                      <a:lnTo>
                        <a:pt x="635779" y="2"/>
                      </a:lnTo>
                      <a:lnTo>
                        <a:pt x="646541" y="2"/>
                      </a:lnTo>
                      <a:lnTo>
                        <a:pt x="646541" y="1"/>
                      </a:lnTo>
                      <a:lnTo>
                        <a:pt x="743968" y="1"/>
                      </a:lnTo>
                      <a:lnTo>
                        <a:pt x="743968" y="1608633"/>
                      </a:lnTo>
                      <a:lnTo>
                        <a:pt x="646541" y="1608633"/>
                      </a:lnTo>
                      <a:lnTo>
                        <a:pt x="646541" y="1608633"/>
                      </a:lnTo>
                      <a:lnTo>
                        <a:pt x="553885" y="1608633"/>
                      </a:lnTo>
                      <a:lnTo>
                        <a:pt x="553885" y="1608632"/>
                      </a:lnTo>
                      <a:lnTo>
                        <a:pt x="493175" y="1608632"/>
                      </a:lnTo>
                      <a:close/>
                    </a:path>
                  </a:pathLst>
                </a:custGeom>
                <a:solidFill>
                  <a:srgbClr val="7CC1EC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pPr algn="ctr"/>
                  <a:endParaRPr lang="ko-KR" altLang="en-US" sz="800" dirty="0">
                    <a:ln>
                      <a:solidFill>
                        <a:srgbClr val="ADADA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21" name="TextBox 120">
                  <a:extLst>
                    <a:ext uri="{FF2B5EF4-FFF2-40B4-BE49-F238E27FC236}">
                      <a16:creationId xmlns:a16="http://schemas.microsoft.com/office/drawing/2014/main" id="{971ECED4-B7F0-63AD-EBE9-D8B2E9B013B0}"/>
                    </a:ext>
                  </a:extLst>
                </p:cNvPr>
                <p:cNvSpPr txBox="1"/>
                <p:nvPr/>
              </p:nvSpPr>
              <p:spPr>
                <a:xfrm>
                  <a:off x="2481848" y="2252273"/>
                  <a:ext cx="610722" cy="2222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spAutoFit/>
                </a:bodyPr>
                <a:lstStyle/>
                <a:p>
                  <a:pPr algn="ctr" latinLnBrk="0">
                    <a:buSzPts val="1700"/>
                  </a:pPr>
                  <a:r>
                    <a:rPr lang="ko-KR" altLang="en-US" sz="12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tx2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분석 </a:t>
                  </a:r>
                  <a:r>
                    <a:rPr lang="en-US" altLang="ko-KR" sz="12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tx2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01</a:t>
                  </a:r>
                  <a:endParaRPr lang="ko-KR" altLang="en-US" sz="1200" dirty="0">
                    <a:ln>
                      <a:solidFill>
                        <a:srgbClr val="ADADAD">
                          <a:alpha val="0"/>
                        </a:srgbClr>
                      </a:solidFill>
                    </a:ln>
                    <a:solidFill>
                      <a:schemeClr val="tx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cxnSp>
              <p:nvCxnSpPr>
                <p:cNvPr id="122" name="직선 연결선 121">
                  <a:extLst>
                    <a:ext uri="{FF2B5EF4-FFF2-40B4-BE49-F238E27FC236}">
                      <a16:creationId xmlns:a16="http://schemas.microsoft.com/office/drawing/2014/main" id="{D611891E-EA48-35AB-783C-A6290B869AB9}"/>
                    </a:ext>
                  </a:extLst>
                </p:cNvPr>
                <p:cNvCxnSpPr/>
                <p:nvPr/>
              </p:nvCxnSpPr>
              <p:spPr>
                <a:xfrm>
                  <a:off x="2355350" y="2626327"/>
                  <a:ext cx="863709" cy="0"/>
                </a:xfrm>
                <a:prstGeom prst="line">
                  <a:avLst/>
                </a:prstGeom>
                <a:solidFill>
                  <a:schemeClr val="lt1"/>
                </a:solidFill>
                <a:ln w="25400">
                  <a:solidFill>
                    <a:srgbClr val="00347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18" name="직사각형 117">
                <a:extLst>
                  <a:ext uri="{FF2B5EF4-FFF2-40B4-BE49-F238E27FC236}">
                    <a16:creationId xmlns:a16="http://schemas.microsoft.com/office/drawing/2014/main" id="{61543541-B148-1C05-A2E9-E2CAB09415B4}"/>
                  </a:ext>
                </a:extLst>
              </p:cNvPr>
              <p:cNvSpPr/>
              <p:nvPr/>
            </p:nvSpPr>
            <p:spPr>
              <a:xfrm>
                <a:off x="1319317" y="4305033"/>
                <a:ext cx="559365" cy="4127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 defTabSz="995363" latinLnBrk="0"/>
                <a:r>
                  <a:rPr kumimoji="1" lang="ko-KR" altLang="en-US" sz="1100" dirty="0"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가는각진제목체" pitchFamily="18" charset="-127"/>
                  </a:rPr>
                  <a:t>정책적</a:t>
                </a:r>
                <a:endParaRPr kumimoji="1" lang="en-US" altLang="ko-KR" sz="1000" dirty="0">
                  <a:latin typeface="KoPub돋움체 Bold" panose="00000800000000000000" pitchFamily="2" charset="-127"/>
                  <a:ea typeface="KoPub돋움체 Bold" panose="00000800000000000000" pitchFamily="2" charset="-127"/>
                  <a:cs typeface="가는각진제목체" pitchFamily="18" charset="-127"/>
                </a:endParaRPr>
              </a:p>
              <a:p>
                <a:pPr algn="ctr" defTabSz="995363" latinLnBrk="0"/>
                <a:r>
                  <a:rPr kumimoji="1" lang="ko-KR" altLang="en-US" sz="10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가는각진제목체" pitchFamily="18" charset="-127"/>
                  </a:rPr>
                  <a:t>분석</a:t>
                </a:r>
              </a:p>
            </p:txBody>
          </p:sp>
        </p:grp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3C5BE83B-545D-709A-87CB-A792A7A1E85B}"/>
              </a:ext>
            </a:extLst>
          </p:cNvPr>
          <p:cNvGrpSpPr/>
          <p:nvPr/>
        </p:nvGrpSpPr>
        <p:grpSpPr>
          <a:xfrm>
            <a:off x="606407" y="4845650"/>
            <a:ext cx="6552896" cy="1563320"/>
            <a:chOff x="678264" y="2545495"/>
            <a:chExt cx="5713037" cy="1397856"/>
          </a:xfrm>
        </p:grpSpPr>
        <p:grpSp>
          <p:nvGrpSpPr>
            <p:cNvPr id="98" name="그룹 97">
              <a:extLst>
                <a:ext uri="{FF2B5EF4-FFF2-40B4-BE49-F238E27FC236}">
                  <a16:creationId xmlns:a16="http://schemas.microsoft.com/office/drawing/2014/main" id="{C741918B-740A-363B-A4ED-FA8A4DC44225}"/>
                </a:ext>
              </a:extLst>
            </p:cNvPr>
            <p:cNvGrpSpPr/>
            <p:nvPr/>
          </p:nvGrpSpPr>
          <p:grpSpPr>
            <a:xfrm>
              <a:off x="1297931" y="2556636"/>
              <a:ext cx="5093370" cy="1386715"/>
              <a:chOff x="1304764" y="2556636"/>
              <a:chExt cx="4993010" cy="1386715"/>
            </a:xfrm>
          </p:grpSpPr>
          <p:sp>
            <p:nvSpPr>
              <p:cNvPr id="106" name="육각형 77">
                <a:extLst>
                  <a:ext uri="{FF2B5EF4-FFF2-40B4-BE49-F238E27FC236}">
                    <a16:creationId xmlns:a16="http://schemas.microsoft.com/office/drawing/2014/main" id="{6BF2BEFF-D38C-1ABA-8C19-D3D2A0328604}"/>
                  </a:ext>
                </a:extLst>
              </p:cNvPr>
              <p:cNvSpPr/>
              <p:nvPr/>
            </p:nvSpPr>
            <p:spPr>
              <a:xfrm rot="5400000">
                <a:off x="3553909" y="1212260"/>
                <a:ext cx="466269" cy="4964559"/>
              </a:xfrm>
              <a:prstGeom prst="round1Rect">
                <a:avLst/>
              </a:prstGeom>
              <a:solidFill>
                <a:srgbClr val="EAEAEA"/>
              </a:solidFill>
              <a:ln w="952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 lang="ko-KR" altLang="en-US" sz="8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cxnSp>
            <p:nvCxnSpPr>
              <p:cNvPr id="107" name="직선 연결선 106">
                <a:extLst>
                  <a:ext uri="{FF2B5EF4-FFF2-40B4-BE49-F238E27FC236}">
                    <a16:creationId xmlns:a16="http://schemas.microsoft.com/office/drawing/2014/main" id="{1AC1C216-AD0C-A31C-A2B0-442DCFDDE2B9}"/>
                  </a:ext>
                </a:extLst>
              </p:cNvPr>
              <p:cNvCxnSpPr/>
              <p:nvPr/>
            </p:nvCxnSpPr>
            <p:spPr>
              <a:xfrm>
                <a:off x="1516704" y="3461405"/>
                <a:ext cx="4744396" cy="0"/>
              </a:xfrm>
              <a:prstGeom prst="line">
                <a:avLst/>
              </a:prstGeom>
              <a:ln w="6350">
                <a:solidFill>
                  <a:schemeClr val="bg1">
                    <a:lumMod val="85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8" name="그룹 107">
                <a:extLst>
                  <a:ext uri="{FF2B5EF4-FFF2-40B4-BE49-F238E27FC236}">
                    <a16:creationId xmlns:a16="http://schemas.microsoft.com/office/drawing/2014/main" id="{141A17DF-6376-8B1C-3293-A4EC68BC13A7}"/>
                  </a:ext>
                </a:extLst>
              </p:cNvPr>
              <p:cNvGrpSpPr/>
              <p:nvPr/>
            </p:nvGrpSpPr>
            <p:grpSpPr>
              <a:xfrm>
                <a:off x="2024844" y="3463787"/>
                <a:ext cx="450985" cy="479564"/>
                <a:chOff x="2108453" y="3461405"/>
                <a:chExt cx="450985" cy="450990"/>
              </a:xfrm>
            </p:grpSpPr>
            <p:pic>
              <p:nvPicPr>
                <p:cNvPr id="112" name="그림 111">
                  <a:extLst>
                    <a:ext uri="{FF2B5EF4-FFF2-40B4-BE49-F238E27FC236}">
                      <a16:creationId xmlns:a16="http://schemas.microsoft.com/office/drawing/2014/main" id="{18856146-7564-4DF0-D9F0-FA7E3470F40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12194"/>
                <a:stretch/>
              </p:blipFill>
              <p:spPr>
                <a:xfrm>
                  <a:off x="2108453" y="3461405"/>
                  <a:ext cx="450985" cy="450990"/>
                </a:xfrm>
                <a:prstGeom prst="rect">
                  <a:avLst/>
                </a:prstGeom>
              </p:spPr>
            </p:pic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714AC38F-9CBC-8D38-50DD-8CC23730F634}"/>
                    </a:ext>
                  </a:extLst>
                </p:cNvPr>
                <p:cNvSpPr txBox="1"/>
                <p:nvPr/>
              </p:nvSpPr>
              <p:spPr>
                <a:xfrm>
                  <a:off x="2235305" y="3494209"/>
                  <a:ext cx="197282" cy="25880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spAutoFit/>
                </a:bodyPr>
                <a:lstStyle/>
                <a:p>
                  <a:pPr algn="ctr" latinLnBrk="0">
                    <a:buSzPts val="1700"/>
                  </a:pPr>
                  <a:r>
                    <a:rPr lang="ko-KR" altLang="en-US" sz="10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성공</a:t>
                  </a:r>
                  <a:endParaRPr lang="en-US" altLang="ko-KR" sz="1000" dirty="0">
                    <a:ln>
                      <a:solidFill>
                        <a:srgbClr val="ADADA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  <a:p>
                  <a:pPr algn="ctr" latinLnBrk="0">
                    <a:buSzPts val="1700"/>
                  </a:pPr>
                  <a:r>
                    <a:rPr lang="ko-KR" altLang="en-US" sz="10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요소</a:t>
                  </a:r>
                </a:p>
              </p:txBody>
            </p:sp>
          </p:grpSp>
          <p:sp>
            <p:nvSpPr>
              <p:cNvPr id="109" name="직사각형 108">
                <a:extLst>
                  <a:ext uri="{FF2B5EF4-FFF2-40B4-BE49-F238E27FC236}">
                    <a16:creationId xmlns:a16="http://schemas.microsoft.com/office/drawing/2014/main" id="{588CD841-3B8F-F729-073B-A75EA5D9B5E4}"/>
                  </a:ext>
                </a:extLst>
              </p:cNvPr>
              <p:cNvSpPr/>
              <p:nvPr/>
            </p:nvSpPr>
            <p:spPr>
              <a:xfrm>
                <a:off x="2430414" y="3521659"/>
                <a:ext cx="3838909" cy="34910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base" latinLnBrk="0">
                  <a:lnSpc>
                    <a:spcPct val="110000"/>
                  </a:lnSpc>
                  <a:spcAft>
                    <a:spcPts val="500"/>
                  </a:spcAft>
                  <a:defRPr/>
                </a:pP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정보체계</a:t>
                </a:r>
                <a:r>
                  <a:rPr kumimoji="1"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 성능저하 요소분석 및 개선방안 도출</a:t>
                </a:r>
                <a:br>
                  <a:rPr kumimoji="1"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</a:br>
                <a:r>
                  <a:rPr kumimoji="1"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데이터 품질 및 보안 취약점 점검을 통한 서비스 품질관리 강화</a:t>
                </a:r>
              </a:p>
            </p:txBody>
          </p:sp>
          <p:sp>
            <p:nvSpPr>
              <p:cNvPr id="110" name="직사각형 109">
                <a:extLst>
                  <a:ext uri="{FF2B5EF4-FFF2-40B4-BE49-F238E27FC236}">
                    <a16:creationId xmlns:a16="http://schemas.microsoft.com/office/drawing/2014/main" id="{6F77AF76-C34F-A05D-F621-30395964533D}"/>
                  </a:ext>
                </a:extLst>
              </p:cNvPr>
              <p:cNvSpPr/>
              <p:nvPr/>
            </p:nvSpPr>
            <p:spPr>
              <a:xfrm>
                <a:off x="1993801" y="2652094"/>
                <a:ext cx="4303973" cy="66742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14300" indent="-114300" latinLnBrk="0">
                  <a:lnSpc>
                    <a:spcPct val="110000"/>
                  </a:lnSpc>
                  <a:spcAft>
                    <a:spcPts val="200"/>
                  </a:spcAft>
                  <a:buFont typeface="Wingdings" pitchFamily="2" charset="2"/>
                  <a:buChar char="§"/>
                </a:pP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국방전산정보원에서 관리하는 국방정보체계는 안정적이고 연속적인 운영이 필요한 전군 지원 정보체계 및 국방부 영내 지원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, 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대국민 서비스로 장애 발생 시 해당 업무수행에 막대한 지장 초래</a:t>
                </a:r>
                <a:endParaRPr lang="en-US" altLang="ko-KR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  <a:p>
                <a:pPr marL="114300" indent="-114300" latinLnBrk="0">
                  <a:lnSpc>
                    <a:spcPct val="110000"/>
                  </a:lnSpc>
                  <a:spcAft>
                    <a:spcPts val="200"/>
                  </a:spcAft>
                  <a:buFont typeface="Wingdings" pitchFamily="2" charset="2"/>
                  <a:buChar char="§"/>
                </a:pP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전문적인 국방 업무 중심의 운영으로 디지털 혁신을 선도하는 국방정보화 전문기관 위상강화 필요</a:t>
                </a:r>
              </a:p>
              <a:p>
                <a:pPr marL="114300" indent="-114300" fontAlgn="base" latinLnBrk="0">
                  <a:lnSpc>
                    <a:spcPct val="110000"/>
                  </a:lnSpc>
                  <a:spcAft>
                    <a:spcPts val="200"/>
                  </a:spcAft>
                  <a:buFont typeface="Wingdings" pitchFamily="2" charset="2"/>
                  <a:buChar char="§"/>
                </a:pPr>
                <a:r>
                  <a:rPr kumimoji="1"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전산장비 및 정보체계에 대한 지속적 관리 및 개선 필요</a:t>
                </a:r>
              </a:p>
            </p:txBody>
          </p:sp>
          <p:sp>
            <p:nvSpPr>
              <p:cNvPr id="111" name="육각형 77">
                <a:extLst>
                  <a:ext uri="{FF2B5EF4-FFF2-40B4-BE49-F238E27FC236}">
                    <a16:creationId xmlns:a16="http://schemas.microsoft.com/office/drawing/2014/main" id="{43A70D74-8868-FF2F-14D9-CF94C13A9CE4}"/>
                  </a:ext>
                </a:extLst>
              </p:cNvPr>
              <p:cNvSpPr/>
              <p:nvPr/>
            </p:nvSpPr>
            <p:spPr>
              <a:xfrm rot="5400000">
                <a:off x="3101524" y="759876"/>
                <a:ext cx="1371039" cy="4964559"/>
              </a:xfrm>
              <a:prstGeom prst="roundRect">
                <a:avLst>
                  <a:gd name="adj" fmla="val 5783"/>
                </a:avLst>
              </a:prstGeom>
              <a:noFill/>
              <a:ln w="19050">
                <a:solidFill>
                  <a:srgbClr val="EAEAEA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/>
              <a:lstStyle/>
              <a:p>
                <a:pPr algn="ctr"/>
                <a:endParaRPr lang="ko-KR" altLang="en-US" sz="8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2A96C1C7-CA15-9408-4350-AABFAFD3E6A9}"/>
                </a:ext>
              </a:extLst>
            </p:cNvPr>
            <p:cNvGrpSpPr/>
            <p:nvPr/>
          </p:nvGrpSpPr>
          <p:grpSpPr>
            <a:xfrm>
              <a:off x="678264" y="2545495"/>
              <a:ext cx="1148513" cy="1386817"/>
              <a:chOff x="936420" y="3524513"/>
              <a:chExt cx="1327809" cy="1540754"/>
            </a:xfrm>
          </p:grpSpPr>
          <p:grpSp>
            <p:nvGrpSpPr>
              <p:cNvPr id="100" name="그룹 99">
                <a:extLst>
                  <a:ext uri="{FF2B5EF4-FFF2-40B4-BE49-F238E27FC236}">
                    <a16:creationId xmlns:a16="http://schemas.microsoft.com/office/drawing/2014/main" id="{B1ECE254-C037-C872-9F19-BC105B27EAD2}"/>
                  </a:ext>
                </a:extLst>
              </p:cNvPr>
              <p:cNvGrpSpPr/>
              <p:nvPr/>
            </p:nvGrpSpPr>
            <p:grpSpPr>
              <a:xfrm>
                <a:off x="936420" y="3524513"/>
                <a:ext cx="1327809" cy="1540754"/>
                <a:chOff x="1982887" y="1882357"/>
                <a:chExt cx="1608633" cy="1866613"/>
              </a:xfrm>
            </p:grpSpPr>
            <p:sp>
              <p:nvSpPr>
                <p:cNvPr id="102" name="육각형 101">
                  <a:extLst>
                    <a:ext uri="{FF2B5EF4-FFF2-40B4-BE49-F238E27FC236}">
                      <a16:creationId xmlns:a16="http://schemas.microsoft.com/office/drawing/2014/main" id="{D5D8C9DF-32E9-3B69-8471-CE1310EA028E}"/>
                    </a:ext>
                  </a:extLst>
                </p:cNvPr>
                <p:cNvSpPr/>
                <p:nvPr/>
              </p:nvSpPr>
              <p:spPr>
                <a:xfrm rot="5400000">
                  <a:off x="1853896" y="2011349"/>
                  <a:ext cx="1866613" cy="1608630"/>
                </a:xfrm>
                <a:prstGeom prst="hexagon">
                  <a:avLst>
                    <a:gd name="adj" fmla="val 30658"/>
                    <a:gd name="vf" fmla="val 115470"/>
                  </a:avLst>
                </a:prstGeom>
                <a:solidFill>
                  <a:schemeClr val="lt1"/>
                </a:solidFill>
                <a:ln w="38100" cap="rnd">
                  <a:solidFill>
                    <a:srgbClr val="7CC1EC"/>
                  </a:solidFill>
                  <a:round/>
                </a:ln>
                <a:effectLst>
                  <a:outerShdw sx="109000" sy="109000" algn="ctr" rotWithShape="0">
                    <a:schemeClr val="bg1"/>
                  </a:outerShd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endParaRPr lang="ko-KR" altLang="en-US" sz="1400" dirty="0">
                    <a:ln>
                      <a:solidFill>
                        <a:srgbClr val="ADADAD">
                          <a:alpha val="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03" name="육각형 77">
                  <a:extLst>
                    <a:ext uri="{FF2B5EF4-FFF2-40B4-BE49-F238E27FC236}">
                      <a16:creationId xmlns:a16="http://schemas.microsoft.com/office/drawing/2014/main" id="{25F22DFE-CE28-C172-CBA0-95E4F3DF3B22}"/>
                    </a:ext>
                  </a:extLst>
                </p:cNvPr>
                <p:cNvSpPr/>
                <p:nvPr/>
              </p:nvSpPr>
              <p:spPr>
                <a:xfrm rot="5400000">
                  <a:off x="2415220" y="1450026"/>
                  <a:ext cx="743968" cy="16086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3968" h="1608633">
                      <a:moveTo>
                        <a:pt x="0" y="804317"/>
                      </a:moveTo>
                      <a:lnTo>
                        <a:pt x="493175" y="0"/>
                      </a:lnTo>
                      <a:lnTo>
                        <a:pt x="635779" y="0"/>
                      </a:lnTo>
                      <a:lnTo>
                        <a:pt x="635779" y="2"/>
                      </a:lnTo>
                      <a:lnTo>
                        <a:pt x="646541" y="2"/>
                      </a:lnTo>
                      <a:lnTo>
                        <a:pt x="646541" y="1"/>
                      </a:lnTo>
                      <a:lnTo>
                        <a:pt x="743968" y="1"/>
                      </a:lnTo>
                      <a:lnTo>
                        <a:pt x="743968" y="1608633"/>
                      </a:lnTo>
                      <a:lnTo>
                        <a:pt x="646541" y="1608633"/>
                      </a:lnTo>
                      <a:lnTo>
                        <a:pt x="646541" y="1608633"/>
                      </a:lnTo>
                      <a:lnTo>
                        <a:pt x="553885" y="1608633"/>
                      </a:lnTo>
                      <a:lnTo>
                        <a:pt x="553885" y="1608632"/>
                      </a:lnTo>
                      <a:lnTo>
                        <a:pt x="493175" y="1608632"/>
                      </a:lnTo>
                      <a:close/>
                    </a:path>
                  </a:pathLst>
                </a:custGeom>
                <a:solidFill>
                  <a:srgbClr val="7CC1EC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pPr algn="ctr"/>
                  <a:endParaRPr lang="ko-KR" altLang="en-US" sz="800" dirty="0">
                    <a:ln>
                      <a:solidFill>
                        <a:srgbClr val="ADADA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10B9B802-3C6B-697B-B7F6-6FDE5A15927D}"/>
                    </a:ext>
                  </a:extLst>
                </p:cNvPr>
                <p:cNvSpPr txBox="1"/>
                <p:nvPr/>
              </p:nvSpPr>
              <p:spPr>
                <a:xfrm>
                  <a:off x="2481850" y="2252273"/>
                  <a:ext cx="610722" cy="22224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 anchor="ctr" anchorCtr="0">
                  <a:spAutoFit/>
                </a:bodyPr>
                <a:lstStyle/>
                <a:p>
                  <a:pPr algn="ctr" latinLnBrk="0">
                    <a:buSzPts val="1700"/>
                  </a:pPr>
                  <a:r>
                    <a:rPr lang="ko-KR" altLang="en-US" sz="12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tx2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분석 </a:t>
                  </a:r>
                  <a:r>
                    <a:rPr lang="en-US" altLang="ko-KR" sz="12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tx2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02</a:t>
                  </a:r>
                  <a:endParaRPr lang="ko-KR" altLang="en-US" sz="1200" dirty="0">
                    <a:ln>
                      <a:solidFill>
                        <a:srgbClr val="ADADAD">
                          <a:alpha val="0"/>
                        </a:srgbClr>
                      </a:solidFill>
                    </a:ln>
                    <a:solidFill>
                      <a:schemeClr val="tx2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cxnSp>
              <p:nvCxnSpPr>
                <p:cNvPr id="105" name="직선 연결선 104">
                  <a:extLst>
                    <a:ext uri="{FF2B5EF4-FFF2-40B4-BE49-F238E27FC236}">
                      <a16:creationId xmlns:a16="http://schemas.microsoft.com/office/drawing/2014/main" id="{CF41FD25-B74B-8AEA-49E5-C19739B3E71C}"/>
                    </a:ext>
                  </a:extLst>
                </p:cNvPr>
                <p:cNvCxnSpPr/>
                <p:nvPr/>
              </p:nvCxnSpPr>
              <p:spPr>
                <a:xfrm>
                  <a:off x="2355350" y="2626327"/>
                  <a:ext cx="863709" cy="0"/>
                </a:xfrm>
                <a:prstGeom prst="line">
                  <a:avLst/>
                </a:prstGeom>
                <a:solidFill>
                  <a:schemeClr val="lt1"/>
                </a:solidFill>
                <a:ln w="25400">
                  <a:solidFill>
                    <a:srgbClr val="00347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</p:cxnSp>
          </p:grpSp>
          <p:sp>
            <p:nvSpPr>
              <p:cNvPr id="101" name="직사각형 100">
                <a:extLst>
                  <a:ext uri="{FF2B5EF4-FFF2-40B4-BE49-F238E27FC236}">
                    <a16:creationId xmlns:a16="http://schemas.microsoft.com/office/drawing/2014/main" id="{07027F44-C455-1D71-C4FE-90151B4D5B98}"/>
                  </a:ext>
                </a:extLst>
              </p:cNvPr>
              <p:cNvSpPr/>
              <p:nvPr/>
            </p:nvSpPr>
            <p:spPr>
              <a:xfrm>
                <a:off x="1257113" y="4305033"/>
                <a:ext cx="683775" cy="42040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lvl="0" algn="ctr" defTabSz="995363" latinLnBrk="0"/>
                <a:r>
                  <a:rPr kumimoji="1" lang="ko-KR" altLang="en-US" sz="1100" dirty="0">
                    <a:solidFill>
                      <a:prstClr val="black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가는각진제목체" pitchFamily="18" charset="-127"/>
                  </a:rPr>
                  <a:t>업무현황</a:t>
                </a:r>
                <a:endParaRPr kumimoji="1" lang="en-US" altLang="ko-KR" sz="110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가는각진제목체" pitchFamily="18" charset="-127"/>
                </a:endParaRPr>
              </a:p>
              <a:p>
                <a:pPr lvl="0" algn="ctr" defTabSz="995363" latinLnBrk="0"/>
                <a:r>
                  <a:rPr kumimoji="1" lang="ko-KR" altLang="en-US" sz="1050" dirty="0">
                    <a:solidFill>
                      <a:prstClr val="black">
                        <a:lumMod val="50000"/>
                        <a:lumOff val="50000"/>
                      </a:prstClr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가는각진제목체" pitchFamily="18" charset="-127"/>
                  </a:rPr>
                  <a:t>분석</a:t>
                </a:r>
              </a:p>
            </p:txBody>
          </p:sp>
        </p:grpSp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6FEEBD50-3C19-1A9E-F70E-824209ED87E7}"/>
              </a:ext>
            </a:extLst>
          </p:cNvPr>
          <p:cNvGrpSpPr/>
          <p:nvPr/>
        </p:nvGrpSpPr>
        <p:grpSpPr>
          <a:xfrm>
            <a:off x="606407" y="6738998"/>
            <a:ext cx="6523121" cy="1563320"/>
            <a:chOff x="606407" y="6802379"/>
            <a:chExt cx="6523121" cy="1563320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B8ACF6E0-B503-C37B-83A3-2FCBAAD478A6}"/>
                </a:ext>
              </a:extLst>
            </p:cNvPr>
            <p:cNvGrpSpPr/>
            <p:nvPr/>
          </p:nvGrpSpPr>
          <p:grpSpPr>
            <a:xfrm>
              <a:off x="606407" y="6802379"/>
              <a:ext cx="6519606" cy="1563320"/>
              <a:chOff x="678264" y="2545495"/>
              <a:chExt cx="5684014" cy="1397856"/>
            </a:xfrm>
          </p:grpSpPr>
          <p:grpSp>
            <p:nvGrpSpPr>
              <p:cNvPr id="83" name="그룹 82">
                <a:extLst>
                  <a:ext uri="{FF2B5EF4-FFF2-40B4-BE49-F238E27FC236}">
                    <a16:creationId xmlns:a16="http://schemas.microsoft.com/office/drawing/2014/main" id="{30EAC00A-468C-1701-081F-96A7FEB322F6}"/>
                  </a:ext>
                </a:extLst>
              </p:cNvPr>
              <p:cNvGrpSpPr/>
              <p:nvPr/>
            </p:nvGrpSpPr>
            <p:grpSpPr>
              <a:xfrm>
                <a:off x="1297931" y="2556636"/>
                <a:ext cx="5064347" cy="1386715"/>
                <a:chOff x="1304764" y="2556636"/>
                <a:chExt cx="4964559" cy="1386715"/>
              </a:xfrm>
            </p:grpSpPr>
            <p:sp>
              <p:nvSpPr>
                <p:cNvPr id="91" name="육각형 77">
                  <a:extLst>
                    <a:ext uri="{FF2B5EF4-FFF2-40B4-BE49-F238E27FC236}">
                      <a16:creationId xmlns:a16="http://schemas.microsoft.com/office/drawing/2014/main" id="{789FB382-29B7-3E42-B681-97F99668F380}"/>
                    </a:ext>
                  </a:extLst>
                </p:cNvPr>
                <p:cNvSpPr/>
                <p:nvPr/>
              </p:nvSpPr>
              <p:spPr>
                <a:xfrm rot="5400000">
                  <a:off x="3553909" y="1212260"/>
                  <a:ext cx="466269" cy="4964559"/>
                </a:xfrm>
                <a:prstGeom prst="round1Rect">
                  <a:avLst/>
                </a:prstGeom>
                <a:solidFill>
                  <a:srgbClr val="EAEAEA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pPr algn="ctr"/>
                  <a:endParaRPr lang="ko-KR" altLang="en-US" sz="800" dirty="0">
                    <a:ln>
                      <a:solidFill>
                        <a:srgbClr val="ADADA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cxnSp>
              <p:nvCxnSpPr>
                <p:cNvPr id="92" name="직선 연결선 91">
                  <a:extLst>
                    <a:ext uri="{FF2B5EF4-FFF2-40B4-BE49-F238E27FC236}">
                      <a16:creationId xmlns:a16="http://schemas.microsoft.com/office/drawing/2014/main" id="{B6206AFE-A870-9B3D-DE2A-13CAEB8FA058}"/>
                    </a:ext>
                  </a:extLst>
                </p:cNvPr>
                <p:cNvCxnSpPr/>
                <p:nvPr/>
              </p:nvCxnSpPr>
              <p:spPr>
                <a:xfrm>
                  <a:off x="1516704" y="3461405"/>
                  <a:ext cx="4744396" cy="0"/>
                </a:xfrm>
                <a:prstGeom prst="line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93" name="그룹 92">
                  <a:extLst>
                    <a:ext uri="{FF2B5EF4-FFF2-40B4-BE49-F238E27FC236}">
                      <a16:creationId xmlns:a16="http://schemas.microsoft.com/office/drawing/2014/main" id="{4161B50B-3250-F6C8-CEF2-BFF0B5F12123}"/>
                    </a:ext>
                  </a:extLst>
                </p:cNvPr>
                <p:cNvGrpSpPr/>
                <p:nvPr/>
              </p:nvGrpSpPr>
              <p:grpSpPr>
                <a:xfrm>
                  <a:off x="2024844" y="3463787"/>
                  <a:ext cx="450985" cy="479564"/>
                  <a:chOff x="2108453" y="3461405"/>
                  <a:chExt cx="450985" cy="450990"/>
                </a:xfrm>
              </p:grpSpPr>
              <p:pic>
                <p:nvPicPr>
                  <p:cNvPr id="96" name="그림 95">
                    <a:extLst>
                      <a:ext uri="{FF2B5EF4-FFF2-40B4-BE49-F238E27FC236}">
                        <a16:creationId xmlns:a16="http://schemas.microsoft.com/office/drawing/2014/main" id="{42E1CC9E-0E87-E23B-01E9-974CD9C76DE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12194"/>
                  <a:stretch/>
                </p:blipFill>
                <p:spPr>
                  <a:xfrm>
                    <a:off x="2108453" y="3461405"/>
                    <a:ext cx="450985" cy="450990"/>
                  </a:xfrm>
                  <a:prstGeom prst="rect">
                    <a:avLst/>
                  </a:prstGeom>
                </p:spPr>
              </p:pic>
              <p:sp>
                <p:nvSpPr>
                  <p:cNvPr id="97" name="TextBox 96">
                    <a:extLst>
                      <a:ext uri="{FF2B5EF4-FFF2-40B4-BE49-F238E27FC236}">
                        <a16:creationId xmlns:a16="http://schemas.microsoft.com/office/drawing/2014/main" id="{25465FA8-CE54-EE9C-5DC4-AF76C6607A54}"/>
                      </a:ext>
                    </a:extLst>
                  </p:cNvPr>
                  <p:cNvSpPr txBox="1"/>
                  <p:nvPr/>
                </p:nvSpPr>
                <p:spPr>
                  <a:xfrm>
                    <a:off x="2235305" y="3494209"/>
                    <a:ext cx="197282" cy="25880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 anchorCtr="0">
                    <a:spAutoFit/>
                  </a:bodyPr>
                  <a:lstStyle/>
                  <a:p>
                    <a:pPr algn="ctr" latinLnBrk="0">
                      <a:buSzPts val="1700"/>
                    </a:pPr>
                    <a:r>
                      <a:rPr lang="ko-KR" altLang="en-US" sz="1000" dirty="0">
                        <a:ln>
                          <a:solidFill>
                            <a:srgbClr val="ADADAD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성공</a:t>
                    </a:r>
                    <a:endParaRPr lang="en-US" altLang="ko-KR" sz="10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  <a:p>
                    <a:pPr algn="ctr" latinLnBrk="0">
                      <a:buSzPts val="1700"/>
                    </a:pPr>
                    <a:r>
                      <a:rPr lang="ko-KR" altLang="en-US" sz="1000" dirty="0">
                        <a:ln>
                          <a:solidFill>
                            <a:srgbClr val="ADADAD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요소</a:t>
                    </a:r>
                  </a:p>
                </p:txBody>
              </p:sp>
            </p:grpSp>
            <p:sp>
              <p:nvSpPr>
                <p:cNvPr id="94" name="직사각형 93">
                  <a:extLst>
                    <a:ext uri="{FF2B5EF4-FFF2-40B4-BE49-F238E27FC236}">
                      <a16:creationId xmlns:a16="http://schemas.microsoft.com/office/drawing/2014/main" id="{E1D43BF3-ADD1-2B3E-4BCF-8C4E66AB2116}"/>
                    </a:ext>
                  </a:extLst>
                </p:cNvPr>
                <p:cNvSpPr/>
                <p:nvPr/>
              </p:nvSpPr>
              <p:spPr>
                <a:xfrm>
                  <a:off x="1993801" y="2631669"/>
                  <a:ext cx="4219296" cy="759247"/>
                </a:xfrm>
                <a:prstGeom prst="rect">
                  <a:avLst/>
                </a:prstGeom>
              </p:spPr>
              <p:txBody>
                <a:bodyPr wrap="square" anchor="ctr" anchorCtr="0">
                  <a:noAutofit/>
                </a:bodyPr>
                <a:lstStyle/>
                <a:p>
                  <a:pPr marL="114300" indent="-114300" fontAlgn="base" latinLnBrk="0">
                    <a:lnSpc>
                      <a:spcPct val="110000"/>
                    </a:lnSpc>
                    <a:spcAft>
                      <a:spcPts val="200"/>
                    </a:spcAft>
                    <a:buFont typeface="Wingdings" pitchFamily="2" charset="2"/>
                    <a:buChar char="§"/>
                    <a:defRPr/>
                  </a:pPr>
                  <a:r>
                    <a:rPr kumimoji="1" lang="ko-KR" altLang="en-US" sz="900" dirty="0"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사람중심의 운영 및 유지관리 수행으로 사람에 따른 유지관리 품질 저하 방지와</a:t>
                  </a:r>
                  <a:r>
                    <a:rPr kumimoji="1" lang="en-US" altLang="ko-KR" sz="900" dirty="0"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 </a:t>
                  </a:r>
                  <a:r>
                    <a:rPr kumimoji="1" lang="ko-KR" altLang="en-US" sz="900" dirty="0"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산출물 및 표준 프로세스 중심의 선진 프로세스 수립을 통해 일정한 서비스 품질 제공 필요</a:t>
                  </a:r>
                </a:p>
                <a:p>
                  <a:pPr marL="114300" indent="-114300" fontAlgn="base" latinLnBrk="0">
                    <a:lnSpc>
                      <a:spcPct val="110000"/>
                    </a:lnSpc>
                    <a:spcAft>
                      <a:spcPts val="200"/>
                    </a:spcAft>
                    <a:buFont typeface="Wingdings" pitchFamily="2" charset="2"/>
                    <a:buChar char="§"/>
                    <a:defRPr/>
                  </a:pPr>
                  <a:r>
                    <a:rPr kumimoji="1" lang="ko-KR" altLang="en-US" sz="900" dirty="0"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국방 업무 특성에 따라 업무 중단 시 발생되는 막대한 손해를 사전에 막기 위하여 신속한 장애지원 체계 수립 필요 </a:t>
                  </a:r>
                </a:p>
              </p:txBody>
            </p:sp>
            <p:sp>
              <p:nvSpPr>
                <p:cNvPr id="95" name="육각형 77">
                  <a:extLst>
                    <a:ext uri="{FF2B5EF4-FFF2-40B4-BE49-F238E27FC236}">
                      <a16:creationId xmlns:a16="http://schemas.microsoft.com/office/drawing/2014/main" id="{197E7E53-C7E4-BCC6-8A0B-BFA657EE668F}"/>
                    </a:ext>
                  </a:extLst>
                </p:cNvPr>
                <p:cNvSpPr/>
                <p:nvPr/>
              </p:nvSpPr>
              <p:spPr>
                <a:xfrm rot="5400000">
                  <a:off x="3101524" y="759876"/>
                  <a:ext cx="1371039" cy="4964559"/>
                </a:xfrm>
                <a:prstGeom prst="roundRect">
                  <a:avLst>
                    <a:gd name="adj" fmla="val 5783"/>
                  </a:avLst>
                </a:prstGeom>
                <a:noFill/>
                <a:ln w="19050">
                  <a:solidFill>
                    <a:srgbClr val="EAEAE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pPr algn="ctr"/>
                  <a:endParaRPr lang="ko-KR" altLang="en-US" sz="800" dirty="0">
                    <a:ln>
                      <a:solidFill>
                        <a:srgbClr val="ADADA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84" name="그룹 83">
                <a:extLst>
                  <a:ext uri="{FF2B5EF4-FFF2-40B4-BE49-F238E27FC236}">
                    <a16:creationId xmlns:a16="http://schemas.microsoft.com/office/drawing/2014/main" id="{7358A5B8-9C27-8EF3-780F-B7AF70B4C167}"/>
                  </a:ext>
                </a:extLst>
              </p:cNvPr>
              <p:cNvGrpSpPr/>
              <p:nvPr/>
            </p:nvGrpSpPr>
            <p:grpSpPr>
              <a:xfrm>
                <a:off x="678264" y="2545495"/>
                <a:ext cx="1148513" cy="1386817"/>
                <a:chOff x="936420" y="3524513"/>
                <a:chExt cx="1327809" cy="1540754"/>
              </a:xfrm>
            </p:grpSpPr>
            <p:grpSp>
              <p:nvGrpSpPr>
                <p:cNvPr id="85" name="그룹 84">
                  <a:extLst>
                    <a:ext uri="{FF2B5EF4-FFF2-40B4-BE49-F238E27FC236}">
                      <a16:creationId xmlns:a16="http://schemas.microsoft.com/office/drawing/2014/main" id="{934BE678-1F12-92FB-1584-38598834D307}"/>
                    </a:ext>
                  </a:extLst>
                </p:cNvPr>
                <p:cNvGrpSpPr/>
                <p:nvPr/>
              </p:nvGrpSpPr>
              <p:grpSpPr>
                <a:xfrm>
                  <a:off x="936420" y="3524513"/>
                  <a:ext cx="1327809" cy="1540754"/>
                  <a:chOff x="1982887" y="1882357"/>
                  <a:chExt cx="1608633" cy="1866613"/>
                </a:xfrm>
              </p:grpSpPr>
              <p:sp>
                <p:nvSpPr>
                  <p:cNvPr id="87" name="육각형 86">
                    <a:extLst>
                      <a:ext uri="{FF2B5EF4-FFF2-40B4-BE49-F238E27FC236}">
                        <a16:creationId xmlns:a16="http://schemas.microsoft.com/office/drawing/2014/main" id="{A0E1428D-10BB-5303-8686-7FB0998D59D1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53896" y="2011349"/>
                    <a:ext cx="1866613" cy="1608630"/>
                  </a:xfrm>
                  <a:prstGeom prst="hexagon">
                    <a:avLst>
                      <a:gd name="adj" fmla="val 30658"/>
                      <a:gd name="vf" fmla="val 115470"/>
                    </a:avLst>
                  </a:prstGeom>
                  <a:solidFill>
                    <a:schemeClr val="lt1"/>
                  </a:solidFill>
                  <a:ln w="38100" cap="rnd">
                    <a:solidFill>
                      <a:srgbClr val="7CC1EC"/>
                    </a:solidFill>
                    <a:round/>
                  </a:ln>
                  <a:effectLst>
                    <a:outerShdw sx="109000" sy="109000" algn="ctr" rotWithShape="0">
                      <a:schemeClr val="bg1"/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ko-KR" altLang="en-US" sz="14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  <p:sp>
                <p:nvSpPr>
                  <p:cNvPr id="88" name="육각형 77">
                    <a:extLst>
                      <a:ext uri="{FF2B5EF4-FFF2-40B4-BE49-F238E27FC236}">
                        <a16:creationId xmlns:a16="http://schemas.microsoft.com/office/drawing/2014/main" id="{7E7E9CB9-A5C9-0975-19C7-9A70456BD825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5220" y="1450026"/>
                    <a:ext cx="743968" cy="1608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968" h="1608633">
                        <a:moveTo>
                          <a:pt x="0" y="804317"/>
                        </a:moveTo>
                        <a:lnTo>
                          <a:pt x="493175" y="0"/>
                        </a:lnTo>
                        <a:lnTo>
                          <a:pt x="635779" y="0"/>
                        </a:lnTo>
                        <a:lnTo>
                          <a:pt x="635779" y="2"/>
                        </a:lnTo>
                        <a:lnTo>
                          <a:pt x="646541" y="2"/>
                        </a:lnTo>
                        <a:lnTo>
                          <a:pt x="646541" y="1"/>
                        </a:lnTo>
                        <a:lnTo>
                          <a:pt x="743968" y="1"/>
                        </a:lnTo>
                        <a:lnTo>
                          <a:pt x="743968" y="1608633"/>
                        </a:lnTo>
                        <a:lnTo>
                          <a:pt x="646541" y="1608633"/>
                        </a:lnTo>
                        <a:lnTo>
                          <a:pt x="646541" y="1608633"/>
                        </a:lnTo>
                        <a:lnTo>
                          <a:pt x="553885" y="1608633"/>
                        </a:lnTo>
                        <a:lnTo>
                          <a:pt x="553885" y="1608632"/>
                        </a:lnTo>
                        <a:lnTo>
                          <a:pt x="493175" y="1608632"/>
                        </a:lnTo>
                        <a:close/>
                      </a:path>
                    </a:pathLst>
                  </a:custGeom>
                  <a:solidFill>
                    <a:srgbClr val="7CC1EC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0" tIns="0" rIns="0" bIns="0" rtlCol="0" anchor="ctr"/>
                  <a:lstStyle/>
                  <a:p>
                    <a:pPr algn="ctr"/>
                    <a:endParaRPr lang="ko-KR" altLang="en-US" sz="8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  <p:sp>
                <p:nvSpPr>
                  <p:cNvPr id="89" name="TextBox 88">
                    <a:extLst>
                      <a:ext uri="{FF2B5EF4-FFF2-40B4-BE49-F238E27FC236}">
                        <a16:creationId xmlns:a16="http://schemas.microsoft.com/office/drawing/2014/main" id="{97AC7730-1655-8079-0397-6DA5870EF431}"/>
                      </a:ext>
                    </a:extLst>
                  </p:cNvPr>
                  <p:cNvSpPr txBox="1"/>
                  <p:nvPr/>
                </p:nvSpPr>
                <p:spPr>
                  <a:xfrm>
                    <a:off x="2481850" y="2252273"/>
                    <a:ext cx="610722" cy="2222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 anchorCtr="0">
                    <a:spAutoFit/>
                  </a:bodyPr>
                  <a:lstStyle/>
                  <a:p>
                    <a:pPr algn="ctr" latinLnBrk="0">
                      <a:buSzPts val="1700"/>
                    </a:pPr>
                    <a:r>
                      <a:rPr lang="ko-KR" altLang="en-US" sz="1200" dirty="0">
                        <a:ln>
                          <a:solidFill>
                            <a:srgbClr val="ADADAD">
                              <a:alpha val="0"/>
                            </a:srgbClr>
                          </a:solidFill>
                        </a:ln>
                        <a:solidFill>
                          <a:schemeClr val="tx2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분석 </a:t>
                    </a:r>
                    <a:r>
                      <a:rPr lang="en-US" altLang="ko-KR" sz="1200" dirty="0">
                        <a:ln>
                          <a:solidFill>
                            <a:srgbClr val="ADADAD">
                              <a:alpha val="0"/>
                            </a:srgbClr>
                          </a:solidFill>
                        </a:ln>
                        <a:solidFill>
                          <a:schemeClr val="tx2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03</a:t>
                    </a:r>
                    <a:endParaRPr lang="ko-KR" altLang="en-US" sz="12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tx2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  <p:cxnSp>
                <p:nvCxnSpPr>
                  <p:cNvPr id="90" name="직선 연결선 89">
                    <a:extLst>
                      <a:ext uri="{FF2B5EF4-FFF2-40B4-BE49-F238E27FC236}">
                        <a16:creationId xmlns:a16="http://schemas.microsoft.com/office/drawing/2014/main" id="{6F0380F4-E6B9-CF63-DA27-CFB805FE4E02}"/>
                      </a:ext>
                    </a:extLst>
                  </p:cNvPr>
                  <p:cNvCxnSpPr/>
                  <p:nvPr/>
                </p:nvCxnSpPr>
                <p:spPr>
                  <a:xfrm>
                    <a:off x="2355350" y="2626327"/>
                    <a:ext cx="863709" cy="0"/>
                  </a:xfrm>
                  <a:prstGeom prst="line">
                    <a:avLst/>
                  </a:prstGeom>
                  <a:solidFill>
                    <a:schemeClr val="lt1"/>
                  </a:solidFill>
                  <a:ln w="25400">
                    <a:solidFill>
                      <a:srgbClr val="00347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86" name="직사각형 85">
                  <a:extLst>
                    <a:ext uri="{FF2B5EF4-FFF2-40B4-BE49-F238E27FC236}">
                      <a16:creationId xmlns:a16="http://schemas.microsoft.com/office/drawing/2014/main" id="{75D05307-D090-B03C-05E9-17B7E1B9EF7E}"/>
                    </a:ext>
                  </a:extLst>
                </p:cNvPr>
                <p:cNvSpPr/>
                <p:nvPr/>
              </p:nvSpPr>
              <p:spPr>
                <a:xfrm>
                  <a:off x="1132706" y="4305033"/>
                  <a:ext cx="932597" cy="42040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algn="ctr" defTabSz="995363" latinLnBrk="0"/>
                  <a:r>
                    <a:rPr kumimoji="1" lang="ko-KR" altLang="en-US" sz="1100" dirty="0">
                      <a:solidFill>
                        <a:prstClr val="black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가는각진제목체" pitchFamily="18" charset="-127"/>
                    </a:rPr>
                    <a:t>유지관리체계</a:t>
                  </a:r>
                  <a:br>
                    <a:rPr kumimoji="1" lang="en-US" altLang="ko-KR" sz="1050" dirty="0">
                      <a:solidFill>
                        <a:prstClr val="black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가는각진제목체" pitchFamily="18" charset="-127"/>
                    </a:rPr>
                  </a:br>
                  <a:r>
                    <a:rPr kumimoji="1" lang="ko-KR" altLang="en-US" sz="1050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  <a:cs typeface="가는각진제목체" pitchFamily="18" charset="-127"/>
                    </a:rPr>
                    <a:t>분석</a:t>
                  </a:r>
                </a:p>
              </p:txBody>
            </p:sp>
          </p:grpSp>
        </p:grpSp>
        <p:sp>
          <p:nvSpPr>
            <p:cNvPr id="66" name="직사각형 65">
              <a:extLst>
                <a:ext uri="{FF2B5EF4-FFF2-40B4-BE49-F238E27FC236}">
                  <a16:creationId xmlns:a16="http://schemas.microsoft.com/office/drawing/2014/main" id="{85952678-2804-00AC-B381-6D2251CFEFDD}"/>
                </a:ext>
              </a:extLst>
            </p:cNvPr>
            <p:cNvSpPr/>
            <p:nvPr/>
          </p:nvSpPr>
          <p:spPr>
            <a:xfrm>
              <a:off x="2637766" y="7899753"/>
              <a:ext cx="4491762" cy="3904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 latinLnBrk="0">
                <a:lnSpc>
                  <a:spcPct val="110000"/>
                </a:lnSpc>
                <a:spcAft>
                  <a:spcPts val="500"/>
                </a:spcAft>
                <a:defRPr/>
              </a:pPr>
              <a:r>
                <a:rPr kumimoji="1"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표준 산출물 정의 및 운영산출물 보강 및 현행화 수행으로 선진 프로세스 수립과 장애처리 지원조직을 활용한 지원체계 및 주요 부품 확보 및 전담관리 체계 구축</a:t>
              </a:r>
            </a:p>
          </p:txBody>
        </p:sp>
      </p:grpSp>
      <p:sp>
        <p:nvSpPr>
          <p:cNvPr id="141" name="제목 1">
            <a:extLst>
              <a:ext uri="{FF2B5EF4-FFF2-40B4-BE49-F238E27FC236}">
                <a16:creationId xmlns:a16="http://schemas.microsoft.com/office/drawing/2014/main" id="{6BF1EF13-D635-FA79-CF7C-B4ED68DDF0AD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143" name="제목 1">
            <a:extLst>
              <a:ext uri="{FF2B5EF4-FFF2-40B4-BE49-F238E27FC236}">
                <a16:creationId xmlns:a16="http://schemas.microsoft.com/office/drawing/2014/main" id="{9DB70D1A-AE11-1A5B-1F4C-319A03238DCD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sz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sz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sz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분석 </a:t>
            </a:r>
            <a:r>
              <a:rPr lang="en-US" altLang="ko-KR" sz="12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사업환경 분석</a:t>
            </a:r>
            <a:endParaRPr lang="en-US" altLang="ko-KR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8E5DF62C-AC79-0AC6-FE2F-AAC8EBD12977}"/>
              </a:ext>
            </a:extLst>
          </p:cNvPr>
          <p:cNvGrpSpPr/>
          <p:nvPr/>
        </p:nvGrpSpPr>
        <p:grpSpPr>
          <a:xfrm>
            <a:off x="606407" y="8632347"/>
            <a:ext cx="6523121" cy="1563320"/>
            <a:chOff x="606407" y="6802379"/>
            <a:chExt cx="6523121" cy="1563320"/>
          </a:xfrm>
        </p:grpSpPr>
        <p:grpSp>
          <p:nvGrpSpPr>
            <p:cNvPr id="24" name="그룹 23">
              <a:extLst>
                <a:ext uri="{FF2B5EF4-FFF2-40B4-BE49-F238E27FC236}">
                  <a16:creationId xmlns:a16="http://schemas.microsoft.com/office/drawing/2014/main" id="{BB0E6132-3682-6007-9655-33F9261F21E5}"/>
                </a:ext>
              </a:extLst>
            </p:cNvPr>
            <p:cNvGrpSpPr/>
            <p:nvPr/>
          </p:nvGrpSpPr>
          <p:grpSpPr>
            <a:xfrm>
              <a:off x="606407" y="6802379"/>
              <a:ext cx="6519606" cy="1563320"/>
              <a:chOff x="678264" y="2545495"/>
              <a:chExt cx="5684014" cy="1397856"/>
            </a:xfrm>
          </p:grpSpPr>
          <p:grpSp>
            <p:nvGrpSpPr>
              <p:cNvPr id="26" name="그룹 25">
                <a:extLst>
                  <a:ext uri="{FF2B5EF4-FFF2-40B4-BE49-F238E27FC236}">
                    <a16:creationId xmlns:a16="http://schemas.microsoft.com/office/drawing/2014/main" id="{0D0957CC-EA03-0CC6-AB8B-2B49C5DBF04A}"/>
                  </a:ext>
                </a:extLst>
              </p:cNvPr>
              <p:cNvGrpSpPr/>
              <p:nvPr/>
            </p:nvGrpSpPr>
            <p:grpSpPr>
              <a:xfrm>
                <a:off x="1297931" y="2556636"/>
                <a:ext cx="5064347" cy="1386715"/>
                <a:chOff x="1304764" y="2556636"/>
                <a:chExt cx="4964559" cy="1386715"/>
              </a:xfrm>
            </p:grpSpPr>
            <p:sp>
              <p:nvSpPr>
                <p:cNvPr id="34" name="육각형 77">
                  <a:extLst>
                    <a:ext uri="{FF2B5EF4-FFF2-40B4-BE49-F238E27FC236}">
                      <a16:creationId xmlns:a16="http://schemas.microsoft.com/office/drawing/2014/main" id="{08D8C46F-7F62-48F9-C0D9-4CD36B69BB5F}"/>
                    </a:ext>
                  </a:extLst>
                </p:cNvPr>
                <p:cNvSpPr/>
                <p:nvPr/>
              </p:nvSpPr>
              <p:spPr>
                <a:xfrm rot="5400000">
                  <a:off x="3553909" y="1212260"/>
                  <a:ext cx="466269" cy="4964559"/>
                </a:xfrm>
                <a:prstGeom prst="round1Rect">
                  <a:avLst/>
                </a:prstGeom>
                <a:solidFill>
                  <a:srgbClr val="EAEAEA"/>
                </a:solidFill>
                <a:ln w="9525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pPr algn="ctr"/>
                  <a:endParaRPr lang="ko-KR" altLang="en-US" sz="800" dirty="0">
                    <a:ln>
                      <a:solidFill>
                        <a:srgbClr val="ADADA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cxnSp>
              <p:nvCxnSpPr>
                <p:cNvPr id="35" name="직선 연결선 34">
                  <a:extLst>
                    <a:ext uri="{FF2B5EF4-FFF2-40B4-BE49-F238E27FC236}">
                      <a16:creationId xmlns:a16="http://schemas.microsoft.com/office/drawing/2014/main" id="{287C2752-5B51-1A68-8008-AE0F49270A17}"/>
                    </a:ext>
                  </a:extLst>
                </p:cNvPr>
                <p:cNvCxnSpPr/>
                <p:nvPr/>
              </p:nvCxnSpPr>
              <p:spPr>
                <a:xfrm>
                  <a:off x="1516704" y="3461405"/>
                  <a:ext cx="4744396" cy="0"/>
                </a:xfrm>
                <a:prstGeom prst="line">
                  <a:avLst/>
                </a:prstGeom>
                <a:ln w="6350">
                  <a:solidFill>
                    <a:schemeClr val="bg1">
                      <a:lumMod val="85000"/>
                    </a:schemeClr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6" name="그룹 35">
                  <a:extLst>
                    <a:ext uri="{FF2B5EF4-FFF2-40B4-BE49-F238E27FC236}">
                      <a16:creationId xmlns:a16="http://schemas.microsoft.com/office/drawing/2014/main" id="{C465E2B7-56E7-8CA7-14CF-4AE1778B035D}"/>
                    </a:ext>
                  </a:extLst>
                </p:cNvPr>
                <p:cNvGrpSpPr/>
                <p:nvPr/>
              </p:nvGrpSpPr>
              <p:grpSpPr>
                <a:xfrm>
                  <a:off x="2024844" y="3463787"/>
                  <a:ext cx="450985" cy="479564"/>
                  <a:chOff x="2108453" y="3461405"/>
                  <a:chExt cx="450985" cy="450990"/>
                </a:xfrm>
              </p:grpSpPr>
              <p:pic>
                <p:nvPicPr>
                  <p:cNvPr id="39" name="그림 38">
                    <a:extLst>
                      <a:ext uri="{FF2B5EF4-FFF2-40B4-BE49-F238E27FC236}">
                        <a16:creationId xmlns:a16="http://schemas.microsoft.com/office/drawing/2014/main" id="{2F0E72FF-27A2-F4D4-796E-1AED5E4181D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t="12194"/>
                  <a:stretch/>
                </p:blipFill>
                <p:spPr>
                  <a:xfrm>
                    <a:off x="2108453" y="3461405"/>
                    <a:ext cx="450985" cy="450990"/>
                  </a:xfrm>
                  <a:prstGeom prst="rect">
                    <a:avLst/>
                  </a:prstGeom>
                </p:spPr>
              </p:pic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DE57FA55-4260-29C2-ED4C-83E6BC9B685E}"/>
                      </a:ext>
                    </a:extLst>
                  </p:cNvPr>
                  <p:cNvSpPr txBox="1"/>
                  <p:nvPr/>
                </p:nvSpPr>
                <p:spPr>
                  <a:xfrm>
                    <a:off x="2235305" y="3494209"/>
                    <a:ext cx="197282" cy="25880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 anchorCtr="0">
                    <a:spAutoFit/>
                  </a:bodyPr>
                  <a:lstStyle/>
                  <a:p>
                    <a:pPr algn="ctr" latinLnBrk="0">
                      <a:buSzPts val="1700"/>
                    </a:pPr>
                    <a:r>
                      <a:rPr lang="ko-KR" altLang="en-US" sz="1000" dirty="0">
                        <a:ln>
                          <a:solidFill>
                            <a:srgbClr val="ADADAD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성공</a:t>
                    </a:r>
                    <a:endParaRPr lang="en-US" altLang="ko-KR" sz="10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  <a:p>
                    <a:pPr algn="ctr" latinLnBrk="0">
                      <a:buSzPts val="1700"/>
                    </a:pPr>
                    <a:r>
                      <a:rPr lang="ko-KR" altLang="en-US" sz="1000" dirty="0">
                        <a:ln>
                          <a:solidFill>
                            <a:srgbClr val="ADADAD">
                              <a:alpha val="0"/>
                            </a:srgbClr>
                          </a:solidFill>
                        </a:ln>
                        <a:solidFill>
                          <a:schemeClr val="bg1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요소</a:t>
                    </a:r>
                  </a:p>
                </p:txBody>
              </p:sp>
            </p:grpSp>
            <p:sp>
              <p:nvSpPr>
                <p:cNvPr id="37" name="직사각형 36">
                  <a:extLst>
                    <a:ext uri="{FF2B5EF4-FFF2-40B4-BE49-F238E27FC236}">
                      <a16:creationId xmlns:a16="http://schemas.microsoft.com/office/drawing/2014/main" id="{93F602FA-1A58-9314-44E9-D89B838CD270}"/>
                    </a:ext>
                  </a:extLst>
                </p:cNvPr>
                <p:cNvSpPr/>
                <p:nvPr/>
              </p:nvSpPr>
              <p:spPr>
                <a:xfrm>
                  <a:off x="1993801" y="2631669"/>
                  <a:ext cx="4219296" cy="759247"/>
                </a:xfrm>
                <a:prstGeom prst="rect">
                  <a:avLst/>
                </a:prstGeom>
              </p:spPr>
              <p:txBody>
                <a:bodyPr wrap="square" anchor="ctr" anchorCtr="0">
                  <a:noAutofit/>
                </a:bodyPr>
                <a:lstStyle/>
                <a:p>
                  <a:pPr marL="114300" indent="-114300" fontAlgn="base" latinLnBrk="0">
                    <a:lnSpc>
                      <a:spcPct val="110000"/>
                    </a:lnSpc>
                    <a:spcAft>
                      <a:spcPts val="400"/>
                    </a:spcAft>
                    <a:buFont typeface="Wingdings" pitchFamily="2" charset="2"/>
                    <a:buChar char="§"/>
                  </a:pPr>
                  <a:r>
                    <a:rPr kumimoji="1" lang="ko-KR" altLang="en-US" sz="900" dirty="0"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최적의 </a:t>
                  </a:r>
                  <a:r>
                    <a:rPr kumimoji="1" lang="en-US" altLang="ko-KR" sz="900" dirty="0"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IT </a:t>
                  </a:r>
                  <a:r>
                    <a:rPr kumimoji="1" lang="ko-KR" altLang="en-US" sz="900" dirty="0"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운영을 위한 정보체계 성능 향상 컨설팅과 운영 진단 지원 필요</a:t>
                  </a:r>
                </a:p>
                <a:p>
                  <a:pPr marL="114300" indent="-114300" fontAlgn="base" latinLnBrk="0">
                    <a:lnSpc>
                      <a:spcPct val="110000"/>
                    </a:lnSpc>
                    <a:spcAft>
                      <a:spcPts val="400"/>
                    </a:spcAft>
                    <a:buFont typeface="Wingdings" pitchFamily="2" charset="2"/>
                    <a:buChar char="§"/>
                  </a:pPr>
                  <a:r>
                    <a:rPr kumimoji="1" lang="ko-KR" altLang="en-US" sz="900" dirty="0"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체계적인 보안관리 및 보안 강화가 필요</a:t>
                  </a:r>
                </a:p>
                <a:p>
                  <a:pPr marL="114300" indent="-114300" fontAlgn="base" latinLnBrk="0">
                    <a:lnSpc>
                      <a:spcPct val="110000"/>
                    </a:lnSpc>
                    <a:spcAft>
                      <a:spcPts val="400"/>
                    </a:spcAft>
                    <a:buFont typeface="Wingdings" pitchFamily="2" charset="2"/>
                    <a:buChar char="§"/>
                  </a:pPr>
                  <a:r>
                    <a:rPr kumimoji="1" lang="ko-KR" altLang="en-US" sz="900" dirty="0"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정기적으로 통합운영체계 성과 보고 및 개선방안 수립</a:t>
                  </a:r>
                  <a:r>
                    <a:rPr kumimoji="1" lang="en-US" altLang="ko-KR" sz="900" dirty="0"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 </a:t>
                  </a:r>
                  <a:r>
                    <a:rPr kumimoji="1" lang="ko-KR" altLang="en-US" sz="900" dirty="0"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및 이행 필요</a:t>
                  </a:r>
                </a:p>
              </p:txBody>
            </p:sp>
            <p:sp>
              <p:nvSpPr>
                <p:cNvPr id="38" name="육각형 77">
                  <a:extLst>
                    <a:ext uri="{FF2B5EF4-FFF2-40B4-BE49-F238E27FC236}">
                      <a16:creationId xmlns:a16="http://schemas.microsoft.com/office/drawing/2014/main" id="{7AE936E8-ADB6-6CC2-B772-20145A9E8F94}"/>
                    </a:ext>
                  </a:extLst>
                </p:cNvPr>
                <p:cNvSpPr/>
                <p:nvPr/>
              </p:nvSpPr>
              <p:spPr>
                <a:xfrm rot="5400000">
                  <a:off x="3101524" y="759876"/>
                  <a:ext cx="1371039" cy="4964559"/>
                </a:xfrm>
                <a:prstGeom prst="roundRect">
                  <a:avLst>
                    <a:gd name="adj" fmla="val 5783"/>
                  </a:avLst>
                </a:prstGeom>
                <a:noFill/>
                <a:ln w="19050">
                  <a:solidFill>
                    <a:srgbClr val="EAEAEA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/>
                <a:lstStyle/>
                <a:p>
                  <a:pPr algn="ctr"/>
                  <a:endParaRPr lang="ko-KR" altLang="en-US" sz="800" dirty="0">
                    <a:ln>
                      <a:solidFill>
                        <a:srgbClr val="ADADAD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27" name="그룹 26">
                <a:extLst>
                  <a:ext uri="{FF2B5EF4-FFF2-40B4-BE49-F238E27FC236}">
                    <a16:creationId xmlns:a16="http://schemas.microsoft.com/office/drawing/2014/main" id="{C2AFFC40-B247-6BF8-1E6F-8D66F6F3FD94}"/>
                  </a:ext>
                </a:extLst>
              </p:cNvPr>
              <p:cNvGrpSpPr/>
              <p:nvPr/>
            </p:nvGrpSpPr>
            <p:grpSpPr>
              <a:xfrm>
                <a:off x="678264" y="2545495"/>
                <a:ext cx="1148513" cy="1386817"/>
                <a:chOff x="936420" y="3524513"/>
                <a:chExt cx="1327809" cy="1540754"/>
              </a:xfrm>
            </p:grpSpPr>
            <p:grpSp>
              <p:nvGrpSpPr>
                <p:cNvPr id="28" name="그룹 27">
                  <a:extLst>
                    <a:ext uri="{FF2B5EF4-FFF2-40B4-BE49-F238E27FC236}">
                      <a16:creationId xmlns:a16="http://schemas.microsoft.com/office/drawing/2014/main" id="{614FB880-40ED-45DF-D30E-B3A64FE736F8}"/>
                    </a:ext>
                  </a:extLst>
                </p:cNvPr>
                <p:cNvGrpSpPr/>
                <p:nvPr/>
              </p:nvGrpSpPr>
              <p:grpSpPr>
                <a:xfrm>
                  <a:off x="936420" y="3524513"/>
                  <a:ext cx="1327809" cy="1540754"/>
                  <a:chOff x="1982887" y="1882357"/>
                  <a:chExt cx="1608633" cy="1866613"/>
                </a:xfrm>
              </p:grpSpPr>
              <p:sp>
                <p:nvSpPr>
                  <p:cNvPr id="30" name="육각형 29">
                    <a:extLst>
                      <a:ext uri="{FF2B5EF4-FFF2-40B4-BE49-F238E27FC236}">
                        <a16:creationId xmlns:a16="http://schemas.microsoft.com/office/drawing/2014/main" id="{F108E78E-1857-D1A0-17D3-BCCE9E000C38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1853896" y="2011349"/>
                    <a:ext cx="1866613" cy="1608630"/>
                  </a:xfrm>
                  <a:prstGeom prst="hexagon">
                    <a:avLst>
                      <a:gd name="adj" fmla="val 30658"/>
                      <a:gd name="vf" fmla="val 115470"/>
                    </a:avLst>
                  </a:prstGeom>
                  <a:solidFill>
                    <a:schemeClr val="lt1"/>
                  </a:solidFill>
                  <a:ln w="38100" cap="rnd">
                    <a:solidFill>
                      <a:srgbClr val="7CC1EC"/>
                    </a:solidFill>
                    <a:round/>
                  </a:ln>
                  <a:effectLst>
                    <a:outerShdw sx="109000" sy="109000" algn="ctr" rotWithShape="0">
                      <a:schemeClr val="bg1"/>
                    </a:outerShd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ko-KR" altLang="en-US" sz="14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prstClr val="white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  <p:sp>
                <p:nvSpPr>
                  <p:cNvPr id="31" name="육각형 77">
                    <a:extLst>
                      <a:ext uri="{FF2B5EF4-FFF2-40B4-BE49-F238E27FC236}">
                        <a16:creationId xmlns:a16="http://schemas.microsoft.com/office/drawing/2014/main" id="{731AE0D4-36FB-A080-7E97-8300BD57FD29}"/>
                      </a:ext>
                    </a:extLst>
                  </p:cNvPr>
                  <p:cNvSpPr/>
                  <p:nvPr/>
                </p:nvSpPr>
                <p:spPr>
                  <a:xfrm rot="5400000">
                    <a:off x="2415220" y="1450026"/>
                    <a:ext cx="743968" cy="160863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43968" h="1608633">
                        <a:moveTo>
                          <a:pt x="0" y="804317"/>
                        </a:moveTo>
                        <a:lnTo>
                          <a:pt x="493175" y="0"/>
                        </a:lnTo>
                        <a:lnTo>
                          <a:pt x="635779" y="0"/>
                        </a:lnTo>
                        <a:lnTo>
                          <a:pt x="635779" y="2"/>
                        </a:lnTo>
                        <a:lnTo>
                          <a:pt x="646541" y="2"/>
                        </a:lnTo>
                        <a:lnTo>
                          <a:pt x="646541" y="1"/>
                        </a:lnTo>
                        <a:lnTo>
                          <a:pt x="743968" y="1"/>
                        </a:lnTo>
                        <a:lnTo>
                          <a:pt x="743968" y="1608633"/>
                        </a:lnTo>
                        <a:lnTo>
                          <a:pt x="646541" y="1608633"/>
                        </a:lnTo>
                        <a:lnTo>
                          <a:pt x="646541" y="1608633"/>
                        </a:lnTo>
                        <a:lnTo>
                          <a:pt x="553885" y="1608633"/>
                        </a:lnTo>
                        <a:lnTo>
                          <a:pt x="553885" y="1608632"/>
                        </a:lnTo>
                        <a:lnTo>
                          <a:pt x="493175" y="1608632"/>
                        </a:lnTo>
                        <a:close/>
                      </a:path>
                    </a:pathLst>
                  </a:custGeom>
                  <a:solidFill>
                    <a:srgbClr val="7CC1EC"/>
                  </a:solidFill>
                  <a:ln w="9525"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lIns="0" tIns="0" rIns="0" bIns="0" rtlCol="0" anchor="ctr"/>
                  <a:lstStyle/>
                  <a:p>
                    <a:pPr algn="ctr"/>
                    <a:endParaRPr lang="ko-KR" altLang="en-US" sz="8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  <p:sp>
                <p:nvSpPr>
                  <p:cNvPr id="32" name="TextBox 31">
                    <a:extLst>
                      <a:ext uri="{FF2B5EF4-FFF2-40B4-BE49-F238E27FC236}">
                        <a16:creationId xmlns:a16="http://schemas.microsoft.com/office/drawing/2014/main" id="{456D6C30-9B43-6702-F5E0-63663B080CA8}"/>
                      </a:ext>
                    </a:extLst>
                  </p:cNvPr>
                  <p:cNvSpPr txBox="1"/>
                  <p:nvPr/>
                </p:nvSpPr>
                <p:spPr>
                  <a:xfrm>
                    <a:off x="2489679" y="2252273"/>
                    <a:ext cx="595063" cy="22224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 anchor="ctr" anchorCtr="0">
                    <a:spAutoFit/>
                  </a:bodyPr>
                  <a:lstStyle/>
                  <a:p>
                    <a:pPr algn="ctr" latinLnBrk="0">
                      <a:buSzPts val="1700"/>
                    </a:pPr>
                    <a:r>
                      <a:rPr lang="ko-KR" altLang="en-US" sz="1200" dirty="0">
                        <a:ln>
                          <a:solidFill>
                            <a:srgbClr val="ADADAD">
                              <a:alpha val="0"/>
                            </a:srgbClr>
                          </a:solidFill>
                        </a:ln>
                        <a:solidFill>
                          <a:schemeClr val="tx2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분석 </a:t>
                    </a:r>
                    <a:r>
                      <a:rPr lang="en-US" altLang="ko-KR" sz="1200" dirty="0">
                        <a:ln>
                          <a:solidFill>
                            <a:srgbClr val="ADADAD">
                              <a:alpha val="0"/>
                            </a:srgbClr>
                          </a:solidFill>
                        </a:ln>
                        <a:solidFill>
                          <a:schemeClr val="tx2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rPr>
                      <a:t>04</a:t>
                    </a:r>
                    <a:endParaRPr lang="ko-KR" altLang="en-US" sz="1200" dirty="0">
                      <a:ln>
                        <a:solidFill>
                          <a:srgbClr val="ADADAD">
                            <a:alpha val="0"/>
                          </a:srgbClr>
                        </a:solidFill>
                      </a:ln>
                      <a:solidFill>
                        <a:schemeClr val="tx2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  <p:cxnSp>
                <p:nvCxnSpPr>
                  <p:cNvPr id="33" name="직선 연결선 32">
                    <a:extLst>
                      <a:ext uri="{FF2B5EF4-FFF2-40B4-BE49-F238E27FC236}">
                        <a16:creationId xmlns:a16="http://schemas.microsoft.com/office/drawing/2014/main" id="{8957D3DC-6AF4-DE38-C1E8-BAB1E384582A}"/>
                      </a:ext>
                    </a:extLst>
                  </p:cNvPr>
                  <p:cNvCxnSpPr/>
                  <p:nvPr/>
                </p:nvCxnSpPr>
                <p:spPr>
                  <a:xfrm>
                    <a:off x="2355350" y="2626327"/>
                    <a:ext cx="863709" cy="0"/>
                  </a:xfrm>
                  <a:prstGeom prst="line">
                    <a:avLst/>
                  </a:prstGeom>
                  <a:solidFill>
                    <a:schemeClr val="lt1"/>
                  </a:solidFill>
                  <a:ln w="25400">
                    <a:solidFill>
                      <a:srgbClr val="00347A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</p:cxnSp>
            </p:grpSp>
            <p:sp>
              <p:nvSpPr>
                <p:cNvPr id="29" name="직사각형 28">
                  <a:extLst>
                    <a:ext uri="{FF2B5EF4-FFF2-40B4-BE49-F238E27FC236}">
                      <a16:creationId xmlns:a16="http://schemas.microsoft.com/office/drawing/2014/main" id="{6401A35B-6F43-FBB1-E46E-C9CA2212CE59}"/>
                    </a:ext>
                  </a:extLst>
                </p:cNvPr>
                <p:cNvSpPr/>
                <p:nvPr/>
              </p:nvSpPr>
              <p:spPr>
                <a:xfrm>
                  <a:off x="1319322" y="4305033"/>
                  <a:ext cx="559364" cy="420404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lvl="0" algn="ctr" defTabSz="995363" latinLnBrk="0"/>
                  <a:r>
                    <a:rPr kumimoji="1" lang="ko-KR" altLang="en-US" sz="1100" dirty="0">
                      <a:solidFill>
                        <a:prstClr val="black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가는각진제목체" pitchFamily="18" charset="-127"/>
                    </a:rPr>
                    <a:t>고도화</a:t>
                  </a:r>
                  <a:endParaRPr kumimoji="1" lang="en-US" altLang="ko-KR" sz="1100" dirty="0">
                    <a:solidFill>
                      <a:prstClr val="black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가는각진제목체" pitchFamily="18" charset="-127"/>
                  </a:endParaRPr>
                </a:p>
                <a:p>
                  <a:pPr lvl="0" algn="ctr" defTabSz="995363" latinLnBrk="0"/>
                  <a:r>
                    <a:rPr kumimoji="1" lang="ko-KR" altLang="en-US" sz="1050" dirty="0">
                      <a:solidFill>
                        <a:prstClr val="black">
                          <a:lumMod val="50000"/>
                          <a:lumOff val="50000"/>
                        </a:prstClr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  <a:cs typeface="가는각진제목체" pitchFamily="18" charset="-127"/>
                    </a:rPr>
                    <a:t>분석</a:t>
                  </a:r>
                </a:p>
              </p:txBody>
            </p:sp>
          </p:grpSp>
        </p:grp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01CE9A27-1B18-77A0-1FF7-8A2378377CDA}"/>
                </a:ext>
              </a:extLst>
            </p:cNvPr>
            <p:cNvSpPr/>
            <p:nvPr/>
          </p:nvSpPr>
          <p:spPr>
            <a:xfrm>
              <a:off x="2637766" y="7899753"/>
              <a:ext cx="4491762" cy="3904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fontAlgn="base" latinLnBrk="0">
                <a:lnSpc>
                  <a:spcPct val="110000"/>
                </a:lnSpc>
                <a:spcAft>
                  <a:spcPts val="500"/>
                </a:spcAft>
                <a:defRPr/>
              </a:pPr>
              <a:r>
                <a:rPr kumimoji="1"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유지관리 업무 효율성 및 생산성 향상을 위한 </a:t>
              </a:r>
              <a:r>
                <a:rPr kumimoji="1" lang="en-US" altLang="ko-KR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SLA </a:t>
              </a:r>
              <a:r>
                <a:rPr kumimoji="1"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체결</a:t>
              </a:r>
              <a:r>
                <a:rPr kumimoji="1" lang="en-US" altLang="ko-KR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, ITSM</a:t>
              </a:r>
              <a:r>
                <a:rPr kumimoji="1"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의</a:t>
              </a:r>
              <a:r>
                <a:rPr kumimoji="1" lang="en-US" altLang="ko-KR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kumimoji="1"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안정적 운영을 위한 전문가 지원</a:t>
              </a:r>
              <a:r>
                <a:rPr kumimoji="1" lang="en-US" altLang="ko-KR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, </a:t>
              </a:r>
              <a:r>
                <a:rPr kumimoji="1"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정보체계 보안성 강화와 주기적인 보안 활등으로 보안 품질제고</a:t>
              </a:r>
              <a:endParaRPr kumimoji="1" lang="en-US" altLang="ko-KR" sz="9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49396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5EB94BF4-269D-4ADE-8025-A904DB6FAF1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D15C4-AF98-EFE3-EB7A-8C48293D6D4B}"/>
              </a:ext>
            </a:extLst>
          </p:cNvPr>
          <p:cNvSpPr txBox="1"/>
          <p:nvPr/>
        </p:nvSpPr>
        <p:spPr>
          <a:xfrm>
            <a:off x="934361" y="2524932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전산장비 유지보수 대상 분석을 통하여 수행방안 및 개선사항 도출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F03E0E-F6C0-91ED-93A3-245C8135B495}"/>
              </a:ext>
            </a:extLst>
          </p:cNvPr>
          <p:cNvSpPr/>
          <p:nvPr/>
        </p:nvSpPr>
        <p:spPr>
          <a:xfrm>
            <a:off x="1381398" y="1793106"/>
            <a:ext cx="5849058" cy="371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>
                <a:srgbClr val="0061EB"/>
              </a:buClr>
              <a:buSzPct val="80000"/>
              <a:buFont typeface="KoPub돋움체 Bold" panose="02020603020101020101" pitchFamily="18" charset="-127"/>
              <a:buChar char="▶"/>
            </a:pP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제안사는 전산장비 유지보수 대상에 대하여 총괄 현황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 기존 사업 대비 추이 및 유상 유지보수로 전환되는 사업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내역 등의 다각도 분석을 통하여 성공적인 유지보수 수행을 위해 철저한 관리계획 및 운영방안을 수립합니다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8FA33E-FCA6-5565-BB5E-627D28B7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8" name="제목 1">
            <a:extLst>
              <a:ext uri="{FF2B5EF4-FFF2-40B4-BE49-F238E27FC236}">
                <a16:creationId xmlns:a16="http://schemas.microsoft.com/office/drawing/2014/main" id="{7A0B822A-8B43-2FBE-CA85-68327F6D8783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id="{5A30A391-3A5B-5595-E638-1CE9161773CF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2)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유지보수 대상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(1/3)</a:t>
            </a: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4BAC3C72-41F8-FD23-9CE2-EC1EE355D062}"/>
              </a:ext>
            </a:extLst>
          </p:cNvPr>
          <p:cNvGrpSpPr/>
          <p:nvPr/>
        </p:nvGrpSpPr>
        <p:grpSpPr>
          <a:xfrm>
            <a:off x="575419" y="2947636"/>
            <a:ext cx="6123444" cy="199199"/>
            <a:chOff x="354537" y="2859354"/>
            <a:chExt cx="5810766" cy="16579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31875E44-F20F-4C57-A260-CA9879B6B71C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전산장비 유지보수 대상 장비 총괄 현황</a:t>
              </a:r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BCE9840D-888B-9B26-9D7B-C805CE2A0D6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22" name="차트 21">
            <a:extLst>
              <a:ext uri="{FF2B5EF4-FFF2-40B4-BE49-F238E27FC236}">
                <a16:creationId xmlns:a16="http://schemas.microsoft.com/office/drawing/2014/main" id="{A9D615B7-4509-F1F6-8386-ED096BA109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89035975"/>
              </p:ext>
            </p:extLst>
          </p:nvPr>
        </p:nvGraphicFramePr>
        <p:xfrm>
          <a:off x="529034" y="3149600"/>
          <a:ext cx="6645978" cy="297305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4" name="직사각형 33">
            <a:extLst>
              <a:ext uri="{FF2B5EF4-FFF2-40B4-BE49-F238E27FC236}">
                <a16:creationId xmlns:a16="http://schemas.microsoft.com/office/drawing/2014/main" id="{700AE5B6-034C-91E6-BE7C-BFD565A2E436}"/>
              </a:ext>
            </a:extLst>
          </p:cNvPr>
          <p:cNvSpPr/>
          <p:nvPr/>
        </p:nvSpPr>
        <p:spPr>
          <a:xfrm>
            <a:off x="568141" y="6042069"/>
            <a:ext cx="6645979" cy="40642"/>
          </a:xfrm>
          <a:prstGeom prst="rect">
            <a:avLst/>
          </a:prstGeom>
          <a:solidFill>
            <a:srgbClr val="51565D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457200" latinLnBrk="0"/>
            <a:endParaRPr lang="ko-KR" altLang="en-US" sz="1800" kern="0" spc="-40">
              <a:ln>
                <a:solidFill>
                  <a:srgbClr val="126AD4">
                    <a:alpha val="0"/>
                  </a:srgbClr>
                </a:solidFill>
              </a:ln>
              <a:solidFill>
                <a:prstClr val="white"/>
              </a:solidFill>
              <a:latin typeface="KoPub돋움체 Medium"/>
              <a:ea typeface="KoPub돋움체 Medium"/>
            </a:endParaRPr>
          </a:p>
        </p:txBody>
      </p:sp>
      <p:grpSp>
        <p:nvGrpSpPr>
          <p:cNvPr id="61" name="그룹 60">
            <a:extLst>
              <a:ext uri="{FF2B5EF4-FFF2-40B4-BE49-F238E27FC236}">
                <a16:creationId xmlns:a16="http://schemas.microsoft.com/office/drawing/2014/main" id="{AC0492DE-FFAE-9DE0-B3FB-D478C1915E57}"/>
              </a:ext>
            </a:extLst>
          </p:cNvPr>
          <p:cNvGrpSpPr/>
          <p:nvPr/>
        </p:nvGrpSpPr>
        <p:grpSpPr>
          <a:xfrm>
            <a:off x="575419" y="6196905"/>
            <a:ext cx="6123444" cy="199199"/>
            <a:chOff x="354537" y="2859354"/>
            <a:chExt cx="5810766" cy="165794"/>
          </a:xfrm>
        </p:grpSpPr>
        <p:sp>
          <p:nvSpPr>
            <p:cNvPr id="62" name="직사각형 61">
              <a:extLst>
                <a:ext uri="{FF2B5EF4-FFF2-40B4-BE49-F238E27FC236}">
                  <a16:creationId xmlns:a16="http://schemas.microsoft.com/office/drawing/2014/main" id="{F65123DC-5AD0-118B-977E-0E32A6C92102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기존 사업 대비 전산장비 유지보수 대상 장비 추이 분석</a:t>
              </a:r>
            </a:p>
          </p:txBody>
        </p:sp>
        <p:pic>
          <p:nvPicPr>
            <p:cNvPr id="63" name="그림 62">
              <a:extLst>
                <a:ext uri="{FF2B5EF4-FFF2-40B4-BE49-F238E27FC236}">
                  <a16:creationId xmlns:a16="http://schemas.microsoft.com/office/drawing/2014/main" id="{71A57573-DF39-3230-C999-763832B470E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sp>
        <p:nvSpPr>
          <p:cNvPr id="133" name="직사각형 132">
            <a:extLst>
              <a:ext uri="{FF2B5EF4-FFF2-40B4-BE49-F238E27FC236}">
                <a16:creationId xmlns:a16="http://schemas.microsoft.com/office/drawing/2014/main" id="{8D9FD37C-5162-A5AD-5310-F5ED996AE486}"/>
              </a:ext>
            </a:extLst>
          </p:cNvPr>
          <p:cNvSpPr/>
          <p:nvPr/>
        </p:nvSpPr>
        <p:spPr>
          <a:xfrm>
            <a:off x="697920" y="4917672"/>
            <a:ext cx="2163830" cy="1913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  <a:effectLst>
            <a:innerShdw dist="127000" dir="5400000">
              <a:schemeClr val="tx2">
                <a:lumMod val="60000"/>
                <a:lumOff val="40000"/>
                <a:alpha val="10000"/>
              </a:schemeClr>
            </a:innerShdw>
          </a:effectLst>
        </p:spPr>
        <p:txBody>
          <a:bodyPr wrap="square" lIns="0" tIns="0" rIns="0" bIns="0" anchor="ctr">
            <a:noAutofit/>
          </a:bodyPr>
          <a:lstStyle/>
          <a:p>
            <a:pPr indent="-180975" algn="ctr" latinLnBrk="0"/>
            <a:r>
              <a:rPr lang="en-US" altLang="ko-KR" sz="90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tx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2025</a:t>
            </a:r>
            <a:r>
              <a:rPr lang="ko-KR" altLang="en-US" sz="90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tx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년도 대상 장비 총괄 </a:t>
            </a:r>
            <a:r>
              <a:rPr lang="en-US" altLang="ko-KR" sz="90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tx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48,281</a:t>
            </a:r>
            <a:r>
              <a:rPr lang="ko-KR" altLang="en-US" sz="90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tx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식</a:t>
            </a:r>
            <a:endParaRPr lang="en-US" altLang="ko-KR" sz="900" dirty="0">
              <a:ln>
                <a:solidFill>
                  <a:schemeClr val="tx2">
                    <a:lumMod val="40000"/>
                    <a:lumOff val="60000"/>
                    <a:alpha val="0"/>
                  </a:schemeClr>
                </a:solidFill>
              </a:ln>
              <a:solidFill>
                <a:schemeClr val="tx2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4CC13DC2-30AF-4A40-BB9D-848E72DE2CA4}"/>
              </a:ext>
            </a:extLst>
          </p:cNvPr>
          <p:cNvSpPr/>
          <p:nvPr/>
        </p:nvSpPr>
        <p:spPr>
          <a:xfrm>
            <a:off x="697920" y="5165824"/>
            <a:ext cx="2163830" cy="19138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2"/>
            </a:solidFill>
            <a:miter lim="800000"/>
          </a:ln>
          <a:effectLst>
            <a:innerShdw dist="127000" dir="5400000">
              <a:schemeClr val="tx2">
                <a:lumMod val="60000"/>
                <a:lumOff val="40000"/>
                <a:alpha val="10000"/>
              </a:schemeClr>
            </a:innerShdw>
          </a:effectLst>
        </p:spPr>
        <p:txBody>
          <a:bodyPr wrap="square" lIns="0" tIns="0" rIns="0" bIns="0" anchor="ctr">
            <a:noAutofit/>
          </a:bodyPr>
          <a:lstStyle/>
          <a:p>
            <a:pPr indent="-180975" algn="ctr" latinLnBrk="0"/>
            <a:r>
              <a:rPr lang="en-US" altLang="ko-KR" sz="90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tx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2026</a:t>
            </a:r>
            <a:r>
              <a:rPr lang="ko-KR" altLang="en-US" sz="90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tx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년도 대상 장비 총괄 </a:t>
            </a:r>
            <a:r>
              <a:rPr lang="en-US" altLang="ko-KR" sz="90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tx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48,353</a:t>
            </a:r>
            <a:r>
              <a:rPr lang="ko-KR" altLang="en-US" sz="900" dirty="0">
                <a:ln>
                  <a:solidFill>
                    <a:schemeClr val="tx2">
                      <a:lumMod val="40000"/>
                      <a:lumOff val="60000"/>
                      <a:alpha val="0"/>
                    </a:schemeClr>
                  </a:solidFill>
                </a:ln>
                <a:solidFill>
                  <a:schemeClr val="tx2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식</a:t>
            </a:r>
          </a:p>
        </p:txBody>
      </p:sp>
      <p:graphicFrame>
        <p:nvGraphicFramePr>
          <p:cNvPr id="139" name="표 138">
            <a:extLst>
              <a:ext uri="{FF2B5EF4-FFF2-40B4-BE49-F238E27FC236}">
                <a16:creationId xmlns:a16="http://schemas.microsoft.com/office/drawing/2014/main" id="{FF70F082-8C94-44A3-4C8E-C25D4C31EB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5060439"/>
              </p:ext>
            </p:extLst>
          </p:nvPr>
        </p:nvGraphicFramePr>
        <p:xfrm>
          <a:off x="559673" y="6468111"/>
          <a:ext cx="6654183" cy="2071879"/>
        </p:xfrm>
        <a:graphic>
          <a:graphicData uri="http://schemas.openxmlformats.org/drawingml/2006/table">
            <a:tbl>
              <a:tblPr/>
              <a:tblGrid>
                <a:gridCol w="879842">
                  <a:extLst>
                    <a:ext uri="{9D8B030D-6E8A-4147-A177-3AD203B41FA5}">
                      <a16:colId xmlns:a16="http://schemas.microsoft.com/office/drawing/2014/main" val="3820773960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562306520"/>
                    </a:ext>
                  </a:extLst>
                </a:gridCol>
                <a:gridCol w="676679">
                  <a:extLst>
                    <a:ext uri="{9D8B030D-6E8A-4147-A177-3AD203B41FA5}">
                      <a16:colId xmlns:a16="http://schemas.microsoft.com/office/drawing/2014/main" val="3741135729"/>
                    </a:ext>
                  </a:extLst>
                </a:gridCol>
                <a:gridCol w="928268">
                  <a:extLst>
                    <a:ext uri="{9D8B030D-6E8A-4147-A177-3AD203B41FA5}">
                      <a16:colId xmlns:a16="http://schemas.microsoft.com/office/drawing/2014/main" val="3583472167"/>
                    </a:ext>
                  </a:extLst>
                </a:gridCol>
                <a:gridCol w="766791">
                  <a:extLst>
                    <a:ext uri="{9D8B030D-6E8A-4147-A177-3AD203B41FA5}">
                      <a16:colId xmlns:a16="http://schemas.microsoft.com/office/drawing/2014/main" val="2729693738"/>
                    </a:ext>
                  </a:extLst>
                </a:gridCol>
                <a:gridCol w="766791">
                  <a:extLst>
                    <a:ext uri="{9D8B030D-6E8A-4147-A177-3AD203B41FA5}">
                      <a16:colId xmlns:a16="http://schemas.microsoft.com/office/drawing/2014/main" val="1809188695"/>
                    </a:ext>
                  </a:extLst>
                </a:gridCol>
                <a:gridCol w="662580">
                  <a:extLst>
                    <a:ext uri="{9D8B030D-6E8A-4147-A177-3AD203B41FA5}">
                      <a16:colId xmlns:a16="http://schemas.microsoft.com/office/drawing/2014/main" val="2457206821"/>
                    </a:ext>
                  </a:extLst>
                </a:gridCol>
                <a:gridCol w="662580">
                  <a:extLst>
                    <a:ext uri="{9D8B030D-6E8A-4147-A177-3AD203B41FA5}">
                      <a16:colId xmlns:a16="http://schemas.microsoft.com/office/drawing/2014/main" val="3436988152"/>
                    </a:ext>
                  </a:extLst>
                </a:gridCol>
                <a:gridCol w="662580">
                  <a:extLst>
                    <a:ext uri="{9D8B030D-6E8A-4147-A177-3AD203B41FA5}">
                      <a16:colId xmlns:a16="http://schemas.microsoft.com/office/drawing/2014/main" val="1390247395"/>
                    </a:ext>
                  </a:extLst>
                </a:gridCol>
              </a:tblGrid>
              <a:tr h="486924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년도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계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주장비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</a:endParaRP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상용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SW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네트워크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정보보호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사무용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전산장비 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기반설비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기타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46924"/>
                  </a:ext>
                </a:extLst>
              </a:tr>
              <a:tr h="2690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2023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16,749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61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2,913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406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13,049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222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571762"/>
                  </a:ext>
                </a:extLst>
              </a:tr>
              <a:tr h="2690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2024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16,816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61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3,205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409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12,821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222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530566"/>
                  </a:ext>
                </a:extLst>
              </a:tr>
              <a:tr h="2690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2025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48,281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85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7,383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711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12,575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27,437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6107731"/>
                  </a:ext>
                </a:extLst>
              </a:tr>
              <a:tr h="26906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2026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48,353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85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7,462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708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12,571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9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27,437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130229"/>
                  </a:ext>
                </a:extLst>
              </a:tr>
              <a:tr h="5087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증감률</a:t>
                      </a:r>
                      <a:r>
                        <a:rPr kumimoji="1" lang="en-US" altLang="ko-KR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(%)</a:t>
                      </a: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24</a:t>
                      </a:r>
                      <a:r>
                        <a:rPr kumimoji="1" lang="ko-KR" altLang="en-US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년 </a:t>
                      </a:r>
                      <a:r>
                        <a:rPr kumimoji="1" lang="en-US" altLang="ko-KR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&gt; 25</a:t>
                      </a:r>
                      <a:r>
                        <a:rPr kumimoji="1" lang="ko-KR" altLang="en-US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년</a:t>
                      </a:r>
                      <a:endParaRPr kumimoji="1" lang="en-US" sz="1000" kern="1200" dirty="0">
                        <a:solidFill>
                          <a:srgbClr val="000000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17907" marR="17907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rgbClr val="FF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▲</a:t>
                      </a:r>
                      <a:r>
                        <a:rPr kumimoji="1" lang="en-US" altLang="ko-KR" sz="900" kern="1200" dirty="0">
                          <a:solidFill>
                            <a:srgbClr val="FF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187%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rgbClr val="FF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▲</a:t>
                      </a:r>
                      <a:r>
                        <a:rPr kumimoji="1" lang="en-US" altLang="ko-KR" sz="900" kern="1200" dirty="0">
                          <a:solidFill>
                            <a:srgbClr val="FF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39%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rgbClr val="FF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▲</a:t>
                      </a:r>
                      <a:r>
                        <a:rPr kumimoji="1" lang="en-US" altLang="ko-KR" sz="900" kern="1200" dirty="0">
                          <a:solidFill>
                            <a:srgbClr val="FF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130%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rgbClr val="FF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▲</a:t>
                      </a:r>
                      <a:r>
                        <a:rPr kumimoji="1" lang="en-US" altLang="ko-KR" sz="900" kern="1200" dirty="0">
                          <a:solidFill>
                            <a:srgbClr val="FF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74%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rgbClr val="5093F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▼</a:t>
                      </a:r>
                      <a:r>
                        <a:rPr kumimoji="1" lang="en-US" altLang="ko-KR" sz="900" kern="1200" dirty="0">
                          <a:solidFill>
                            <a:srgbClr val="5093F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27%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rgbClr val="5093F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▼</a:t>
                      </a:r>
                      <a:r>
                        <a:rPr kumimoji="1" lang="en-US" altLang="ko-KR" sz="900" kern="1200" dirty="0">
                          <a:solidFill>
                            <a:srgbClr val="5093F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rgbClr val="5093F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▼</a:t>
                      </a:r>
                      <a:r>
                        <a:rPr kumimoji="1" lang="en-US" altLang="ko-KR" sz="900" kern="1200" dirty="0">
                          <a:solidFill>
                            <a:srgbClr val="5093F2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rgbClr val="FF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▲</a:t>
                      </a:r>
                      <a:r>
                        <a:rPr kumimoji="1" lang="en-US" altLang="ko-KR" sz="900" kern="1200" dirty="0">
                          <a:solidFill>
                            <a:srgbClr val="FF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12,259%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3567806"/>
                  </a:ext>
                </a:extLst>
              </a:tr>
            </a:tbl>
          </a:graphicData>
        </a:graphic>
      </p:graphicFrame>
      <p:grpSp>
        <p:nvGrpSpPr>
          <p:cNvPr id="168" name="그룹 167">
            <a:extLst>
              <a:ext uri="{FF2B5EF4-FFF2-40B4-BE49-F238E27FC236}">
                <a16:creationId xmlns:a16="http://schemas.microsoft.com/office/drawing/2014/main" id="{3BAE22E4-691C-CCEA-1E0C-D784B69F73A2}"/>
              </a:ext>
            </a:extLst>
          </p:cNvPr>
          <p:cNvGrpSpPr/>
          <p:nvPr/>
        </p:nvGrpSpPr>
        <p:grpSpPr>
          <a:xfrm>
            <a:off x="559674" y="8694217"/>
            <a:ext cx="6641226" cy="1511823"/>
            <a:chOff x="7428355" y="5094368"/>
            <a:chExt cx="6334985" cy="1511823"/>
          </a:xfrm>
        </p:grpSpPr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B8887AF3-6B03-6533-D552-B8AD2AE13394}"/>
                </a:ext>
              </a:extLst>
            </p:cNvPr>
            <p:cNvGrpSpPr/>
            <p:nvPr/>
          </p:nvGrpSpPr>
          <p:grpSpPr>
            <a:xfrm>
              <a:off x="7428355" y="5094368"/>
              <a:ext cx="6334985" cy="1511823"/>
              <a:chOff x="652236" y="7479644"/>
              <a:chExt cx="6031088" cy="1906717"/>
            </a:xfrm>
          </p:grpSpPr>
          <p:grpSp>
            <p:nvGrpSpPr>
              <p:cNvPr id="171" name="그룹 170">
                <a:extLst>
                  <a:ext uri="{FF2B5EF4-FFF2-40B4-BE49-F238E27FC236}">
                    <a16:creationId xmlns:a16="http://schemas.microsoft.com/office/drawing/2014/main" id="{740D08DF-8A71-2BC2-4F1D-CB798EB7802A}"/>
                  </a:ext>
                </a:extLst>
              </p:cNvPr>
              <p:cNvGrpSpPr/>
              <p:nvPr/>
            </p:nvGrpSpPr>
            <p:grpSpPr>
              <a:xfrm>
                <a:off x="652236" y="7479645"/>
                <a:ext cx="876487" cy="1906716"/>
                <a:chOff x="652236" y="7582705"/>
                <a:chExt cx="541194" cy="1906716"/>
              </a:xfrm>
            </p:grpSpPr>
            <p:sp>
              <p:nvSpPr>
                <p:cNvPr id="175" name="직사각형 174">
                  <a:extLst>
                    <a:ext uri="{FF2B5EF4-FFF2-40B4-BE49-F238E27FC236}">
                      <a16:creationId xmlns:a16="http://schemas.microsoft.com/office/drawing/2014/main" id="{2C7DA32F-CAB2-7B92-5A36-96DDE161541A}"/>
                    </a:ext>
                  </a:extLst>
                </p:cNvPr>
                <p:cNvSpPr/>
                <p:nvPr/>
              </p:nvSpPr>
              <p:spPr>
                <a:xfrm flipH="1">
                  <a:off x="652236" y="7582705"/>
                  <a:ext cx="541194" cy="1906716"/>
                </a:xfrm>
                <a:prstGeom prst="rect">
                  <a:avLst/>
                </a:prstGeom>
                <a:solidFill>
                  <a:srgbClr val="396CBF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76" name="직사각형 175">
                  <a:extLst>
                    <a:ext uri="{FF2B5EF4-FFF2-40B4-BE49-F238E27FC236}">
                      <a16:creationId xmlns:a16="http://schemas.microsoft.com/office/drawing/2014/main" id="{AAE879F2-5D31-8E10-3560-AD57C580CC38}"/>
                    </a:ext>
                  </a:extLst>
                </p:cNvPr>
                <p:cNvSpPr/>
                <p:nvPr/>
              </p:nvSpPr>
              <p:spPr>
                <a:xfrm>
                  <a:off x="671533" y="8031539"/>
                  <a:ext cx="507816" cy="45933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anchor="ctr">
                  <a:spAutoFit/>
                </a:bodyPr>
                <a:lstStyle/>
                <a:p>
                  <a:pPr lvl="0" algn="ctr" latinLnBrk="0">
                    <a:spcAft>
                      <a:spcPts val="200"/>
                    </a:spcAft>
                  </a:pPr>
                  <a:r>
                    <a:rPr lang="ko-KR" altLang="en-US" sz="1100" dirty="0">
                      <a:ln>
                        <a:solidFill>
                          <a:srgbClr val="0568B0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Arial" pitchFamily="34" charset="0"/>
                    </a:rPr>
                    <a:t>현황 분석</a:t>
                  </a:r>
                  <a:endParaRPr lang="en-US" altLang="ko-KR" sz="11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endParaRPr>
                </a:p>
                <a:p>
                  <a:pPr lvl="0" algn="ctr" latinLnBrk="0">
                    <a:spcAft>
                      <a:spcPts val="200"/>
                    </a:spcAft>
                  </a:pPr>
                  <a:r>
                    <a:rPr lang="ko-KR" altLang="en-US" sz="1100" dirty="0">
                      <a:ln>
                        <a:solidFill>
                          <a:srgbClr val="0568B0">
                            <a:alpha val="0"/>
                          </a:srgbClr>
                        </a:solidFill>
                      </a:ln>
                      <a:solidFill>
                        <a:schemeClr val="bg1"/>
                      </a:solidFill>
                      <a:latin typeface="KoPub돋움체 Bold" panose="00000800000000000000" pitchFamily="2" charset="-127"/>
                      <a:ea typeface="KoPub돋움체 Bold" panose="00000800000000000000" pitchFamily="2" charset="-127"/>
                      <a:cs typeface="Arial" pitchFamily="34" charset="0"/>
                    </a:rPr>
                    <a:t>시사점</a:t>
                  </a:r>
                </a:p>
              </p:txBody>
            </p:sp>
          </p:grpSp>
          <p:sp>
            <p:nvSpPr>
              <p:cNvPr id="172" name="직사각형 171">
                <a:extLst>
                  <a:ext uri="{FF2B5EF4-FFF2-40B4-BE49-F238E27FC236}">
                    <a16:creationId xmlns:a16="http://schemas.microsoft.com/office/drawing/2014/main" id="{5B19F441-0BAE-4DC8-F774-00E592AF15C3}"/>
                  </a:ext>
                </a:extLst>
              </p:cNvPr>
              <p:cNvSpPr/>
              <p:nvPr/>
            </p:nvSpPr>
            <p:spPr>
              <a:xfrm>
                <a:off x="1534471" y="7479644"/>
                <a:ext cx="5148853" cy="1906715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73" name="Rectangle 20">
                <a:extLst>
                  <a:ext uri="{FF2B5EF4-FFF2-40B4-BE49-F238E27FC236}">
                    <a16:creationId xmlns:a16="http://schemas.microsoft.com/office/drawing/2014/main" id="{EDE89FCB-E99F-A010-85F8-8C57BC4153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5896" y="7684524"/>
                <a:ext cx="5049067" cy="1552676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 anchor="t" anchorCtr="0">
                <a:spAutoFit/>
              </a:bodyPr>
              <a:lstStyle/>
              <a:p>
                <a:pPr marL="128588" lvl="1" indent="-128588" defTabSz="952968" latinLnBrk="0">
                  <a:spcBef>
                    <a:spcPts val="200"/>
                  </a:spcBef>
                  <a:spcAft>
                    <a:spcPts val="4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주장비는 서버와 저장장치이며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,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기존 사업 대상이 하자보수에서 유상 유지보수로 전환되어 수량이 소폭 증가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200"/>
                  </a:spcBef>
                  <a:spcAft>
                    <a:spcPts val="4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상용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SW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는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OS/WEB/WAS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등으로 구성된 시스템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SW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와 연계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/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관제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/UI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등의 응용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SW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구성되어 있으며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,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기존 사업 대상이 하자보수에서 유상 유지보수로 전환되어 수량이 대폭 증가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200"/>
                  </a:spcBef>
                  <a:spcAft>
                    <a:spcPts val="4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정보보호는 방화벽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/NAC/VPN/IPS/DDoS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이며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,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노후 장비 교체 및 폐기 등으로 수량이 대량 감소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200"/>
                  </a:spcBef>
                  <a:spcAft>
                    <a:spcPts val="4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기타는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DRINS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체계에서 분류가 안된 출입통제 부수 장비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27,073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식의 유상 전환에 따른 수량의 대폭 증가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200"/>
                  </a:spcBef>
                  <a:spcAft>
                    <a:spcPts val="4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노후 장비와 단종 장비에 대한 대상 파악 후 장애에 대한 대처방안 수립이 필요</a:t>
                </a:r>
              </a:p>
            </p:txBody>
          </p:sp>
          <p:sp>
            <p:nvSpPr>
              <p:cNvPr id="174" name="자유형 109">
                <a:extLst>
                  <a:ext uri="{FF2B5EF4-FFF2-40B4-BE49-F238E27FC236}">
                    <a16:creationId xmlns:a16="http://schemas.microsoft.com/office/drawing/2014/main" id="{C94D2058-9851-F86E-D9E9-5561C9FD3FC3}"/>
                  </a:ext>
                </a:extLst>
              </p:cNvPr>
              <p:cNvSpPr/>
              <p:nvPr/>
            </p:nvSpPr>
            <p:spPr>
              <a:xfrm>
                <a:off x="670616" y="7544639"/>
                <a:ext cx="163322" cy="43147"/>
              </a:xfrm>
              <a:custGeom>
                <a:avLst/>
                <a:gdLst>
                  <a:gd name="connsiteX0" fmla="*/ 0 w 173831"/>
                  <a:gd name="connsiteY0" fmla="*/ 45244 h 45244"/>
                  <a:gd name="connsiteX1" fmla="*/ 173831 w 173831"/>
                  <a:gd name="connsiteY1" fmla="*/ 45244 h 45244"/>
                  <a:gd name="connsiteX2" fmla="*/ 128587 w 173831"/>
                  <a:gd name="connsiteY2" fmla="*/ 0 h 4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3831" h="45244">
                    <a:moveTo>
                      <a:pt x="0" y="45244"/>
                    </a:moveTo>
                    <a:lnTo>
                      <a:pt x="173831" y="45244"/>
                    </a:lnTo>
                    <a:lnTo>
                      <a:pt x="128587" y="0"/>
                    </a:lnTo>
                  </a:path>
                </a:pathLst>
              </a:cu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pic>
          <p:nvPicPr>
            <p:cNvPr id="170" name="Picture 2" descr="분석 - 무료 현서와 웹개 아이콘">
              <a:extLst>
                <a:ext uri="{FF2B5EF4-FFF2-40B4-BE49-F238E27FC236}">
                  <a16:creationId xmlns:a16="http://schemas.microsoft.com/office/drawing/2014/main" id="{5065A4A3-597E-D0BD-A8ED-CD02215AF6E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1691" y="6030471"/>
              <a:ext cx="289601" cy="2896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12565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49B24F-D220-2116-E764-7C096B776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6D277BF8-08A6-19C4-A446-04BF85468C2C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A13F9B9-35C0-BBB5-5D3D-F9CB1AF80C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AB63E880-80E6-F6A8-E731-8B194F21FE75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08AF6704-A888-7632-D282-87803CF2095A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2)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유지보수 대상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(2/3)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8BFB3D0-8FC6-60BA-3976-FE3D4D0CE4A2}"/>
              </a:ext>
            </a:extLst>
          </p:cNvPr>
          <p:cNvSpPr txBox="1"/>
          <p:nvPr/>
        </p:nvSpPr>
        <p:spPr>
          <a:xfrm>
            <a:off x="934361" y="1644256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성공적인 사업 수행을 위한 전산장비 유지보수 대상의 분야별 현황 분석</a:t>
            </a: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DD6759D3-AB44-082A-993D-971E191C1F3F}"/>
              </a:ext>
            </a:extLst>
          </p:cNvPr>
          <p:cNvGrpSpPr/>
          <p:nvPr/>
        </p:nvGrpSpPr>
        <p:grpSpPr>
          <a:xfrm>
            <a:off x="575419" y="4824273"/>
            <a:ext cx="6123444" cy="199199"/>
            <a:chOff x="354537" y="2859354"/>
            <a:chExt cx="5810766" cy="165794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7D0EFE1B-AA7A-0107-ADA0-3F5524DEB299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네트워크 장비 대상 현황 분석</a:t>
              </a:r>
            </a:p>
          </p:txBody>
        </p:sp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23FDB8BD-A02D-4ED9-39D9-E5C105B044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7" name="그룹 6">
            <a:extLst>
              <a:ext uri="{FF2B5EF4-FFF2-40B4-BE49-F238E27FC236}">
                <a16:creationId xmlns:a16="http://schemas.microsoft.com/office/drawing/2014/main" id="{7D43CDAC-CA66-1ED7-4DA1-C8C9F6B3E2DD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3C1877B-9299-9B23-4D42-6E026F5F5111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 err="1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주장비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및 정보보호 장비 대상 현황 분석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BA758A71-9416-9E31-A9E5-D396D8D30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6204D08-8474-1665-3EC1-BBC6AAAB4791}"/>
              </a:ext>
            </a:extLst>
          </p:cNvPr>
          <p:cNvGrpSpPr/>
          <p:nvPr/>
        </p:nvGrpSpPr>
        <p:grpSpPr>
          <a:xfrm>
            <a:off x="575419" y="7537741"/>
            <a:ext cx="6123444" cy="199199"/>
            <a:chOff x="354537" y="2859354"/>
            <a:chExt cx="5810766" cy="16579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0BC39EF2-F20E-A8FD-6513-B1BD92EE3487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기반 설비 현황 분석</a:t>
              </a: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02CA543B-C459-9421-1BB1-ABEF67CFA1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15" name="차트 14">
            <a:extLst>
              <a:ext uri="{FF2B5EF4-FFF2-40B4-BE49-F238E27FC236}">
                <a16:creationId xmlns:a16="http://schemas.microsoft.com/office/drawing/2014/main" id="{33EFE243-3FE0-740E-C1D6-96731CEFFE51}"/>
              </a:ext>
            </a:extLst>
          </p:cNvPr>
          <p:cNvGraphicFramePr/>
          <p:nvPr/>
        </p:nvGraphicFramePr>
        <p:xfrm>
          <a:off x="845975" y="2487866"/>
          <a:ext cx="2539124" cy="212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타원 15">
            <a:extLst>
              <a:ext uri="{FF2B5EF4-FFF2-40B4-BE49-F238E27FC236}">
                <a16:creationId xmlns:a16="http://schemas.microsoft.com/office/drawing/2014/main" id="{AC83AC15-1405-3EF0-1DB7-6318D571BA7D}"/>
              </a:ext>
            </a:extLst>
          </p:cNvPr>
          <p:cNvSpPr/>
          <p:nvPr/>
        </p:nvSpPr>
        <p:spPr>
          <a:xfrm>
            <a:off x="1538596" y="2990105"/>
            <a:ext cx="1153882" cy="1120971"/>
          </a:xfrm>
          <a:prstGeom prst="ellipse">
            <a:avLst/>
          </a:prstGeom>
          <a:solidFill>
            <a:schemeClr val="tx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40" dirty="0">
              <a:ln>
                <a:solidFill>
                  <a:srgbClr val="126AD4">
                    <a:alpha val="0"/>
                  </a:srgbClr>
                </a:solidFill>
              </a:ln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8D984A5E-1539-151F-940B-4E8389289D82}"/>
              </a:ext>
            </a:extLst>
          </p:cNvPr>
          <p:cNvSpPr/>
          <p:nvPr/>
        </p:nvSpPr>
        <p:spPr>
          <a:xfrm>
            <a:off x="1645089" y="3093561"/>
            <a:ext cx="940896" cy="9140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40">
              <a:ln>
                <a:solidFill>
                  <a:srgbClr val="126AD4">
                    <a:alpha val="0"/>
                  </a:srgbClr>
                </a:solidFill>
              </a:ln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893179-79A2-DE7D-98FB-51D3D6899F19}"/>
              </a:ext>
            </a:extLst>
          </p:cNvPr>
          <p:cNvSpPr txBox="1"/>
          <p:nvPr/>
        </p:nvSpPr>
        <p:spPr>
          <a:xfrm>
            <a:off x="1860659" y="3381313"/>
            <a:ext cx="509755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8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atinLnBrk="0">
              <a:defRPr/>
            </a:pPr>
            <a:r>
              <a:rPr lang="ko-KR" altLang="en-US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대상 장비</a:t>
            </a:r>
            <a:endParaRPr lang="en-US" altLang="ko-KR" sz="1100" kern="0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/>
              <a:ea typeface="KoPub돋움체 Bold"/>
            </a:endParaRPr>
          </a:p>
          <a:p>
            <a:pPr latinLnBrk="0">
              <a:defRPr/>
            </a:pPr>
            <a:r>
              <a:rPr lang="ko-KR" altLang="en-US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구성 비율</a:t>
            </a:r>
            <a:endParaRPr lang="en-US" altLang="ko-KR" sz="1100" kern="0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/>
              <a:ea typeface="KoPub돋움체 Bold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5E14FA9-9EFE-48FC-E9C7-AE13BC490FBF}"/>
              </a:ext>
            </a:extLst>
          </p:cNvPr>
          <p:cNvSpPr txBox="1"/>
          <p:nvPr/>
        </p:nvSpPr>
        <p:spPr>
          <a:xfrm>
            <a:off x="647842" y="4435872"/>
            <a:ext cx="486993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서버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92%</a:t>
            </a:r>
            <a:endParaRPr lang="ko-KR" altLang="en-US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702E4F-AE21-CF6B-0204-0068C820FB8F}"/>
              </a:ext>
            </a:extLst>
          </p:cNvPr>
          <p:cNvSpPr txBox="1"/>
          <p:nvPr/>
        </p:nvSpPr>
        <p:spPr>
          <a:xfrm>
            <a:off x="647842" y="2478144"/>
            <a:ext cx="634148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저장장치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8%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5DA9D69-6CEF-4080-F3A2-B9C13FAEC596}"/>
              </a:ext>
            </a:extLst>
          </p:cNvPr>
          <p:cNvSpPr txBox="1"/>
          <p:nvPr/>
        </p:nvSpPr>
        <p:spPr>
          <a:xfrm>
            <a:off x="3283420" y="2663398"/>
            <a:ext cx="456536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NAC 2%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2033030-1B05-9B2E-5836-9167CFA6536C}"/>
              </a:ext>
            </a:extLst>
          </p:cNvPr>
          <p:cNvSpPr txBox="1"/>
          <p:nvPr/>
        </p:nvSpPr>
        <p:spPr>
          <a:xfrm>
            <a:off x="2994880" y="3064676"/>
            <a:ext cx="745076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IPS/DDoS 9%</a:t>
            </a:r>
            <a:endParaRPr lang="ko-KR" altLang="en-US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aphicFrame>
        <p:nvGraphicFramePr>
          <p:cNvPr id="26" name="차트 25">
            <a:extLst>
              <a:ext uri="{FF2B5EF4-FFF2-40B4-BE49-F238E27FC236}">
                <a16:creationId xmlns:a16="http://schemas.microsoft.com/office/drawing/2014/main" id="{A0B2069B-96F5-E0C6-ABEA-E37D8168D53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94926821"/>
              </p:ext>
            </p:extLst>
          </p:nvPr>
        </p:nvGraphicFramePr>
        <p:xfrm>
          <a:off x="3887786" y="2649528"/>
          <a:ext cx="3312369" cy="2108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7" name="직사각형 26">
            <a:extLst>
              <a:ext uri="{FF2B5EF4-FFF2-40B4-BE49-F238E27FC236}">
                <a16:creationId xmlns:a16="http://schemas.microsoft.com/office/drawing/2014/main" id="{16632A13-8BFB-06FB-64ED-D5DB4D1C85C6}"/>
              </a:ext>
            </a:extLst>
          </p:cNvPr>
          <p:cNvSpPr/>
          <p:nvPr/>
        </p:nvSpPr>
        <p:spPr>
          <a:xfrm>
            <a:off x="575418" y="4684547"/>
            <a:ext cx="6624737" cy="948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AEA1275-D68F-E688-8F1F-2458D9549E12}"/>
              </a:ext>
            </a:extLst>
          </p:cNvPr>
          <p:cNvSpPr txBox="1"/>
          <p:nvPr/>
        </p:nvSpPr>
        <p:spPr>
          <a:xfrm>
            <a:off x="3294641" y="2863777"/>
            <a:ext cx="445315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VPN 2%</a:t>
            </a:r>
            <a:endParaRPr lang="ko-KR" altLang="en-US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E9CFA7B-E43E-ACA4-0BF2-35A86DD100AC}"/>
              </a:ext>
            </a:extLst>
          </p:cNvPr>
          <p:cNvSpPr txBox="1"/>
          <p:nvPr/>
        </p:nvSpPr>
        <p:spPr>
          <a:xfrm>
            <a:off x="3212889" y="2478144"/>
            <a:ext cx="527067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방화벽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5%</a:t>
            </a:r>
          </a:p>
        </p:txBody>
      </p: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4E9A0E42-8D2F-7D6D-5A0E-BE4F12CEABF6}"/>
              </a:ext>
            </a:extLst>
          </p:cNvPr>
          <p:cNvCxnSpPr>
            <a:cxnSpLocks/>
            <a:endCxn id="27" idx="2"/>
          </p:cNvCxnSpPr>
          <p:nvPr/>
        </p:nvCxnSpPr>
        <p:spPr>
          <a:xfrm>
            <a:off x="3887787" y="2401212"/>
            <a:ext cx="0" cy="2378234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>
            <a:extLst>
              <a:ext uri="{FF2B5EF4-FFF2-40B4-BE49-F238E27FC236}">
                <a16:creationId xmlns:a16="http://schemas.microsoft.com/office/drawing/2014/main" id="{E702134D-F1AF-36A5-068C-5C606AAC9B19}"/>
              </a:ext>
            </a:extLst>
          </p:cNvPr>
          <p:cNvCxnSpPr/>
          <p:nvPr/>
        </p:nvCxnSpPr>
        <p:spPr>
          <a:xfrm>
            <a:off x="575418" y="2399793"/>
            <a:ext cx="3312369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11779350-D74B-D588-770C-6F4186661CCC}"/>
              </a:ext>
            </a:extLst>
          </p:cNvPr>
          <p:cNvGrpSpPr/>
          <p:nvPr/>
        </p:nvGrpSpPr>
        <p:grpSpPr>
          <a:xfrm>
            <a:off x="3887787" y="2354831"/>
            <a:ext cx="3312368" cy="340459"/>
            <a:chOff x="3300179" y="2720975"/>
            <a:chExt cx="3081411" cy="340459"/>
          </a:xfrm>
        </p:grpSpPr>
        <p:sp>
          <p:nvSpPr>
            <p:cNvPr id="47" name="한쪽 모서리가 잘린 사각형 202">
              <a:extLst>
                <a:ext uri="{FF2B5EF4-FFF2-40B4-BE49-F238E27FC236}">
                  <a16:creationId xmlns:a16="http://schemas.microsoft.com/office/drawing/2014/main" id="{93623E99-DE2A-9749-C03E-CF21EE4BE254}"/>
                </a:ext>
              </a:extLst>
            </p:cNvPr>
            <p:cNvSpPr/>
            <p:nvPr/>
          </p:nvSpPr>
          <p:spPr>
            <a:xfrm>
              <a:off x="3300180" y="2720975"/>
              <a:ext cx="3081410" cy="259200"/>
            </a:xfrm>
            <a:prstGeom prst="round2SameRect">
              <a:avLst/>
            </a:prstGeom>
            <a:solidFill>
              <a:srgbClr val="003C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8930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1" i="0" u="none" strike="noStrike" kern="0" cap="none" spc="-40" normalizeH="0" baseline="0" noProof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endParaRPr>
            </a:p>
          </p:txBody>
        </p:sp>
        <p:sp>
          <p:nvSpPr>
            <p:cNvPr id="48" name="직각 삼각형 47">
              <a:extLst>
                <a:ext uri="{FF2B5EF4-FFF2-40B4-BE49-F238E27FC236}">
                  <a16:creationId xmlns:a16="http://schemas.microsoft.com/office/drawing/2014/main" id="{5D5C25CA-09B7-73C5-D6DE-7F5AA43992EA}"/>
                </a:ext>
              </a:extLst>
            </p:cNvPr>
            <p:cNvSpPr/>
            <p:nvPr/>
          </p:nvSpPr>
          <p:spPr>
            <a:xfrm flipV="1">
              <a:off x="3300179" y="2963459"/>
              <a:ext cx="124062" cy="97975"/>
            </a:xfrm>
            <a:prstGeom prst="rtTriangle">
              <a:avLst/>
            </a:prstGeom>
            <a:solidFill>
              <a:srgbClr val="003C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8930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1" i="0" u="none" strike="noStrike" kern="0" cap="none" spc="-40" normalizeH="0" baseline="0" noProof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endParaRPr>
            </a:p>
          </p:txBody>
        </p:sp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7E2410BF-F037-FE13-1117-CE76ABAB4FDB}"/>
                </a:ext>
              </a:extLst>
            </p:cNvPr>
            <p:cNvSpPr/>
            <p:nvPr/>
          </p:nvSpPr>
          <p:spPr>
            <a:xfrm>
              <a:off x="3930488" y="2765937"/>
              <a:ext cx="1820795" cy="16927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ctr" defTabSz="91421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80000"/>
                <a:buFontTx/>
                <a:buNone/>
                <a:tabLst>
                  <a:tab pos="430283" algn="l"/>
                  <a:tab pos="860568" algn="l"/>
                  <a:tab pos="1293523" algn="l"/>
                  <a:tab pos="1723807" algn="l"/>
                  <a:tab pos="2154091" algn="l"/>
                  <a:tab pos="2585712" algn="l"/>
                  <a:tab pos="3015995" algn="l"/>
                  <a:tab pos="3447614" algn="l"/>
                  <a:tab pos="3879234" algn="l"/>
                  <a:tab pos="4309518" algn="l"/>
                  <a:tab pos="4741137" algn="l"/>
                  <a:tab pos="5603041" algn="l"/>
                  <a:tab pos="6034661" algn="l"/>
                  <a:tab pos="6464944" algn="l"/>
                  <a:tab pos="6895228" algn="l"/>
                  <a:tab pos="7326849" algn="l"/>
                  <a:tab pos="7758468" algn="l"/>
                  <a:tab pos="8188752" algn="l"/>
                  <a:tab pos="8620372" algn="l"/>
                  <a:tab pos="9050656" algn="l"/>
                  <a:tab pos="9482276" algn="l"/>
                  <a:tab pos="9913896" algn="l"/>
                  <a:tab pos="10344179" algn="l"/>
                  <a:tab pos="10775798" algn="l"/>
                  <a:tab pos="11206082" algn="l"/>
                  <a:tab pos="11636366" algn="l"/>
                  <a:tab pos="12069322" algn="l"/>
                  <a:tab pos="12499605" algn="l"/>
                  <a:tab pos="12929890" algn="l"/>
                  <a:tab pos="13361510" algn="l"/>
                  <a:tab pos="13791794" algn="l"/>
                </a:tabLst>
                <a:defRPr/>
              </a:pPr>
              <a:r>
                <a:rPr kumimoji="0" lang="ko-KR" altLang="en-US" sz="1100" b="0" i="0" u="none" strike="noStrike" kern="0" cap="none" spc="-40" normalizeH="0" baseline="0" noProof="0" dirty="0" err="1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주장비</a:t>
              </a:r>
              <a:r>
                <a:rPr kumimoji="0" lang="ko-KR" altLang="en-US" sz="1100" b="0" i="0" u="none" strike="noStrike" kern="0" cap="none" spc="-40" normalizeH="0" baseline="0" noProof="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 및 정보보호 장비 유형별 현황</a:t>
              </a:r>
            </a:p>
          </p:txBody>
        </p:sp>
      </p:grpSp>
      <p:graphicFrame>
        <p:nvGraphicFramePr>
          <p:cNvPr id="53" name="차트 52">
            <a:extLst>
              <a:ext uri="{FF2B5EF4-FFF2-40B4-BE49-F238E27FC236}">
                <a16:creationId xmlns:a16="http://schemas.microsoft.com/office/drawing/2014/main" id="{1469CC67-0A77-ACB6-007D-76231713BB7D}"/>
              </a:ext>
            </a:extLst>
          </p:cNvPr>
          <p:cNvGraphicFramePr/>
          <p:nvPr/>
        </p:nvGraphicFramePr>
        <p:xfrm>
          <a:off x="845975" y="5201334"/>
          <a:ext cx="2539124" cy="212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54" name="타원 53">
            <a:extLst>
              <a:ext uri="{FF2B5EF4-FFF2-40B4-BE49-F238E27FC236}">
                <a16:creationId xmlns:a16="http://schemas.microsoft.com/office/drawing/2014/main" id="{ACDF753B-CF57-ADD4-CC1D-98F40C145E88}"/>
              </a:ext>
            </a:extLst>
          </p:cNvPr>
          <p:cNvSpPr/>
          <p:nvPr/>
        </p:nvSpPr>
        <p:spPr>
          <a:xfrm>
            <a:off x="1538596" y="5703573"/>
            <a:ext cx="1153882" cy="1120971"/>
          </a:xfrm>
          <a:prstGeom prst="ellipse">
            <a:avLst/>
          </a:prstGeom>
          <a:solidFill>
            <a:schemeClr val="tx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40" dirty="0">
              <a:ln>
                <a:solidFill>
                  <a:srgbClr val="126AD4">
                    <a:alpha val="0"/>
                  </a:srgbClr>
                </a:solidFill>
              </a:ln>
            </a:endParaRPr>
          </a:p>
        </p:txBody>
      </p:sp>
      <p:sp>
        <p:nvSpPr>
          <p:cNvPr id="55" name="타원 54">
            <a:extLst>
              <a:ext uri="{FF2B5EF4-FFF2-40B4-BE49-F238E27FC236}">
                <a16:creationId xmlns:a16="http://schemas.microsoft.com/office/drawing/2014/main" id="{C3344E11-134A-009C-1D0B-1D9B44F3BB8C}"/>
              </a:ext>
            </a:extLst>
          </p:cNvPr>
          <p:cNvSpPr/>
          <p:nvPr/>
        </p:nvSpPr>
        <p:spPr>
          <a:xfrm>
            <a:off x="1645089" y="5807029"/>
            <a:ext cx="940896" cy="9140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40">
              <a:ln>
                <a:solidFill>
                  <a:srgbClr val="126AD4">
                    <a:alpha val="0"/>
                  </a:srgbClr>
                </a:solidFill>
              </a:ln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B02BD6B-5AB3-54C2-90D3-C2E134DDEE7F}"/>
              </a:ext>
            </a:extLst>
          </p:cNvPr>
          <p:cNvSpPr txBox="1"/>
          <p:nvPr/>
        </p:nvSpPr>
        <p:spPr>
          <a:xfrm>
            <a:off x="1860659" y="6094782"/>
            <a:ext cx="509755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8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atinLnBrk="0">
              <a:defRPr/>
            </a:pPr>
            <a:r>
              <a:rPr lang="ko-KR" altLang="en-US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대상 장비</a:t>
            </a:r>
            <a:endParaRPr lang="en-US" altLang="ko-KR" sz="1100" kern="0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/>
              <a:ea typeface="KoPub돋움체 Bold"/>
            </a:endParaRPr>
          </a:p>
          <a:p>
            <a:pPr latinLnBrk="0">
              <a:defRPr/>
            </a:pPr>
            <a:r>
              <a:rPr lang="ko-KR" altLang="en-US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구성 비율</a:t>
            </a:r>
            <a:endParaRPr lang="en-US" altLang="ko-KR" sz="1100" kern="0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/>
              <a:ea typeface="KoPub돋움체 Bold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0D2A0FA1-E21D-BD6B-8C6E-70045DB864DF}"/>
              </a:ext>
            </a:extLst>
          </p:cNvPr>
          <p:cNvSpPr txBox="1"/>
          <p:nvPr/>
        </p:nvSpPr>
        <p:spPr>
          <a:xfrm>
            <a:off x="3331191" y="6345688"/>
            <a:ext cx="419987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백본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7%</a:t>
            </a:r>
            <a:endParaRPr lang="ko-KR" altLang="en-US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2065F0E9-5B09-5DF5-6BCC-3635000EA65C}"/>
              </a:ext>
            </a:extLst>
          </p:cNvPr>
          <p:cNvSpPr txBox="1"/>
          <p:nvPr/>
        </p:nvSpPr>
        <p:spPr>
          <a:xfrm>
            <a:off x="647842" y="5219818"/>
            <a:ext cx="701153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워크그룹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84%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AB62B822-A229-7F32-BE6D-4337A4951ED2}"/>
              </a:ext>
            </a:extLst>
          </p:cNvPr>
          <p:cNvSpPr txBox="1"/>
          <p:nvPr/>
        </p:nvSpPr>
        <p:spPr>
          <a:xfrm>
            <a:off x="3224111" y="6075024"/>
            <a:ext cx="527067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라우터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1%</a:t>
            </a:r>
            <a:endParaRPr lang="ko-KR" altLang="en-US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aphicFrame>
        <p:nvGraphicFramePr>
          <p:cNvPr id="142" name="차트 141">
            <a:extLst>
              <a:ext uri="{FF2B5EF4-FFF2-40B4-BE49-F238E27FC236}">
                <a16:creationId xmlns:a16="http://schemas.microsoft.com/office/drawing/2014/main" id="{D674558C-00DF-541C-3BCE-6BE96C90FA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5195894"/>
              </p:ext>
            </p:extLst>
          </p:nvPr>
        </p:nvGraphicFramePr>
        <p:xfrm>
          <a:off x="3887786" y="5362996"/>
          <a:ext cx="3313114" cy="2108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8D92FD28-286F-0E80-879A-DA821AA376C5}"/>
              </a:ext>
            </a:extLst>
          </p:cNvPr>
          <p:cNvSpPr/>
          <p:nvPr/>
        </p:nvSpPr>
        <p:spPr>
          <a:xfrm>
            <a:off x="575418" y="7398015"/>
            <a:ext cx="6624737" cy="948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403EB3A6-289A-B60F-6FAE-9A2CC1BDCD27}"/>
              </a:ext>
            </a:extLst>
          </p:cNvPr>
          <p:cNvSpPr txBox="1"/>
          <p:nvPr/>
        </p:nvSpPr>
        <p:spPr>
          <a:xfrm>
            <a:off x="3059963" y="6740128"/>
            <a:ext cx="691215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L4 </a:t>
            </a:r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스위치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2%</a:t>
            </a:r>
            <a:endParaRPr lang="ko-KR" altLang="en-US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960D93E-A8C4-317A-B1E5-8285D26F5EB2}"/>
              </a:ext>
            </a:extLst>
          </p:cNvPr>
          <p:cNvSpPr txBox="1"/>
          <p:nvPr/>
        </p:nvSpPr>
        <p:spPr>
          <a:xfrm>
            <a:off x="3331191" y="5618278"/>
            <a:ext cx="419987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기타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7%</a:t>
            </a:r>
          </a:p>
        </p:txBody>
      </p:sp>
      <p:cxnSp>
        <p:nvCxnSpPr>
          <p:cNvPr id="150" name="직선 연결선 149">
            <a:extLst>
              <a:ext uri="{FF2B5EF4-FFF2-40B4-BE49-F238E27FC236}">
                <a16:creationId xmlns:a16="http://schemas.microsoft.com/office/drawing/2014/main" id="{2DFA62EA-7144-4F63-CFB3-B454BBD41B8E}"/>
              </a:ext>
            </a:extLst>
          </p:cNvPr>
          <p:cNvCxnSpPr>
            <a:cxnSpLocks/>
            <a:endCxn id="143" idx="2"/>
          </p:cNvCxnSpPr>
          <p:nvPr/>
        </p:nvCxnSpPr>
        <p:spPr>
          <a:xfrm>
            <a:off x="3887787" y="5114680"/>
            <a:ext cx="0" cy="2378234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직선 연결선 151">
            <a:extLst>
              <a:ext uri="{FF2B5EF4-FFF2-40B4-BE49-F238E27FC236}">
                <a16:creationId xmlns:a16="http://schemas.microsoft.com/office/drawing/2014/main" id="{C01F2341-1985-9084-3EC7-19CB747BD888}"/>
              </a:ext>
            </a:extLst>
          </p:cNvPr>
          <p:cNvCxnSpPr/>
          <p:nvPr/>
        </p:nvCxnSpPr>
        <p:spPr>
          <a:xfrm>
            <a:off x="575418" y="5113261"/>
            <a:ext cx="3312369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3" name="그룹 152">
            <a:extLst>
              <a:ext uri="{FF2B5EF4-FFF2-40B4-BE49-F238E27FC236}">
                <a16:creationId xmlns:a16="http://schemas.microsoft.com/office/drawing/2014/main" id="{23B22D74-DF56-0732-B5A0-4EA642F676A2}"/>
              </a:ext>
            </a:extLst>
          </p:cNvPr>
          <p:cNvGrpSpPr/>
          <p:nvPr/>
        </p:nvGrpSpPr>
        <p:grpSpPr>
          <a:xfrm>
            <a:off x="3887787" y="5068299"/>
            <a:ext cx="3312368" cy="340459"/>
            <a:chOff x="3300179" y="2720975"/>
            <a:chExt cx="3081411" cy="340459"/>
          </a:xfrm>
        </p:grpSpPr>
        <p:sp>
          <p:nvSpPr>
            <p:cNvPr id="154" name="한쪽 모서리가 잘린 사각형 202">
              <a:extLst>
                <a:ext uri="{FF2B5EF4-FFF2-40B4-BE49-F238E27FC236}">
                  <a16:creationId xmlns:a16="http://schemas.microsoft.com/office/drawing/2014/main" id="{83127C40-7A88-E356-A599-7ECE0E80044F}"/>
                </a:ext>
              </a:extLst>
            </p:cNvPr>
            <p:cNvSpPr/>
            <p:nvPr/>
          </p:nvSpPr>
          <p:spPr>
            <a:xfrm>
              <a:off x="3300180" y="2720975"/>
              <a:ext cx="3081410" cy="259200"/>
            </a:xfrm>
            <a:prstGeom prst="round2SameRect">
              <a:avLst/>
            </a:prstGeom>
            <a:solidFill>
              <a:srgbClr val="003C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8930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1" i="0" u="none" strike="noStrike" kern="0" cap="none" spc="-40" normalizeH="0" baseline="0" noProof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endParaRPr>
            </a:p>
          </p:txBody>
        </p:sp>
        <p:sp>
          <p:nvSpPr>
            <p:cNvPr id="155" name="직각 삼각형 154">
              <a:extLst>
                <a:ext uri="{FF2B5EF4-FFF2-40B4-BE49-F238E27FC236}">
                  <a16:creationId xmlns:a16="http://schemas.microsoft.com/office/drawing/2014/main" id="{4CCFF28E-8088-98F3-DEBA-35773B0D42DE}"/>
                </a:ext>
              </a:extLst>
            </p:cNvPr>
            <p:cNvSpPr/>
            <p:nvPr/>
          </p:nvSpPr>
          <p:spPr>
            <a:xfrm flipV="1">
              <a:off x="3300179" y="2963459"/>
              <a:ext cx="124062" cy="97975"/>
            </a:xfrm>
            <a:prstGeom prst="rtTriangle">
              <a:avLst/>
            </a:prstGeom>
            <a:solidFill>
              <a:srgbClr val="003C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8930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1" i="0" u="none" strike="noStrike" kern="0" cap="none" spc="-40" normalizeH="0" baseline="0" noProof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endParaRPr>
            </a:p>
          </p:txBody>
        </p:sp>
        <p:sp>
          <p:nvSpPr>
            <p:cNvPr id="156" name="직사각형 155">
              <a:extLst>
                <a:ext uri="{FF2B5EF4-FFF2-40B4-BE49-F238E27FC236}">
                  <a16:creationId xmlns:a16="http://schemas.microsoft.com/office/drawing/2014/main" id="{CF1BFB0E-3F52-2B3E-7D8E-25FC4BF4BD56}"/>
                </a:ext>
              </a:extLst>
            </p:cNvPr>
            <p:cNvSpPr/>
            <p:nvPr/>
          </p:nvSpPr>
          <p:spPr>
            <a:xfrm>
              <a:off x="4184595" y="2765937"/>
              <a:ext cx="1312584" cy="16927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ctr" defTabSz="91421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80000"/>
                <a:buFontTx/>
                <a:buNone/>
                <a:tabLst>
                  <a:tab pos="430283" algn="l"/>
                  <a:tab pos="860568" algn="l"/>
                  <a:tab pos="1293523" algn="l"/>
                  <a:tab pos="1723807" algn="l"/>
                  <a:tab pos="2154091" algn="l"/>
                  <a:tab pos="2585712" algn="l"/>
                  <a:tab pos="3015995" algn="l"/>
                  <a:tab pos="3447614" algn="l"/>
                  <a:tab pos="3879234" algn="l"/>
                  <a:tab pos="4309518" algn="l"/>
                  <a:tab pos="4741137" algn="l"/>
                  <a:tab pos="5603041" algn="l"/>
                  <a:tab pos="6034661" algn="l"/>
                  <a:tab pos="6464944" algn="l"/>
                  <a:tab pos="6895228" algn="l"/>
                  <a:tab pos="7326849" algn="l"/>
                  <a:tab pos="7758468" algn="l"/>
                  <a:tab pos="8188752" algn="l"/>
                  <a:tab pos="8620372" algn="l"/>
                  <a:tab pos="9050656" algn="l"/>
                  <a:tab pos="9482276" algn="l"/>
                  <a:tab pos="9913896" algn="l"/>
                  <a:tab pos="10344179" algn="l"/>
                  <a:tab pos="10775798" algn="l"/>
                  <a:tab pos="11206082" algn="l"/>
                  <a:tab pos="11636366" algn="l"/>
                  <a:tab pos="12069322" algn="l"/>
                  <a:tab pos="12499605" algn="l"/>
                  <a:tab pos="12929890" algn="l"/>
                  <a:tab pos="13361510" algn="l"/>
                  <a:tab pos="13791794" algn="l"/>
                </a:tabLst>
                <a:defRPr/>
              </a:pPr>
              <a:r>
                <a:rPr kumimoji="0" lang="ko-KR" altLang="en-US" sz="1100" b="0" i="0" u="none" strike="noStrike" kern="0" cap="none" spc="-40" normalizeH="0" baseline="0" noProof="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네트워크 장비 유형별 현황</a:t>
              </a:r>
            </a:p>
          </p:txBody>
        </p:sp>
      </p:grpSp>
      <p:graphicFrame>
        <p:nvGraphicFramePr>
          <p:cNvPr id="160" name="차트 159">
            <a:extLst>
              <a:ext uri="{FF2B5EF4-FFF2-40B4-BE49-F238E27FC236}">
                <a16:creationId xmlns:a16="http://schemas.microsoft.com/office/drawing/2014/main" id="{57A232C3-DB70-A3E7-45F7-F1C3A404C9F6}"/>
              </a:ext>
            </a:extLst>
          </p:cNvPr>
          <p:cNvGraphicFramePr/>
          <p:nvPr/>
        </p:nvGraphicFramePr>
        <p:xfrm>
          <a:off x="845975" y="7902128"/>
          <a:ext cx="2539124" cy="212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162" name="타원 161">
            <a:extLst>
              <a:ext uri="{FF2B5EF4-FFF2-40B4-BE49-F238E27FC236}">
                <a16:creationId xmlns:a16="http://schemas.microsoft.com/office/drawing/2014/main" id="{58823468-B9BC-1EB5-9349-6177CEF3D820}"/>
              </a:ext>
            </a:extLst>
          </p:cNvPr>
          <p:cNvSpPr/>
          <p:nvPr/>
        </p:nvSpPr>
        <p:spPr>
          <a:xfrm>
            <a:off x="1538596" y="8417043"/>
            <a:ext cx="1153882" cy="1120971"/>
          </a:xfrm>
          <a:prstGeom prst="ellipse">
            <a:avLst/>
          </a:prstGeom>
          <a:solidFill>
            <a:schemeClr val="tx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40" dirty="0">
              <a:ln>
                <a:solidFill>
                  <a:srgbClr val="126AD4">
                    <a:alpha val="0"/>
                  </a:srgbClr>
                </a:solidFill>
              </a:ln>
            </a:endParaRPr>
          </a:p>
        </p:txBody>
      </p:sp>
      <p:sp>
        <p:nvSpPr>
          <p:cNvPr id="163" name="타원 162">
            <a:extLst>
              <a:ext uri="{FF2B5EF4-FFF2-40B4-BE49-F238E27FC236}">
                <a16:creationId xmlns:a16="http://schemas.microsoft.com/office/drawing/2014/main" id="{157D7AB5-DA08-7FC3-6C6D-915E33C18523}"/>
              </a:ext>
            </a:extLst>
          </p:cNvPr>
          <p:cNvSpPr/>
          <p:nvPr/>
        </p:nvSpPr>
        <p:spPr>
          <a:xfrm>
            <a:off x="1645089" y="8520499"/>
            <a:ext cx="940896" cy="9140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40">
              <a:ln>
                <a:solidFill>
                  <a:srgbClr val="126AD4">
                    <a:alpha val="0"/>
                  </a:srgbClr>
                </a:solidFill>
              </a:ln>
            </a:endParaRPr>
          </a:p>
        </p:txBody>
      </p:sp>
      <p:sp>
        <p:nvSpPr>
          <p:cNvPr id="164" name="TextBox 163">
            <a:extLst>
              <a:ext uri="{FF2B5EF4-FFF2-40B4-BE49-F238E27FC236}">
                <a16:creationId xmlns:a16="http://schemas.microsoft.com/office/drawing/2014/main" id="{9BACAFB7-66B6-DD92-1E1A-DBFA6EDD5C8E}"/>
              </a:ext>
            </a:extLst>
          </p:cNvPr>
          <p:cNvSpPr txBox="1"/>
          <p:nvPr/>
        </p:nvSpPr>
        <p:spPr>
          <a:xfrm>
            <a:off x="1860659" y="8808252"/>
            <a:ext cx="509755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8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atinLnBrk="0">
              <a:defRPr/>
            </a:pPr>
            <a:r>
              <a:rPr lang="ko-KR" altLang="en-US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대상 장비</a:t>
            </a:r>
            <a:endParaRPr lang="en-US" altLang="ko-KR" sz="1100" kern="0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/>
              <a:ea typeface="KoPub돋움체 Bold"/>
            </a:endParaRPr>
          </a:p>
          <a:p>
            <a:pPr latinLnBrk="0">
              <a:defRPr/>
            </a:pPr>
            <a:r>
              <a:rPr lang="ko-KR" altLang="en-US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구성 비율</a:t>
            </a:r>
            <a:endParaRPr lang="en-US" altLang="ko-KR" sz="1100" kern="0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/>
              <a:ea typeface="KoPub돋움체 Bold"/>
            </a:endParaRPr>
          </a:p>
        </p:txBody>
      </p:sp>
      <p:sp>
        <p:nvSpPr>
          <p:cNvPr id="165" name="TextBox 164">
            <a:extLst>
              <a:ext uri="{FF2B5EF4-FFF2-40B4-BE49-F238E27FC236}">
                <a16:creationId xmlns:a16="http://schemas.microsoft.com/office/drawing/2014/main" id="{6B2B4B9F-6E43-6FC4-BFE5-80C4C8A57415}"/>
              </a:ext>
            </a:extLst>
          </p:cNvPr>
          <p:cNvSpPr txBox="1"/>
          <p:nvPr/>
        </p:nvSpPr>
        <p:spPr>
          <a:xfrm>
            <a:off x="647842" y="9718536"/>
            <a:ext cx="701154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소화설비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19%</a:t>
            </a:r>
            <a:endParaRPr lang="ko-KR" altLang="en-US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6" name="TextBox 165">
            <a:extLst>
              <a:ext uri="{FF2B5EF4-FFF2-40B4-BE49-F238E27FC236}">
                <a16:creationId xmlns:a16="http://schemas.microsoft.com/office/drawing/2014/main" id="{02453215-BCE5-D680-EAAE-6D836563FC64}"/>
              </a:ext>
            </a:extLst>
          </p:cNvPr>
          <p:cNvSpPr txBox="1"/>
          <p:nvPr/>
        </p:nvSpPr>
        <p:spPr>
          <a:xfrm>
            <a:off x="3278612" y="9135789"/>
            <a:ext cx="472566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 fontAlgn="ctr"/>
            <a:r>
              <a:rPr lang="en-US" altLang="ko-KR" sz="1000" u="none" strike="noStrike" dirty="0"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UPS18%</a:t>
            </a:r>
            <a:endParaRPr lang="en-US" altLang="ko-KR" sz="1000" b="0" i="0" u="none" strike="noStrike" dirty="0">
              <a:solidFill>
                <a:srgbClr val="000000"/>
              </a:solidFill>
              <a:effectLst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67" name="TextBox 166">
            <a:extLst>
              <a:ext uri="{FF2B5EF4-FFF2-40B4-BE49-F238E27FC236}">
                <a16:creationId xmlns:a16="http://schemas.microsoft.com/office/drawing/2014/main" id="{8B5B072E-619C-F354-0658-D624CDA5B63A}"/>
              </a:ext>
            </a:extLst>
          </p:cNvPr>
          <p:cNvSpPr txBox="1"/>
          <p:nvPr/>
        </p:nvSpPr>
        <p:spPr>
          <a:xfrm>
            <a:off x="647842" y="7914238"/>
            <a:ext cx="701153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관제설비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22%</a:t>
            </a:r>
            <a:endParaRPr lang="ko-KR" altLang="en-US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aphicFrame>
        <p:nvGraphicFramePr>
          <p:cNvPr id="168" name="차트 167">
            <a:extLst>
              <a:ext uri="{FF2B5EF4-FFF2-40B4-BE49-F238E27FC236}">
                <a16:creationId xmlns:a16="http://schemas.microsoft.com/office/drawing/2014/main" id="{50043910-872B-30C5-0FA2-6E43784F869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6977668"/>
              </p:ext>
            </p:extLst>
          </p:nvPr>
        </p:nvGraphicFramePr>
        <p:xfrm>
          <a:off x="3887787" y="8076466"/>
          <a:ext cx="3313114" cy="2108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169" name="직사각형 168">
            <a:extLst>
              <a:ext uri="{FF2B5EF4-FFF2-40B4-BE49-F238E27FC236}">
                <a16:creationId xmlns:a16="http://schemas.microsoft.com/office/drawing/2014/main" id="{6645F44F-BD42-F813-4715-DFD356F554E3}"/>
              </a:ext>
            </a:extLst>
          </p:cNvPr>
          <p:cNvSpPr/>
          <p:nvPr/>
        </p:nvSpPr>
        <p:spPr>
          <a:xfrm>
            <a:off x="575418" y="10111485"/>
            <a:ext cx="6624737" cy="948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CF55FD5B-DA99-9D3C-5D06-68E26866F5EC}"/>
              </a:ext>
            </a:extLst>
          </p:cNvPr>
          <p:cNvSpPr txBox="1"/>
          <p:nvPr/>
        </p:nvSpPr>
        <p:spPr>
          <a:xfrm>
            <a:off x="3157106" y="7914238"/>
            <a:ext cx="594072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r"/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분전반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20%</a:t>
            </a:r>
            <a:endParaRPr lang="ko-KR" altLang="en-US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cxnSp>
        <p:nvCxnSpPr>
          <p:cNvPr id="171" name="직선 연결선 170">
            <a:extLst>
              <a:ext uri="{FF2B5EF4-FFF2-40B4-BE49-F238E27FC236}">
                <a16:creationId xmlns:a16="http://schemas.microsoft.com/office/drawing/2014/main" id="{1330ADB6-DD0D-1E8C-AD2D-73280C3E424C}"/>
              </a:ext>
            </a:extLst>
          </p:cNvPr>
          <p:cNvCxnSpPr>
            <a:cxnSpLocks/>
            <a:endCxn id="169" idx="2"/>
          </p:cNvCxnSpPr>
          <p:nvPr/>
        </p:nvCxnSpPr>
        <p:spPr>
          <a:xfrm>
            <a:off x="3887787" y="7828150"/>
            <a:ext cx="0" cy="2378234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연결선 171">
            <a:extLst>
              <a:ext uri="{FF2B5EF4-FFF2-40B4-BE49-F238E27FC236}">
                <a16:creationId xmlns:a16="http://schemas.microsoft.com/office/drawing/2014/main" id="{D778FE4C-2DB1-9EAE-2B27-DD0463A0F572}"/>
              </a:ext>
            </a:extLst>
          </p:cNvPr>
          <p:cNvCxnSpPr/>
          <p:nvPr/>
        </p:nvCxnSpPr>
        <p:spPr>
          <a:xfrm>
            <a:off x="575418" y="7826731"/>
            <a:ext cx="3312369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2EFC9EAF-02B3-098F-FDF9-BCA8177E9DBE}"/>
              </a:ext>
            </a:extLst>
          </p:cNvPr>
          <p:cNvGrpSpPr/>
          <p:nvPr/>
        </p:nvGrpSpPr>
        <p:grpSpPr>
          <a:xfrm>
            <a:off x="3887787" y="7781769"/>
            <a:ext cx="3312368" cy="340459"/>
            <a:chOff x="3300179" y="2720975"/>
            <a:chExt cx="3081411" cy="340459"/>
          </a:xfrm>
        </p:grpSpPr>
        <p:sp>
          <p:nvSpPr>
            <p:cNvPr id="174" name="한쪽 모서리가 잘린 사각형 202">
              <a:extLst>
                <a:ext uri="{FF2B5EF4-FFF2-40B4-BE49-F238E27FC236}">
                  <a16:creationId xmlns:a16="http://schemas.microsoft.com/office/drawing/2014/main" id="{63D8326B-7030-B114-AA71-9EB530DE7881}"/>
                </a:ext>
              </a:extLst>
            </p:cNvPr>
            <p:cNvSpPr/>
            <p:nvPr/>
          </p:nvSpPr>
          <p:spPr>
            <a:xfrm>
              <a:off x="3300180" y="2720975"/>
              <a:ext cx="3081410" cy="259200"/>
            </a:xfrm>
            <a:prstGeom prst="round2SameRect">
              <a:avLst/>
            </a:prstGeom>
            <a:solidFill>
              <a:srgbClr val="003C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8930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1" i="0" u="none" strike="noStrike" kern="0" cap="none" spc="-40" normalizeH="0" baseline="0" noProof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endParaRPr>
            </a:p>
          </p:txBody>
        </p:sp>
        <p:sp>
          <p:nvSpPr>
            <p:cNvPr id="181" name="직각 삼각형 180">
              <a:extLst>
                <a:ext uri="{FF2B5EF4-FFF2-40B4-BE49-F238E27FC236}">
                  <a16:creationId xmlns:a16="http://schemas.microsoft.com/office/drawing/2014/main" id="{6F6A9FA0-DB4E-94F3-A132-2B23CEC1142F}"/>
                </a:ext>
              </a:extLst>
            </p:cNvPr>
            <p:cNvSpPr/>
            <p:nvPr/>
          </p:nvSpPr>
          <p:spPr>
            <a:xfrm flipV="1">
              <a:off x="3300179" y="2963459"/>
              <a:ext cx="124062" cy="97975"/>
            </a:xfrm>
            <a:prstGeom prst="rtTriangle">
              <a:avLst/>
            </a:prstGeom>
            <a:solidFill>
              <a:srgbClr val="003C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8930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1" i="0" u="none" strike="noStrike" kern="0" cap="none" spc="-40" normalizeH="0" baseline="0" noProof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endParaRPr>
            </a:p>
          </p:txBody>
        </p:sp>
        <p:sp>
          <p:nvSpPr>
            <p:cNvPr id="186" name="직사각형 185">
              <a:extLst>
                <a:ext uri="{FF2B5EF4-FFF2-40B4-BE49-F238E27FC236}">
                  <a16:creationId xmlns:a16="http://schemas.microsoft.com/office/drawing/2014/main" id="{72C4685A-3A10-8653-A671-A4B637232E84}"/>
                </a:ext>
              </a:extLst>
            </p:cNvPr>
            <p:cNvSpPr/>
            <p:nvPr/>
          </p:nvSpPr>
          <p:spPr>
            <a:xfrm>
              <a:off x="4294647" y="2765937"/>
              <a:ext cx="1092477" cy="16927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ctr" defTabSz="91421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80000"/>
                <a:buFontTx/>
                <a:buNone/>
                <a:tabLst>
                  <a:tab pos="430283" algn="l"/>
                  <a:tab pos="860568" algn="l"/>
                  <a:tab pos="1293523" algn="l"/>
                  <a:tab pos="1723807" algn="l"/>
                  <a:tab pos="2154091" algn="l"/>
                  <a:tab pos="2585712" algn="l"/>
                  <a:tab pos="3015995" algn="l"/>
                  <a:tab pos="3447614" algn="l"/>
                  <a:tab pos="3879234" algn="l"/>
                  <a:tab pos="4309518" algn="l"/>
                  <a:tab pos="4741137" algn="l"/>
                  <a:tab pos="5603041" algn="l"/>
                  <a:tab pos="6034661" algn="l"/>
                  <a:tab pos="6464944" algn="l"/>
                  <a:tab pos="6895228" algn="l"/>
                  <a:tab pos="7326849" algn="l"/>
                  <a:tab pos="7758468" algn="l"/>
                  <a:tab pos="8188752" algn="l"/>
                  <a:tab pos="8620372" algn="l"/>
                  <a:tab pos="9050656" algn="l"/>
                  <a:tab pos="9482276" algn="l"/>
                  <a:tab pos="9913896" algn="l"/>
                  <a:tab pos="10344179" algn="l"/>
                  <a:tab pos="10775798" algn="l"/>
                  <a:tab pos="11206082" algn="l"/>
                  <a:tab pos="11636366" algn="l"/>
                  <a:tab pos="12069322" algn="l"/>
                  <a:tab pos="12499605" algn="l"/>
                  <a:tab pos="12929890" algn="l"/>
                  <a:tab pos="13361510" algn="l"/>
                  <a:tab pos="13791794" algn="l"/>
                </a:tabLst>
                <a:defRPr/>
              </a:pPr>
              <a:r>
                <a:rPr kumimoji="0" lang="ko-KR" altLang="en-US" sz="1100" b="0" i="0" u="none" strike="noStrike" kern="0" cap="none" spc="-40" normalizeH="0" baseline="0" noProof="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기반 설비 유형별 현황</a:t>
              </a:r>
            </a:p>
          </p:txBody>
        </p:sp>
      </p:grpSp>
      <p:sp>
        <p:nvSpPr>
          <p:cNvPr id="193" name="TextBox 192">
            <a:extLst>
              <a:ext uri="{FF2B5EF4-FFF2-40B4-BE49-F238E27FC236}">
                <a16:creationId xmlns:a16="http://schemas.microsoft.com/office/drawing/2014/main" id="{A68B7CF2-D2EB-1609-C4AE-C9961AF7CA30}"/>
              </a:ext>
            </a:extLst>
          </p:cNvPr>
          <p:cNvSpPr txBox="1"/>
          <p:nvPr/>
        </p:nvSpPr>
        <p:spPr>
          <a:xfrm>
            <a:off x="2942944" y="9927877"/>
            <a:ext cx="808234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ctr" fontAlgn="ctr"/>
            <a:r>
              <a:rPr lang="ko-KR" altLang="en-US" sz="1000" u="none" strike="noStrike" dirty="0"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항온항습기 </a:t>
            </a:r>
            <a:r>
              <a:rPr lang="en-US" altLang="ko-KR" sz="1000" u="none" strike="noStrike" dirty="0">
                <a:effectLst/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22%</a:t>
            </a:r>
            <a:endParaRPr lang="en-US" altLang="ko-KR" sz="1000" b="0" i="0" u="none" strike="noStrike" dirty="0">
              <a:solidFill>
                <a:srgbClr val="000000"/>
              </a:solidFill>
              <a:effectLst/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95" name="자유형: 도형 194">
            <a:extLst>
              <a:ext uri="{FF2B5EF4-FFF2-40B4-BE49-F238E27FC236}">
                <a16:creationId xmlns:a16="http://schemas.microsoft.com/office/drawing/2014/main" id="{AE3C8174-62F1-E8FA-7573-AF088E236A19}"/>
              </a:ext>
            </a:extLst>
          </p:cNvPr>
          <p:cNvSpPr/>
          <p:nvPr/>
        </p:nvSpPr>
        <p:spPr>
          <a:xfrm>
            <a:off x="571500" y="4257675"/>
            <a:ext cx="962025" cy="104775"/>
          </a:xfrm>
          <a:custGeom>
            <a:avLst/>
            <a:gdLst>
              <a:gd name="connsiteX0" fmla="*/ 0 w 962025"/>
              <a:gd name="connsiteY0" fmla="*/ 104775 h 104775"/>
              <a:gd name="connsiteX1" fmla="*/ 847725 w 962025"/>
              <a:gd name="connsiteY1" fmla="*/ 104775 h 104775"/>
              <a:gd name="connsiteX2" fmla="*/ 962025 w 962025"/>
              <a:gd name="connsiteY2" fmla="*/ 0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2025" h="104775">
                <a:moveTo>
                  <a:pt x="0" y="104775"/>
                </a:moveTo>
                <a:lnTo>
                  <a:pt x="847725" y="104775"/>
                </a:lnTo>
                <a:lnTo>
                  <a:pt x="962025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8" name="자유형: 도형 197">
            <a:extLst>
              <a:ext uri="{FF2B5EF4-FFF2-40B4-BE49-F238E27FC236}">
                <a16:creationId xmlns:a16="http://schemas.microsoft.com/office/drawing/2014/main" id="{D22CAFEF-BD7B-6A67-103A-9FE4D6F2CA86}"/>
              </a:ext>
            </a:extLst>
          </p:cNvPr>
          <p:cNvSpPr/>
          <p:nvPr/>
        </p:nvSpPr>
        <p:spPr>
          <a:xfrm>
            <a:off x="1381125" y="2552700"/>
            <a:ext cx="923925" cy="95250"/>
          </a:xfrm>
          <a:custGeom>
            <a:avLst/>
            <a:gdLst>
              <a:gd name="connsiteX0" fmla="*/ 0 w 923925"/>
              <a:gd name="connsiteY0" fmla="*/ 0 h 95250"/>
              <a:gd name="connsiteX1" fmla="*/ 885825 w 923925"/>
              <a:gd name="connsiteY1" fmla="*/ 0 h 95250"/>
              <a:gd name="connsiteX2" fmla="*/ 923925 w 923925"/>
              <a:gd name="connsiteY2" fmla="*/ 95250 h 95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23925" h="95250">
                <a:moveTo>
                  <a:pt x="0" y="0"/>
                </a:moveTo>
                <a:lnTo>
                  <a:pt x="885825" y="0"/>
                </a:lnTo>
                <a:lnTo>
                  <a:pt x="923925" y="9525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9" name="자유형: 도형 198">
            <a:extLst>
              <a:ext uri="{FF2B5EF4-FFF2-40B4-BE49-F238E27FC236}">
                <a16:creationId xmlns:a16="http://schemas.microsoft.com/office/drawing/2014/main" id="{84643F20-DB87-AA1C-C64D-A116651C35B5}"/>
              </a:ext>
            </a:extLst>
          </p:cNvPr>
          <p:cNvSpPr/>
          <p:nvPr/>
        </p:nvSpPr>
        <p:spPr>
          <a:xfrm>
            <a:off x="2590800" y="2543175"/>
            <a:ext cx="576263" cy="209550"/>
          </a:xfrm>
          <a:custGeom>
            <a:avLst/>
            <a:gdLst>
              <a:gd name="connsiteX0" fmla="*/ 576263 w 576263"/>
              <a:gd name="connsiteY0" fmla="*/ 0 h 209550"/>
              <a:gd name="connsiteX1" fmla="*/ 140494 w 576263"/>
              <a:gd name="connsiteY1" fmla="*/ 0 h 209550"/>
              <a:gd name="connsiteX2" fmla="*/ 0 w 576263"/>
              <a:gd name="connsiteY2" fmla="*/ 20955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76263" h="209550">
                <a:moveTo>
                  <a:pt x="576263" y="0"/>
                </a:moveTo>
                <a:lnTo>
                  <a:pt x="140494" y="0"/>
                </a:lnTo>
                <a:lnTo>
                  <a:pt x="0" y="20955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0" name="자유형: 도형 199">
            <a:extLst>
              <a:ext uri="{FF2B5EF4-FFF2-40B4-BE49-F238E27FC236}">
                <a16:creationId xmlns:a16="http://schemas.microsoft.com/office/drawing/2014/main" id="{5FA00059-45FF-3D28-F1C1-C6D24EFB5C8D}"/>
              </a:ext>
            </a:extLst>
          </p:cNvPr>
          <p:cNvSpPr/>
          <p:nvPr/>
        </p:nvSpPr>
        <p:spPr>
          <a:xfrm>
            <a:off x="571500" y="5397500"/>
            <a:ext cx="1016000" cy="114300"/>
          </a:xfrm>
          <a:custGeom>
            <a:avLst/>
            <a:gdLst>
              <a:gd name="connsiteX0" fmla="*/ 0 w 1016000"/>
              <a:gd name="connsiteY0" fmla="*/ 0 h 114300"/>
              <a:gd name="connsiteX1" fmla="*/ 876300 w 1016000"/>
              <a:gd name="connsiteY1" fmla="*/ 0 h 114300"/>
              <a:gd name="connsiteX2" fmla="*/ 1016000 w 1016000"/>
              <a:gd name="connsiteY2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16000" h="114300">
                <a:moveTo>
                  <a:pt x="0" y="0"/>
                </a:moveTo>
                <a:lnTo>
                  <a:pt x="876300" y="0"/>
                </a:lnTo>
                <a:lnTo>
                  <a:pt x="1016000" y="11430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2" name="자유형: 도형 201">
            <a:extLst>
              <a:ext uri="{FF2B5EF4-FFF2-40B4-BE49-F238E27FC236}">
                <a16:creationId xmlns:a16="http://schemas.microsoft.com/office/drawing/2014/main" id="{E95F23FD-2B86-66D8-20D6-AFE2E37BCDC0}"/>
              </a:ext>
            </a:extLst>
          </p:cNvPr>
          <p:cNvSpPr/>
          <p:nvPr/>
        </p:nvSpPr>
        <p:spPr>
          <a:xfrm>
            <a:off x="2964656" y="5810250"/>
            <a:ext cx="778669" cy="104775"/>
          </a:xfrm>
          <a:custGeom>
            <a:avLst/>
            <a:gdLst>
              <a:gd name="connsiteX0" fmla="*/ 778669 w 778669"/>
              <a:gd name="connsiteY0" fmla="*/ 0 h 104775"/>
              <a:gd name="connsiteX1" fmla="*/ 211932 w 778669"/>
              <a:gd name="connsiteY1" fmla="*/ 0 h 104775"/>
              <a:gd name="connsiteX2" fmla="*/ 0 w 778669"/>
              <a:gd name="connsiteY2" fmla="*/ 104775 h 104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8669" h="104775">
                <a:moveTo>
                  <a:pt x="778669" y="0"/>
                </a:moveTo>
                <a:lnTo>
                  <a:pt x="211932" y="0"/>
                </a:lnTo>
                <a:lnTo>
                  <a:pt x="0" y="104775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4" name="자유형: 도형 203">
            <a:extLst>
              <a:ext uri="{FF2B5EF4-FFF2-40B4-BE49-F238E27FC236}">
                <a16:creationId xmlns:a16="http://schemas.microsoft.com/office/drawing/2014/main" id="{F385920F-6C2B-5243-A168-3D43C5C95F2C}"/>
              </a:ext>
            </a:extLst>
          </p:cNvPr>
          <p:cNvSpPr/>
          <p:nvPr/>
        </p:nvSpPr>
        <p:spPr>
          <a:xfrm>
            <a:off x="3028950" y="6141244"/>
            <a:ext cx="130969" cy="11906"/>
          </a:xfrm>
          <a:custGeom>
            <a:avLst/>
            <a:gdLst>
              <a:gd name="connsiteX0" fmla="*/ 0 w 130969"/>
              <a:gd name="connsiteY0" fmla="*/ 11906 h 11906"/>
              <a:gd name="connsiteX1" fmla="*/ 130969 w 130969"/>
              <a:gd name="connsiteY1" fmla="*/ 0 h 119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0969" h="11906">
                <a:moveTo>
                  <a:pt x="0" y="11906"/>
                </a:moveTo>
                <a:lnTo>
                  <a:pt x="130969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5" name="자유형: 도형 204">
            <a:extLst>
              <a:ext uri="{FF2B5EF4-FFF2-40B4-BE49-F238E27FC236}">
                <a16:creationId xmlns:a16="http://schemas.microsoft.com/office/drawing/2014/main" id="{88D76996-F5DE-91DC-9455-62E182870D04}"/>
              </a:ext>
            </a:extLst>
          </p:cNvPr>
          <p:cNvSpPr/>
          <p:nvPr/>
        </p:nvSpPr>
        <p:spPr>
          <a:xfrm>
            <a:off x="3028950" y="6424613"/>
            <a:ext cx="228600" cy="0"/>
          </a:xfrm>
          <a:custGeom>
            <a:avLst/>
            <a:gdLst>
              <a:gd name="connsiteX0" fmla="*/ 0 w 228600"/>
              <a:gd name="connsiteY0" fmla="*/ 0 h 0"/>
              <a:gd name="connsiteX1" fmla="*/ 228600 w 2286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8600">
                <a:moveTo>
                  <a:pt x="0" y="0"/>
                </a:moveTo>
                <a:lnTo>
                  <a:pt x="228600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7" name="자유형: 도형 206">
            <a:extLst>
              <a:ext uri="{FF2B5EF4-FFF2-40B4-BE49-F238E27FC236}">
                <a16:creationId xmlns:a16="http://schemas.microsoft.com/office/drawing/2014/main" id="{C0CD7974-CCEB-DA8A-F144-0EECE8FA7D8F}"/>
              </a:ext>
            </a:extLst>
          </p:cNvPr>
          <p:cNvSpPr/>
          <p:nvPr/>
        </p:nvSpPr>
        <p:spPr>
          <a:xfrm>
            <a:off x="585788" y="8096250"/>
            <a:ext cx="1152525" cy="52388"/>
          </a:xfrm>
          <a:custGeom>
            <a:avLst/>
            <a:gdLst>
              <a:gd name="connsiteX0" fmla="*/ 0 w 1152525"/>
              <a:gd name="connsiteY0" fmla="*/ 0 h 52388"/>
              <a:gd name="connsiteX1" fmla="*/ 1081087 w 1152525"/>
              <a:gd name="connsiteY1" fmla="*/ 0 h 52388"/>
              <a:gd name="connsiteX2" fmla="*/ 1152525 w 1152525"/>
              <a:gd name="connsiteY2" fmla="*/ 52388 h 5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2525" h="52388">
                <a:moveTo>
                  <a:pt x="0" y="0"/>
                </a:moveTo>
                <a:lnTo>
                  <a:pt x="1081087" y="0"/>
                </a:lnTo>
                <a:lnTo>
                  <a:pt x="1152525" y="52388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9" name="자유형: 도형 208">
            <a:extLst>
              <a:ext uri="{FF2B5EF4-FFF2-40B4-BE49-F238E27FC236}">
                <a16:creationId xmlns:a16="http://schemas.microsoft.com/office/drawing/2014/main" id="{61C18178-7648-3F51-3DDF-CCE767C415D9}"/>
              </a:ext>
            </a:extLst>
          </p:cNvPr>
          <p:cNvSpPr/>
          <p:nvPr/>
        </p:nvSpPr>
        <p:spPr>
          <a:xfrm>
            <a:off x="2533650" y="9786938"/>
            <a:ext cx="1200150" cy="100012"/>
          </a:xfrm>
          <a:custGeom>
            <a:avLst/>
            <a:gdLst>
              <a:gd name="connsiteX0" fmla="*/ 1200150 w 1200150"/>
              <a:gd name="connsiteY0" fmla="*/ 100012 h 100012"/>
              <a:gd name="connsiteX1" fmla="*/ 147638 w 1200150"/>
              <a:gd name="connsiteY1" fmla="*/ 100012 h 100012"/>
              <a:gd name="connsiteX2" fmla="*/ 0 w 1200150"/>
              <a:gd name="connsiteY2" fmla="*/ 0 h 1000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00150" h="100012">
                <a:moveTo>
                  <a:pt x="1200150" y="100012"/>
                </a:moveTo>
                <a:lnTo>
                  <a:pt x="147638" y="100012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0" name="자유형: 도형 209">
            <a:extLst>
              <a:ext uri="{FF2B5EF4-FFF2-40B4-BE49-F238E27FC236}">
                <a16:creationId xmlns:a16="http://schemas.microsoft.com/office/drawing/2014/main" id="{3B76FB32-E54E-E413-6978-401CD043FF5B}"/>
              </a:ext>
            </a:extLst>
          </p:cNvPr>
          <p:cNvSpPr/>
          <p:nvPr/>
        </p:nvSpPr>
        <p:spPr>
          <a:xfrm>
            <a:off x="2952750" y="9324975"/>
            <a:ext cx="785813" cy="0"/>
          </a:xfrm>
          <a:custGeom>
            <a:avLst/>
            <a:gdLst>
              <a:gd name="connsiteX0" fmla="*/ 785813 w 785813"/>
              <a:gd name="connsiteY0" fmla="*/ 0 h 0"/>
              <a:gd name="connsiteX1" fmla="*/ 0 w 78581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85813">
                <a:moveTo>
                  <a:pt x="785813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3" name="자유형: 도형 212">
            <a:extLst>
              <a:ext uri="{FF2B5EF4-FFF2-40B4-BE49-F238E27FC236}">
                <a16:creationId xmlns:a16="http://schemas.microsoft.com/office/drawing/2014/main" id="{1C3ACF44-9F48-A292-8662-F08B3954257F}"/>
              </a:ext>
            </a:extLst>
          </p:cNvPr>
          <p:cNvSpPr/>
          <p:nvPr/>
        </p:nvSpPr>
        <p:spPr>
          <a:xfrm>
            <a:off x="2771775" y="8105775"/>
            <a:ext cx="971550" cy="214313"/>
          </a:xfrm>
          <a:custGeom>
            <a:avLst/>
            <a:gdLst>
              <a:gd name="connsiteX0" fmla="*/ 971550 w 971550"/>
              <a:gd name="connsiteY0" fmla="*/ 0 h 214313"/>
              <a:gd name="connsiteX1" fmla="*/ 257175 w 971550"/>
              <a:gd name="connsiteY1" fmla="*/ 0 h 214313"/>
              <a:gd name="connsiteX2" fmla="*/ 0 w 971550"/>
              <a:gd name="connsiteY2" fmla="*/ 214313 h 2143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1550" h="214313">
                <a:moveTo>
                  <a:pt x="971550" y="0"/>
                </a:moveTo>
                <a:lnTo>
                  <a:pt x="257175" y="0"/>
                </a:lnTo>
                <a:lnTo>
                  <a:pt x="0" y="214313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9" name="자유형: 도형 218">
            <a:extLst>
              <a:ext uri="{FF2B5EF4-FFF2-40B4-BE49-F238E27FC236}">
                <a16:creationId xmlns:a16="http://schemas.microsoft.com/office/drawing/2014/main" id="{DB235E35-958A-0E90-4CAC-505FA9543B69}"/>
              </a:ext>
            </a:extLst>
          </p:cNvPr>
          <p:cNvSpPr/>
          <p:nvPr/>
        </p:nvSpPr>
        <p:spPr>
          <a:xfrm>
            <a:off x="581025" y="9467850"/>
            <a:ext cx="771525" cy="209550"/>
          </a:xfrm>
          <a:custGeom>
            <a:avLst/>
            <a:gdLst>
              <a:gd name="connsiteX0" fmla="*/ 0 w 771525"/>
              <a:gd name="connsiteY0" fmla="*/ 209550 h 209550"/>
              <a:gd name="connsiteX1" fmla="*/ 476250 w 771525"/>
              <a:gd name="connsiteY1" fmla="*/ 209550 h 209550"/>
              <a:gd name="connsiteX2" fmla="*/ 771525 w 771525"/>
              <a:gd name="connsiteY2" fmla="*/ 0 h 2095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71525" h="209550">
                <a:moveTo>
                  <a:pt x="0" y="209550"/>
                </a:moveTo>
                <a:lnTo>
                  <a:pt x="476250" y="209550"/>
                </a:lnTo>
                <a:lnTo>
                  <a:pt x="771525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0" name="자유형: 도형 219">
            <a:extLst>
              <a:ext uri="{FF2B5EF4-FFF2-40B4-BE49-F238E27FC236}">
                <a16:creationId xmlns:a16="http://schemas.microsoft.com/office/drawing/2014/main" id="{DFD068E6-11D0-C277-2D3A-DDD4F426AB17}"/>
              </a:ext>
            </a:extLst>
          </p:cNvPr>
          <p:cNvSpPr/>
          <p:nvPr/>
        </p:nvSpPr>
        <p:spPr>
          <a:xfrm>
            <a:off x="2952750" y="6607175"/>
            <a:ext cx="787400" cy="85725"/>
          </a:xfrm>
          <a:custGeom>
            <a:avLst/>
            <a:gdLst>
              <a:gd name="connsiteX0" fmla="*/ 787400 w 787400"/>
              <a:gd name="connsiteY0" fmla="*/ 85725 h 85725"/>
              <a:gd name="connsiteX1" fmla="*/ 136525 w 787400"/>
              <a:gd name="connsiteY1" fmla="*/ 85725 h 85725"/>
              <a:gd name="connsiteX2" fmla="*/ 0 w 787400"/>
              <a:gd name="connsiteY2" fmla="*/ 0 h 85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87400" h="85725">
                <a:moveTo>
                  <a:pt x="787400" y="85725"/>
                </a:moveTo>
                <a:lnTo>
                  <a:pt x="136525" y="85725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1" name="자유형: 도형 220">
            <a:extLst>
              <a:ext uri="{FF2B5EF4-FFF2-40B4-BE49-F238E27FC236}">
                <a16:creationId xmlns:a16="http://schemas.microsoft.com/office/drawing/2014/main" id="{F4551656-2B87-99FC-EB0A-1819D6813776}"/>
              </a:ext>
            </a:extLst>
          </p:cNvPr>
          <p:cNvSpPr/>
          <p:nvPr/>
        </p:nvSpPr>
        <p:spPr>
          <a:xfrm>
            <a:off x="2991678" y="3260035"/>
            <a:ext cx="765313" cy="0"/>
          </a:xfrm>
          <a:custGeom>
            <a:avLst/>
            <a:gdLst>
              <a:gd name="connsiteX0" fmla="*/ 765313 w 765313"/>
              <a:gd name="connsiteY0" fmla="*/ 0 h 0"/>
              <a:gd name="connsiteX1" fmla="*/ 0 w 76531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65313">
                <a:moveTo>
                  <a:pt x="765313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22" name="그룹 221">
            <a:extLst>
              <a:ext uri="{FF2B5EF4-FFF2-40B4-BE49-F238E27FC236}">
                <a16:creationId xmlns:a16="http://schemas.microsoft.com/office/drawing/2014/main" id="{2D9205CD-DE2F-0694-0964-D06198314182}"/>
              </a:ext>
            </a:extLst>
          </p:cNvPr>
          <p:cNvGrpSpPr/>
          <p:nvPr/>
        </p:nvGrpSpPr>
        <p:grpSpPr>
          <a:xfrm>
            <a:off x="5990612" y="2843356"/>
            <a:ext cx="1063987" cy="270935"/>
            <a:chOff x="8054932" y="2213496"/>
            <a:chExt cx="1063987" cy="270935"/>
          </a:xfrm>
        </p:grpSpPr>
        <p:grpSp>
          <p:nvGrpSpPr>
            <p:cNvPr id="223" name="그룹 222">
              <a:extLst>
                <a:ext uri="{FF2B5EF4-FFF2-40B4-BE49-F238E27FC236}">
                  <a16:creationId xmlns:a16="http://schemas.microsoft.com/office/drawing/2014/main" id="{7C2A976A-8BC0-3080-1203-B9AA2273A21D}"/>
                </a:ext>
              </a:extLst>
            </p:cNvPr>
            <p:cNvGrpSpPr/>
            <p:nvPr/>
          </p:nvGrpSpPr>
          <p:grpSpPr>
            <a:xfrm>
              <a:off x="8054932" y="2213496"/>
              <a:ext cx="1063987" cy="138499"/>
              <a:chOff x="8054932" y="2161826"/>
              <a:chExt cx="1063987" cy="138499"/>
            </a:xfrm>
          </p:grpSpPr>
          <p:sp>
            <p:nvSpPr>
              <p:cNvPr id="227" name="직사각형 226">
                <a:extLst>
                  <a:ext uri="{FF2B5EF4-FFF2-40B4-BE49-F238E27FC236}">
                    <a16:creationId xmlns:a16="http://schemas.microsoft.com/office/drawing/2014/main" id="{74B4CE15-2773-0D02-4339-FEE4E778C328}"/>
                  </a:ext>
                </a:extLst>
              </p:cNvPr>
              <p:cNvSpPr/>
              <p:nvPr/>
            </p:nvSpPr>
            <p:spPr>
              <a:xfrm>
                <a:off x="8054932" y="2192828"/>
                <a:ext cx="45719" cy="45719"/>
              </a:xfrm>
              <a:prstGeom prst="rect">
                <a:avLst/>
              </a:prstGeom>
              <a:solidFill>
                <a:srgbClr val="E6E7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B60FDC5E-5C82-8808-03A3-F5CA2A5E8345}"/>
                  </a:ext>
                </a:extLst>
              </p:cNvPr>
              <p:cNvSpPr txBox="1"/>
              <p:nvPr/>
            </p:nvSpPr>
            <p:spPr>
              <a:xfrm>
                <a:off x="8152308" y="2161826"/>
                <a:ext cx="966611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25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년 총 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85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+16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 </a:t>
                </a:r>
              </a:p>
            </p:txBody>
          </p:sp>
        </p:grpSp>
        <p:grpSp>
          <p:nvGrpSpPr>
            <p:cNvPr id="224" name="그룹 223">
              <a:extLst>
                <a:ext uri="{FF2B5EF4-FFF2-40B4-BE49-F238E27FC236}">
                  <a16:creationId xmlns:a16="http://schemas.microsoft.com/office/drawing/2014/main" id="{FFFE853E-ED96-72A7-0462-E6F5C7BADFDC}"/>
                </a:ext>
              </a:extLst>
            </p:cNvPr>
            <p:cNvGrpSpPr/>
            <p:nvPr/>
          </p:nvGrpSpPr>
          <p:grpSpPr>
            <a:xfrm>
              <a:off x="8054932" y="2345932"/>
              <a:ext cx="1030324" cy="138499"/>
              <a:chOff x="8054932" y="2345932"/>
              <a:chExt cx="1030324" cy="138499"/>
            </a:xfrm>
          </p:grpSpPr>
          <p:sp>
            <p:nvSpPr>
              <p:cNvPr id="225" name="직사각형 224">
                <a:extLst>
                  <a:ext uri="{FF2B5EF4-FFF2-40B4-BE49-F238E27FC236}">
                    <a16:creationId xmlns:a16="http://schemas.microsoft.com/office/drawing/2014/main" id="{6859280A-26A9-B214-F729-1A6F21A710F7}"/>
                  </a:ext>
                </a:extLst>
              </p:cNvPr>
              <p:cNvSpPr/>
              <p:nvPr/>
            </p:nvSpPr>
            <p:spPr>
              <a:xfrm>
                <a:off x="8054932" y="2376934"/>
                <a:ext cx="45719" cy="45719"/>
              </a:xfrm>
              <a:prstGeom prst="rect">
                <a:avLst/>
              </a:prstGeom>
              <a:solidFill>
                <a:srgbClr val="426F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EAE573B6-2FE6-27AA-9236-6FBDEF8F6535}"/>
                  </a:ext>
                </a:extLst>
              </p:cNvPr>
              <p:cNvSpPr txBox="1"/>
              <p:nvPr/>
            </p:nvSpPr>
            <p:spPr>
              <a:xfrm>
                <a:off x="8152308" y="2345932"/>
                <a:ext cx="932948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26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년 총 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85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+16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</a:t>
                </a:r>
              </a:p>
            </p:txBody>
          </p:sp>
        </p:grpSp>
      </p:grpSp>
      <p:grpSp>
        <p:nvGrpSpPr>
          <p:cNvPr id="229" name="그룹 228">
            <a:extLst>
              <a:ext uri="{FF2B5EF4-FFF2-40B4-BE49-F238E27FC236}">
                <a16:creationId xmlns:a16="http://schemas.microsoft.com/office/drawing/2014/main" id="{8C194EDC-ACF7-F601-4641-CF0F312B3843}"/>
              </a:ext>
            </a:extLst>
          </p:cNvPr>
          <p:cNvGrpSpPr/>
          <p:nvPr/>
        </p:nvGrpSpPr>
        <p:grpSpPr>
          <a:xfrm>
            <a:off x="3989323" y="5508625"/>
            <a:ext cx="829949" cy="270935"/>
            <a:chOff x="8054932" y="2213496"/>
            <a:chExt cx="829949" cy="270935"/>
          </a:xfrm>
        </p:grpSpPr>
        <p:grpSp>
          <p:nvGrpSpPr>
            <p:cNvPr id="230" name="그룹 229">
              <a:extLst>
                <a:ext uri="{FF2B5EF4-FFF2-40B4-BE49-F238E27FC236}">
                  <a16:creationId xmlns:a16="http://schemas.microsoft.com/office/drawing/2014/main" id="{60854E53-DFE9-3D21-F0C9-7A713B055C9B}"/>
                </a:ext>
              </a:extLst>
            </p:cNvPr>
            <p:cNvGrpSpPr/>
            <p:nvPr/>
          </p:nvGrpSpPr>
          <p:grpSpPr>
            <a:xfrm>
              <a:off x="8054932" y="2213496"/>
              <a:ext cx="829949" cy="138499"/>
              <a:chOff x="8054932" y="2161826"/>
              <a:chExt cx="829949" cy="138499"/>
            </a:xfrm>
          </p:grpSpPr>
          <p:sp>
            <p:nvSpPr>
              <p:cNvPr id="234" name="직사각형 233">
                <a:extLst>
                  <a:ext uri="{FF2B5EF4-FFF2-40B4-BE49-F238E27FC236}">
                    <a16:creationId xmlns:a16="http://schemas.microsoft.com/office/drawing/2014/main" id="{00593394-215C-42BE-45D7-804E30E1AC49}"/>
                  </a:ext>
                </a:extLst>
              </p:cNvPr>
              <p:cNvSpPr/>
              <p:nvPr/>
            </p:nvSpPr>
            <p:spPr>
              <a:xfrm>
                <a:off x="8054932" y="2192828"/>
                <a:ext cx="45719" cy="45719"/>
              </a:xfrm>
              <a:prstGeom prst="rect">
                <a:avLst/>
              </a:prstGeom>
              <a:solidFill>
                <a:srgbClr val="E6E7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7E4AC902-4C53-4951-9954-6D710E791DDF}"/>
                  </a:ext>
                </a:extLst>
              </p:cNvPr>
              <p:cNvSpPr txBox="1"/>
              <p:nvPr/>
            </p:nvSpPr>
            <p:spPr>
              <a:xfrm>
                <a:off x="8152308" y="2161826"/>
                <a:ext cx="73257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25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년 총 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711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 </a:t>
                </a:r>
              </a:p>
            </p:txBody>
          </p:sp>
        </p:grpSp>
        <p:grpSp>
          <p:nvGrpSpPr>
            <p:cNvPr id="231" name="그룹 230">
              <a:extLst>
                <a:ext uri="{FF2B5EF4-FFF2-40B4-BE49-F238E27FC236}">
                  <a16:creationId xmlns:a16="http://schemas.microsoft.com/office/drawing/2014/main" id="{E63EE38A-3D90-D97D-598E-78EF270B843C}"/>
                </a:ext>
              </a:extLst>
            </p:cNvPr>
            <p:cNvGrpSpPr/>
            <p:nvPr/>
          </p:nvGrpSpPr>
          <p:grpSpPr>
            <a:xfrm>
              <a:off x="8054932" y="2345932"/>
              <a:ext cx="829949" cy="138499"/>
              <a:chOff x="8054932" y="2345932"/>
              <a:chExt cx="829949" cy="138499"/>
            </a:xfrm>
          </p:grpSpPr>
          <p:sp>
            <p:nvSpPr>
              <p:cNvPr id="232" name="직사각형 231">
                <a:extLst>
                  <a:ext uri="{FF2B5EF4-FFF2-40B4-BE49-F238E27FC236}">
                    <a16:creationId xmlns:a16="http://schemas.microsoft.com/office/drawing/2014/main" id="{67A71235-7FAC-9DCE-F1D4-87AFFDC7C6CF}"/>
                  </a:ext>
                </a:extLst>
              </p:cNvPr>
              <p:cNvSpPr/>
              <p:nvPr/>
            </p:nvSpPr>
            <p:spPr>
              <a:xfrm>
                <a:off x="8054932" y="2376934"/>
                <a:ext cx="45719" cy="45719"/>
              </a:xfrm>
              <a:prstGeom prst="rect">
                <a:avLst/>
              </a:prstGeom>
              <a:solidFill>
                <a:srgbClr val="426F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33" name="TextBox 232">
                <a:extLst>
                  <a:ext uri="{FF2B5EF4-FFF2-40B4-BE49-F238E27FC236}">
                    <a16:creationId xmlns:a16="http://schemas.microsoft.com/office/drawing/2014/main" id="{BDA24488-CE55-5064-0E35-F41E720474DB}"/>
                  </a:ext>
                </a:extLst>
              </p:cNvPr>
              <p:cNvSpPr txBox="1"/>
              <p:nvPr/>
            </p:nvSpPr>
            <p:spPr>
              <a:xfrm>
                <a:off x="8152308" y="2345932"/>
                <a:ext cx="732573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26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년 총 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707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 </a:t>
                </a:r>
              </a:p>
            </p:txBody>
          </p:sp>
        </p:grpSp>
      </p:grpSp>
      <p:grpSp>
        <p:nvGrpSpPr>
          <p:cNvPr id="236" name="그룹 235">
            <a:extLst>
              <a:ext uri="{FF2B5EF4-FFF2-40B4-BE49-F238E27FC236}">
                <a16:creationId xmlns:a16="http://schemas.microsoft.com/office/drawing/2014/main" id="{96DB30A2-D062-3774-89CD-370F9CE9E85B}"/>
              </a:ext>
            </a:extLst>
          </p:cNvPr>
          <p:cNvGrpSpPr/>
          <p:nvPr/>
        </p:nvGrpSpPr>
        <p:grpSpPr>
          <a:xfrm>
            <a:off x="3989323" y="8145425"/>
            <a:ext cx="764225" cy="270935"/>
            <a:chOff x="8054932" y="2213496"/>
            <a:chExt cx="764225" cy="270935"/>
          </a:xfrm>
        </p:grpSpPr>
        <p:grpSp>
          <p:nvGrpSpPr>
            <p:cNvPr id="237" name="그룹 236">
              <a:extLst>
                <a:ext uri="{FF2B5EF4-FFF2-40B4-BE49-F238E27FC236}">
                  <a16:creationId xmlns:a16="http://schemas.microsoft.com/office/drawing/2014/main" id="{69B60368-ABEA-9B46-DE80-4B1985CE2C87}"/>
                </a:ext>
              </a:extLst>
            </p:cNvPr>
            <p:cNvGrpSpPr/>
            <p:nvPr/>
          </p:nvGrpSpPr>
          <p:grpSpPr>
            <a:xfrm>
              <a:off x="8054932" y="2213496"/>
              <a:ext cx="764225" cy="138499"/>
              <a:chOff x="8054932" y="2161826"/>
              <a:chExt cx="764225" cy="138499"/>
            </a:xfrm>
          </p:grpSpPr>
          <p:sp>
            <p:nvSpPr>
              <p:cNvPr id="241" name="직사각형 240">
                <a:extLst>
                  <a:ext uri="{FF2B5EF4-FFF2-40B4-BE49-F238E27FC236}">
                    <a16:creationId xmlns:a16="http://schemas.microsoft.com/office/drawing/2014/main" id="{A9FCD52F-E2CF-0833-A908-2638ACE73B77}"/>
                  </a:ext>
                </a:extLst>
              </p:cNvPr>
              <p:cNvSpPr/>
              <p:nvPr/>
            </p:nvSpPr>
            <p:spPr>
              <a:xfrm>
                <a:off x="8054932" y="2192828"/>
                <a:ext cx="45719" cy="45719"/>
              </a:xfrm>
              <a:prstGeom prst="rect">
                <a:avLst/>
              </a:prstGeom>
              <a:solidFill>
                <a:srgbClr val="E6E7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42" name="TextBox 241">
                <a:extLst>
                  <a:ext uri="{FF2B5EF4-FFF2-40B4-BE49-F238E27FC236}">
                    <a16:creationId xmlns:a16="http://schemas.microsoft.com/office/drawing/2014/main" id="{E7E36B9C-24BE-CA11-8C22-C1636A5F2C31}"/>
                  </a:ext>
                </a:extLst>
              </p:cNvPr>
              <p:cNvSpPr txBox="1"/>
              <p:nvPr/>
            </p:nvSpPr>
            <p:spPr>
              <a:xfrm>
                <a:off x="8152308" y="2161826"/>
                <a:ext cx="66684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25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년 총 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74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 </a:t>
                </a:r>
              </a:p>
            </p:txBody>
          </p:sp>
        </p:grpSp>
        <p:grpSp>
          <p:nvGrpSpPr>
            <p:cNvPr id="238" name="그룹 237">
              <a:extLst>
                <a:ext uri="{FF2B5EF4-FFF2-40B4-BE49-F238E27FC236}">
                  <a16:creationId xmlns:a16="http://schemas.microsoft.com/office/drawing/2014/main" id="{1CAB8938-F07B-584A-3FD7-03288378671A}"/>
                </a:ext>
              </a:extLst>
            </p:cNvPr>
            <p:cNvGrpSpPr/>
            <p:nvPr/>
          </p:nvGrpSpPr>
          <p:grpSpPr>
            <a:xfrm>
              <a:off x="8054932" y="2345932"/>
              <a:ext cx="764225" cy="138499"/>
              <a:chOff x="8054932" y="2345932"/>
              <a:chExt cx="764225" cy="138499"/>
            </a:xfrm>
          </p:grpSpPr>
          <p:sp>
            <p:nvSpPr>
              <p:cNvPr id="239" name="직사각형 238">
                <a:extLst>
                  <a:ext uri="{FF2B5EF4-FFF2-40B4-BE49-F238E27FC236}">
                    <a16:creationId xmlns:a16="http://schemas.microsoft.com/office/drawing/2014/main" id="{F2A064DB-D406-5C07-A24C-69CFF6B46E41}"/>
                  </a:ext>
                </a:extLst>
              </p:cNvPr>
              <p:cNvSpPr/>
              <p:nvPr/>
            </p:nvSpPr>
            <p:spPr>
              <a:xfrm>
                <a:off x="8054932" y="2376934"/>
                <a:ext cx="45719" cy="45719"/>
              </a:xfrm>
              <a:prstGeom prst="rect">
                <a:avLst/>
              </a:prstGeom>
              <a:solidFill>
                <a:srgbClr val="426F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40" name="TextBox 239">
                <a:extLst>
                  <a:ext uri="{FF2B5EF4-FFF2-40B4-BE49-F238E27FC236}">
                    <a16:creationId xmlns:a16="http://schemas.microsoft.com/office/drawing/2014/main" id="{C3B06775-44CC-9BD5-C01B-24552954A9FB}"/>
                  </a:ext>
                </a:extLst>
              </p:cNvPr>
              <p:cNvSpPr txBox="1"/>
              <p:nvPr/>
            </p:nvSpPr>
            <p:spPr>
              <a:xfrm>
                <a:off x="8152308" y="2345932"/>
                <a:ext cx="666849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26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년 총 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74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12174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9963C7-412B-1B20-0BCE-D48040F87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자유형: 도형 1">
            <a:extLst>
              <a:ext uri="{FF2B5EF4-FFF2-40B4-BE49-F238E27FC236}">
                <a16:creationId xmlns:a16="http://schemas.microsoft.com/office/drawing/2014/main" id="{FE906CC9-C4D8-93D3-6349-F4BAAAC68ABC}"/>
              </a:ext>
            </a:extLst>
          </p:cNvPr>
          <p:cNvSpPr/>
          <p:nvPr/>
        </p:nvSpPr>
        <p:spPr>
          <a:xfrm flipV="1">
            <a:off x="3025140" y="8833750"/>
            <a:ext cx="235839" cy="467669"/>
          </a:xfrm>
          <a:custGeom>
            <a:avLst/>
            <a:gdLst>
              <a:gd name="connsiteX0" fmla="*/ 127000 w 127000"/>
              <a:gd name="connsiteY0" fmla="*/ 0 h 28575"/>
              <a:gd name="connsiteX1" fmla="*/ 0 w 127000"/>
              <a:gd name="connsiteY1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0" h="28575">
                <a:moveTo>
                  <a:pt x="127000" y="0"/>
                </a:moveTo>
                <a:lnTo>
                  <a:pt x="0" y="28575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7" name="자유형: 도형 286">
            <a:extLst>
              <a:ext uri="{FF2B5EF4-FFF2-40B4-BE49-F238E27FC236}">
                <a16:creationId xmlns:a16="http://schemas.microsoft.com/office/drawing/2014/main" id="{9A11F461-1C67-7228-D831-559BB5C1F3F2}"/>
              </a:ext>
            </a:extLst>
          </p:cNvPr>
          <p:cNvSpPr/>
          <p:nvPr/>
        </p:nvSpPr>
        <p:spPr>
          <a:xfrm>
            <a:off x="2951683" y="8772525"/>
            <a:ext cx="220142" cy="45719"/>
          </a:xfrm>
          <a:custGeom>
            <a:avLst/>
            <a:gdLst>
              <a:gd name="connsiteX0" fmla="*/ 127000 w 127000"/>
              <a:gd name="connsiteY0" fmla="*/ 0 h 28575"/>
              <a:gd name="connsiteX1" fmla="*/ 0 w 127000"/>
              <a:gd name="connsiteY1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0" h="28575">
                <a:moveTo>
                  <a:pt x="127000" y="0"/>
                </a:moveTo>
                <a:lnTo>
                  <a:pt x="0" y="28575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6" name="자유형: 도형 285">
            <a:extLst>
              <a:ext uri="{FF2B5EF4-FFF2-40B4-BE49-F238E27FC236}">
                <a16:creationId xmlns:a16="http://schemas.microsoft.com/office/drawing/2014/main" id="{B4069EF0-A436-3338-A8B9-EA7932BDB350}"/>
              </a:ext>
            </a:extLst>
          </p:cNvPr>
          <p:cNvSpPr/>
          <p:nvPr/>
        </p:nvSpPr>
        <p:spPr>
          <a:xfrm>
            <a:off x="2840309" y="8190160"/>
            <a:ext cx="912541" cy="467668"/>
          </a:xfrm>
          <a:custGeom>
            <a:avLst/>
            <a:gdLst>
              <a:gd name="connsiteX0" fmla="*/ 962025 w 962025"/>
              <a:gd name="connsiteY0" fmla="*/ 0 h 263525"/>
              <a:gd name="connsiteX1" fmla="*/ 228600 w 962025"/>
              <a:gd name="connsiteY1" fmla="*/ 0 h 263525"/>
              <a:gd name="connsiteX2" fmla="*/ 0 w 962025"/>
              <a:gd name="connsiteY2" fmla="*/ 263525 h 2635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2025" h="263525">
                <a:moveTo>
                  <a:pt x="962025" y="0"/>
                </a:moveTo>
                <a:lnTo>
                  <a:pt x="228600" y="0"/>
                </a:lnTo>
                <a:lnTo>
                  <a:pt x="0" y="263525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5" name="자유형: 도형 284">
            <a:extLst>
              <a:ext uri="{FF2B5EF4-FFF2-40B4-BE49-F238E27FC236}">
                <a16:creationId xmlns:a16="http://schemas.microsoft.com/office/drawing/2014/main" id="{DEFFC563-249C-6065-8D8E-8A97E06E28BB}"/>
              </a:ext>
            </a:extLst>
          </p:cNvPr>
          <p:cNvSpPr/>
          <p:nvPr/>
        </p:nvSpPr>
        <p:spPr>
          <a:xfrm>
            <a:off x="577850" y="9349741"/>
            <a:ext cx="770890" cy="499110"/>
          </a:xfrm>
          <a:custGeom>
            <a:avLst/>
            <a:gdLst>
              <a:gd name="connsiteX0" fmla="*/ 0 w 962025"/>
              <a:gd name="connsiteY0" fmla="*/ 161925 h 161925"/>
              <a:gd name="connsiteX1" fmla="*/ 695325 w 962025"/>
              <a:gd name="connsiteY1" fmla="*/ 161925 h 161925"/>
              <a:gd name="connsiteX2" fmla="*/ 962025 w 962025"/>
              <a:gd name="connsiteY2" fmla="*/ 0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62025" h="161925">
                <a:moveTo>
                  <a:pt x="0" y="161925"/>
                </a:moveTo>
                <a:lnTo>
                  <a:pt x="695325" y="161925"/>
                </a:lnTo>
                <a:lnTo>
                  <a:pt x="962025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1BC4FD94-670B-C1BB-8C6F-3263F0168C4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EEB8757-6558-6927-F488-DD4DC168E0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D327ACE4-53E8-EC34-88B6-8A55FC0851AA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04B7280F-547F-25BC-81AB-989A827AC0BC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2)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유지보수 대상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(3/3)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0FFB288-C6CA-26B0-4ED6-CDAC3F9F44B8}"/>
              </a:ext>
            </a:extLst>
          </p:cNvPr>
          <p:cNvSpPr txBox="1"/>
          <p:nvPr/>
        </p:nvSpPr>
        <p:spPr>
          <a:xfrm>
            <a:off x="934361" y="1644256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성공적인 사업 수행을 위한 전산장비 유지보수 대상의 분야별 현황 분석</a:t>
            </a:r>
          </a:p>
        </p:txBody>
      </p:sp>
      <p:grpSp>
        <p:nvGrpSpPr>
          <p:cNvPr id="207" name="그룹 206">
            <a:extLst>
              <a:ext uri="{FF2B5EF4-FFF2-40B4-BE49-F238E27FC236}">
                <a16:creationId xmlns:a16="http://schemas.microsoft.com/office/drawing/2014/main" id="{58B25CC3-709B-577C-4D65-A09DF28A4197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208" name="직사각형 207">
              <a:extLst>
                <a:ext uri="{FF2B5EF4-FFF2-40B4-BE49-F238E27FC236}">
                  <a16:creationId xmlns:a16="http://schemas.microsoft.com/office/drawing/2014/main" id="{77F7EC19-866D-65D5-572C-D16B738354C4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시스템 소프트웨어 대상 현황 분석</a:t>
              </a:r>
            </a:p>
          </p:txBody>
        </p:sp>
        <p:pic>
          <p:nvPicPr>
            <p:cNvPr id="209" name="그림 208">
              <a:extLst>
                <a:ext uri="{FF2B5EF4-FFF2-40B4-BE49-F238E27FC236}">
                  <a16:creationId xmlns:a16="http://schemas.microsoft.com/office/drawing/2014/main" id="{6CB01A11-5D21-1E3F-3B20-9C83A7C2CB9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210" name="차트 209">
            <a:extLst>
              <a:ext uri="{FF2B5EF4-FFF2-40B4-BE49-F238E27FC236}">
                <a16:creationId xmlns:a16="http://schemas.microsoft.com/office/drawing/2014/main" id="{4F7EF56A-5E94-2AFF-14F4-C704F7ED9E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83159232"/>
              </p:ext>
            </p:extLst>
          </p:nvPr>
        </p:nvGraphicFramePr>
        <p:xfrm>
          <a:off x="845975" y="5201334"/>
          <a:ext cx="2539124" cy="212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pSp>
        <p:nvGrpSpPr>
          <p:cNvPr id="211" name="그룹 210">
            <a:extLst>
              <a:ext uri="{FF2B5EF4-FFF2-40B4-BE49-F238E27FC236}">
                <a16:creationId xmlns:a16="http://schemas.microsoft.com/office/drawing/2014/main" id="{28C90168-2F40-A5ED-CBAE-FFEE3DE31FC0}"/>
              </a:ext>
            </a:extLst>
          </p:cNvPr>
          <p:cNvGrpSpPr/>
          <p:nvPr/>
        </p:nvGrpSpPr>
        <p:grpSpPr>
          <a:xfrm>
            <a:off x="575419" y="4824273"/>
            <a:ext cx="6123444" cy="199199"/>
            <a:chOff x="354537" y="2859354"/>
            <a:chExt cx="5810766" cy="165794"/>
          </a:xfrm>
        </p:grpSpPr>
        <p:sp>
          <p:nvSpPr>
            <p:cNvPr id="212" name="직사각형 211">
              <a:extLst>
                <a:ext uri="{FF2B5EF4-FFF2-40B4-BE49-F238E27FC236}">
                  <a16:creationId xmlns:a16="http://schemas.microsoft.com/office/drawing/2014/main" id="{76C9B83D-E693-1861-06AD-76DD4CD184AF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응용 소프트웨어 대상 현황 분석</a:t>
              </a:r>
            </a:p>
          </p:txBody>
        </p:sp>
        <p:pic>
          <p:nvPicPr>
            <p:cNvPr id="213" name="그림 212">
              <a:extLst>
                <a:ext uri="{FF2B5EF4-FFF2-40B4-BE49-F238E27FC236}">
                  <a16:creationId xmlns:a16="http://schemas.microsoft.com/office/drawing/2014/main" id="{8FF73800-9C4B-3FD3-23CF-73F4454B20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214" name="그룹 213">
            <a:extLst>
              <a:ext uri="{FF2B5EF4-FFF2-40B4-BE49-F238E27FC236}">
                <a16:creationId xmlns:a16="http://schemas.microsoft.com/office/drawing/2014/main" id="{B2B5979D-3620-37BB-5371-86BAFF14CD77}"/>
              </a:ext>
            </a:extLst>
          </p:cNvPr>
          <p:cNvGrpSpPr/>
          <p:nvPr/>
        </p:nvGrpSpPr>
        <p:grpSpPr>
          <a:xfrm>
            <a:off x="575419" y="7537741"/>
            <a:ext cx="6123444" cy="199199"/>
            <a:chOff x="354537" y="2859354"/>
            <a:chExt cx="5810766" cy="165794"/>
          </a:xfrm>
        </p:grpSpPr>
        <p:sp>
          <p:nvSpPr>
            <p:cNvPr id="215" name="직사각형 214">
              <a:extLst>
                <a:ext uri="{FF2B5EF4-FFF2-40B4-BE49-F238E27FC236}">
                  <a16:creationId xmlns:a16="http://schemas.microsoft.com/office/drawing/2014/main" id="{705D1B66-6386-9740-9D7C-0B0CFE6140D7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사무용 전산장비 현황 분석</a:t>
              </a:r>
            </a:p>
          </p:txBody>
        </p:sp>
        <p:pic>
          <p:nvPicPr>
            <p:cNvPr id="216" name="그림 215">
              <a:extLst>
                <a:ext uri="{FF2B5EF4-FFF2-40B4-BE49-F238E27FC236}">
                  <a16:creationId xmlns:a16="http://schemas.microsoft.com/office/drawing/2014/main" id="{60F86EA4-17A4-2E46-7436-783F268F69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217" name="차트 216">
            <a:extLst>
              <a:ext uri="{FF2B5EF4-FFF2-40B4-BE49-F238E27FC236}">
                <a16:creationId xmlns:a16="http://schemas.microsoft.com/office/drawing/2014/main" id="{7E88C895-D1E7-5BD7-6D8A-731CBB1307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04615585"/>
              </p:ext>
            </p:extLst>
          </p:nvPr>
        </p:nvGraphicFramePr>
        <p:xfrm>
          <a:off x="845975" y="2487866"/>
          <a:ext cx="2539124" cy="212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218" name="타원 217">
            <a:extLst>
              <a:ext uri="{FF2B5EF4-FFF2-40B4-BE49-F238E27FC236}">
                <a16:creationId xmlns:a16="http://schemas.microsoft.com/office/drawing/2014/main" id="{4DB64502-2145-7DE3-23B5-036D73BB2D16}"/>
              </a:ext>
            </a:extLst>
          </p:cNvPr>
          <p:cNvSpPr/>
          <p:nvPr/>
        </p:nvSpPr>
        <p:spPr>
          <a:xfrm>
            <a:off x="1538596" y="2990105"/>
            <a:ext cx="1153882" cy="1120971"/>
          </a:xfrm>
          <a:prstGeom prst="ellipse">
            <a:avLst/>
          </a:prstGeom>
          <a:solidFill>
            <a:schemeClr val="tx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40" dirty="0">
              <a:ln>
                <a:solidFill>
                  <a:srgbClr val="126AD4">
                    <a:alpha val="0"/>
                  </a:srgbClr>
                </a:solidFill>
              </a:ln>
            </a:endParaRPr>
          </a:p>
        </p:txBody>
      </p:sp>
      <p:sp>
        <p:nvSpPr>
          <p:cNvPr id="219" name="타원 218">
            <a:extLst>
              <a:ext uri="{FF2B5EF4-FFF2-40B4-BE49-F238E27FC236}">
                <a16:creationId xmlns:a16="http://schemas.microsoft.com/office/drawing/2014/main" id="{DCA03260-8F3D-5B57-3370-281E557D8BBE}"/>
              </a:ext>
            </a:extLst>
          </p:cNvPr>
          <p:cNvSpPr/>
          <p:nvPr/>
        </p:nvSpPr>
        <p:spPr>
          <a:xfrm>
            <a:off x="1645089" y="3093561"/>
            <a:ext cx="940896" cy="9140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40">
              <a:ln>
                <a:solidFill>
                  <a:srgbClr val="126AD4">
                    <a:alpha val="0"/>
                  </a:srgbClr>
                </a:solidFill>
              </a:ln>
            </a:endParaRPr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1DAD026E-86B2-33E9-4BBA-E1F592D665F4}"/>
              </a:ext>
            </a:extLst>
          </p:cNvPr>
          <p:cNvSpPr txBox="1"/>
          <p:nvPr/>
        </p:nvSpPr>
        <p:spPr>
          <a:xfrm>
            <a:off x="1860660" y="3381313"/>
            <a:ext cx="509755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8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atinLnBrk="0">
              <a:defRPr/>
            </a:pPr>
            <a:r>
              <a:rPr lang="ko-KR" altLang="en-US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대상 </a:t>
            </a:r>
            <a:r>
              <a:rPr lang="en-US" altLang="ko-KR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SW</a:t>
            </a:r>
          </a:p>
          <a:p>
            <a:pPr latinLnBrk="0">
              <a:defRPr/>
            </a:pPr>
            <a:r>
              <a:rPr lang="ko-KR" altLang="en-US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구성 비율</a:t>
            </a:r>
            <a:endParaRPr lang="en-US" altLang="ko-KR" sz="1100" kern="0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/>
              <a:ea typeface="KoPub돋움체 Bold"/>
            </a:endParaRPr>
          </a:p>
        </p:txBody>
      </p:sp>
      <p:sp>
        <p:nvSpPr>
          <p:cNvPr id="221" name="TextBox 220">
            <a:extLst>
              <a:ext uri="{FF2B5EF4-FFF2-40B4-BE49-F238E27FC236}">
                <a16:creationId xmlns:a16="http://schemas.microsoft.com/office/drawing/2014/main" id="{FCEF4E3A-E1E1-D5A4-3151-2767D92192FF}"/>
              </a:ext>
            </a:extLst>
          </p:cNvPr>
          <p:cNvSpPr txBox="1"/>
          <p:nvPr/>
        </p:nvSpPr>
        <p:spPr>
          <a:xfrm>
            <a:off x="3369662" y="3136900"/>
            <a:ext cx="370294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OS</a:t>
            </a:r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1%</a:t>
            </a:r>
          </a:p>
        </p:txBody>
      </p:sp>
      <p:graphicFrame>
        <p:nvGraphicFramePr>
          <p:cNvPr id="222" name="차트 221">
            <a:extLst>
              <a:ext uri="{FF2B5EF4-FFF2-40B4-BE49-F238E27FC236}">
                <a16:creationId xmlns:a16="http://schemas.microsoft.com/office/drawing/2014/main" id="{BA9A2E47-BC96-A7EB-C40D-D89E76E1EB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89543857"/>
              </p:ext>
            </p:extLst>
          </p:nvPr>
        </p:nvGraphicFramePr>
        <p:xfrm>
          <a:off x="3887786" y="2649528"/>
          <a:ext cx="3312369" cy="2108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23" name="직사각형 222">
            <a:extLst>
              <a:ext uri="{FF2B5EF4-FFF2-40B4-BE49-F238E27FC236}">
                <a16:creationId xmlns:a16="http://schemas.microsoft.com/office/drawing/2014/main" id="{3444C80B-F2C6-0C0B-5E34-698AB14CD7E4}"/>
              </a:ext>
            </a:extLst>
          </p:cNvPr>
          <p:cNvSpPr/>
          <p:nvPr/>
        </p:nvSpPr>
        <p:spPr>
          <a:xfrm>
            <a:off x="575418" y="4684547"/>
            <a:ext cx="6624737" cy="948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224" name="직선 연결선 223">
            <a:extLst>
              <a:ext uri="{FF2B5EF4-FFF2-40B4-BE49-F238E27FC236}">
                <a16:creationId xmlns:a16="http://schemas.microsoft.com/office/drawing/2014/main" id="{4BEC4125-B61D-6C4F-5C57-59711FE6441E}"/>
              </a:ext>
            </a:extLst>
          </p:cNvPr>
          <p:cNvCxnSpPr>
            <a:cxnSpLocks/>
            <a:endCxn id="223" idx="2"/>
          </p:cNvCxnSpPr>
          <p:nvPr/>
        </p:nvCxnSpPr>
        <p:spPr>
          <a:xfrm>
            <a:off x="3887787" y="2401212"/>
            <a:ext cx="0" cy="2378234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직선 연결선 224">
            <a:extLst>
              <a:ext uri="{FF2B5EF4-FFF2-40B4-BE49-F238E27FC236}">
                <a16:creationId xmlns:a16="http://schemas.microsoft.com/office/drawing/2014/main" id="{5674B4CD-5D0F-45D8-2C31-F92630A7F106}"/>
              </a:ext>
            </a:extLst>
          </p:cNvPr>
          <p:cNvCxnSpPr/>
          <p:nvPr/>
        </p:nvCxnSpPr>
        <p:spPr>
          <a:xfrm>
            <a:off x="575418" y="2399793"/>
            <a:ext cx="3312369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26" name="그룹 225">
            <a:extLst>
              <a:ext uri="{FF2B5EF4-FFF2-40B4-BE49-F238E27FC236}">
                <a16:creationId xmlns:a16="http://schemas.microsoft.com/office/drawing/2014/main" id="{5735A220-91AB-0875-8E07-38064634D971}"/>
              </a:ext>
            </a:extLst>
          </p:cNvPr>
          <p:cNvGrpSpPr/>
          <p:nvPr/>
        </p:nvGrpSpPr>
        <p:grpSpPr>
          <a:xfrm>
            <a:off x="3887787" y="2354831"/>
            <a:ext cx="3312368" cy="340459"/>
            <a:chOff x="3300179" y="2720975"/>
            <a:chExt cx="3081411" cy="340459"/>
          </a:xfrm>
        </p:grpSpPr>
        <p:sp>
          <p:nvSpPr>
            <p:cNvPr id="227" name="한쪽 모서리가 잘린 사각형 202">
              <a:extLst>
                <a:ext uri="{FF2B5EF4-FFF2-40B4-BE49-F238E27FC236}">
                  <a16:creationId xmlns:a16="http://schemas.microsoft.com/office/drawing/2014/main" id="{C4AAB206-3439-6594-9122-EDC77F9CAB34}"/>
                </a:ext>
              </a:extLst>
            </p:cNvPr>
            <p:cNvSpPr/>
            <p:nvPr/>
          </p:nvSpPr>
          <p:spPr>
            <a:xfrm>
              <a:off x="3300180" y="2720975"/>
              <a:ext cx="3081410" cy="259200"/>
            </a:xfrm>
            <a:prstGeom prst="round2SameRect">
              <a:avLst/>
            </a:prstGeom>
            <a:solidFill>
              <a:srgbClr val="003C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8930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1" i="0" u="none" strike="noStrike" kern="0" cap="none" spc="-40" normalizeH="0" baseline="0" noProof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endParaRPr>
            </a:p>
          </p:txBody>
        </p:sp>
        <p:sp>
          <p:nvSpPr>
            <p:cNvPr id="228" name="직각 삼각형 227">
              <a:extLst>
                <a:ext uri="{FF2B5EF4-FFF2-40B4-BE49-F238E27FC236}">
                  <a16:creationId xmlns:a16="http://schemas.microsoft.com/office/drawing/2014/main" id="{C80340E9-9DC9-3D6C-B00F-5B32B39B2427}"/>
                </a:ext>
              </a:extLst>
            </p:cNvPr>
            <p:cNvSpPr/>
            <p:nvPr/>
          </p:nvSpPr>
          <p:spPr>
            <a:xfrm flipV="1">
              <a:off x="3300179" y="2963459"/>
              <a:ext cx="124062" cy="97975"/>
            </a:xfrm>
            <a:prstGeom prst="rtTriangle">
              <a:avLst/>
            </a:prstGeom>
            <a:solidFill>
              <a:srgbClr val="003C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8930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1" i="0" u="none" strike="noStrike" kern="0" cap="none" spc="-40" normalizeH="0" baseline="0" noProof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endParaRPr>
            </a:p>
          </p:txBody>
        </p:sp>
        <p:sp>
          <p:nvSpPr>
            <p:cNvPr id="229" name="직사각형 228">
              <a:extLst>
                <a:ext uri="{FF2B5EF4-FFF2-40B4-BE49-F238E27FC236}">
                  <a16:creationId xmlns:a16="http://schemas.microsoft.com/office/drawing/2014/main" id="{44EF1292-F04E-ED2E-66EF-822E8EC942FD}"/>
                </a:ext>
              </a:extLst>
            </p:cNvPr>
            <p:cNvSpPr/>
            <p:nvPr/>
          </p:nvSpPr>
          <p:spPr>
            <a:xfrm>
              <a:off x="4074544" y="2765937"/>
              <a:ext cx="1532688" cy="16927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ctr" defTabSz="91421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80000"/>
                <a:buFontTx/>
                <a:buNone/>
                <a:tabLst>
                  <a:tab pos="430283" algn="l"/>
                  <a:tab pos="860568" algn="l"/>
                  <a:tab pos="1293523" algn="l"/>
                  <a:tab pos="1723807" algn="l"/>
                  <a:tab pos="2154091" algn="l"/>
                  <a:tab pos="2585712" algn="l"/>
                  <a:tab pos="3015995" algn="l"/>
                  <a:tab pos="3447614" algn="l"/>
                  <a:tab pos="3879234" algn="l"/>
                  <a:tab pos="4309518" algn="l"/>
                  <a:tab pos="4741137" algn="l"/>
                  <a:tab pos="5603041" algn="l"/>
                  <a:tab pos="6034661" algn="l"/>
                  <a:tab pos="6464944" algn="l"/>
                  <a:tab pos="6895228" algn="l"/>
                  <a:tab pos="7326849" algn="l"/>
                  <a:tab pos="7758468" algn="l"/>
                  <a:tab pos="8188752" algn="l"/>
                  <a:tab pos="8620372" algn="l"/>
                  <a:tab pos="9050656" algn="l"/>
                  <a:tab pos="9482276" algn="l"/>
                  <a:tab pos="9913896" algn="l"/>
                  <a:tab pos="10344179" algn="l"/>
                  <a:tab pos="10775798" algn="l"/>
                  <a:tab pos="11206082" algn="l"/>
                  <a:tab pos="11636366" algn="l"/>
                  <a:tab pos="12069322" algn="l"/>
                  <a:tab pos="12499605" algn="l"/>
                  <a:tab pos="12929890" algn="l"/>
                  <a:tab pos="13361510" algn="l"/>
                  <a:tab pos="13791794" algn="l"/>
                </a:tabLst>
                <a:defRPr/>
              </a:pPr>
              <a:r>
                <a:rPr kumimoji="0" lang="ko-KR" altLang="en-US" sz="1100" b="0" i="0" u="none" strike="noStrike" kern="0" cap="none" spc="-40" normalizeH="0" baseline="0" noProof="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시스템 소프트웨어 유형별 현황</a:t>
              </a:r>
            </a:p>
          </p:txBody>
        </p:sp>
      </p:grpSp>
      <p:sp>
        <p:nvSpPr>
          <p:cNvPr id="230" name="타원 229">
            <a:extLst>
              <a:ext uri="{FF2B5EF4-FFF2-40B4-BE49-F238E27FC236}">
                <a16:creationId xmlns:a16="http://schemas.microsoft.com/office/drawing/2014/main" id="{CA36ABCE-4080-076C-A53C-A76ACE610A09}"/>
              </a:ext>
            </a:extLst>
          </p:cNvPr>
          <p:cNvSpPr/>
          <p:nvPr/>
        </p:nvSpPr>
        <p:spPr>
          <a:xfrm>
            <a:off x="1538596" y="5703573"/>
            <a:ext cx="1153882" cy="1120971"/>
          </a:xfrm>
          <a:prstGeom prst="ellipse">
            <a:avLst/>
          </a:prstGeom>
          <a:solidFill>
            <a:schemeClr val="tx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40" dirty="0">
              <a:ln>
                <a:solidFill>
                  <a:srgbClr val="126AD4">
                    <a:alpha val="0"/>
                  </a:srgbClr>
                </a:solidFill>
              </a:ln>
            </a:endParaRPr>
          </a:p>
        </p:txBody>
      </p:sp>
      <p:sp>
        <p:nvSpPr>
          <p:cNvPr id="231" name="타원 230">
            <a:extLst>
              <a:ext uri="{FF2B5EF4-FFF2-40B4-BE49-F238E27FC236}">
                <a16:creationId xmlns:a16="http://schemas.microsoft.com/office/drawing/2014/main" id="{13856374-489D-FA1E-A4EF-29BC5FB7884F}"/>
              </a:ext>
            </a:extLst>
          </p:cNvPr>
          <p:cNvSpPr/>
          <p:nvPr/>
        </p:nvSpPr>
        <p:spPr>
          <a:xfrm>
            <a:off x="1645089" y="5807029"/>
            <a:ext cx="940896" cy="9140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40">
              <a:ln>
                <a:solidFill>
                  <a:srgbClr val="126AD4">
                    <a:alpha val="0"/>
                  </a:srgbClr>
                </a:solidFill>
              </a:ln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567D9357-65CC-C800-4ADC-B548A4C1A2E3}"/>
              </a:ext>
            </a:extLst>
          </p:cNvPr>
          <p:cNvSpPr txBox="1"/>
          <p:nvPr/>
        </p:nvSpPr>
        <p:spPr>
          <a:xfrm>
            <a:off x="1860659" y="6094782"/>
            <a:ext cx="509755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8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atinLnBrk="0">
              <a:defRPr/>
            </a:pPr>
            <a:r>
              <a:rPr lang="ko-KR" altLang="en-US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대상 </a:t>
            </a:r>
            <a:r>
              <a:rPr lang="en-US" altLang="ko-KR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SW</a:t>
            </a:r>
          </a:p>
          <a:p>
            <a:pPr latinLnBrk="0">
              <a:defRPr/>
            </a:pPr>
            <a:r>
              <a:rPr lang="ko-KR" altLang="en-US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구성 비율</a:t>
            </a:r>
            <a:endParaRPr lang="en-US" altLang="ko-KR" sz="1100" kern="0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/>
              <a:ea typeface="KoPub돋움체 Bold"/>
            </a:endParaRPr>
          </a:p>
        </p:txBody>
      </p:sp>
      <p:graphicFrame>
        <p:nvGraphicFramePr>
          <p:cNvPr id="233" name="차트 232">
            <a:extLst>
              <a:ext uri="{FF2B5EF4-FFF2-40B4-BE49-F238E27FC236}">
                <a16:creationId xmlns:a16="http://schemas.microsoft.com/office/drawing/2014/main" id="{E83AACE7-5BFA-9224-AA56-2CFEB7E1BC2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14188780"/>
              </p:ext>
            </p:extLst>
          </p:nvPr>
        </p:nvGraphicFramePr>
        <p:xfrm>
          <a:off x="3887786" y="5362996"/>
          <a:ext cx="3320948" cy="2108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234" name="직사각형 233">
            <a:extLst>
              <a:ext uri="{FF2B5EF4-FFF2-40B4-BE49-F238E27FC236}">
                <a16:creationId xmlns:a16="http://schemas.microsoft.com/office/drawing/2014/main" id="{2B8A67F3-5864-7F40-9742-ADDFF988B2C2}"/>
              </a:ext>
            </a:extLst>
          </p:cNvPr>
          <p:cNvSpPr/>
          <p:nvPr/>
        </p:nvSpPr>
        <p:spPr>
          <a:xfrm>
            <a:off x="575418" y="7398015"/>
            <a:ext cx="6624737" cy="948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235" name="직선 연결선 234">
            <a:extLst>
              <a:ext uri="{FF2B5EF4-FFF2-40B4-BE49-F238E27FC236}">
                <a16:creationId xmlns:a16="http://schemas.microsoft.com/office/drawing/2014/main" id="{80AEF341-1C3F-4339-C057-2B90A4404744}"/>
              </a:ext>
            </a:extLst>
          </p:cNvPr>
          <p:cNvCxnSpPr>
            <a:cxnSpLocks/>
            <a:endCxn id="234" idx="2"/>
          </p:cNvCxnSpPr>
          <p:nvPr/>
        </p:nvCxnSpPr>
        <p:spPr>
          <a:xfrm>
            <a:off x="3887787" y="5114680"/>
            <a:ext cx="0" cy="2378234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직선 연결선 235">
            <a:extLst>
              <a:ext uri="{FF2B5EF4-FFF2-40B4-BE49-F238E27FC236}">
                <a16:creationId xmlns:a16="http://schemas.microsoft.com/office/drawing/2014/main" id="{C1334727-5723-FCC8-A91F-EB138340ACF2}"/>
              </a:ext>
            </a:extLst>
          </p:cNvPr>
          <p:cNvCxnSpPr/>
          <p:nvPr/>
        </p:nvCxnSpPr>
        <p:spPr>
          <a:xfrm>
            <a:off x="575418" y="5113261"/>
            <a:ext cx="3312369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7" name="그룹 236">
            <a:extLst>
              <a:ext uri="{FF2B5EF4-FFF2-40B4-BE49-F238E27FC236}">
                <a16:creationId xmlns:a16="http://schemas.microsoft.com/office/drawing/2014/main" id="{6EDDC5CF-62D0-22C0-4A54-A87AC42B667E}"/>
              </a:ext>
            </a:extLst>
          </p:cNvPr>
          <p:cNvGrpSpPr/>
          <p:nvPr/>
        </p:nvGrpSpPr>
        <p:grpSpPr>
          <a:xfrm>
            <a:off x="3887787" y="5068299"/>
            <a:ext cx="3312368" cy="340459"/>
            <a:chOff x="3300179" y="2720975"/>
            <a:chExt cx="3081411" cy="340459"/>
          </a:xfrm>
        </p:grpSpPr>
        <p:sp>
          <p:nvSpPr>
            <p:cNvPr id="238" name="한쪽 모서리가 잘린 사각형 202">
              <a:extLst>
                <a:ext uri="{FF2B5EF4-FFF2-40B4-BE49-F238E27FC236}">
                  <a16:creationId xmlns:a16="http://schemas.microsoft.com/office/drawing/2014/main" id="{55AA3D7A-67C8-A831-D361-30127D8335DB}"/>
                </a:ext>
              </a:extLst>
            </p:cNvPr>
            <p:cNvSpPr/>
            <p:nvPr/>
          </p:nvSpPr>
          <p:spPr>
            <a:xfrm>
              <a:off x="3300180" y="2720975"/>
              <a:ext cx="3081410" cy="259200"/>
            </a:xfrm>
            <a:prstGeom prst="round2SameRect">
              <a:avLst/>
            </a:prstGeom>
            <a:solidFill>
              <a:srgbClr val="003C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8930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1" i="0" u="none" strike="noStrike" kern="0" cap="none" spc="-40" normalizeH="0" baseline="0" noProof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endParaRPr>
            </a:p>
          </p:txBody>
        </p:sp>
        <p:sp>
          <p:nvSpPr>
            <p:cNvPr id="239" name="직각 삼각형 238">
              <a:extLst>
                <a:ext uri="{FF2B5EF4-FFF2-40B4-BE49-F238E27FC236}">
                  <a16:creationId xmlns:a16="http://schemas.microsoft.com/office/drawing/2014/main" id="{1198D50D-96AF-DD83-6343-E433CC2E78BA}"/>
                </a:ext>
              </a:extLst>
            </p:cNvPr>
            <p:cNvSpPr/>
            <p:nvPr/>
          </p:nvSpPr>
          <p:spPr>
            <a:xfrm flipV="1">
              <a:off x="3300179" y="2963459"/>
              <a:ext cx="124062" cy="97975"/>
            </a:xfrm>
            <a:prstGeom prst="rtTriangle">
              <a:avLst/>
            </a:prstGeom>
            <a:solidFill>
              <a:srgbClr val="003C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8930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1" i="0" u="none" strike="noStrike" kern="0" cap="none" spc="-40" normalizeH="0" baseline="0" noProof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endParaRPr>
            </a:p>
          </p:txBody>
        </p:sp>
        <p:sp>
          <p:nvSpPr>
            <p:cNvPr id="240" name="직사각형 239">
              <a:extLst>
                <a:ext uri="{FF2B5EF4-FFF2-40B4-BE49-F238E27FC236}">
                  <a16:creationId xmlns:a16="http://schemas.microsoft.com/office/drawing/2014/main" id="{AA69F251-3080-6EF9-A133-B984F0A8E5C5}"/>
                </a:ext>
              </a:extLst>
            </p:cNvPr>
            <p:cNvSpPr/>
            <p:nvPr/>
          </p:nvSpPr>
          <p:spPr>
            <a:xfrm>
              <a:off x="4129572" y="2765937"/>
              <a:ext cx="1422637" cy="16927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ctr" defTabSz="91421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80000"/>
                <a:buFontTx/>
                <a:buNone/>
                <a:tabLst>
                  <a:tab pos="430283" algn="l"/>
                  <a:tab pos="860568" algn="l"/>
                  <a:tab pos="1293523" algn="l"/>
                  <a:tab pos="1723807" algn="l"/>
                  <a:tab pos="2154091" algn="l"/>
                  <a:tab pos="2585712" algn="l"/>
                  <a:tab pos="3015995" algn="l"/>
                  <a:tab pos="3447614" algn="l"/>
                  <a:tab pos="3879234" algn="l"/>
                  <a:tab pos="4309518" algn="l"/>
                  <a:tab pos="4741137" algn="l"/>
                  <a:tab pos="5603041" algn="l"/>
                  <a:tab pos="6034661" algn="l"/>
                  <a:tab pos="6464944" algn="l"/>
                  <a:tab pos="6895228" algn="l"/>
                  <a:tab pos="7326849" algn="l"/>
                  <a:tab pos="7758468" algn="l"/>
                  <a:tab pos="8188752" algn="l"/>
                  <a:tab pos="8620372" algn="l"/>
                  <a:tab pos="9050656" algn="l"/>
                  <a:tab pos="9482276" algn="l"/>
                  <a:tab pos="9913896" algn="l"/>
                  <a:tab pos="10344179" algn="l"/>
                  <a:tab pos="10775798" algn="l"/>
                  <a:tab pos="11206082" algn="l"/>
                  <a:tab pos="11636366" algn="l"/>
                  <a:tab pos="12069322" algn="l"/>
                  <a:tab pos="12499605" algn="l"/>
                  <a:tab pos="12929890" algn="l"/>
                  <a:tab pos="13361510" algn="l"/>
                  <a:tab pos="13791794" algn="l"/>
                </a:tabLst>
                <a:defRPr/>
              </a:pPr>
              <a:r>
                <a:rPr kumimoji="0" lang="ko-KR" altLang="en-US" sz="1100" b="0" i="0" u="none" strike="noStrike" kern="0" cap="none" spc="-40" normalizeH="0" baseline="0" noProof="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응용 소프트웨어 유형별 현황</a:t>
              </a:r>
            </a:p>
          </p:txBody>
        </p:sp>
      </p:grpSp>
      <p:graphicFrame>
        <p:nvGraphicFramePr>
          <p:cNvPr id="241" name="차트 240">
            <a:extLst>
              <a:ext uri="{FF2B5EF4-FFF2-40B4-BE49-F238E27FC236}">
                <a16:creationId xmlns:a16="http://schemas.microsoft.com/office/drawing/2014/main" id="{387273BE-FD44-3B13-E084-C762A2D9378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13680639"/>
              </p:ext>
            </p:extLst>
          </p:nvPr>
        </p:nvGraphicFramePr>
        <p:xfrm>
          <a:off x="845975" y="7902128"/>
          <a:ext cx="2539124" cy="212544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242" name="타원 241">
            <a:extLst>
              <a:ext uri="{FF2B5EF4-FFF2-40B4-BE49-F238E27FC236}">
                <a16:creationId xmlns:a16="http://schemas.microsoft.com/office/drawing/2014/main" id="{FB51F997-76F7-2EA3-2C92-68333F999EF0}"/>
              </a:ext>
            </a:extLst>
          </p:cNvPr>
          <p:cNvSpPr/>
          <p:nvPr/>
        </p:nvSpPr>
        <p:spPr>
          <a:xfrm>
            <a:off x="1538596" y="8417043"/>
            <a:ext cx="1153882" cy="1120971"/>
          </a:xfrm>
          <a:prstGeom prst="ellipse">
            <a:avLst/>
          </a:prstGeom>
          <a:solidFill>
            <a:schemeClr val="tx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40" dirty="0">
              <a:ln>
                <a:solidFill>
                  <a:srgbClr val="126AD4">
                    <a:alpha val="0"/>
                  </a:srgbClr>
                </a:solidFill>
              </a:ln>
            </a:endParaRPr>
          </a:p>
        </p:txBody>
      </p:sp>
      <p:sp>
        <p:nvSpPr>
          <p:cNvPr id="243" name="타원 242">
            <a:extLst>
              <a:ext uri="{FF2B5EF4-FFF2-40B4-BE49-F238E27FC236}">
                <a16:creationId xmlns:a16="http://schemas.microsoft.com/office/drawing/2014/main" id="{7F834C28-E67F-F050-AF40-912C3A65C8D1}"/>
              </a:ext>
            </a:extLst>
          </p:cNvPr>
          <p:cNvSpPr/>
          <p:nvPr/>
        </p:nvSpPr>
        <p:spPr>
          <a:xfrm>
            <a:off x="1645089" y="8520499"/>
            <a:ext cx="940896" cy="91405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pc="-40">
              <a:ln>
                <a:solidFill>
                  <a:srgbClr val="126AD4">
                    <a:alpha val="0"/>
                  </a:srgbClr>
                </a:solidFill>
              </a:ln>
            </a:endParaRP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07929F7B-223D-48BB-C2F2-8EED06BAE6D5}"/>
              </a:ext>
            </a:extLst>
          </p:cNvPr>
          <p:cNvSpPr txBox="1"/>
          <p:nvPr/>
        </p:nvSpPr>
        <p:spPr>
          <a:xfrm>
            <a:off x="1860659" y="8808252"/>
            <a:ext cx="509755" cy="3385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ct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8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atinLnBrk="0">
              <a:defRPr/>
            </a:pPr>
            <a:r>
              <a:rPr lang="ko-KR" altLang="en-US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대상 장비</a:t>
            </a:r>
            <a:endParaRPr lang="en-US" altLang="ko-KR" sz="1100" kern="0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/>
              <a:ea typeface="KoPub돋움체 Bold"/>
            </a:endParaRPr>
          </a:p>
          <a:p>
            <a:pPr latinLnBrk="0">
              <a:defRPr/>
            </a:pPr>
            <a:r>
              <a:rPr lang="ko-KR" altLang="en-US" sz="1100" kern="0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/>
                <a:ea typeface="KoPub돋움체 Bold"/>
              </a:rPr>
              <a:t>구성 비율</a:t>
            </a:r>
            <a:endParaRPr lang="en-US" altLang="ko-KR" sz="1100" kern="0" dirty="0">
              <a:ln>
                <a:solidFill>
                  <a:srgbClr val="126AD4">
                    <a:alpha val="0"/>
                  </a:srgbClr>
                </a:solidFill>
              </a:ln>
              <a:latin typeface="KoPub돋움체 Bold"/>
              <a:ea typeface="KoPub돋움체 Bold"/>
            </a:endParaRPr>
          </a:p>
        </p:txBody>
      </p:sp>
      <p:graphicFrame>
        <p:nvGraphicFramePr>
          <p:cNvPr id="245" name="차트 244">
            <a:extLst>
              <a:ext uri="{FF2B5EF4-FFF2-40B4-BE49-F238E27FC236}">
                <a16:creationId xmlns:a16="http://schemas.microsoft.com/office/drawing/2014/main" id="{D7E76034-1BB6-96BC-2283-3E1782AE71B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45960879"/>
              </p:ext>
            </p:extLst>
          </p:nvPr>
        </p:nvGraphicFramePr>
        <p:xfrm>
          <a:off x="3887786" y="8076466"/>
          <a:ext cx="3815057" cy="21082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246" name="직사각형 245">
            <a:extLst>
              <a:ext uri="{FF2B5EF4-FFF2-40B4-BE49-F238E27FC236}">
                <a16:creationId xmlns:a16="http://schemas.microsoft.com/office/drawing/2014/main" id="{9F859EB2-08EF-EEB9-CFA7-8099D73D3E47}"/>
              </a:ext>
            </a:extLst>
          </p:cNvPr>
          <p:cNvSpPr/>
          <p:nvPr/>
        </p:nvSpPr>
        <p:spPr>
          <a:xfrm>
            <a:off x="575418" y="10111485"/>
            <a:ext cx="6624737" cy="9489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247" name="직선 연결선 246">
            <a:extLst>
              <a:ext uri="{FF2B5EF4-FFF2-40B4-BE49-F238E27FC236}">
                <a16:creationId xmlns:a16="http://schemas.microsoft.com/office/drawing/2014/main" id="{831F0B24-5FB0-B5F3-6A3E-B777ABF724E7}"/>
              </a:ext>
            </a:extLst>
          </p:cNvPr>
          <p:cNvCxnSpPr>
            <a:cxnSpLocks/>
            <a:endCxn id="246" idx="2"/>
          </p:cNvCxnSpPr>
          <p:nvPr/>
        </p:nvCxnSpPr>
        <p:spPr>
          <a:xfrm>
            <a:off x="3887787" y="7828150"/>
            <a:ext cx="0" cy="2378234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직선 연결선 247">
            <a:extLst>
              <a:ext uri="{FF2B5EF4-FFF2-40B4-BE49-F238E27FC236}">
                <a16:creationId xmlns:a16="http://schemas.microsoft.com/office/drawing/2014/main" id="{EE2FBD69-1991-7CBD-AC30-A86D9366EDE9}"/>
              </a:ext>
            </a:extLst>
          </p:cNvPr>
          <p:cNvCxnSpPr/>
          <p:nvPr/>
        </p:nvCxnSpPr>
        <p:spPr>
          <a:xfrm>
            <a:off x="575418" y="7826731"/>
            <a:ext cx="3312369" cy="0"/>
          </a:xfrm>
          <a:prstGeom prst="line">
            <a:avLst/>
          </a:prstGeom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49" name="그룹 248">
            <a:extLst>
              <a:ext uri="{FF2B5EF4-FFF2-40B4-BE49-F238E27FC236}">
                <a16:creationId xmlns:a16="http://schemas.microsoft.com/office/drawing/2014/main" id="{20D03682-E75A-8983-8929-C550A08B7724}"/>
              </a:ext>
            </a:extLst>
          </p:cNvPr>
          <p:cNvGrpSpPr/>
          <p:nvPr/>
        </p:nvGrpSpPr>
        <p:grpSpPr>
          <a:xfrm>
            <a:off x="3887787" y="7781769"/>
            <a:ext cx="3312368" cy="340459"/>
            <a:chOff x="3300179" y="2720975"/>
            <a:chExt cx="3081411" cy="340459"/>
          </a:xfrm>
        </p:grpSpPr>
        <p:sp>
          <p:nvSpPr>
            <p:cNvPr id="250" name="한쪽 모서리가 잘린 사각형 202">
              <a:extLst>
                <a:ext uri="{FF2B5EF4-FFF2-40B4-BE49-F238E27FC236}">
                  <a16:creationId xmlns:a16="http://schemas.microsoft.com/office/drawing/2014/main" id="{B9D1F511-682A-885C-A2CD-53F269130460}"/>
                </a:ext>
              </a:extLst>
            </p:cNvPr>
            <p:cNvSpPr/>
            <p:nvPr/>
          </p:nvSpPr>
          <p:spPr>
            <a:xfrm>
              <a:off x="3300180" y="2720975"/>
              <a:ext cx="3081410" cy="259200"/>
            </a:xfrm>
            <a:prstGeom prst="round2SameRect">
              <a:avLst/>
            </a:prstGeom>
            <a:solidFill>
              <a:srgbClr val="003C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8930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1000" b="1" i="0" u="none" strike="noStrike" kern="0" cap="none" spc="-40" normalizeH="0" baseline="0" noProof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endParaRPr>
            </a:p>
          </p:txBody>
        </p:sp>
        <p:sp>
          <p:nvSpPr>
            <p:cNvPr id="251" name="직각 삼각형 250">
              <a:extLst>
                <a:ext uri="{FF2B5EF4-FFF2-40B4-BE49-F238E27FC236}">
                  <a16:creationId xmlns:a16="http://schemas.microsoft.com/office/drawing/2014/main" id="{DF7C462B-9174-4385-86C2-40BDE6CD840B}"/>
                </a:ext>
              </a:extLst>
            </p:cNvPr>
            <p:cNvSpPr/>
            <p:nvPr/>
          </p:nvSpPr>
          <p:spPr>
            <a:xfrm flipV="1">
              <a:off x="3300179" y="2963459"/>
              <a:ext cx="124062" cy="97975"/>
            </a:xfrm>
            <a:prstGeom prst="rtTriangle">
              <a:avLst/>
            </a:prstGeom>
            <a:solidFill>
              <a:srgbClr val="003CA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8930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00" b="1" i="0" u="none" strike="noStrike" kern="0" cap="none" spc="-40" normalizeH="0" baseline="0" noProof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KoPub돋움체 Light" panose="02020603020101020101" pitchFamily="18" charset="-127"/>
                <a:ea typeface="KoPub돋움체 Light" panose="02020603020101020101" pitchFamily="18" charset="-127"/>
                <a:cs typeface="+mn-cs"/>
              </a:endParaRPr>
            </a:p>
          </p:txBody>
        </p:sp>
        <p:sp>
          <p:nvSpPr>
            <p:cNvPr id="252" name="직사각형 251">
              <a:extLst>
                <a:ext uri="{FF2B5EF4-FFF2-40B4-BE49-F238E27FC236}">
                  <a16:creationId xmlns:a16="http://schemas.microsoft.com/office/drawing/2014/main" id="{BE95C303-058D-3CBF-1B7D-9129417B5D85}"/>
                </a:ext>
              </a:extLst>
            </p:cNvPr>
            <p:cNvSpPr/>
            <p:nvPr/>
          </p:nvSpPr>
          <p:spPr>
            <a:xfrm>
              <a:off x="4129568" y="2765937"/>
              <a:ext cx="1422637" cy="169277"/>
            </a:xfrm>
            <a:prstGeom prst="rect">
              <a:avLst/>
            </a:prstGeom>
            <a:no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none" lIns="0" tIns="0" rIns="0" bIns="0" rtlCol="0" anchor="ctr" anchorCtr="0">
              <a:spAutoFit/>
            </a:bodyPr>
            <a:lstStyle/>
            <a:p>
              <a:pPr marL="0" marR="0" lvl="0" indent="0" algn="ctr" defTabSz="91421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808080"/>
                </a:buClr>
                <a:buSzPct val="80000"/>
                <a:buFontTx/>
                <a:buNone/>
                <a:tabLst>
                  <a:tab pos="430283" algn="l"/>
                  <a:tab pos="860568" algn="l"/>
                  <a:tab pos="1293523" algn="l"/>
                  <a:tab pos="1723807" algn="l"/>
                  <a:tab pos="2154091" algn="l"/>
                  <a:tab pos="2585712" algn="l"/>
                  <a:tab pos="3015995" algn="l"/>
                  <a:tab pos="3447614" algn="l"/>
                  <a:tab pos="3879234" algn="l"/>
                  <a:tab pos="4309518" algn="l"/>
                  <a:tab pos="4741137" algn="l"/>
                  <a:tab pos="5603041" algn="l"/>
                  <a:tab pos="6034661" algn="l"/>
                  <a:tab pos="6464944" algn="l"/>
                  <a:tab pos="6895228" algn="l"/>
                  <a:tab pos="7326849" algn="l"/>
                  <a:tab pos="7758468" algn="l"/>
                  <a:tab pos="8188752" algn="l"/>
                  <a:tab pos="8620372" algn="l"/>
                  <a:tab pos="9050656" algn="l"/>
                  <a:tab pos="9482276" algn="l"/>
                  <a:tab pos="9913896" algn="l"/>
                  <a:tab pos="10344179" algn="l"/>
                  <a:tab pos="10775798" algn="l"/>
                  <a:tab pos="11206082" algn="l"/>
                  <a:tab pos="11636366" algn="l"/>
                  <a:tab pos="12069322" algn="l"/>
                  <a:tab pos="12499605" algn="l"/>
                  <a:tab pos="12929890" algn="l"/>
                  <a:tab pos="13361510" algn="l"/>
                  <a:tab pos="13791794" algn="l"/>
                </a:tabLst>
                <a:defRPr/>
              </a:pPr>
              <a:r>
                <a:rPr kumimoji="0" lang="ko-KR" altLang="en-US" sz="1100" b="0" i="0" u="none" strike="noStrike" kern="0" cap="none" spc="-40" normalizeH="0" baseline="0" noProof="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white"/>
                  </a:solidFill>
                  <a:effectLst/>
                  <a:uLnTx/>
                  <a:uFillTx/>
                  <a:latin typeface="KoPub돋움체 Bold"/>
                  <a:ea typeface="KoPub돋움체 Bold"/>
                  <a:cs typeface="+mn-cs"/>
                </a:rPr>
                <a:t>사무용 전산장비 유형별 현황</a:t>
              </a:r>
            </a:p>
          </p:txBody>
        </p:sp>
      </p:grpSp>
      <p:sp>
        <p:nvSpPr>
          <p:cNvPr id="253" name="TextBox 252">
            <a:extLst>
              <a:ext uri="{FF2B5EF4-FFF2-40B4-BE49-F238E27FC236}">
                <a16:creationId xmlns:a16="http://schemas.microsoft.com/office/drawing/2014/main" id="{6CDB6F92-5575-64C8-9425-B3F0B058647F}"/>
              </a:ext>
            </a:extLst>
          </p:cNvPr>
          <p:cNvSpPr txBox="1"/>
          <p:nvPr/>
        </p:nvSpPr>
        <p:spPr>
          <a:xfrm>
            <a:off x="3260979" y="3536045"/>
            <a:ext cx="478977" cy="3077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WEB/</a:t>
            </a:r>
          </a:p>
          <a:p>
            <a:pPr algn="l"/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WAS 4%</a:t>
            </a:r>
          </a:p>
        </p:txBody>
      </p:sp>
      <p:sp>
        <p:nvSpPr>
          <p:cNvPr id="254" name="TextBox 253">
            <a:extLst>
              <a:ext uri="{FF2B5EF4-FFF2-40B4-BE49-F238E27FC236}">
                <a16:creationId xmlns:a16="http://schemas.microsoft.com/office/drawing/2014/main" id="{0A16A2EC-3D46-9AA2-0050-B6E0D322C778}"/>
              </a:ext>
            </a:extLst>
          </p:cNvPr>
          <p:cNvSpPr txBox="1"/>
          <p:nvPr/>
        </p:nvSpPr>
        <p:spPr>
          <a:xfrm>
            <a:off x="3189163" y="4042572"/>
            <a:ext cx="550793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DBMS 2%</a:t>
            </a:r>
          </a:p>
        </p:txBody>
      </p:sp>
      <p:sp>
        <p:nvSpPr>
          <p:cNvPr id="255" name="TextBox 254">
            <a:extLst>
              <a:ext uri="{FF2B5EF4-FFF2-40B4-BE49-F238E27FC236}">
                <a16:creationId xmlns:a16="http://schemas.microsoft.com/office/drawing/2014/main" id="{D1747E14-FCD1-C0A9-261C-989169677AB9}"/>
              </a:ext>
            </a:extLst>
          </p:cNvPr>
          <p:cNvSpPr txBox="1"/>
          <p:nvPr/>
        </p:nvSpPr>
        <p:spPr>
          <a:xfrm>
            <a:off x="2794922" y="4494454"/>
            <a:ext cx="967894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성능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/</a:t>
            </a:r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모니터링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19%</a:t>
            </a:r>
          </a:p>
        </p:txBody>
      </p:sp>
      <p:sp>
        <p:nvSpPr>
          <p:cNvPr id="256" name="TextBox 255">
            <a:extLst>
              <a:ext uri="{FF2B5EF4-FFF2-40B4-BE49-F238E27FC236}">
                <a16:creationId xmlns:a16="http://schemas.microsoft.com/office/drawing/2014/main" id="{999F38DE-9A11-DDF4-B4F7-222A290B288B}"/>
              </a:ext>
            </a:extLst>
          </p:cNvPr>
          <p:cNvSpPr txBox="1"/>
          <p:nvPr/>
        </p:nvSpPr>
        <p:spPr>
          <a:xfrm>
            <a:off x="639902" y="4494454"/>
            <a:ext cx="839975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시스템 보안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20%</a:t>
            </a:r>
          </a:p>
        </p:txBody>
      </p:sp>
      <p:sp>
        <p:nvSpPr>
          <p:cNvPr id="257" name="TextBox 256">
            <a:extLst>
              <a:ext uri="{FF2B5EF4-FFF2-40B4-BE49-F238E27FC236}">
                <a16:creationId xmlns:a16="http://schemas.microsoft.com/office/drawing/2014/main" id="{16E78B0E-9955-1616-E8F5-D65B495F29C0}"/>
              </a:ext>
            </a:extLst>
          </p:cNvPr>
          <p:cNvSpPr txBox="1"/>
          <p:nvPr/>
        </p:nvSpPr>
        <p:spPr>
          <a:xfrm>
            <a:off x="639902" y="2476322"/>
            <a:ext cx="486993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기타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53%</a:t>
            </a:r>
          </a:p>
        </p:txBody>
      </p:sp>
      <p:sp>
        <p:nvSpPr>
          <p:cNvPr id="258" name="TextBox 257">
            <a:extLst>
              <a:ext uri="{FF2B5EF4-FFF2-40B4-BE49-F238E27FC236}">
                <a16:creationId xmlns:a16="http://schemas.microsoft.com/office/drawing/2014/main" id="{EDE510A5-2938-7464-4422-66D0D62E23FE}"/>
              </a:ext>
            </a:extLst>
          </p:cNvPr>
          <p:cNvSpPr txBox="1"/>
          <p:nvPr/>
        </p:nvSpPr>
        <p:spPr>
          <a:xfrm>
            <a:off x="3319969" y="5950506"/>
            <a:ext cx="419987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연계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1%</a:t>
            </a:r>
          </a:p>
        </p:txBody>
      </p:sp>
      <p:sp>
        <p:nvSpPr>
          <p:cNvPr id="259" name="TextBox 258">
            <a:extLst>
              <a:ext uri="{FF2B5EF4-FFF2-40B4-BE49-F238E27FC236}">
                <a16:creationId xmlns:a16="http://schemas.microsoft.com/office/drawing/2014/main" id="{83F2292E-4780-D005-7E33-2C00F7EC18F3}"/>
              </a:ext>
            </a:extLst>
          </p:cNvPr>
          <p:cNvSpPr txBox="1"/>
          <p:nvPr/>
        </p:nvSpPr>
        <p:spPr>
          <a:xfrm>
            <a:off x="3319969" y="6159130"/>
            <a:ext cx="419987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관제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1%</a:t>
            </a:r>
          </a:p>
        </p:txBody>
      </p:sp>
      <p:sp>
        <p:nvSpPr>
          <p:cNvPr id="260" name="TextBox 259">
            <a:extLst>
              <a:ext uri="{FF2B5EF4-FFF2-40B4-BE49-F238E27FC236}">
                <a16:creationId xmlns:a16="http://schemas.microsoft.com/office/drawing/2014/main" id="{7F807EDB-DA06-638D-52F1-9945ECB283D6}"/>
              </a:ext>
            </a:extLst>
          </p:cNvPr>
          <p:cNvSpPr txBox="1"/>
          <p:nvPr/>
        </p:nvSpPr>
        <p:spPr>
          <a:xfrm>
            <a:off x="3416148" y="6379500"/>
            <a:ext cx="323808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UI 5%</a:t>
            </a:r>
          </a:p>
        </p:txBody>
      </p:sp>
      <p:sp>
        <p:nvSpPr>
          <p:cNvPr id="261" name="TextBox 260">
            <a:extLst>
              <a:ext uri="{FF2B5EF4-FFF2-40B4-BE49-F238E27FC236}">
                <a16:creationId xmlns:a16="http://schemas.microsoft.com/office/drawing/2014/main" id="{9E7AFF2D-1E24-3776-BFE7-B1FF7571BB55}"/>
              </a:ext>
            </a:extLst>
          </p:cNvPr>
          <p:cNvSpPr txBox="1"/>
          <p:nvPr/>
        </p:nvSpPr>
        <p:spPr>
          <a:xfrm>
            <a:off x="3007062" y="7153126"/>
            <a:ext cx="732894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보안 관련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22%</a:t>
            </a:r>
          </a:p>
        </p:txBody>
      </p:sp>
      <p:sp>
        <p:nvSpPr>
          <p:cNvPr id="262" name="TextBox 261">
            <a:extLst>
              <a:ext uri="{FF2B5EF4-FFF2-40B4-BE49-F238E27FC236}">
                <a16:creationId xmlns:a16="http://schemas.microsoft.com/office/drawing/2014/main" id="{65554C86-2216-3AD0-BA25-CF6F7A8C2148}"/>
              </a:ext>
            </a:extLst>
          </p:cNvPr>
          <p:cNvSpPr txBox="1"/>
          <p:nvPr/>
        </p:nvSpPr>
        <p:spPr>
          <a:xfrm>
            <a:off x="639902" y="5189884"/>
            <a:ext cx="732894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업무 관련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69%</a:t>
            </a:r>
          </a:p>
        </p:txBody>
      </p:sp>
      <p:sp>
        <p:nvSpPr>
          <p:cNvPr id="263" name="TextBox 262">
            <a:extLst>
              <a:ext uri="{FF2B5EF4-FFF2-40B4-BE49-F238E27FC236}">
                <a16:creationId xmlns:a16="http://schemas.microsoft.com/office/drawing/2014/main" id="{A0157EC4-EA7C-DD84-60F7-0D8922688014}"/>
              </a:ext>
            </a:extLst>
          </p:cNvPr>
          <p:cNvSpPr txBox="1"/>
          <p:nvPr/>
        </p:nvSpPr>
        <p:spPr>
          <a:xfrm>
            <a:off x="3319969" y="5681466"/>
            <a:ext cx="419987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기타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2%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0FB6FBE1-AF4F-198D-6D5D-3117984934A8}"/>
              </a:ext>
            </a:extLst>
          </p:cNvPr>
          <p:cNvSpPr txBox="1"/>
          <p:nvPr/>
        </p:nvSpPr>
        <p:spPr>
          <a:xfrm>
            <a:off x="639902" y="7914828"/>
            <a:ext cx="426079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PC</a:t>
            </a:r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43%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D8C40EF0-0B35-DCEE-46DA-86EB270FEC34}"/>
              </a:ext>
            </a:extLst>
          </p:cNvPr>
          <p:cNvSpPr txBox="1"/>
          <p:nvPr/>
        </p:nvSpPr>
        <p:spPr>
          <a:xfrm>
            <a:off x="639902" y="9900303"/>
            <a:ext cx="527068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노트북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2%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B92F4C9F-6B29-597B-9E7A-4C88038F6F5F}"/>
              </a:ext>
            </a:extLst>
          </p:cNvPr>
          <p:cNvSpPr txBox="1"/>
          <p:nvPr/>
        </p:nvSpPr>
        <p:spPr>
          <a:xfrm>
            <a:off x="3145883" y="9900303"/>
            <a:ext cx="594073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모니터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43%</a:t>
            </a:r>
          </a:p>
        </p:txBody>
      </p:sp>
      <p:sp>
        <p:nvSpPr>
          <p:cNvPr id="267" name="TextBox 266">
            <a:extLst>
              <a:ext uri="{FF2B5EF4-FFF2-40B4-BE49-F238E27FC236}">
                <a16:creationId xmlns:a16="http://schemas.microsoft.com/office/drawing/2014/main" id="{148FEBFB-4EC5-ED42-07C2-9FABB39A9D12}"/>
              </a:ext>
            </a:extLst>
          </p:cNvPr>
          <p:cNvSpPr txBox="1"/>
          <p:nvPr/>
        </p:nvSpPr>
        <p:spPr>
          <a:xfrm>
            <a:off x="3145883" y="7986836"/>
            <a:ext cx="594073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프린터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10%</a:t>
            </a:r>
          </a:p>
        </p:txBody>
      </p:sp>
      <p:sp>
        <p:nvSpPr>
          <p:cNvPr id="268" name="TextBox 267">
            <a:extLst>
              <a:ext uri="{FF2B5EF4-FFF2-40B4-BE49-F238E27FC236}">
                <a16:creationId xmlns:a16="http://schemas.microsoft.com/office/drawing/2014/main" id="{FF636DEF-A94D-F4C7-915C-16BCCAC9A1A2}"/>
              </a:ext>
            </a:extLst>
          </p:cNvPr>
          <p:cNvSpPr txBox="1"/>
          <p:nvPr/>
        </p:nvSpPr>
        <p:spPr>
          <a:xfrm>
            <a:off x="3319969" y="9201738"/>
            <a:ext cx="419987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기타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1%</a:t>
            </a:r>
          </a:p>
        </p:txBody>
      </p:sp>
      <p:sp>
        <p:nvSpPr>
          <p:cNvPr id="271" name="TextBox 270">
            <a:extLst>
              <a:ext uri="{FF2B5EF4-FFF2-40B4-BE49-F238E27FC236}">
                <a16:creationId xmlns:a16="http://schemas.microsoft.com/office/drawing/2014/main" id="{BEB1DA3A-D8BC-4EBE-4559-3670A60E66D6}"/>
              </a:ext>
            </a:extLst>
          </p:cNvPr>
          <p:cNvSpPr txBox="1"/>
          <p:nvPr/>
        </p:nvSpPr>
        <p:spPr>
          <a:xfrm>
            <a:off x="3212888" y="8690111"/>
            <a:ext cx="527068" cy="1538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</a:bodyPr>
          <a:lstStyle>
            <a:defPPr>
              <a:defRPr lang="en-US"/>
            </a:defPPr>
            <a:lvl1pPr algn="r" defTabSz="914213">
              <a:buClr>
                <a:srgbClr val="808080"/>
              </a:buClr>
              <a:buSzPct val="80000"/>
              <a:tabLst>
                <a:tab pos="430283" algn="l"/>
                <a:tab pos="860568" algn="l"/>
                <a:tab pos="1293523" algn="l"/>
                <a:tab pos="1723807" algn="l"/>
                <a:tab pos="2154091" algn="l"/>
                <a:tab pos="2585712" algn="l"/>
                <a:tab pos="3015995" algn="l"/>
                <a:tab pos="3447614" algn="l"/>
                <a:tab pos="3879234" algn="l"/>
                <a:tab pos="4309518" algn="l"/>
                <a:tab pos="4741137" algn="l"/>
                <a:tab pos="5603041" algn="l"/>
                <a:tab pos="6034661" algn="l"/>
                <a:tab pos="6464944" algn="l"/>
                <a:tab pos="6895228" algn="l"/>
                <a:tab pos="7326849" algn="l"/>
                <a:tab pos="7758468" algn="l"/>
                <a:tab pos="8188752" algn="l"/>
                <a:tab pos="8620372" algn="l"/>
                <a:tab pos="9050656" algn="l"/>
                <a:tab pos="9482276" algn="l"/>
                <a:tab pos="9913896" algn="l"/>
                <a:tab pos="10344179" algn="l"/>
                <a:tab pos="10775798" algn="l"/>
                <a:tab pos="11206082" algn="l"/>
                <a:tab pos="11636366" algn="l"/>
                <a:tab pos="12069322" algn="l"/>
                <a:tab pos="12499605" algn="l"/>
                <a:tab pos="12929890" algn="l"/>
                <a:tab pos="13361510" algn="l"/>
                <a:tab pos="13791794" algn="l"/>
              </a:tabLst>
              <a:defRPr sz="1000" spc="-4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스캐너 </a:t>
            </a:r>
            <a:r>
              <a:rPr lang="en-US" altLang="ko-KR" dirty="0">
                <a:ln>
                  <a:solidFill>
                    <a:srgbClr val="126AD4">
                      <a:alpha val="0"/>
                    </a:srgb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1%</a:t>
            </a:r>
          </a:p>
        </p:txBody>
      </p:sp>
      <p:sp>
        <p:nvSpPr>
          <p:cNvPr id="272" name="자유형: 도형 271">
            <a:extLst>
              <a:ext uri="{FF2B5EF4-FFF2-40B4-BE49-F238E27FC236}">
                <a16:creationId xmlns:a16="http://schemas.microsoft.com/office/drawing/2014/main" id="{D4BAC529-CB42-3D82-9A38-7A299E418FA1}"/>
              </a:ext>
            </a:extLst>
          </p:cNvPr>
          <p:cNvSpPr/>
          <p:nvPr/>
        </p:nvSpPr>
        <p:spPr>
          <a:xfrm>
            <a:off x="579120" y="2667000"/>
            <a:ext cx="975360" cy="137160"/>
          </a:xfrm>
          <a:custGeom>
            <a:avLst/>
            <a:gdLst>
              <a:gd name="connsiteX0" fmla="*/ 0 w 975360"/>
              <a:gd name="connsiteY0" fmla="*/ 0 h 137160"/>
              <a:gd name="connsiteX1" fmla="*/ 807720 w 975360"/>
              <a:gd name="connsiteY1" fmla="*/ 0 h 137160"/>
              <a:gd name="connsiteX2" fmla="*/ 975360 w 975360"/>
              <a:gd name="connsiteY2" fmla="*/ 137160 h 13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75360" h="137160">
                <a:moveTo>
                  <a:pt x="0" y="0"/>
                </a:moveTo>
                <a:lnTo>
                  <a:pt x="807720" y="0"/>
                </a:lnTo>
                <a:lnTo>
                  <a:pt x="975360" y="13716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3" name="자유형: 도형 272">
            <a:extLst>
              <a:ext uri="{FF2B5EF4-FFF2-40B4-BE49-F238E27FC236}">
                <a16:creationId xmlns:a16="http://schemas.microsoft.com/office/drawing/2014/main" id="{38EDC527-7417-666C-9AA9-9F235FE6732A}"/>
              </a:ext>
            </a:extLst>
          </p:cNvPr>
          <p:cNvSpPr/>
          <p:nvPr/>
        </p:nvSpPr>
        <p:spPr>
          <a:xfrm>
            <a:off x="571500" y="4320540"/>
            <a:ext cx="1028700" cy="137160"/>
          </a:xfrm>
          <a:custGeom>
            <a:avLst/>
            <a:gdLst>
              <a:gd name="connsiteX0" fmla="*/ 0 w 1028700"/>
              <a:gd name="connsiteY0" fmla="*/ 137160 h 137160"/>
              <a:gd name="connsiteX1" fmla="*/ 830580 w 1028700"/>
              <a:gd name="connsiteY1" fmla="*/ 137160 h 137160"/>
              <a:gd name="connsiteX2" fmla="*/ 1028700 w 1028700"/>
              <a:gd name="connsiteY2" fmla="*/ 0 h 137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8700" h="137160">
                <a:moveTo>
                  <a:pt x="0" y="137160"/>
                </a:moveTo>
                <a:lnTo>
                  <a:pt x="830580" y="137160"/>
                </a:lnTo>
                <a:lnTo>
                  <a:pt x="1028700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4" name="자유형: 도형 273">
            <a:extLst>
              <a:ext uri="{FF2B5EF4-FFF2-40B4-BE49-F238E27FC236}">
                <a16:creationId xmlns:a16="http://schemas.microsoft.com/office/drawing/2014/main" id="{4FAB3C2E-5F41-5D00-EC22-D9BCCB961FF9}"/>
              </a:ext>
            </a:extLst>
          </p:cNvPr>
          <p:cNvSpPr/>
          <p:nvPr/>
        </p:nvSpPr>
        <p:spPr>
          <a:xfrm>
            <a:off x="3025140" y="3329940"/>
            <a:ext cx="723900" cy="114300"/>
          </a:xfrm>
          <a:custGeom>
            <a:avLst/>
            <a:gdLst>
              <a:gd name="connsiteX0" fmla="*/ 723900 w 723900"/>
              <a:gd name="connsiteY0" fmla="*/ 0 h 114300"/>
              <a:gd name="connsiteX1" fmla="*/ 236220 w 723900"/>
              <a:gd name="connsiteY1" fmla="*/ 0 h 114300"/>
              <a:gd name="connsiteX2" fmla="*/ 0 w 723900"/>
              <a:gd name="connsiteY2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23900" h="114300">
                <a:moveTo>
                  <a:pt x="723900" y="0"/>
                </a:moveTo>
                <a:lnTo>
                  <a:pt x="236220" y="0"/>
                </a:lnTo>
                <a:lnTo>
                  <a:pt x="0" y="11430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5" name="자유형: 도형 274">
            <a:extLst>
              <a:ext uri="{FF2B5EF4-FFF2-40B4-BE49-F238E27FC236}">
                <a16:creationId xmlns:a16="http://schemas.microsoft.com/office/drawing/2014/main" id="{89719698-9678-81F7-DF1A-A0B27DB65B47}"/>
              </a:ext>
            </a:extLst>
          </p:cNvPr>
          <p:cNvSpPr/>
          <p:nvPr/>
        </p:nvSpPr>
        <p:spPr>
          <a:xfrm>
            <a:off x="3002280" y="3802380"/>
            <a:ext cx="731520" cy="213360"/>
          </a:xfrm>
          <a:custGeom>
            <a:avLst/>
            <a:gdLst>
              <a:gd name="connsiteX0" fmla="*/ 731520 w 731520"/>
              <a:gd name="connsiteY0" fmla="*/ 213360 h 213360"/>
              <a:gd name="connsiteX1" fmla="*/ 152400 w 731520"/>
              <a:gd name="connsiteY1" fmla="*/ 213360 h 213360"/>
              <a:gd name="connsiteX2" fmla="*/ 0 w 731520"/>
              <a:gd name="connsiteY2" fmla="*/ 0 h 2133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1520" h="213360">
                <a:moveTo>
                  <a:pt x="731520" y="213360"/>
                </a:moveTo>
                <a:lnTo>
                  <a:pt x="152400" y="21336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6" name="자유형: 도형 275">
            <a:extLst>
              <a:ext uri="{FF2B5EF4-FFF2-40B4-BE49-F238E27FC236}">
                <a16:creationId xmlns:a16="http://schemas.microsoft.com/office/drawing/2014/main" id="{DA3512F4-6C16-402A-0D05-4FA4985D8276}"/>
              </a:ext>
            </a:extLst>
          </p:cNvPr>
          <p:cNvSpPr/>
          <p:nvPr/>
        </p:nvSpPr>
        <p:spPr>
          <a:xfrm>
            <a:off x="3055620" y="3642360"/>
            <a:ext cx="160020" cy="0"/>
          </a:xfrm>
          <a:custGeom>
            <a:avLst/>
            <a:gdLst>
              <a:gd name="connsiteX0" fmla="*/ 160020 w 160020"/>
              <a:gd name="connsiteY0" fmla="*/ 0 h 0"/>
              <a:gd name="connsiteX1" fmla="*/ 0 w 16002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0020">
                <a:moveTo>
                  <a:pt x="160020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7" name="자유형: 도형 276">
            <a:extLst>
              <a:ext uri="{FF2B5EF4-FFF2-40B4-BE49-F238E27FC236}">
                <a16:creationId xmlns:a16="http://schemas.microsoft.com/office/drawing/2014/main" id="{6D470480-1589-80A5-86DE-C4BF0D563CB8}"/>
              </a:ext>
            </a:extLst>
          </p:cNvPr>
          <p:cNvSpPr/>
          <p:nvPr/>
        </p:nvSpPr>
        <p:spPr>
          <a:xfrm>
            <a:off x="2651760" y="4290060"/>
            <a:ext cx="1097280" cy="167640"/>
          </a:xfrm>
          <a:custGeom>
            <a:avLst/>
            <a:gdLst>
              <a:gd name="connsiteX0" fmla="*/ 1097280 w 1097280"/>
              <a:gd name="connsiteY0" fmla="*/ 167640 h 167640"/>
              <a:gd name="connsiteX1" fmla="*/ 198120 w 1097280"/>
              <a:gd name="connsiteY1" fmla="*/ 167640 h 167640"/>
              <a:gd name="connsiteX2" fmla="*/ 0 w 1097280"/>
              <a:gd name="connsiteY2" fmla="*/ 0 h 1676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97280" h="167640">
                <a:moveTo>
                  <a:pt x="1097280" y="167640"/>
                </a:moveTo>
                <a:lnTo>
                  <a:pt x="198120" y="16764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8" name="자유형: 도형 277">
            <a:extLst>
              <a:ext uri="{FF2B5EF4-FFF2-40B4-BE49-F238E27FC236}">
                <a16:creationId xmlns:a16="http://schemas.microsoft.com/office/drawing/2014/main" id="{1A711CC3-EFA7-1B13-B977-A5CC7D57751E}"/>
              </a:ext>
            </a:extLst>
          </p:cNvPr>
          <p:cNvSpPr/>
          <p:nvPr/>
        </p:nvSpPr>
        <p:spPr>
          <a:xfrm>
            <a:off x="563880" y="5387340"/>
            <a:ext cx="1021080" cy="114300"/>
          </a:xfrm>
          <a:custGeom>
            <a:avLst/>
            <a:gdLst>
              <a:gd name="connsiteX0" fmla="*/ 0 w 1021080"/>
              <a:gd name="connsiteY0" fmla="*/ 0 h 114300"/>
              <a:gd name="connsiteX1" fmla="*/ 883920 w 1021080"/>
              <a:gd name="connsiteY1" fmla="*/ 0 h 114300"/>
              <a:gd name="connsiteX2" fmla="*/ 1021080 w 1021080"/>
              <a:gd name="connsiteY2" fmla="*/ 11430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1080" h="114300">
                <a:moveTo>
                  <a:pt x="0" y="0"/>
                </a:moveTo>
                <a:lnTo>
                  <a:pt x="883920" y="0"/>
                </a:lnTo>
                <a:lnTo>
                  <a:pt x="1021080" y="11430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9" name="자유형: 도형 278">
            <a:extLst>
              <a:ext uri="{FF2B5EF4-FFF2-40B4-BE49-F238E27FC236}">
                <a16:creationId xmlns:a16="http://schemas.microsoft.com/office/drawing/2014/main" id="{65E41B01-D76E-BF03-5BB8-01A413E9F6D3}"/>
              </a:ext>
            </a:extLst>
          </p:cNvPr>
          <p:cNvSpPr/>
          <p:nvPr/>
        </p:nvSpPr>
        <p:spPr>
          <a:xfrm>
            <a:off x="3009900" y="5867400"/>
            <a:ext cx="731520" cy="205740"/>
          </a:xfrm>
          <a:custGeom>
            <a:avLst/>
            <a:gdLst>
              <a:gd name="connsiteX0" fmla="*/ 731520 w 731520"/>
              <a:gd name="connsiteY0" fmla="*/ 0 h 205740"/>
              <a:gd name="connsiteX1" fmla="*/ 205740 w 731520"/>
              <a:gd name="connsiteY1" fmla="*/ 0 h 205740"/>
              <a:gd name="connsiteX2" fmla="*/ 0 w 731520"/>
              <a:gd name="connsiteY2" fmla="*/ 205740 h 2057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1520" h="205740">
                <a:moveTo>
                  <a:pt x="731520" y="0"/>
                </a:moveTo>
                <a:lnTo>
                  <a:pt x="205740" y="0"/>
                </a:lnTo>
                <a:lnTo>
                  <a:pt x="0" y="20574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0" name="자유형: 도형 279">
            <a:extLst>
              <a:ext uri="{FF2B5EF4-FFF2-40B4-BE49-F238E27FC236}">
                <a16:creationId xmlns:a16="http://schemas.microsoft.com/office/drawing/2014/main" id="{0D743B7F-DC72-BE51-119F-A73866E2AFAE}"/>
              </a:ext>
            </a:extLst>
          </p:cNvPr>
          <p:cNvSpPr/>
          <p:nvPr/>
        </p:nvSpPr>
        <p:spPr>
          <a:xfrm>
            <a:off x="3040856" y="6031706"/>
            <a:ext cx="254794" cy="140494"/>
          </a:xfrm>
          <a:custGeom>
            <a:avLst/>
            <a:gdLst>
              <a:gd name="connsiteX0" fmla="*/ 254794 w 254794"/>
              <a:gd name="connsiteY0" fmla="*/ 0 h 140494"/>
              <a:gd name="connsiteX1" fmla="*/ 0 w 254794"/>
              <a:gd name="connsiteY1" fmla="*/ 140494 h 1404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4794" h="140494">
                <a:moveTo>
                  <a:pt x="254794" y="0"/>
                </a:moveTo>
                <a:lnTo>
                  <a:pt x="0" y="140494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1" name="자유형: 도형 280">
            <a:extLst>
              <a:ext uri="{FF2B5EF4-FFF2-40B4-BE49-F238E27FC236}">
                <a16:creationId xmlns:a16="http://schemas.microsoft.com/office/drawing/2014/main" id="{615DA7AD-C337-82FC-3814-20EE4C3CA26F}"/>
              </a:ext>
            </a:extLst>
          </p:cNvPr>
          <p:cNvSpPr/>
          <p:nvPr/>
        </p:nvSpPr>
        <p:spPr>
          <a:xfrm>
            <a:off x="3059311" y="6245943"/>
            <a:ext cx="228690" cy="45719"/>
          </a:xfrm>
          <a:custGeom>
            <a:avLst/>
            <a:gdLst>
              <a:gd name="connsiteX0" fmla="*/ 252412 w 252412"/>
              <a:gd name="connsiteY0" fmla="*/ 0 h 0"/>
              <a:gd name="connsiteX1" fmla="*/ 0 w 25241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2412">
                <a:moveTo>
                  <a:pt x="252412" y="0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2" name="자유형: 도형 281">
            <a:extLst>
              <a:ext uri="{FF2B5EF4-FFF2-40B4-BE49-F238E27FC236}">
                <a16:creationId xmlns:a16="http://schemas.microsoft.com/office/drawing/2014/main" id="{8239B720-7EFE-7F7A-2F17-4D4710E43DAE}"/>
              </a:ext>
            </a:extLst>
          </p:cNvPr>
          <p:cNvSpPr/>
          <p:nvPr/>
        </p:nvSpPr>
        <p:spPr>
          <a:xfrm>
            <a:off x="3026569" y="6367463"/>
            <a:ext cx="381000" cy="80962"/>
          </a:xfrm>
          <a:custGeom>
            <a:avLst/>
            <a:gdLst>
              <a:gd name="connsiteX0" fmla="*/ 381000 w 381000"/>
              <a:gd name="connsiteY0" fmla="*/ 80962 h 80962"/>
              <a:gd name="connsiteX1" fmla="*/ 0 w 381000"/>
              <a:gd name="connsiteY1" fmla="*/ 0 h 8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81000" h="80962">
                <a:moveTo>
                  <a:pt x="381000" y="80962"/>
                </a:moveTo>
                <a:lnTo>
                  <a:pt x="0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3" name="자유형: 도형 282">
            <a:extLst>
              <a:ext uri="{FF2B5EF4-FFF2-40B4-BE49-F238E27FC236}">
                <a16:creationId xmlns:a16="http://schemas.microsoft.com/office/drawing/2014/main" id="{356CB0DF-E98B-E384-3A48-6B3475C1A274}"/>
              </a:ext>
            </a:extLst>
          </p:cNvPr>
          <p:cNvSpPr/>
          <p:nvPr/>
        </p:nvSpPr>
        <p:spPr>
          <a:xfrm>
            <a:off x="2740819" y="6931819"/>
            <a:ext cx="1007269" cy="171450"/>
          </a:xfrm>
          <a:custGeom>
            <a:avLst/>
            <a:gdLst>
              <a:gd name="connsiteX0" fmla="*/ 1007269 w 1007269"/>
              <a:gd name="connsiteY0" fmla="*/ 171450 h 171450"/>
              <a:gd name="connsiteX1" fmla="*/ 233362 w 1007269"/>
              <a:gd name="connsiteY1" fmla="*/ 171450 h 171450"/>
              <a:gd name="connsiteX2" fmla="*/ 0 w 1007269"/>
              <a:gd name="connsiteY2" fmla="*/ 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07269" h="171450">
                <a:moveTo>
                  <a:pt x="1007269" y="171450"/>
                </a:moveTo>
                <a:lnTo>
                  <a:pt x="233362" y="17145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4" name="자유형: 도형 283">
            <a:extLst>
              <a:ext uri="{FF2B5EF4-FFF2-40B4-BE49-F238E27FC236}">
                <a16:creationId xmlns:a16="http://schemas.microsoft.com/office/drawing/2014/main" id="{78ED9B89-C692-DE71-6C07-5D861C8EBF9D}"/>
              </a:ext>
            </a:extLst>
          </p:cNvPr>
          <p:cNvSpPr/>
          <p:nvPr/>
        </p:nvSpPr>
        <p:spPr>
          <a:xfrm>
            <a:off x="574675" y="8118152"/>
            <a:ext cx="981075" cy="158750"/>
          </a:xfrm>
          <a:custGeom>
            <a:avLst/>
            <a:gdLst>
              <a:gd name="connsiteX0" fmla="*/ 0 w 981075"/>
              <a:gd name="connsiteY0" fmla="*/ 0 h 158750"/>
              <a:gd name="connsiteX1" fmla="*/ 787400 w 981075"/>
              <a:gd name="connsiteY1" fmla="*/ 0 h 158750"/>
              <a:gd name="connsiteX2" fmla="*/ 981075 w 981075"/>
              <a:gd name="connsiteY2" fmla="*/ 158750 h 158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1075" h="158750">
                <a:moveTo>
                  <a:pt x="0" y="0"/>
                </a:moveTo>
                <a:lnTo>
                  <a:pt x="787400" y="0"/>
                </a:lnTo>
                <a:lnTo>
                  <a:pt x="981075" y="15875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88" name="자유형: 도형 287">
            <a:extLst>
              <a:ext uri="{FF2B5EF4-FFF2-40B4-BE49-F238E27FC236}">
                <a16:creationId xmlns:a16="http://schemas.microsoft.com/office/drawing/2014/main" id="{2791971A-83CC-A442-8D67-B50CD178D3DD}"/>
              </a:ext>
            </a:extLst>
          </p:cNvPr>
          <p:cNvSpPr/>
          <p:nvPr/>
        </p:nvSpPr>
        <p:spPr>
          <a:xfrm>
            <a:off x="2638425" y="9712325"/>
            <a:ext cx="1108075" cy="139700"/>
          </a:xfrm>
          <a:custGeom>
            <a:avLst/>
            <a:gdLst>
              <a:gd name="connsiteX0" fmla="*/ 1108075 w 1108075"/>
              <a:gd name="connsiteY0" fmla="*/ 139700 h 139700"/>
              <a:gd name="connsiteX1" fmla="*/ 212725 w 1108075"/>
              <a:gd name="connsiteY1" fmla="*/ 139700 h 139700"/>
              <a:gd name="connsiteX2" fmla="*/ 0 w 1108075"/>
              <a:gd name="connsiteY2" fmla="*/ 0 h 139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08075" h="139700">
                <a:moveTo>
                  <a:pt x="1108075" y="139700"/>
                </a:moveTo>
                <a:lnTo>
                  <a:pt x="212725" y="139700"/>
                </a:lnTo>
                <a:lnTo>
                  <a:pt x="0" y="0"/>
                </a:lnTo>
              </a:path>
            </a:pathLst>
          </a:custGeom>
          <a:noFill/>
          <a:ln w="952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289" name="그룹 288">
            <a:extLst>
              <a:ext uri="{FF2B5EF4-FFF2-40B4-BE49-F238E27FC236}">
                <a16:creationId xmlns:a16="http://schemas.microsoft.com/office/drawing/2014/main" id="{D675E663-1BB3-F397-21A5-3052425E4F17}"/>
              </a:ext>
            </a:extLst>
          </p:cNvPr>
          <p:cNvGrpSpPr/>
          <p:nvPr/>
        </p:nvGrpSpPr>
        <p:grpSpPr>
          <a:xfrm>
            <a:off x="4077720" y="2828815"/>
            <a:ext cx="930938" cy="270935"/>
            <a:chOff x="8054932" y="2213496"/>
            <a:chExt cx="930938" cy="270935"/>
          </a:xfrm>
        </p:grpSpPr>
        <p:grpSp>
          <p:nvGrpSpPr>
            <p:cNvPr id="290" name="그룹 289">
              <a:extLst>
                <a:ext uri="{FF2B5EF4-FFF2-40B4-BE49-F238E27FC236}">
                  <a16:creationId xmlns:a16="http://schemas.microsoft.com/office/drawing/2014/main" id="{B22899FC-EA9E-E7D5-B87A-7A61D1A870A2}"/>
                </a:ext>
              </a:extLst>
            </p:cNvPr>
            <p:cNvGrpSpPr/>
            <p:nvPr/>
          </p:nvGrpSpPr>
          <p:grpSpPr>
            <a:xfrm>
              <a:off x="8054932" y="2213496"/>
              <a:ext cx="930938" cy="138499"/>
              <a:chOff x="8054932" y="2161826"/>
              <a:chExt cx="930938" cy="138499"/>
            </a:xfrm>
          </p:grpSpPr>
          <p:sp>
            <p:nvSpPr>
              <p:cNvPr id="294" name="직사각형 293">
                <a:extLst>
                  <a:ext uri="{FF2B5EF4-FFF2-40B4-BE49-F238E27FC236}">
                    <a16:creationId xmlns:a16="http://schemas.microsoft.com/office/drawing/2014/main" id="{AD1AEA73-A690-4997-B5FF-BF58BB7FCBDD}"/>
                  </a:ext>
                </a:extLst>
              </p:cNvPr>
              <p:cNvSpPr/>
              <p:nvPr/>
            </p:nvSpPr>
            <p:spPr>
              <a:xfrm>
                <a:off x="8054932" y="2192828"/>
                <a:ext cx="45719" cy="45719"/>
              </a:xfrm>
              <a:prstGeom prst="rect">
                <a:avLst/>
              </a:prstGeom>
              <a:solidFill>
                <a:srgbClr val="E6E7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95" name="TextBox 294">
                <a:extLst>
                  <a:ext uri="{FF2B5EF4-FFF2-40B4-BE49-F238E27FC236}">
                    <a16:creationId xmlns:a16="http://schemas.microsoft.com/office/drawing/2014/main" id="{0E99BAE6-6AF1-2AFF-58B3-5A2AB57D10FA}"/>
                  </a:ext>
                </a:extLst>
              </p:cNvPr>
              <p:cNvSpPr txBox="1"/>
              <p:nvPr/>
            </p:nvSpPr>
            <p:spPr>
              <a:xfrm>
                <a:off x="8152308" y="2161826"/>
                <a:ext cx="83356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25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년 총 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1,402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 </a:t>
                </a:r>
              </a:p>
            </p:txBody>
          </p:sp>
        </p:grpSp>
        <p:grpSp>
          <p:nvGrpSpPr>
            <p:cNvPr id="291" name="그룹 290">
              <a:extLst>
                <a:ext uri="{FF2B5EF4-FFF2-40B4-BE49-F238E27FC236}">
                  <a16:creationId xmlns:a16="http://schemas.microsoft.com/office/drawing/2014/main" id="{C539186B-5BF7-5137-A1D6-33BD42E325F5}"/>
                </a:ext>
              </a:extLst>
            </p:cNvPr>
            <p:cNvGrpSpPr/>
            <p:nvPr/>
          </p:nvGrpSpPr>
          <p:grpSpPr>
            <a:xfrm>
              <a:off x="8054932" y="2345932"/>
              <a:ext cx="930938" cy="138499"/>
              <a:chOff x="8054932" y="2345932"/>
              <a:chExt cx="930938" cy="138499"/>
            </a:xfrm>
          </p:grpSpPr>
          <p:sp>
            <p:nvSpPr>
              <p:cNvPr id="292" name="직사각형 291">
                <a:extLst>
                  <a:ext uri="{FF2B5EF4-FFF2-40B4-BE49-F238E27FC236}">
                    <a16:creationId xmlns:a16="http://schemas.microsoft.com/office/drawing/2014/main" id="{938E0C8B-A299-3EF2-FC54-9017284CF43C}"/>
                  </a:ext>
                </a:extLst>
              </p:cNvPr>
              <p:cNvSpPr/>
              <p:nvPr/>
            </p:nvSpPr>
            <p:spPr>
              <a:xfrm>
                <a:off x="8054932" y="2376934"/>
                <a:ext cx="45719" cy="45719"/>
              </a:xfrm>
              <a:prstGeom prst="rect">
                <a:avLst/>
              </a:prstGeom>
              <a:solidFill>
                <a:srgbClr val="426F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293" name="TextBox 292">
                <a:extLst>
                  <a:ext uri="{FF2B5EF4-FFF2-40B4-BE49-F238E27FC236}">
                    <a16:creationId xmlns:a16="http://schemas.microsoft.com/office/drawing/2014/main" id="{B7579C8A-9547-56A3-166C-4A1AE5185D57}"/>
                  </a:ext>
                </a:extLst>
              </p:cNvPr>
              <p:cNvSpPr txBox="1"/>
              <p:nvPr/>
            </p:nvSpPr>
            <p:spPr>
              <a:xfrm>
                <a:off x="8152308" y="2345932"/>
                <a:ext cx="83356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26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년 총 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1,402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 </a:t>
                </a:r>
              </a:p>
            </p:txBody>
          </p:sp>
        </p:grpSp>
      </p:grpSp>
      <p:grpSp>
        <p:nvGrpSpPr>
          <p:cNvPr id="296" name="그룹 295">
            <a:extLst>
              <a:ext uri="{FF2B5EF4-FFF2-40B4-BE49-F238E27FC236}">
                <a16:creationId xmlns:a16="http://schemas.microsoft.com/office/drawing/2014/main" id="{6176C7C5-13E9-4A56-65A8-5833AAF48539}"/>
              </a:ext>
            </a:extLst>
          </p:cNvPr>
          <p:cNvGrpSpPr/>
          <p:nvPr/>
        </p:nvGrpSpPr>
        <p:grpSpPr>
          <a:xfrm>
            <a:off x="4077720" y="5573604"/>
            <a:ext cx="930938" cy="270935"/>
            <a:chOff x="8054932" y="2213496"/>
            <a:chExt cx="930938" cy="270935"/>
          </a:xfrm>
        </p:grpSpPr>
        <p:grpSp>
          <p:nvGrpSpPr>
            <p:cNvPr id="297" name="그룹 296">
              <a:extLst>
                <a:ext uri="{FF2B5EF4-FFF2-40B4-BE49-F238E27FC236}">
                  <a16:creationId xmlns:a16="http://schemas.microsoft.com/office/drawing/2014/main" id="{A74C559A-D896-6F22-0285-4C1477CB9522}"/>
                </a:ext>
              </a:extLst>
            </p:cNvPr>
            <p:cNvGrpSpPr/>
            <p:nvPr/>
          </p:nvGrpSpPr>
          <p:grpSpPr>
            <a:xfrm>
              <a:off x="8054932" y="2213496"/>
              <a:ext cx="930938" cy="138499"/>
              <a:chOff x="8054932" y="2161826"/>
              <a:chExt cx="930938" cy="138499"/>
            </a:xfrm>
          </p:grpSpPr>
          <p:sp>
            <p:nvSpPr>
              <p:cNvPr id="301" name="직사각형 300">
                <a:extLst>
                  <a:ext uri="{FF2B5EF4-FFF2-40B4-BE49-F238E27FC236}">
                    <a16:creationId xmlns:a16="http://schemas.microsoft.com/office/drawing/2014/main" id="{01FCC7AC-266A-0FBB-35C0-F3D23C13ACA1}"/>
                  </a:ext>
                </a:extLst>
              </p:cNvPr>
              <p:cNvSpPr/>
              <p:nvPr/>
            </p:nvSpPr>
            <p:spPr>
              <a:xfrm>
                <a:off x="8054932" y="2192828"/>
                <a:ext cx="45719" cy="45719"/>
              </a:xfrm>
              <a:prstGeom prst="rect">
                <a:avLst/>
              </a:prstGeom>
              <a:solidFill>
                <a:srgbClr val="E6E7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302" name="TextBox 301">
                <a:extLst>
                  <a:ext uri="{FF2B5EF4-FFF2-40B4-BE49-F238E27FC236}">
                    <a16:creationId xmlns:a16="http://schemas.microsoft.com/office/drawing/2014/main" id="{8D2EEEFD-5A4D-B1E4-0F9D-34004CC3B901}"/>
                  </a:ext>
                </a:extLst>
              </p:cNvPr>
              <p:cNvSpPr txBox="1"/>
              <p:nvPr/>
            </p:nvSpPr>
            <p:spPr>
              <a:xfrm>
                <a:off x="8152308" y="2161826"/>
                <a:ext cx="83356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25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년 총 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5,981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 </a:t>
                </a:r>
              </a:p>
            </p:txBody>
          </p:sp>
        </p:grpSp>
        <p:grpSp>
          <p:nvGrpSpPr>
            <p:cNvPr id="298" name="그룹 297">
              <a:extLst>
                <a:ext uri="{FF2B5EF4-FFF2-40B4-BE49-F238E27FC236}">
                  <a16:creationId xmlns:a16="http://schemas.microsoft.com/office/drawing/2014/main" id="{14AE09C3-AF6C-2287-B780-2D10ACB89598}"/>
                </a:ext>
              </a:extLst>
            </p:cNvPr>
            <p:cNvGrpSpPr/>
            <p:nvPr/>
          </p:nvGrpSpPr>
          <p:grpSpPr>
            <a:xfrm>
              <a:off x="8054932" y="2345932"/>
              <a:ext cx="930938" cy="138499"/>
              <a:chOff x="8054932" y="2345932"/>
              <a:chExt cx="930938" cy="138499"/>
            </a:xfrm>
          </p:grpSpPr>
          <p:sp>
            <p:nvSpPr>
              <p:cNvPr id="299" name="직사각형 298">
                <a:extLst>
                  <a:ext uri="{FF2B5EF4-FFF2-40B4-BE49-F238E27FC236}">
                    <a16:creationId xmlns:a16="http://schemas.microsoft.com/office/drawing/2014/main" id="{4C4C1A16-3895-C1FE-2283-0AB2564A88B2}"/>
                  </a:ext>
                </a:extLst>
              </p:cNvPr>
              <p:cNvSpPr/>
              <p:nvPr/>
            </p:nvSpPr>
            <p:spPr>
              <a:xfrm>
                <a:off x="8054932" y="2376934"/>
                <a:ext cx="45719" cy="45719"/>
              </a:xfrm>
              <a:prstGeom prst="rect">
                <a:avLst/>
              </a:prstGeom>
              <a:solidFill>
                <a:srgbClr val="426F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3D0B0D02-EE2F-4ED0-5C46-9CA70FEF656C}"/>
                  </a:ext>
                </a:extLst>
              </p:cNvPr>
              <p:cNvSpPr txBox="1"/>
              <p:nvPr/>
            </p:nvSpPr>
            <p:spPr>
              <a:xfrm>
                <a:off x="8152308" y="2345932"/>
                <a:ext cx="83356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26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년 총 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6,060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 </a:t>
                </a:r>
              </a:p>
            </p:txBody>
          </p:sp>
        </p:grpSp>
      </p:grpSp>
      <p:grpSp>
        <p:nvGrpSpPr>
          <p:cNvPr id="303" name="그룹 302">
            <a:extLst>
              <a:ext uri="{FF2B5EF4-FFF2-40B4-BE49-F238E27FC236}">
                <a16:creationId xmlns:a16="http://schemas.microsoft.com/office/drawing/2014/main" id="{E6C911F6-0594-730C-273F-81E47322B445}"/>
              </a:ext>
            </a:extLst>
          </p:cNvPr>
          <p:cNvGrpSpPr/>
          <p:nvPr/>
        </p:nvGrpSpPr>
        <p:grpSpPr>
          <a:xfrm>
            <a:off x="6102221" y="8229313"/>
            <a:ext cx="962998" cy="270935"/>
            <a:chOff x="8054932" y="2213496"/>
            <a:chExt cx="962998" cy="270935"/>
          </a:xfrm>
        </p:grpSpPr>
        <p:grpSp>
          <p:nvGrpSpPr>
            <p:cNvPr id="304" name="그룹 303">
              <a:extLst>
                <a:ext uri="{FF2B5EF4-FFF2-40B4-BE49-F238E27FC236}">
                  <a16:creationId xmlns:a16="http://schemas.microsoft.com/office/drawing/2014/main" id="{57CF894B-770C-7A9E-F057-AFB5DF3D61D0}"/>
                </a:ext>
              </a:extLst>
            </p:cNvPr>
            <p:cNvGrpSpPr/>
            <p:nvPr/>
          </p:nvGrpSpPr>
          <p:grpSpPr>
            <a:xfrm>
              <a:off x="8054932" y="2213496"/>
              <a:ext cx="962998" cy="138499"/>
              <a:chOff x="8054932" y="2161826"/>
              <a:chExt cx="962998" cy="138499"/>
            </a:xfrm>
          </p:grpSpPr>
          <p:sp>
            <p:nvSpPr>
              <p:cNvPr id="308" name="직사각형 307">
                <a:extLst>
                  <a:ext uri="{FF2B5EF4-FFF2-40B4-BE49-F238E27FC236}">
                    <a16:creationId xmlns:a16="http://schemas.microsoft.com/office/drawing/2014/main" id="{92ED2334-7D78-2BCA-431F-688F34D51342}"/>
                  </a:ext>
                </a:extLst>
              </p:cNvPr>
              <p:cNvSpPr/>
              <p:nvPr/>
            </p:nvSpPr>
            <p:spPr>
              <a:xfrm>
                <a:off x="8054932" y="2192828"/>
                <a:ext cx="45719" cy="45719"/>
              </a:xfrm>
              <a:prstGeom prst="rect">
                <a:avLst/>
              </a:prstGeom>
              <a:solidFill>
                <a:srgbClr val="E6E7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309" name="TextBox 308">
                <a:extLst>
                  <a:ext uri="{FF2B5EF4-FFF2-40B4-BE49-F238E27FC236}">
                    <a16:creationId xmlns:a16="http://schemas.microsoft.com/office/drawing/2014/main" id="{47721AAF-3052-978C-D798-E86B4CADC07D}"/>
                  </a:ext>
                </a:extLst>
              </p:cNvPr>
              <p:cNvSpPr txBox="1"/>
              <p:nvPr/>
            </p:nvSpPr>
            <p:spPr>
              <a:xfrm>
                <a:off x="8152308" y="2161826"/>
                <a:ext cx="86562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25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년 총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12,575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 </a:t>
                </a:r>
              </a:p>
            </p:txBody>
          </p:sp>
        </p:grpSp>
        <p:grpSp>
          <p:nvGrpSpPr>
            <p:cNvPr id="305" name="그룹 304">
              <a:extLst>
                <a:ext uri="{FF2B5EF4-FFF2-40B4-BE49-F238E27FC236}">
                  <a16:creationId xmlns:a16="http://schemas.microsoft.com/office/drawing/2014/main" id="{96FD0774-3BFA-7E5F-B7D2-447A595821E7}"/>
                </a:ext>
              </a:extLst>
            </p:cNvPr>
            <p:cNvGrpSpPr/>
            <p:nvPr/>
          </p:nvGrpSpPr>
          <p:grpSpPr>
            <a:xfrm>
              <a:off x="8054932" y="2345932"/>
              <a:ext cx="962998" cy="138499"/>
              <a:chOff x="8054932" y="2345932"/>
              <a:chExt cx="962998" cy="138499"/>
            </a:xfrm>
          </p:grpSpPr>
          <p:sp>
            <p:nvSpPr>
              <p:cNvPr id="306" name="직사각형 305">
                <a:extLst>
                  <a:ext uri="{FF2B5EF4-FFF2-40B4-BE49-F238E27FC236}">
                    <a16:creationId xmlns:a16="http://schemas.microsoft.com/office/drawing/2014/main" id="{9A0B42B5-3519-4509-70D2-3E873D50B723}"/>
                  </a:ext>
                </a:extLst>
              </p:cNvPr>
              <p:cNvSpPr/>
              <p:nvPr/>
            </p:nvSpPr>
            <p:spPr>
              <a:xfrm>
                <a:off x="8054932" y="2376934"/>
                <a:ext cx="45719" cy="45719"/>
              </a:xfrm>
              <a:prstGeom prst="rect">
                <a:avLst/>
              </a:prstGeom>
              <a:solidFill>
                <a:srgbClr val="426FD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900" dirty="0">
                  <a:latin typeface="KoPub돋움체 Medium" panose="00000600000000000000" pitchFamily="2" charset="-127"/>
                  <a:ea typeface="KoPub돋움체 Medium" panose="00000600000000000000" pitchFamily="2" charset="-127"/>
                </a:endParaRPr>
              </a:p>
            </p:txBody>
          </p:sp>
          <p:sp>
            <p:nvSpPr>
              <p:cNvPr id="307" name="TextBox 306">
                <a:extLst>
                  <a:ext uri="{FF2B5EF4-FFF2-40B4-BE49-F238E27FC236}">
                    <a16:creationId xmlns:a16="http://schemas.microsoft.com/office/drawing/2014/main" id="{FB6DF905-07A4-2139-9739-12B88CAD89F5}"/>
                  </a:ext>
                </a:extLst>
              </p:cNvPr>
              <p:cNvSpPr txBox="1"/>
              <p:nvPr/>
            </p:nvSpPr>
            <p:spPr>
              <a:xfrm>
                <a:off x="8152308" y="2345932"/>
                <a:ext cx="865622" cy="1384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26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년 총</a:t>
                </a:r>
                <a:r>
                  <a:rPr lang="en-US" altLang="ko-KR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12,821</a:t>
                </a:r>
                <a:r>
                  <a:rPr lang="ko-KR" altLang="en-US" sz="900" dirty="0">
                    <a:latin typeface="KoPub돋움체 Medium" panose="00000600000000000000" pitchFamily="2" charset="-127"/>
                    <a:ea typeface="KoPub돋움체 Medium" panose="00000600000000000000" pitchFamily="2" charset="-127"/>
                  </a:rPr>
                  <a:t>식 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92274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C34E4C-4B6A-2676-2BCE-CB0C7A5C6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6134957C-EB84-5B89-E73F-349F9A857E85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FB991AE-F7D4-BF19-A082-D29A156DB4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14740CB-2041-6A33-727F-566E2D97D03C}"/>
              </a:ext>
            </a:extLst>
          </p:cNvPr>
          <p:cNvSpPr txBox="1"/>
          <p:nvPr/>
        </p:nvSpPr>
        <p:spPr>
          <a:xfrm>
            <a:off x="574868" y="10019578"/>
            <a:ext cx="6044009" cy="146900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 marL="176213" indent="-266700" defTabSz="995690" latinLnBrk="0">
              <a:lnSpc>
                <a:spcPts val="1200"/>
              </a:lnSpc>
              <a:spcBef>
                <a:spcPts val="300"/>
              </a:spcBef>
              <a:buClr>
                <a:srgbClr val="777777"/>
              </a:buClr>
              <a:buSzPct val="100000"/>
              <a:defRPr sz="900">
                <a:solidFill>
                  <a:schemeClr val="tx1">
                    <a:lumMod val="50000"/>
                    <a:lumOff val="50000"/>
                  </a:schemeClr>
                </a:solidFill>
                <a:latin typeface="Rix모던고딕 M" panose="02020603020101020101" pitchFamily="18" charset="-127"/>
                <a:ea typeface="Rix모던고딕 M" panose="02020603020101020101" pitchFamily="18" charset="-127"/>
                <a:cs typeface="KoPubWorld돋움체 Medium" panose="00000600000000000000" pitchFamily="2" charset="-127"/>
              </a:defRPr>
            </a:lvl1pPr>
          </a:lstStyle>
          <a:p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※</a:t>
            </a:r>
            <a:r>
              <a:rPr lang="ko-KR" altLang="en-US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위  대상 외에도 국방전산정보원에서 예방 점검의 필요성이 있다고 판단하는 대상에 대해서는 제안사는 예방 점검을 수행합니다</a:t>
            </a:r>
            <a:r>
              <a:rPr lang="en-US" altLang="ko-KR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</a:t>
            </a:r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2D3D9EBE-FA9F-444A-2A95-1F74AC03F23B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0396A58-978C-6906-7A25-69B63003120A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 3)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필수 예방점검 대상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(1/7)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493C234-68F2-D2BF-87AE-5DBB5D03471A}"/>
              </a:ext>
            </a:extLst>
          </p:cNvPr>
          <p:cNvSpPr txBox="1"/>
          <p:nvPr/>
        </p:nvSpPr>
        <p:spPr>
          <a:xfrm>
            <a:off x="934361" y="1644256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성공적인 업무 수행을 위한 필수 예방점검 대상 분석</a:t>
            </a:r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8AE0A3C1-0121-1EA6-A12E-2CC7DDBEB104}"/>
              </a:ext>
            </a:extLst>
          </p:cNvPr>
          <p:cNvGraphicFramePr>
            <a:graphicFrameLocks noGrp="1"/>
          </p:cNvGraphicFramePr>
          <p:nvPr/>
        </p:nvGraphicFramePr>
        <p:xfrm>
          <a:off x="574868" y="2095418"/>
          <a:ext cx="6625840" cy="7847574"/>
        </p:xfrm>
        <a:graphic>
          <a:graphicData uri="http://schemas.openxmlformats.org/drawingml/2006/table">
            <a:tbl>
              <a:tblPr/>
              <a:tblGrid>
                <a:gridCol w="1008663">
                  <a:extLst>
                    <a:ext uri="{9D8B030D-6E8A-4147-A177-3AD203B41FA5}">
                      <a16:colId xmlns:a16="http://schemas.microsoft.com/office/drawing/2014/main" val="1643724907"/>
                    </a:ext>
                  </a:extLst>
                </a:gridCol>
                <a:gridCol w="2304256">
                  <a:extLst>
                    <a:ext uri="{9D8B030D-6E8A-4147-A177-3AD203B41FA5}">
                      <a16:colId xmlns:a16="http://schemas.microsoft.com/office/drawing/2014/main" val="4129072543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227912004"/>
                    </a:ext>
                  </a:extLst>
                </a:gridCol>
                <a:gridCol w="2664849">
                  <a:extLst>
                    <a:ext uri="{9D8B030D-6E8A-4147-A177-3AD203B41FA5}">
                      <a16:colId xmlns:a16="http://schemas.microsoft.com/office/drawing/2014/main" val="1484156488"/>
                    </a:ext>
                  </a:extLst>
                </a:gridCol>
              </a:tblGrid>
              <a:tr h="39137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분 야</a:t>
                      </a:r>
                    </a:p>
                  </a:txBody>
                  <a:tcPr marL="28226" marR="28226" marT="14063" marB="140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6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필수 예방점검 대상</a:t>
                      </a:r>
                    </a:p>
                  </a:txBody>
                  <a:tcPr marL="28226" marR="28226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6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주 기</a:t>
                      </a:r>
                    </a:p>
                  </a:txBody>
                  <a:tcPr marL="28226" marR="28226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6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상세 내역</a:t>
                      </a:r>
                    </a:p>
                  </a:txBody>
                  <a:tcPr marL="28226" marR="28226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6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168926"/>
                  </a:ext>
                </a:extLst>
              </a:tr>
              <a:tr h="3646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주전산기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(2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종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28226" marR="28226" marT="14063" marB="140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스토리지 전체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 </a:t>
                      </a: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회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정보체계의 안정적인 운영을 위한 예방점검 필요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277859"/>
                  </a:ext>
                </a:extLst>
              </a:tr>
              <a:tr h="354123">
                <a:tc rowSpan="9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소프트웨어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(67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종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28226" marR="28226" marT="14063" marB="140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DBMS (Oracle, MySQL, MariaDB, </a:t>
                      </a:r>
                    </a:p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MS-SQL,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Tibero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 </a:t>
                      </a: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회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정보체계 </a:t>
                      </a:r>
                      <a:r>
                        <a:rPr lang="en-US" altLang="ko-KR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DBMS</a:t>
                      </a:r>
                      <a:r>
                        <a:rPr lang="ko-KR" altLang="en-US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의 안정적인 데이터 관리를 위한 예방점검 필요 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421465"/>
                  </a:ext>
                </a:extLst>
              </a:tr>
              <a:tr h="3541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관제솔루션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Watch All)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 </a:t>
                      </a: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회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네트워크 및 서버 장비 등 관제 대상의 수시 변경사항을 반영하기 위함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776428"/>
                  </a:ext>
                </a:extLst>
              </a:tr>
              <a:tr h="211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백업솔루션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Veeam,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Simpana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 </a:t>
                      </a:r>
                      <a:r>
                        <a:rPr kumimoji="0" lang="en-US" altLang="ko-KR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회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정보체계의 안정적인 백업을 위한 예방점검 필요 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121493"/>
                  </a:ext>
                </a:extLst>
              </a:tr>
              <a:tr h="211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서버보안</a:t>
                      </a:r>
                      <a:r>
                        <a:rPr lang="en-US" altLang="ko-KR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en-US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RedOwl, SecuveTos)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회</a:t>
                      </a: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서버보안 로그</a:t>
                      </a:r>
                      <a:r>
                        <a:rPr lang="en-US" altLang="ko-KR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lang="ko-KR" altLang="en-US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정책 검토 위한 예방점검 필요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899841"/>
                  </a:ext>
                </a:extLst>
              </a:tr>
              <a:tr h="211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Jennifer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분기 </a:t>
                      </a:r>
                      <a:r>
                        <a:rPr lang="en-US" altLang="ko-KR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회</a:t>
                      </a: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재정</a:t>
                      </a:r>
                      <a:r>
                        <a:rPr lang="en-US" altLang="ko-KR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시설</a:t>
                      </a:r>
                      <a:r>
                        <a:rPr lang="en-US" altLang="ko-KR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군수지휘</a:t>
                      </a:r>
                      <a:r>
                        <a:rPr lang="en-US" altLang="ko-KR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통계 등 사용률 관제 </a:t>
                      </a:r>
                      <a:r>
                        <a:rPr lang="en-US" altLang="ko-KR" sz="900" kern="0" spc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SW</a:t>
                      </a:r>
                      <a:endParaRPr lang="ko-KR" altLang="en-US" sz="900" kern="0" spc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093542"/>
                  </a:ext>
                </a:extLst>
              </a:tr>
              <a:tr h="63167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망연계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솔루션 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Indigo,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MESIMmHub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CoreBridge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SecureGate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쿠콘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BOX,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MegawareSmartIntegration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</a:t>
                      </a:r>
                    </a:p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KCDS-GUARD-1000)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회</a:t>
                      </a: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주요 정보체계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재정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시설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군수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군인연금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연동 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SW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399837"/>
                  </a:ext>
                </a:extLst>
              </a:tr>
              <a:tr h="35412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리포팅 툴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CLIP Report, OZ Report, Reporting Designer)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</a:pP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분기 </a:t>
                      </a:r>
                      <a:r>
                        <a:rPr lang="en-US" altLang="ko-KR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회</a:t>
                      </a:r>
                      <a:endParaRPr lang="ko-KR" altLang="en-US" sz="900" kern="0" spc="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주요 정보체계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시설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정보자원관리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통계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재정 등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문서 출력 지원을 위한 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SW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762545"/>
                  </a:ext>
                </a:extLst>
              </a:tr>
              <a:tr h="22268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온북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고객지원체계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상담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CTI,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녹취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ARS)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40000"/>
                        </a:lnSpc>
                      </a:pP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 </a:t>
                      </a:r>
                      <a:r>
                        <a:rPr lang="en-US" altLang="ko-KR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회</a:t>
                      </a: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정보체계의 안정적인 운영을 위한 예방점검 필요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00366"/>
                  </a:ext>
                </a:extLst>
              </a:tr>
              <a:tr h="24343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Sparrow SAST/DAST, </a:t>
                      </a:r>
                      <a:b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e-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PageSAFER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ScreenSAFER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b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WISE OLAP,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TeraStream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MaxGuage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Websquare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-10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nProtect Online Security, JOB-</a:t>
                      </a:r>
                      <a:r>
                        <a:rPr lang="en-US" sz="900" kern="0" spc="-10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PaSS</a:t>
                      </a:r>
                      <a:r>
                        <a:rPr lang="en-US" sz="900" kern="0" spc="-10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-10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SaniTOX</a:t>
                      </a:r>
                      <a:r>
                        <a:rPr lang="en-US" sz="900" kern="0" spc="-10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sz="900" kern="0" spc="-4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d'amo</a:t>
                      </a:r>
                      <a:r>
                        <a:rPr lang="en-US" sz="900" kern="0" spc="-4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-4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ScreenSAFER</a:t>
                      </a:r>
                      <a:r>
                        <a:rPr lang="en-US" sz="900" kern="0" spc="-4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br>
                        <a:rPr lang="en-US" sz="900" kern="0" spc="-4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sz="900" kern="0" spc="-10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TouchEn</a:t>
                      </a:r>
                      <a:r>
                        <a:rPr lang="en-US" sz="900" kern="0" spc="-10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sz="900" kern="0" spc="-10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nxKey</a:t>
                      </a:r>
                      <a:r>
                        <a:rPr lang="en-US" sz="900" kern="0" spc="-10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en-US" sz="900" kern="0" spc="-10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nxWeb</a:t>
                      </a:r>
                      <a:r>
                        <a:rPr lang="en-US" sz="900" kern="0" spc="-10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key# </a:t>
                      </a:r>
                      <a:r>
                        <a:rPr lang="en-US" sz="900" kern="0" spc="-10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nxBiz</a:t>
                      </a:r>
                      <a:r>
                        <a:rPr lang="en-US" sz="900" kern="0" spc="-10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900" kern="0" spc="-10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위즈헬퍼</a:t>
                      </a:r>
                      <a:r>
                        <a:rPr lang="en-US" altLang="ko-KR" sz="900" kern="0" spc="-10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ezCertificate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eXsignOn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b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Gauce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HI-WARE,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TrustCertificate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nProtectOnlineSecurity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AniSign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XecureSmart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XecureFileCrypto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-10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ThunderMail</a:t>
                      </a:r>
                      <a:r>
                        <a:rPr lang="en-US" sz="900" kern="0" spc="-10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-10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WebToB</a:t>
                      </a:r>
                      <a:r>
                        <a:rPr lang="en-US" sz="900" kern="0" spc="-10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sz="900" kern="0" spc="-9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JEUS, </a:t>
                      </a:r>
                      <a:br>
                        <a:rPr lang="en-US" sz="900" kern="0" spc="-9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</a:br>
                      <a:r>
                        <a:rPr lang="en-US" sz="900" kern="0" spc="-9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Sherpa(Oracle, </a:t>
                      </a:r>
                      <a:r>
                        <a:rPr lang="en-US" sz="900" kern="0" spc="-9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Tibero</a:t>
                      </a:r>
                      <a:r>
                        <a:rPr lang="en-US" sz="900" kern="0" spc="-9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),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sz="900" kern="0" spc="-11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KonanSearch</a:t>
                      </a:r>
                      <a:r>
                        <a:rPr lang="en-US" sz="900" kern="0" spc="-11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-11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FasooDRM</a:t>
                      </a:r>
                      <a:r>
                        <a:rPr lang="en-US" sz="900" kern="0" spc="-11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900" kern="0" spc="-11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한글로폼</a:t>
                      </a:r>
                      <a:r>
                        <a:rPr lang="en-US" altLang="ko-KR" sz="900" kern="0" spc="-11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sz="900" kern="0" spc="-8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MetaplusDevEye</a:t>
                      </a:r>
                      <a:r>
                        <a:rPr lang="en-US" sz="900" kern="0" spc="-8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-8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WISEiChat</a:t>
                      </a:r>
                      <a:r>
                        <a:rPr lang="en-US" sz="900" kern="0" spc="-8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-8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CheckMateRPA</a:t>
                      </a:r>
                      <a:r>
                        <a:rPr lang="en-US" sz="900" kern="0" spc="-8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PrivacySecureOCR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aStone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</a:t>
                      </a:r>
                      <a:r>
                        <a:rPr lang="en-US" sz="900" kern="0" spc="-8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SoftcampServiceLinker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GoonInMAP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MetabuildAPIGateway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ChakraMAX</a:t>
                      </a:r>
                      <a:endParaRPr 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분기 </a:t>
                      </a:r>
                      <a:r>
                        <a:rPr lang="en-US" altLang="ko-KR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회</a:t>
                      </a:r>
                      <a:endParaRPr lang="ko-KR" altLang="en-US" sz="900" kern="0" spc="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정보체계의 안정적인 운영을 위한 예방점검 필요</a:t>
                      </a:r>
                    </a:p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(SW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형상관리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고객지원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백업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소스코드취약점점검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군수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동원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시설통합정보체계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정보자원관리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암호장비관리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연동관리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예비군 모바일 홈페이지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통계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인사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획득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재정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재난 등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994457"/>
                  </a:ext>
                </a:extLst>
              </a:tr>
              <a:tr h="211415">
                <a:tc rowSpan="4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네트워크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(6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종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28226" marR="28226" marT="14063" marB="140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백본스위치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라우터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 </a:t>
                      </a:r>
                      <a:r>
                        <a:rPr lang="en-US" altLang="ko-KR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회</a:t>
                      </a: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국방부 영내 안정적인 네트워크 운영을 위한 예방점검 필요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1128949"/>
                  </a:ext>
                </a:extLst>
              </a:tr>
              <a:tr h="211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L4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스위치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워크그룹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분기 </a:t>
                      </a:r>
                      <a:r>
                        <a:rPr lang="en-US" altLang="ko-KR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회</a:t>
                      </a:r>
                      <a:endParaRPr lang="ko-KR" altLang="en-US" sz="900" kern="0" spc="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8630894"/>
                  </a:ext>
                </a:extLst>
              </a:tr>
              <a:tr h="211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IP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관리체계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 </a:t>
                      </a:r>
                      <a:r>
                        <a:rPr lang="en-US" altLang="ko-KR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회</a:t>
                      </a: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3205601"/>
                  </a:ext>
                </a:extLst>
              </a:tr>
              <a:tr h="68460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문자전송장치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분기 </a:t>
                      </a:r>
                      <a:r>
                        <a:rPr lang="en-US" altLang="ko-KR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</a:t>
                      </a: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회</a:t>
                      </a:r>
                      <a:endParaRPr lang="ko-KR" altLang="en-US" sz="900" kern="0" spc="0" baseline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주요 정보체계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온나라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제안서평가위원선정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연동 등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에서 </a:t>
                      </a:r>
                      <a:b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</a:b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사용 중인 장치로 안정적인 문자 전송을 위해 예방점검 필요 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656978"/>
                  </a:ext>
                </a:extLst>
              </a:tr>
              <a:tr h="211415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정보보호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(6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종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28226" marR="28226" marT="14063" marB="140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방화벽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IPS, DDoS, VPN, NAC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회</a:t>
                      </a: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최신 보안 정책반영을 위한 예방점검 필요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2086587"/>
                  </a:ext>
                </a:extLst>
              </a:tr>
              <a:tr h="21141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스마트클린시스템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</a:pP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반기 </a:t>
                      </a:r>
                      <a:r>
                        <a:rPr lang="en-US" altLang="ko-KR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lang="ko-KR" altLang="en-US" sz="900" kern="0" spc="0" baseline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회</a:t>
                      </a: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백신 검사 및 업데이트 정상작동 확인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1175341"/>
                  </a:ext>
                </a:extLst>
              </a:tr>
              <a:tr h="364623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기반설비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(3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종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)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28226" marR="28226" marT="14063" marB="14063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6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UPS,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항온항습기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소화설비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6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월 </a:t>
                      </a:r>
                      <a:r>
                        <a:rPr kumimoji="0" lang="en-US" altLang="ko-KR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회</a:t>
                      </a: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6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기계실 내 서버 및 네트워크 등 전산장비의 안정적인 운영을 위한 예방점검 필요 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96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32487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882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AAA3B4-387B-B7E7-EEB7-6493E6DC3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9A83D031-F8ED-F126-C3C8-921E84CA0B7C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793CE6-7C8A-DA1D-425B-98071791F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02A29E5B-105D-F1DD-0679-9C9284008F2B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0E101B2F-670E-F223-8D7D-BDF95A7B8A97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 3)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필수 예방점검 대상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(2/7)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47FA080-EAF3-BEF1-D32F-0B06A6BD8E8A}"/>
              </a:ext>
            </a:extLst>
          </p:cNvPr>
          <p:cNvSpPr txBox="1"/>
          <p:nvPr/>
        </p:nvSpPr>
        <p:spPr>
          <a:xfrm>
            <a:off x="934361" y="1644256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필수 예방점검 대상의 분야별 상세내역 분석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F1E304FF-590C-5CE2-F305-CA6544063FC3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8E696BF-F4E8-E566-37FC-8F60CC518A03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주전산기 필수 예방점검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,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65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상세내역 분석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[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서버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58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저장장치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7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]</a:t>
              </a:r>
              <a:endParaRPr lang="ko-KR" altLang="en-US" sz="1000" kern="0" dirty="0">
                <a:ln>
                  <a:solidFill>
                    <a:srgbClr val="4F81BD">
                      <a:alpha val="500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2D601822-1734-6E6A-A861-3A7E8E83D31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4CC9DFD3-EB4F-BA48-0799-4A6BCB2C5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6745310"/>
              </p:ext>
            </p:extLst>
          </p:nvPr>
        </p:nvGraphicFramePr>
        <p:xfrm>
          <a:off x="562719" y="2708028"/>
          <a:ext cx="6616055" cy="74980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68897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5250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9518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17413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IBM X3650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SW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형상관리시범체계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관제서버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67574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Prolaint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DL380 G9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 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AP 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 녹취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53345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Prolaint DL380 G9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 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CTI 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01196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후지쯔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RX300S6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CentOS 7.4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테스트 서버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064734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PROLIANT DL360 G7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NTP 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국방망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432927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PROLIANT DL360 G7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NTP 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사용자망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020521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PROLIANT DL360 G6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NTP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서버망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977253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IBM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Svstem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x3650 M4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CentOS 6.8+ Oracle 11g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테스트서버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487754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PROLIANT DL380 G7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 로그백업 서버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사용자망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313576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ProLiant DL380 G8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서버보안 매니저 서버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서버망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761088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ProLiant DL380 G8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서버보안 매니저 서버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국방망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사용자망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797270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DELLEMC PowerEdgeR740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PowerEdgeR740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827703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ProLiant DL320 G6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장비센터 유지보수 서버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네트워크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849191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ProLiant DL320 G6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장비센터 유지보수 서버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023021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DELLEMC Power Edge R440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13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가형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548072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DELLEMC Power Edge R740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나형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013406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pt-B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Lenovo System  X3650 M5(LC-6000)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국전원 백업 서버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70521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 DL380 Gen10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기반체계 통합백업 이중화 서버     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59316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 DL380 Gen10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기반체계 통합백업 마스터 서버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서버망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703294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 DL380 Gen10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기반체계 통합백업 마스터 서버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국방망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61087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Proliant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DL360 G7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용역업체 통합 단독망 백신중계 서버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190306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IBM Power740 (8205-E6B)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암호장비관리체계 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DB 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 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#2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561642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IBM Power740 (8205-E6B)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암호장비관리체계 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WEB/WAS 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 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#2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869349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IBM Power740 (8205-E6B)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암호장비관리체계 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WEB/WAS 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 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#1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0299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IBM Power740 (8205-E6B)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암호장비관리체계 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DB 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 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#1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405941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IBM System X3550 M4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암호장비관리체계 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HMC 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콘솔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998802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DELLEMC PowerEdge R740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WEB/WAS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94105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DELLEMC PowerEdge R740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M/W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634652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DELLEMC PowerEdge R740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DB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535605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웨어밸리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WL8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DB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접근제어서버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316649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DELLEMC PowerEdgeR740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6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PowerEdgeR740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57681399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FalconStor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VTL-S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암호장비관리체계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VTL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0038592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저장장치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DELLEMC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PowerVault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ME4012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스토리지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903110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저장장치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Lenovo S2200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국전원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백업 스토리지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#1~2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914734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저장장치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MSL3040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기반체계  통합백업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PTL(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서버망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사용자망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664014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저장장치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MSL3040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기반체계 통합백업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PTL(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국방망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1968220"/>
                  </a:ext>
                </a:extLst>
              </a:tr>
              <a:tr h="20264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저장장치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DELLEMC VNS5100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암호장비관리체계 스토리지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9059123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B76F5CB-5266-1BBE-DEAC-482E128CA3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6389155"/>
              </p:ext>
            </p:extLst>
          </p:nvPr>
        </p:nvGraphicFramePr>
        <p:xfrm>
          <a:off x="562719" y="2429520"/>
          <a:ext cx="6626326" cy="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73869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0278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33106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7571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모델명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점검 주기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4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59885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7A376-0049-3028-174C-D51F3775C8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0B3D7237-9A8E-8D2E-CAEE-BFF387EE780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860193DA-291C-5D89-2470-C7E576D279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88C02092-B08A-B236-8460-97E02BD7D9F3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D240A11-4AB7-88C1-978E-6071FF57DAFE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 3)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필수 예방점검 대상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(3/7)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58ED029A-FE06-A97D-C8F3-2FD7BD93EE76}"/>
              </a:ext>
            </a:extLst>
          </p:cNvPr>
          <p:cNvSpPr txBox="1"/>
          <p:nvPr/>
        </p:nvSpPr>
        <p:spPr>
          <a:xfrm>
            <a:off x="934361" y="1644256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필수 예방점검 대상의 분야별 상세내역 분석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19E6F1CE-DC97-F6BA-81E1-15EE774A782C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04A31D87-7AEB-1745-B0AE-E2F4A0B1E6D9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네트워크 필수 예방점검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6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 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694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 상세내역 분석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[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라우터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5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백본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47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/L4 14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워크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597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/IP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관리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30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문자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]</a:t>
              </a:r>
              <a:endParaRPr lang="ko-KR" altLang="en-US" sz="1000" kern="0" dirty="0">
                <a:ln>
                  <a:solidFill>
                    <a:srgbClr val="4F81BD">
                      <a:alpha val="500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B6EB0959-B152-E5D1-D146-DDA679E2B7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36E40AC3-3AF0-47F8-B59C-363063978D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3798462"/>
              </p:ext>
            </p:extLst>
          </p:nvPr>
        </p:nvGraphicFramePr>
        <p:xfrm>
          <a:off x="562719" y="2708028"/>
          <a:ext cx="6616055" cy="74980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68897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5250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22835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4993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라우터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ASR-903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67574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백본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NEXUS-9508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53345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백본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NEXUS-9504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01196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백본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N9K-C9508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064734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백본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Catalyst 6513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432927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L4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스위치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파이오링크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PAS-K4224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020521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L4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스위치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펌킨네트웍스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AEN10420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8977253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L4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스위치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파이오링크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PAS5216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26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제외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(L4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스위치 총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10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식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4487754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C9300-48T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128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313576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C9300-48P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0761088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C9200L-24T-4X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6797270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C9200L-24P-4X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19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2827703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C9500-24Y4C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2849191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WS-C2960XR-24TS-I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023021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WS-C3650-24TS-L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4548072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WS-C3650-48TS-L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013406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WS-C3850-12XS-S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470521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C100-48T-4G-L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1759316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코어엣지네트웍스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C3300-24PS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7703294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코어엣지네트웍스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C3300-48PS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63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9061087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한드림넷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SG2128GPoE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190306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한드림넷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SG2128GXPoE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561642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에릭슨엘지엔터프라이즈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ES-3128GP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5869349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5500-48G-PoE+4SFP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76070299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IP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관리체계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지니언스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S30H_R1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405941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IP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관리체계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지니언스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S40H_R1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998802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IP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관리체계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지니언스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S50H-R1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7894105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IP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관리체계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지니언스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C20_R1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634652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IP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관리체계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지니언스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C30_R1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5535605"/>
                  </a:ext>
                </a:extLst>
              </a:tr>
              <a:tr h="24993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문자전송장치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GMP M-SECUWAY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316649"/>
                  </a:ext>
                </a:extLst>
              </a:tr>
            </a:tbl>
          </a:graphicData>
        </a:graphic>
      </p:graphicFrame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9402E117-B40E-4BA3-072C-48CF712D4AFC}"/>
              </a:ext>
            </a:extLst>
          </p:cNvPr>
          <p:cNvGraphicFramePr>
            <a:graphicFrameLocks noGrp="1"/>
          </p:cNvGraphicFramePr>
          <p:nvPr/>
        </p:nvGraphicFramePr>
        <p:xfrm>
          <a:off x="562719" y="2429520"/>
          <a:ext cx="6626326" cy="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73869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0278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33106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7571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모델명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점검 주기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4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95927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7C93E4-F76F-EF28-3C2C-59718CB09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DE72D9F3-6714-1275-B46A-8E39F8AE14CD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611C22C-A8C7-D85F-D8B6-82A9030AE6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7EACCBAE-DD64-F1E3-0F65-9F2AC6498DB9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8781136F-A537-8389-FA85-8A7E8A061FDD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 3)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필수 예방점검 대상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(4/7)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BD10F15-A4CF-1418-1A24-0F1B6A0B3BD4}"/>
              </a:ext>
            </a:extLst>
          </p:cNvPr>
          <p:cNvSpPr txBox="1"/>
          <p:nvPr/>
        </p:nvSpPr>
        <p:spPr>
          <a:xfrm>
            <a:off x="934361" y="1644256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필수 예방점검 대상의 분야별 상세내역 분석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F77890BE-2B79-A5A6-EFD1-AA69C5770940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1076E98-A2BD-4C04-678E-4A03DF4160CB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정보보호 필수 예방점검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6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 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17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 상세내역 분석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[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방화벽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4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/IPS 6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/DDoS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/VPN 2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/NAC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백신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]</a:t>
              </a:r>
              <a:endParaRPr lang="ko-KR" altLang="en-US" sz="1000" kern="0" dirty="0">
                <a:ln>
                  <a:solidFill>
                    <a:srgbClr val="4F81BD">
                      <a:alpha val="500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8E04E1AC-72EC-5922-807A-139F5C700BA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8911A53-42FF-E248-5DB5-00426C7F2820}"/>
              </a:ext>
            </a:extLst>
          </p:cNvPr>
          <p:cNvGraphicFramePr>
            <a:graphicFrameLocks noGrp="1"/>
          </p:cNvGraphicFramePr>
          <p:nvPr/>
        </p:nvGraphicFramePr>
        <p:xfrm>
          <a:off x="562719" y="2429520"/>
          <a:ext cx="6626326" cy="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73869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0278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33106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7571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모델명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점검 주기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425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2A917F6C-B3F5-6DAD-EB78-917D1C615E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601016"/>
              </p:ext>
            </p:extLst>
          </p:nvPr>
        </p:nvGraphicFramePr>
        <p:xfrm>
          <a:off x="562719" y="2708026"/>
          <a:ext cx="6616055" cy="2335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68897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5250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22835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9199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방화벽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안랩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TrusGuard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1000A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67574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방화벽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안랩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TrusGuard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80B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53345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IPS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안랩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TrusGuard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IPX 4000A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01196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DDoS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안랩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DPX-6000A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064734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VPN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안랩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Ahnlab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TrusGuard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400B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432927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NAC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지니언스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C40 R1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796488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NAC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지니언스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S50H-R1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397455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스마트클린시스템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스마트클린시스템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키오스크형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반기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020521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1269835-72C0-E964-D0D2-C1083F461E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6527279"/>
              </p:ext>
            </p:extLst>
          </p:nvPr>
        </p:nvGraphicFramePr>
        <p:xfrm>
          <a:off x="562719" y="5564074"/>
          <a:ext cx="6626326" cy="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73869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0278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33106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7571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모델명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점검 주기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4253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A44F893-DAF7-6C68-2DBD-A08F005F74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84425886"/>
              </p:ext>
            </p:extLst>
          </p:nvPr>
        </p:nvGraphicFramePr>
        <p:xfrm>
          <a:off x="562719" y="5842582"/>
          <a:ext cx="6616055" cy="43799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68897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5250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22835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9199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UPS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현대파워시스템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PPUEB-3500-1OMSBS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UPS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장비</a:t>
                      </a:r>
                      <a:endParaRPr kumimoji="1" 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67574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UPS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현대파워시스템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HDT33030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UPS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장비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합참분청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53345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UPS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그린파워테크놀로지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GRU11-R006030H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UPS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장비</a:t>
                      </a: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축전지 포함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01196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덕산코트랜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DS-177073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(8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호기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기계실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064734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덕산코트랜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DS-NA-050U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(3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통신단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432927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와이엠테크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HIOX-A200DD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6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대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(1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호기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~6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호기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기계실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020521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덕산코트랜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DS-NA-200U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(9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호기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기계실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7143934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덕산코트랜 </a:t>
                      </a:r>
                      <a:r>
                        <a:rPr kumimoji="1" 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DS-BA-200U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(10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호기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~11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호기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/UPS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실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96302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덕산코트랜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DS-NA-050U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항은항습기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법원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검찰단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6110061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덕산코트랜 </a:t>
                      </a:r>
                      <a:r>
                        <a:rPr kumimoji="1" 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DS-NA-100U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조사본부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055141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덕산코트랜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DS-NA-200U 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(7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호기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기계실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785383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덕산코트랜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DS-BA-1OOU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합참분청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4881396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덕산코트랜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DS-BA-050U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합참분청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7900831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소화설비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삼언전공주식회사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VESDA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공기흡입형 감지기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779217"/>
                  </a:ext>
                </a:extLst>
              </a:tr>
              <a:tr h="29199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소화설비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삼언전공주식회사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HFC-23 50KG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자동소화장치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4322651"/>
                  </a:ext>
                </a:extLst>
              </a:tr>
            </a:tbl>
          </a:graphicData>
        </a:graphic>
      </p:graphicFrame>
      <p:grpSp>
        <p:nvGrpSpPr>
          <p:cNvPr id="10" name="그룹 9">
            <a:extLst>
              <a:ext uri="{FF2B5EF4-FFF2-40B4-BE49-F238E27FC236}">
                <a16:creationId xmlns:a16="http://schemas.microsoft.com/office/drawing/2014/main" id="{9B05304E-977D-A957-5258-2E6ABBC558BE}"/>
              </a:ext>
            </a:extLst>
          </p:cNvPr>
          <p:cNvGrpSpPr/>
          <p:nvPr/>
        </p:nvGrpSpPr>
        <p:grpSpPr>
          <a:xfrm>
            <a:off x="575419" y="5237832"/>
            <a:ext cx="6123444" cy="199199"/>
            <a:chOff x="354537" y="2859354"/>
            <a:chExt cx="5810766" cy="165794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E4EAD529-8872-8761-4090-DFC9BD904902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기반 설비 필수 예방점검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3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 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43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 상세내역 분석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[UPS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13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항온항습기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16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소화설비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14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]</a:t>
              </a:r>
              <a:endParaRPr lang="ko-KR" altLang="en-US" sz="1000" kern="0" dirty="0">
                <a:ln>
                  <a:solidFill>
                    <a:srgbClr val="4F81BD">
                      <a:alpha val="500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12" name="그림 11">
              <a:extLst>
                <a:ext uri="{FF2B5EF4-FFF2-40B4-BE49-F238E27FC236}">
                  <a16:creationId xmlns:a16="http://schemas.microsoft.com/office/drawing/2014/main" id="{EB7BA9A5-4C57-34D7-600E-42AE7F0B8F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86074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DDCA76-AB22-3215-7D32-37424A9F3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017BBCDF-AB3E-5575-1BD6-4E6FF79C8386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11C786D-6ED1-CD38-5617-A560A0C90F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645362BD-E0EF-E496-5623-3A1284F7C4A7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F809FFBC-7B56-E2FC-FE34-EAD51BDE87FD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 3)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필수 예방점검 대상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(5/7)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CE4ED54-6F24-3AC9-C312-F6BA8036C67F}"/>
              </a:ext>
            </a:extLst>
          </p:cNvPr>
          <p:cNvSpPr txBox="1"/>
          <p:nvPr/>
        </p:nvSpPr>
        <p:spPr>
          <a:xfrm>
            <a:off x="934361" y="1644256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필수 예방점검 대상의 분야별 상세내역 분석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9D45099A-FBF8-BC30-AB9F-9C18A42AE983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B7E1E30-53DA-7528-46C1-E1040188E1E3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소프트웨어 필수 예방점검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67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 중 시스템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SW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756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 상세내역 분석</a:t>
              </a:r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4BBA0F67-66C9-427C-83FE-626860FE2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79371511-D56F-B6F6-FAD2-F2E1799DDA3E}"/>
              </a:ext>
            </a:extLst>
          </p:cNvPr>
          <p:cNvGraphicFramePr>
            <a:graphicFrameLocks noGrp="1"/>
          </p:cNvGraphicFramePr>
          <p:nvPr/>
        </p:nvGraphicFramePr>
        <p:xfrm>
          <a:off x="562719" y="2429520"/>
          <a:ext cx="6626326" cy="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73869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0278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33106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7571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모델명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점검 주기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425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D67F1C8-59A1-B72A-2032-E4A2DB7738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7617178"/>
              </p:ext>
            </p:extLst>
          </p:nvPr>
        </p:nvGraphicFramePr>
        <p:xfrm>
          <a:off x="562719" y="2708028"/>
          <a:ext cx="6616055" cy="74980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68897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5250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22835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WEB/WAS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티맥스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WebtoB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4.0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App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67574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WEB/WAS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티맥스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JEUS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WAS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App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53345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WEB/WAS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티맥스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WebtoB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App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01196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DBMS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오라클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Oracle 11g SE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Database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432927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DBMS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오라클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Oracle 12c SE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Database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066069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DBMS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오라클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Oracle Database Enterprise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Database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796488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DBMS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티맥스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Tibero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Database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397455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OS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RedHat Enterprise Linux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Linux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691814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OS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Microsoft Windows Server Standard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Windows Server 2019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274749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OS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RedHat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Enterprise Linux Sever 7.9 Star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통합백업체계 이중화 서버 운영체계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64960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OS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Microsoft Windows Server 2019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통합백업체계 마스터 서버 운영체계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414011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성능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모니터링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제니퍼소프트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Jennifer 4.5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APM Tool(WAS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모니터링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924514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성능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모니터링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제니퍼소프트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Jennfer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5.0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APM Tool(WAS 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모니터링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327294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성능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모니터링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제니퍼소프트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Jennifer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APM Tool(WAS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모니터링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80236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성능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모니터링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셀파소프트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Sherpa Oracle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72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Oracle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성능 관리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877021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성능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모니터링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셀파소프트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Sherpa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Tibero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78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Tibero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성능 관리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70219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성능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모니터링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엑셈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MaxGuage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for Oracle(Base)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Oracle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성능 관리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751263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시스템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하우리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REDOWL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SecuOS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서버보안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SW</a:t>
                      </a:r>
                      <a:endParaRPr kumimoji="1" lang="ko-KR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55197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시스템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하우리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REDOWL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SecuOS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for LINUX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통합백업체계 서버보안 솔루션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국방망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193328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시스템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하우리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REDOWL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SecuOS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통합백업체계 서버보안 솔루션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국방망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639415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시스템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펜타시큐리티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d'amo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3.0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데이터 암호화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126784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시스템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시큐브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Secuve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TOS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서버보안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SW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2227953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시스템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웨어밸리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Chakra Max v4.0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DB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접근제어 솔루션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22569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Veeam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KUP&amp;Replication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Universal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80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백업 솔루션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322268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엠투소프트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Reporting Designer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리포팅 툴</a:t>
                      </a:r>
                      <a:endParaRPr kumimoji="1" 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295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클립소프트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CLIP 5.0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리포팅 툴</a:t>
                      </a:r>
                      <a:endParaRPr kumimoji="1" lang="en-US" altLang="ko-KR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7197894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포시에스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Oz Report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리포팅 툴</a:t>
                      </a:r>
                      <a:endParaRPr kumimoji="1" lang="en-US" altLang="ko-KR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0025828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데이터투테크놀로지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JOB-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PaSS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5.0 (server)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배치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Job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스케줄러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1361468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데이터투테크놀로지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JOB-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PaSS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5.0 (Agent)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100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배치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Job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스케줄러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4992095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데이터투테크놀로지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JOB-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PaSS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5.0 (Agent)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52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전사통합 스케줄러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001636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데이터스트림즈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TeraStream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Ver 3.7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ETL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21305087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인스웨이브시스템즈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Websquare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V5.0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74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컴포넌트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4963224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에스제이링크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Metaplus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DevEye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v6.0 (User)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형상관리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9008381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에스제이링크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Metaplus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DevEye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v6.0 (Agent)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형상관리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663835"/>
                  </a:ext>
                </a:extLst>
              </a:tr>
              <a:tr h="21422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데이터솔루션 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aStone</a:t>
                      </a:r>
                      <a:endParaRPr kumimoji="1" lang="en-US" altLang="ko-KR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가상화포털</a:t>
                      </a:r>
                      <a:endParaRPr kumimoji="1" lang="ko-KR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2944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1211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B38AA5-30AB-5123-11F1-77F78F3CF5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E382FB32-4C3C-91A0-4EA0-07D4B313FEE8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138B90C-6ECB-C52B-3545-FDF40A59B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82427853-B2D0-1EBA-4F3C-BB7A4EED8CA6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0A1CEA26-8BB8-61FD-B06C-C8520D02DD1A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 3)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필수 예방점검 대상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(6/7)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B0D1B7B-5D48-EA3D-67CE-0DF112E6F72D}"/>
              </a:ext>
            </a:extLst>
          </p:cNvPr>
          <p:cNvSpPr txBox="1"/>
          <p:nvPr/>
        </p:nvSpPr>
        <p:spPr>
          <a:xfrm>
            <a:off x="934361" y="1644256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필수 예방점검 대상의 분야별 상세내역 분석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00E81299-05B8-E1F1-594A-D103DE1DD741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79A9047C-F5ED-BE4E-93A7-15E1B9D4403C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소프트웨어 필수 예방점검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67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 중 응용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SW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및 정보체계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1,478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 상세내역 분석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(1/2)</a:t>
              </a:r>
              <a:endParaRPr lang="ko-KR" altLang="en-US" sz="1000" kern="0" dirty="0">
                <a:ln>
                  <a:solidFill>
                    <a:srgbClr val="4F81BD">
                      <a:alpha val="500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603CF4FA-825C-9B81-18BF-6069C59F4B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DCDB835-C652-BB3A-2C10-C2CFB1637FA9}"/>
              </a:ext>
            </a:extLst>
          </p:cNvPr>
          <p:cNvGraphicFramePr>
            <a:graphicFrameLocks noGrp="1"/>
          </p:cNvGraphicFramePr>
          <p:nvPr/>
        </p:nvGraphicFramePr>
        <p:xfrm>
          <a:off x="562719" y="2429520"/>
          <a:ext cx="6626326" cy="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73869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0278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33106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7571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모델명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점검 주기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425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9CA0A99-4937-9073-0939-D9A5074362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985230"/>
              </p:ext>
            </p:extLst>
          </p:nvPr>
        </p:nvGraphicFramePr>
        <p:xfrm>
          <a:off x="562719" y="2708028"/>
          <a:ext cx="6616055" cy="749800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68897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5250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22835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19731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연계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메타빌드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MESIM Indigo ESB Adaptor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망연계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ESB</a:t>
                      </a:r>
                      <a:endParaRPr kumimoji="1" 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67574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연계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메타빌드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MESIM Indigo EAI Adaptor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망연계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EAI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53345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연계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메타빌드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MESIM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mHUB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망연계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SW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528415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연계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메타빌드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API Gateway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연계 </a:t>
                      </a: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API Gateway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171529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연계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지온공작소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CoreBidge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V2.1R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망전환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SW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01196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연계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한싹시스템즈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Secure  Gate v3.5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망연계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SW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432927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연계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메가투스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Megaware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Smart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lntergration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V7.0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54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망연동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SW</a:t>
                      </a:r>
                      <a:endParaRPr kumimoji="1" lang="ko-KR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066069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연계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씨크랩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KCDS-GUARD-1000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실시간 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망연계</a:t>
                      </a:r>
                      <a:endParaRPr kumimoji="1" lang="ko-KR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796488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연계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쿠콘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쿠콘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BOX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금융망연계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691814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와치텍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WatchaII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11 SMS Agent Class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관제솔루션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274749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와치텍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Watchall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11 SMS Agent for Linux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관제솔루션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64960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와치텍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Watchall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11 Dashboard Manager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관제솔루션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414011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와치텍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Watchall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11 DBMS Manager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관제솔루션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924514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와치텍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Watchall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11 Framework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관제솔루션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9327294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와치텍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Watchall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11 Network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Manaoer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관제솔루션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280236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와치텍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Watchall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11 Server Manager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관제솔루션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2877021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와치텍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Watchall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11 Traffic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Manaoer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관제솔루션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70219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와치텍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Watchall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13 Agent(537 Nodes)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관제솔루션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751263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와치텍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Watchall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13 Manager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관제솔루션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55197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와치텍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Watchall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11 FMS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Manaaer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관제솔루션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8193328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UI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위세아이텍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WISE OLAP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빅데이터 분석 시각화 툴</a:t>
                      </a:r>
                      <a:endParaRPr kumimoji="1" 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639415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UI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쉬프트정보통신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Gauce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4.0.1.8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UI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개발 및 운영 툴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3126784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UI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인스웨이브시스템즈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WebSquare5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81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UI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개발 및 운영 툴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8622569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UI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위키랩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한글로폼</a:t>
                      </a:r>
                      <a:endParaRPr kumimoji="1" lang="ko-KR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한글 </a:t>
                      </a: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UI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툴</a:t>
                      </a:r>
                      <a:endParaRPr kumimoji="1" 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322268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라온시큐어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TouchEn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nxKey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키보드보안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295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라온시큐어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TouchEn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nxWeb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웹화면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캡쳐보안</a:t>
                      </a:r>
                      <a:endParaRPr kumimoji="1" lang="ko-KR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661188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라온시큐어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Key#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nxBiz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인증</a:t>
                      </a: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SW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7572970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마크애니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Page SAFER Document Merger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입금철문서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암호화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400290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마크애니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e-page SAFER FOR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NoAX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문서 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위변조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방지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2051642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마크애니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e-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pageSAFER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v2.5 for Zero Client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문서보안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846551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마크애니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e-Page SAFER V2.5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인쇄보안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1156759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마크애니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Screen SAFER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화면캡쳐방지</a:t>
                      </a:r>
                      <a:endParaRPr kumimoji="1" lang="ko-KR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7892470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한컴시큐어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Anysign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For PC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구간암호화</a:t>
                      </a:r>
                      <a:r>
                        <a:rPr kumimoji="1" lang="en-US" altLang="ko-KR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, </a:t>
                      </a:r>
                      <a:r>
                        <a:rPr kumimoji="1" lang="ko-KR" altLang="en-US" sz="8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공인인증서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8592587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한컴시큐어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XecureSmart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모바일 구간암호화 공인인증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6130440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INCA nProtect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Onlilne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Security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키보드보안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02524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소프트캠프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Shieldex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GateXcanner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외부반입 파일 바이러스 검사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60815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소프트캠프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Softcamp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DRM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예비군국방망문서보안</a:t>
                      </a:r>
                      <a:endParaRPr kumimoji="1" lang="ko-KR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503634"/>
                  </a:ext>
                </a:extLst>
              </a:tr>
              <a:tr h="1973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소프트캠프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Softcamp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Service Linker for File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문서보안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096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59120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28534C-382A-16A8-BCEF-CBAEB4693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3B244C71-6C6C-7109-0551-B8B7583044DF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7CA72896-5E36-A5C9-DD7D-7CFDC78A0D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A998AA69-7CF6-C0F3-12B1-8B4D8FBCCBDD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EAA28D54-FAE5-00F0-56B3-9E14E8947A65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 3)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필수 예방점검 대상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(7/7)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35DAF4A-AE68-ABCD-1953-17432215CF39}"/>
              </a:ext>
            </a:extLst>
          </p:cNvPr>
          <p:cNvSpPr txBox="1"/>
          <p:nvPr/>
        </p:nvSpPr>
        <p:spPr>
          <a:xfrm>
            <a:off x="934361" y="1644256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필수 예방점검 대상의 분야별 상세내역 분석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4EE64F26-4E80-695A-5E0C-16BA929FFE89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134A5868-F625-F4F8-2643-4D2BBE4C42D8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소프트웨어 필수 예방점검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67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 중 응용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SW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및 정보체계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1,478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 상세내역 분석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(2/2)</a:t>
              </a:r>
              <a:endParaRPr lang="ko-KR" altLang="en-US" sz="1000" kern="0" dirty="0">
                <a:ln>
                  <a:solidFill>
                    <a:srgbClr val="4F81BD">
                      <a:alpha val="500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DCA25868-15FA-852E-D795-97774E7A3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DAF8370-D14C-8A0B-0AC6-1EE997C8CE53}"/>
              </a:ext>
            </a:extLst>
          </p:cNvPr>
          <p:cNvGraphicFramePr>
            <a:graphicFrameLocks noGrp="1"/>
          </p:cNvGraphicFramePr>
          <p:nvPr/>
        </p:nvGraphicFramePr>
        <p:xfrm>
          <a:off x="562719" y="2429520"/>
          <a:ext cx="6626326" cy="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73869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0278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33106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7571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모델명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점검 주기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425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829BC374-BC42-1803-7507-6681D3178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7596511"/>
              </p:ext>
            </p:extLst>
          </p:nvPr>
        </p:nvGraphicFramePr>
        <p:xfrm>
          <a:off x="562719" y="2708028"/>
          <a:ext cx="6616055" cy="48733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68897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5250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22835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지란지교시큐리티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Sani TOX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국동체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무해화 방역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SW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209292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잉카인터넷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Protect Online Security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웹보안</a:t>
                      </a:r>
                      <a:endParaRPr kumimoji="1" lang="ko-KR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400953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eXsignOn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(IDP 2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식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,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SP 2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식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sso</a:t>
                      </a:r>
                      <a:endParaRPr kumimoji="1" 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9568647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SGA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TrustCertificate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ezCertificate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v2.5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증명서 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위변조방지</a:t>
                      </a:r>
                      <a:endParaRPr kumimoji="1" lang="ko-KR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6895350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드림시큐리티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MagicXsign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for Smartphone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사용자인증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5142784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파수닷컴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Fasoo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Enterprise DRM V5.0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DRM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6479477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파수닷컴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Fasoo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DRM FSN Client Module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1,168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DRM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4461541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업무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포뎁스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Mobi Post V1.0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예비군훈련 모자일  전자고지 시스템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67574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업무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넷앤드휴먼인터페이스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HI-WARE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통합계정관리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53345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업무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아란타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위즈헬퍼</a:t>
                      </a:r>
                      <a:endParaRPr kumimoji="1" lang="ko-KR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원격지원 솔루션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528415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업무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GMP M-SECUWAY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문자 전송장치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(SW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포함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9171529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업무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이비소프트 </a:t>
                      </a:r>
                      <a:r>
                        <a:rPr kumimoji="1" lang="en-US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CheckMate RPA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업무자동화프로세스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(RPA)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01196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업무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이파피루스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Privacy Secure OCR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OCR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솔루션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432927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투비소프트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XPlatform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 9.2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화면개발툴</a:t>
                      </a:r>
                      <a:endParaRPr kumimoji="1" lang="ko-KR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4066069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코난테크놀러지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Konan Search 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검색엔진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796488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디투이노베이션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GoonlnMAP</a:t>
                      </a:r>
                      <a:endParaRPr kumimoji="1" lang="en-US" altLang="ko-KR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GIS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엔진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691814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나루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C&amp;C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상담프로그램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고객지원시스템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274749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나루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C&amp;C CTI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프로그램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고객지원시스템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5264960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나루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C&amp;C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녹취 및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ARS(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Tibero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6)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포함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고객지원시스템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2414011"/>
                  </a:ext>
                </a:extLst>
              </a:tr>
              <a:tr h="24366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온북체계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국방부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온북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시범적용 사업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단말기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100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대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, VDI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시스템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식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924514"/>
                  </a:ext>
                </a:extLst>
              </a:tr>
            </a:tbl>
          </a:graphicData>
        </a:graphic>
      </p:graphicFrame>
      <p:grpSp>
        <p:nvGrpSpPr>
          <p:cNvPr id="11" name="그룹 10">
            <a:extLst>
              <a:ext uri="{FF2B5EF4-FFF2-40B4-BE49-F238E27FC236}">
                <a16:creationId xmlns:a16="http://schemas.microsoft.com/office/drawing/2014/main" id="{B1D02EFE-0B63-348E-08D9-B79756CA8ADE}"/>
              </a:ext>
            </a:extLst>
          </p:cNvPr>
          <p:cNvGrpSpPr/>
          <p:nvPr/>
        </p:nvGrpSpPr>
        <p:grpSpPr>
          <a:xfrm>
            <a:off x="575419" y="7702929"/>
            <a:ext cx="6123444" cy="199199"/>
            <a:chOff x="354537" y="2859354"/>
            <a:chExt cx="5810766" cy="16579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1E469B75-2FD3-A66C-03CC-32C726546DA3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유지보수사업 수행간 유상 유지보수로 전환되는 사업 내역 분석</a:t>
              </a: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29982CA4-6627-4B50-4BB2-8B54BDE4CE0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14" name="Group 32">
            <a:extLst>
              <a:ext uri="{FF2B5EF4-FFF2-40B4-BE49-F238E27FC236}">
                <a16:creationId xmlns:a16="http://schemas.microsoft.com/office/drawing/2014/main" id="{29B37C45-D9C0-E1B5-B522-77A5E4F710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6007278"/>
              </p:ext>
            </p:extLst>
          </p:nvPr>
        </p:nvGraphicFramePr>
        <p:xfrm>
          <a:off x="588194" y="7974134"/>
          <a:ext cx="6613627" cy="2231904"/>
        </p:xfrm>
        <a:graphic>
          <a:graphicData uri="http://schemas.openxmlformats.org/drawingml/2006/table">
            <a:tbl>
              <a:tblPr/>
              <a:tblGrid>
                <a:gridCol w="1056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0910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1722877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902676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</a:tblGrid>
              <a:tr h="275704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구분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대상 </a:t>
                      </a:r>
                      <a:r>
                        <a:rPr kumimoji="1" lang="ko-KR" altLang="en-US" sz="10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체계명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사업명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구분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유상 유지보수 기간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정비월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78">
                <a:tc rowSpan="4"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2023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전환</a:t>
                      </a:r>
                      <a:endParaRPr kumimoji="1" lang="en-US" altLang="ko-KR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기존 사업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82935" marR="82935" marT="41474" marB="41474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국방획득정보체계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상용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SW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‘23.8.1.~‘24.12.31.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17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개월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kern="1200" cap="none" normalizeH="0" baseline="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rgbClr val="292929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굴림" pitchFamily="50" charset="-127"/>
                      </a:endParaRPr>
                    </a:p>
                  </a:txBody>
                  <a:tcPr marL="82935" marR="82935" marT="41474" marB="41474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국방통합재정정보체계</a:t>
                      </a:r>
                      <a:endParaRPr kumimoji="1" lang="ko-KR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상용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SW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‘23.8.1.~‘24.12.31.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17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개월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4484643"/>
                  </a:ext>
                </a:extLst>
              </a:tr>
              <a:tr h="1955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rgbClr val="292929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굴림" pitchFamily="50" charset="-127"/>
                      </a:endParaRPr>
                    </a:p>
                  </a:txBody>
                  <a:tcPr marL="82935" marR="82935" marT="41474" marB="41474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출입통제체계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응용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SW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'23.5.1.~'24.12.31.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20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개월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5048407"/>
                  </a:ext>
                </a:extLst>
              </a:tr>
              <a:tr h="1955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rgbClr val="292929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굴림" pitchFamily="50" charset="-127"/>
                      </a:endParaRPr>
                    </a:p>
                  </a:txBody>
                  <a:tcPr marL="82935" marR="82935" marT="41474" marB="41474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'21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노후 네트워크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교체사업</a:t>
                      </a:r>
                      <a:endParaRPr kumimoji="1" lang="ko-KR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HW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'23.10.1.~'24.12.31.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15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개월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8432496"/>
                  </a:ext>
                </a:extLst>
              </a:tr>
              <a:tr h="195578">
                <a:tc rowSpan="4"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2024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전환</a:t>
                      </a:r>
                      <a:endParaRPr kumimoji="1" lang="en-US" altLang="ko-KR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기존 사업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82935" marR="82935" marT="41474" marB="41474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HW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‘24.5.1.~‘24.12.31.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8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개월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948730"/>
                  </a:ext>
                </a:extLst>
              </a:tr>
              <a:tr h="1955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rgbClr val="292929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굴림" pitchFamily="50" charset="-127"/>
                      </a:endParaRPr>
                    </a:p>
                  </a:txBody>
                  <a:tcPr marL="82935" marR="82935" marT="41474" marB="41474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온북</a:t>
                      </a:r>
                      <a:endParaRPr kumimoji="1" lang="ko-KR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‘24.7.1.~‘24.12.31.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6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개월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1105685"/>
                  </a:ext>
                </a:extLst>
              </a:tr>
              <a:tr h="1955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rgbClr val="292929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굴림" pitchFamily="50" charset="-127"/>
                      </a:endParaRPr>
                    </a:p>
                  </a:txBody>
                  <a:tcPr marL="82935" marR="82935" marT="41474" marB="41474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00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지역 네트워크 구축사업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HW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‘24.1.1.~‘24.12.31.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개월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4259178"/>
                  </a:ext>
                </a:extLst>
              </a:tr>
              <a:tr h="19557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rgbClr val="292929"/>
                        </a:solidFill>
                        <a:effectLst/>
                        <a:latin typeface="Rix모던고딕 M" panose="02020603020101020101" pitchFamily="18" charset="-127"/>
                        <a:ea typeface="Rix모던고딕 M" panose="02020603020101020101" pitchFamily="18" charset="-127"/>
                        <a:cs typeface="굴림" pitchFamily="50" charset="-127"/>
                      </a:endParaRPr>
                    </a:p>
                  </a:txBody>
                  <a:tcPr marL="82935" marR="82935" marT="41474" marB="41474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기계실 침입차단 시스템 구축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HW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‘24.1.1.~‘24.12.31.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12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개월</a:t>
                      </a:r>
                    </a:p>
                  </a:txBody>
                  <a:tcPr marL="64770" marR="64770" marT="17907" marB="17907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788"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2026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전환</a:t>
                      </a:r>
                    </a:p>
                  </a:txBody>
                  <a:tcPr marL="82935" marR="82935" marT="41474" marB="41474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'24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년 노후 네트워크 교체사업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HW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1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‘26.1.1.~‘26.12.31.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12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234922"/>
                  </a:ext>
                </a:extLst>
              </a:tr>
              <a:tr h="195788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rgbClr val="292929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굴림" pitchFamily="50" charset="-127"/>
                      </a:endParaRPr>
                    </a:p>
                  </a:txBody>
                  <a:tcPr marL="82935" marR="82935" marT="41474" marB="41474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차세대 군사법정보시스템 구축사업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상용</a:t>
                      </a:r>
                      <a:r>
                        <a:rPr kumimoji="1" 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SW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‘26.1.1.~‘26.12.31.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12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개월 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417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40764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5EB94BF4-269D-4ADE-8025-A904DB6FAF1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8FA33E-FCA6-5565-BB5E-627D28B7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6" name="제목 1">
            <a:extLst>
              <a:ext uri="{FF2B5EF4-FFF2-40B4-BE49-F238E27FC236}">
                <a16:creationId xmlns:a16="http://schemas.microsoft.com/office/drawing/2014/main" id="{A1537F0C-DA04-C5B4-8730-D27A8259B83E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58" name="제목 1">
            <a:extLst>
              <a:ext uri="{FF2B5EF4-FFF2-40B4-BE49-F238E27FC236}">
                <a16:creationId xmlns:a16="http://schemas.microsoft.com/office/drawing/2014/main" id="{304F2EA2-A2A2-4461-5516-588A4137304D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 4)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운영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(1/5)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CEB2BA6-E216-458F-888A-A7A615D08645}"/>
              </a:ext>
            </a:extLst>
          </p:cNvPr>
          <p:cNvSpPr txBox="1"/>
          <p:nvPr/>
        </p:nvSpPr>
        <p:spPr>
          <a:xfrm>
            <a:off x="934361" y="1644256"/>
            <a:ext cx="63393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적극적인 정보열람 및 실무자 인터뷰를 통한 분석으로 성공요소 도출과 서비스 수준 관리</a:t>
            </a:r>
            <a:r>
              <a:rPr kumimoji="1" lang="en-US" altLang="ko-KR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(SLA) </a:t>
            </a: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수립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10541DFD-5CF1-193C-4AEA-CD55C442C6B6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12AE9D7-56A3-078E-D5B5-2784F0F1B134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 err="1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주장비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및 상용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SW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유지보수 예방 점검 실적 분석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E4CCD112-FC10-90C7-2CED-A40FF00C1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1FB90C6D-2728-0561-BD03-BBDA6BCA68FD}"/>
              </a:ext>
            </a:extLst>
          </p:cNvPr>
          <p:cNvGrpSpPr/>
          <p:nvPr/>
        </p:nvGrpSpPr>
        <p:grpSpPr>
          <a:xfrm>
            <a:off x="575419" y="4828283"/>
            <a:ext cx="6123444" cy="199199"/>
            <a:chOff x="354537" y="2859354"/>
            <a:chExt cx="5810766" cy="16579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8C90932-C1C1-36E8-287F-CC91A6BDC5B2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네트워크 및 정보보호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유지보수 예방 점검 실적 분석</a:t>
              </a: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C256FF33-94FF-7D7E-5F3F-BED19565B8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B260D8BB-27D1-EAEE-1F00-0C4D56543A79}"/>
              </a:ext>
            </a:extLst>
          </p:cNvPr>
          <p:cNvGrpSpPr/>
          <p:nvPr/>
        </p:nvGrpSpPr>
        <p:grpSpPr>
          <a:xfrm>
            <a:off x="575419" y="8031185"/>
            <a:ext cx="6123444" cy="199199"/>
            <a:chOff x="354537" y="2859354"/>
            <a:chExt cx="5810766" cy="16579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ED409028-99A9-4F30-E456-3680BD4485F1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기반 설비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유지보수 예방 점검 실적 분석</a:t>
              </a: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2906E3E9-6BD1-88E2-AE6A-7C3F6AF4F6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46" name="그룹 45">
            <a:extLst>
              <a:ext uri="{FF2B5EF4-FFF2-40B4-BE49-F238E27FC236}">
                <a16:creationId xmlns:a16="http://schemas.microsoft.com/office/drawing/2014/main" id="{5FF249C2-79A3-EF65-3909-7EA3A98CC60A}"/>
              </a:ext>
            </a:extLst>
          </p:cNvPr>
          <p:cNvGrpSpPr/>
          <p:nvPr/>
        </p:nvGrpSpPr>
        <p:grpSpPr>
          <a:xfrm>
            <a:off x="574676" y="3945568"/>
            <a:ext cx="6626224" cy="642147"/>
            <a:chOff x="574676" y="3945568"/>
            <a:chExt cx="6626224" cy="642147"/>
          </a:xfrm>
        </p:grpSpPr>
        <p:grpSp>
          <p:nvGrpSpPr>
            <p:cNvPr id="2" name="그룹 1">
              <a:extLst>
                <a:ext uri="{FF2B5EF4-FFF2-40B4-BE49-F238E27FC236}">
                  <a16:creationId xmlns:a16="http://schemas.microsoft.com/office/drawing/2014/main" id="{92F5FC92-E154-9311-5F30-BAFC1BA3C927}"/>
                </a:ext>
              </a:extLst>
            </p:cNvPr>
            <p:cNvGrpSpPr/>
            <p:nvPr/>
          </p:nvGrpSpPr>
          <p:grpSpPr>
            <a:xfrm>
              <a:off x="574676" y="3945568"/>
              <a:ext cx="6626224" cy="642147"/>
              <a:chOff x="559674" y="4246814"/>
              <a:chExt cx="6641226" cy="642147"/>
            </a:xfrm>
          </p:grpSpPr>
          <p:sp>
            <p:nvSpPr>
              <p:cNvPr id="140" name="직사각형 139">
                <a:extLst>
                  <a:ext uri="{FF2B5EF4-FFF2-40B4-BE49-F238E27FC236}">
                    <a16:creationId xmlns:a16="http://schemas.microsoft.com/office/drawing/2014/main" id="{B9ACA68E-C7AA-23D6-9E93-BC35F9F6FA47}"/>
                  </a:ext>
                </a:extLst>
              </p:cNvPr>
              <p:cNvSpPr/>
              <p:nvPr/>
            </p:nvSpPr>
            <p:spPr>
              <a:xfrm flipH="1">
                <a:off x="559674" y="4246814"/>
                <a:ext cx="965157" cy="642147"/>
              </a:xfrm>
              <a:prstGeom prst="rect">
                <a:avLst/>
              </a:prstGeom>
              <a:solidFill>
                <a:srgbClr val="396CBF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41" name="직사각형 140">
                <a:extLst>
                  <a:ext uri="{FF2B5EF4-FFF2-40B4-BE49-F238E27FC236}">
                    <a16:creationId xmlns:a16="http://schemas.microsoft.com/office/drawing/2014/main" id="{1DCAAF9F-2BBA-8B5B-F90B-BABC5520EF20}"/>
                  </a:ext>
                </a:extLst>
              </p:cNvPr>
              <p:cNvSpPr/>
              <p:nvPr/>
            </p:nvSpPr>
            <p:spPr>
              <a:xfrm>
                <a:off x="950393" y="4398611"/>
                <a:ext cx="40964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vl="0" algn="ctr" latinLnBrk="0">
                  <a:spcAft>
                    <a:spcPts val="200"/>
                  </a:spcAft>
                </a:pPr>
                <a:r>
                  <a:rPr lang="ko-KR" altLang="en-US" sz="11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분석 내역</a:t>
                </a:r>
              </a:p>
            </p:txBody>
          </p:sp>
          <p:sp>
            <p:nvSpPr>
              <p:cNvPr id="61" name="직사각형 60">
                <a:extLst>
                  <a:ext uri="{FF2B5EF4-FFF2-40B4-BE49-F238E27FC236}">
                    <a16:creationId xmlns:a16="http://schemas.microsoft.com/office/drawing/2014/main" id="{6152C9AD-B0C4-4579-EC75-EED5BC4AF655}"/>
                  </a:ext>
                </a:extLst>
              </p:cNvPr>
              <p:cNvSpPr/>
              <p:nvPr/>
            </p:nvSpPr>
            <p:spPr>
              <a:xfrm>
                <a:off x="1531161" y="4246814"/>
                <a:ext cx="5669739" cy="6421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62" name="Rectangle 20">
                <a:extLst>
                  <a:ext uri="{FF2B5EF4-FFF2-40B4-BE49-F238E27FC236}">
                    <a16:creationId xmlns:a16="http://schemas.microsoft.com/office/drawing/2014/main" id="{0F023720-E2B2-B4B4-964A-387BEAD3C7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8800" y="4324231"/>
                <a:ext cx="5559859" cy="48731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 anchor="t" anchorCtr="0">
                <a:spAutoFit/>
              </a:bodyPr>
              <a:lstStyle/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주장비는 서버 및 저장장치로 월간 정기점검을 수행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상용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SW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는 시스템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SW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와 응용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SW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로 분기 정기점을 수행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, DBMS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만 월간 정기점검을 수행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주요 기술지원 내역은 </a:t>
                </a:r>
                <a:r>
                  <a:rPr lang="ko-KR" altLang="en-US" sz="1000" dirty="0" err="1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원도우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보안 업데이트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,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부속부품 교체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및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어플리케이션 </a:t>
                </a:r>
                <a:r>
                  <a:rPr lang="ko-KR" altLang="en-US" sz="1000" dirty="0" err="1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재기동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작업 등을 수행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39" name="자유형 109">
                <a:extLst>
                  <a:ext uri="{FF2B5EF4-FFF2-40B4-BE49-F238E27FC236}">
                    <a16:creationId xmlns:a16="http://schemas.microsoft.com/office/drawing/2014/main" id="{1F471DC4-0DC1-398E-B124-BDE91687F20E}"/>
                  </a:ext>
                </a:extLst>
              </p:cNvPr>
              <p:cNvSpPr/>
              <p:nvPr/>
            </p:nvSpPr>
            <p:spPr>
              <a:xfrm>
                <a:off x="579913" y="4298347"/>
                <a:ext cx="179845" cy="34211"/>
              </a:xfrm>
              <a:custGeom>
                <a:avLst/>
                <a:gdLst>
                  <a:gd name="connsiteX0" fmla="*/ 0 w 173831"/>
                  <a:gd name="connsiteY0" fmla="*/ 45244 h 45244"/>
                  <a:gd name="connsiteX1" fmla="*/ 173831 w 173831"/>
                  <a:gd name="connsiteY1" fmla="*/ 45244 h 45244"/>
                  <a:gd name="connsiteX2" fmla="*/ 128587 w 173831"/>
                  <a:gd name="connsiteY2" fmla="*/ 0 h 4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3831" h="45244">
                    <a:moveTo>
                      <a:pt x="0" y="45244"/>
                    </a:moveTo>
                    <a:lnTo>
                      <a:pt x="173831" y="45244"/>
                    </a:lnTo>
                    <a:lnTo>
                      <a:pt x="128587" y="0"/>
                    </a:lnTo>
                  </a:path>
                </a:pathLst>
              </a:cu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pic>
            <p:nvPicPr>
              <p:cNvPr id="57" name="Picture 2" descr="분석 - 무료 현서와 웹개 아이콘">
                <a:extLst>
                  <a:ext uri="{FF2B5EF4-FFF2-40B4-BE49-F238E27FC236}">
                    <a16:creationId xmlns:a16="http://schemas.microsoft.com/office/drawing/2014/main" id="{F7D75C40-606B-9F58-B5F5-0F5F216DAA7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5776" y="4482462"/>
                <a:ext cx="233901" cy="2231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43" name="직선 연결선 42">
              <a:extLst>
                <a:ext uri="{FF2B5EF4-FFF2-40B4-BE49-F238E27FC236}">
                  <a16:creationId xmlns:a16="http://schemas.microsoft.com/office/drawing/2014/main" id="{BCD0B7EF-3942-B413-5D1B-08C2E3292532}"/>
                </a:ext>
              </a:extLst>
            </p:cNvPr>
            <p:cNvCxnSpPr/>
            <p:nvPr/>
          </p:nvCxnSpPr>
          <p:spPr>
            <a:xfrm>
              <a:off x="574676" y="4587715"/>
              <a:ext cx="662622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2DB3DEA3-F2B1-D292-78B5-DCEF85A1F38A}"/>
              </a:ext>
            </a:extLst>
          </p:cNvPr>
          <p:cNvGrpSpPr/>
          <p:nvPr/>
        </p:nvGrpSpPr>
        <p:grpSpPr>
          <a:xfrm>
            <a:off x="574676" y="7115965"/>
            <a:ext cx="6626224" cy="642147"/>
            <a:chOff x="574676" y="7115965"/>
            <a:chExt cx="6626224" cy="642147"/>
          </a:xfrm>
        </p:grpSpPr>
        <p:grpSp>
          <p:nvGrpSpPr>
            <p:cNvPr id="21" name="그룹 20">
              <a:extLst>
                <a:ext uri="{FF2B5EF4-FFF2-40B4-BE49-F238E27FC236}">
                  <a16:creationId xmlns:a16="http://schemas.microsoft.com/office/drawing/2014/main" id="{7319DAFC-B1C5-D846-11D8-E7CA81A1FF3A}"/>
                </a:ext>
              </a:extLst>
            </p:cNvPr>
            <p:cNvGrpSpPr/>
            <p:nvPr/>
          </p:nvGrpSpPr>
          <p:grpSpPr>
            <a:xfrm>
              <a:off x="574676" y="7115965"/>
              <a:ext cx="6626224" cy="642147"/>
              <a:chOff x="559674" y="4246814"/>
              <a:chExt cx="6641226" cy="642147"/>
            </a:xfrm>
          </p:grpSpPr>
          <p:sp>
            <p:nvSpPr>
              <p:cNvPr id="25" name="직사각형 24">
                <a:extLst>
                  <a:ext uri="{FF2B5EF4-FFF2-40B4-BE49-F238E27FC236}">
                    <a16:creationId xmlns:a16="http://schemas.microsoft.com/office/drawing/2014/main" id="{B37FD750-5592-3A12-75A8-C2DED5B4A4D3}"/>
                  </a:ext>
                </a:extLst>
              </p:cNvPr>
              <p:cNvSpPr/>
              <p:nvPr/>
            </p:nvSpPr>
            <p:spPr>
              <a:xfrm flipH="1">
                <a:off x="559674" y="4246814"/>
                <a:ext cx="965157" cy="642147"/>
              </a:xfrm>
              <a:prstGeom prst="rect">
                <a:avLst/>
              </a:prstGeom>
              <a:solidFill>
                <a:srgbClr val="396CBF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6" name="직사각형 25">
                <a:extLst>
                  <a:ext uri="{FF2B5EF4-FFF2-40B4-BE49-F238E27FC236}">
                    <a16:creationId xmlns:a16="http://schemas.microsoft.com/office/drawing/2014/main" id="{64727273-ECE9-EFAB-9672-261E95C47B57}"/>
                  </a:ext>
                </a:extLst>
              </p:cNvPr>
              <p:cNvSpPr/>
              <p:nvPr/>
            </p:nvSpPr>
            <p:spPr>
              <a:xfrm>
                <a:off x="950393" y="4398611"/>
                <a:ext cx="40964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vl="0" algn="ctr" latinLnBrk="0">
                  <a:spcAft>
                    <a:spcPts val="200"/>
                  </a:spcAft>
                </a:pPr>
                <a:r>
                  <a:rPr lang="ko-KR" altLang="en-US" sz="11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분석 내역</a:t>
                </a:r>
              </a:p>
            </p:txBody>
          </p:sp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B46BC617-3CF5-55B0-6FC7-58A75DE345F4}"/>
                  </a:ext>
                </a:extLst>
              </p:cNvPr>
              <p:cNvSpPr/>
              <p:nvPr/>
            </p:nvSpPr>
            <p:spPr>
              <a:xfrm>
                <a:off x="1531161" y="4246814"/>
                <a:ext cx="5669739" cy="6421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8" name="Rectangle 20">
                <a:extLst>
                  <a:ext uri="{FF2B5EF4-FFF2-40B4-BE49-F238E27FC236}">
                    <a16:creationId xmlns:a16="http://schemas.microsoft.com/office/drawing/2014/main" id="{00768A2B-9A9F-001D-04A6-553063A07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8800" y="4324231"/>
                <a:ext cx="5559859" cy="48731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 anchor="t" anchorCtr="0">
                <a:spAutoFit/>
              </a:bodyPr>
              <a:lstStyle/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 err="1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백본스위치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,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라우터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,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방화벽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, IPS, DDoS, VPN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및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NAC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장비는 월간 정기점검을 수행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L4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스위치 및 워크그룹 스위치는 분기 정기점검을 수행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주요 기술지원 내역은 </a:t>
                </a:r>
                <a:r>
                  <a:rPr lang="ko-KR" altLang="en-US" sz="1000" dirty="0" err="1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국방망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/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사용자망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/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인터넷망 연결 및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Link Down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지원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,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속도저하 원인 파악 등을 수행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30" name="자유형 109">
                <a:extLst>
                  <a:ext uri="{FF2B5EF4-FFF2-40B4-BE49-F238E27FC236}">
                    <a16:creationId xmlns:a16="http://schemas.microsoft.com/office/drawing/2014/main" id="{6A30E537-DA15-DAB0-28AD-F20CCC6C9E12}"/>
                  </a:ext>
                </a:extLst>
              </p:cNvPr>
              <p:cNvSpPr/>
              <p:nvPr/>
            </p:nvSpPr>
            <p:spPr>
              <a:xfrm>
                <a:off x="579913" y="4298347"/>
                <a:ext cx="179845" cy="34211"/>
              </a:xfrm>
              <a:custGeom>
                <a:avLst/>
                <a:gdLst>
                  <a:gd name="connsiteX0" fmla="*/ 0 w 173831"/>
                  <a:gd name="connsiteY0" fmla="*/ 45244 h 45244"/>
                  <a:gd name="connsiteX1" fmla="*/ 173831 w 173831"/>
                  <a:gd name="connsiteY1" fmla="*/ 45244 h 45244"/>
                  <a:gd name="connsiteX2" fmla="*/ 128587 w 173831"/>
                  <a:gd name="connsiteY2" fmla="*/ 0 h 4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3831" h="45244">
                    <a:moveTo>
                      <a:pt x="0" y="45244"/>
                    </a:moveTo>
                    <a:lnTo>
                      <a:pt x="173831" y="45244"/>
                    </a:lnTo>
                    <a:lnTo>
                      <a:pt x="128587" y="0"/>
                    </a:lnTo>
                  </a:path>
                </a:pathLst>
              </a:cu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pic>
            <p:nvPicPr>
              <p:cNvPr id="31" name="Picture 2" descr="분석 - 무료 현서와 웹개 아이콘">
                <a:extLst>
                  <a:ext uri="{FF2B5EF4-FFF2-40B4-BE49-F238E27FC236}">
                    <a16:creationId xmlns:a16="http://schemas.microsoft.com/office/drawing/2014/main" id="{C7B0F059-95AF-FFCA-92D0-BCF5BCEC1B3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5776" y="4482462"/>
                <a:ext cx="233901" cy="2231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E051FF56-FFC6-B3A1-2B10-DAED9CC80BA0}"/>
                </a:ext>
              </a:extLst>
            </p:cNvPr>
            <p:cNvCxnSpPr/>
            <p:nvPr/>
          </p:nvCxnSpPr>
          <p:spPr>
            <a:xfrm>
              <a:off x="574676" y="7758112"/>
              <a:ext cx="662622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그룹 47">
            <a:extLst>
              <a:ext uri="{FF2B5EF4-FFF2-40B4-BE49-F238E27FC236}">
                <a16:creationId xmlns:a16="http://schemas.microsoft.com/office/drawing/2014/main" id="{7B5FFE66-016A-D793-BE13-6444159AC36F}"/>
              </a:ext>
            </a:extLst>
          </p:cNvPr>
          <p:cNvGrpSpPr/>
          <p:nvPr/>
        </p:nvGrpSpPr>
        <p:grpSpPr>
          <a:xfrm>
            <a:off x="574676" y="9564237"/>
            <a:ext cx="6626222" cy="642147"/>
            <a:chOff x="574676" y="9564237"/>
            <a:chExt cx="6626222" cy="642147"/>
          </a:xfrm>
        </p:grpSpPr>
        <p:grpSp>
          <p:nvGrpSpPr>
            <p:cNvPr id="35" name="그룹 34">
              <a:extLst>
                <a:ext uri="{FF2B5EF4-FFF2-40B4-BE49-F238E27FC236}">
                  <a16:creationId xmlns:a16="http://schemas.microsoft.com/office/drawing/2014/main" id="{2E44BEF5-67F6-E224-E499-B8D0B6004DCD}"/>
                </a:ext>
              </a:extLst>
            </p:cNvPr>
            <p:cNvGrpSpPr/>
            <p:nvPr/>
          </p:nvGrpSpPr>
          <p:grpSpPr>
            <a:xfrm>
              <a:off x="574676" y="9564237"/>
              <a:ext cx="6611670" cy="642147"/>
              <a:chOff x="559674" y="4246814"/>
              <a:chExt cx="6611670" cy="642147"/>
            </a:xfrm>
          </p:grpSpPr>
          <p:sp>
            <p:nvSpPr>
              <p:cNvPr id="36" name="직사각형 35">
                <a:extLst>
                  <a:ext uri="{FF2B5EF4-FFF2-40B4-BE49-F238E27FC236}">
                    <a16:creationId xmlns:a16="http://schemas.microsoft.com/office/drawing/2014/main" id="{205312DF-BE3F-A765-6F84-1E52EE7A5F85}"/>
                  </a:ext>
                </a:extLst>
              </p:cNvPr>
              <p:cNvSpPr/>
              <p:nvPr/>
            </p:nvSpPr>
            <p:spPr>
              <a:xfrm flipH="1">
                <a:off x="559674" y="4246814"/>
                <a:ext cx="965157" cy="642147"/>
              </a:xfrm>
              <a:prstGeom prst="rect">
                <a:avLst/>
              </a:prstGeom>
              <a:solidFill>
                <a:srgbClr val="396CBF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37" name="직사각형 36">
                <a:extLst>
                  <a:ext uri="{FF2B5EF4-FFF2-40B4-BE49-F238E27FC236}">
                    <a16:creationId xmlns:a16="http://schemas.microsoft.com/office/drawing/2014/main" id="{5296056C-47B0-54E6-9898-0EF5C510481B}"/>
                  </a:ext>
                </a:extLst>
              </p:cNvPr>
              <p:cNvSpPr/>
              <p:nvPr/>
            </p:nvSpPr>
            <p:spPr>
              <a:xfrm>
                <a:off x="950393" y="4398611"/>
                <a:ext cx="40964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vl="0" algn="ctr" latinLnBrk="0">
                  <a:spcAft>
                    <a:spcPts val="200"/>
                  </a:spcAft>
                </a:pPr>
                <a:r>
                  <a:rPr lang="ko-KR" altLang="en-US" sz="11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분석 내역</a:t>
                </a:r>
              </a:p>
            </p:txBody>
          </p:sp>
          <p:sp>
            <p:nvSpPr>
              <p:cNvPr id="38" name="직사각형 37">
                <a:extLst>
                  <a:ext uri="{FF2B5EF4-FFF2-40B4-BE49-F238E27FC236}">
                    <a16:creationId xmlns:a16="http://schemas.microsoft.com/office/drawing/2014/main" id="{946C777E-EC83-D38B-6BDD-469E5E0FBC26}"/>
                  </a:ext>
                </a:extLst>
              </p:cNvPr>
              <p:cNvSpPr/>
              <p:nvPr/>
            </p:nvSpPr>
            <p:spPr>
              <a:xfrm>
                <a:off x="1531161" y="4246814"/>
                <a:ext cx="5640183" cy="6421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39" name="Rectangle 20">
                <a:extLst>
                  <a:ext uri="{FF2B5EF4-FFF2-40B4-BE49-F238E27FC236}">
                    <a16:creationId xmlns:a16="http://schemas.microsoft.com/office/drawing/2014/main" id="{84B3276E-4F4E-EC45-51B9-801A323A26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8800" y="4324231"/>
                <a:ext cx="5559859" cy="48731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 anchor="t" anchorCtr="0">
                <a:spAutoFit/>
              </a:bodyPr>
              <a:lstStyle/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UPS,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항온항습기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및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소방 설비는 월간 정기점검을 수행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UPS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및 </a:t>
                </a:r>
                <a:r>
                  <a:rPr lang="ko-KR" altLang="en-US" sz="1000" dirty="0" err="1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항온항습기는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국방전산정보원 기계실 이외에 </a:t>
                </a:r>
                <a:r>
                  <a:rPr lang="ko-KR" altLang="en-US" sz="1000" dirty="0" err="1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합참분청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등 영내 다른 지역에도 위치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주요 기술지원 내역은 이전 지원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및 공사 시 지원 등을 수행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40" name="자유형 109">
                <a:extLst>
                  <a:ext uri="{FF2B5EF4-FFF2-40B4-BE49-F238E27FC236}">
                    <a16:creationId xmlns:a16="http://schemas.microsoft.com/office/drawing/2014/main" id="{9C6564B0-C297-058E-08E8-EF994FB3CB08}"/>
                  </a:ext>
                </a:extLst>
              </p:cNvPr>
              <p:cNvSpPr/>
              <p:nvPr/>
            </p:nvSpPr>
            <p:spPr>
              <a:xfrm>
                <a:off x="579913" y="4298347"/>
                <a:ext cx="179845" cy="34211"/>
              </a:xfrm>
              <a:custGeom>
                <a:avLst/>
                <a:gdLst>
                  <a:gd name="connsiteX0" fmla="*/ 0 w 173831"/>
                  <a:gd name="connsiteY0" fmla="*/ 45244 h 45244"/>
                  <a:gd name="connsiteX1" fmla="*/ 173831 w 173831"/>
                  <a:gd name="connsiteY1" fmla="*/ 45244 h 45244"/>
                  <a:gd name="connsiteX2" fmla="*/ 128587 w 173831"/>
                  <a:gd name="connsiteY2" fmla="*/ 0 h 4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3831" h="45244">
                    <a:moveTo>
                      <a:pt x="0" y="45244"/>
                    </a:moveTo>
                    <a:lnTo>
                      <a:pt x="173831" y="45244"/>
                    </a:lnTo>
                    <a:lnTo>
                      <a:pt x="128587" y="0"/>
                    </a:lnTo>
                  </a:path>
                </a:pathLst>
              </a:cu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pic>
            <p:nvPicPr>
              <p:cNvPr id="41" name="Picture 2" descr="분석 - 무료 현서와 웹개 아이콘">
                <a:extLst>
                  <a:ext uri="{FF2B5EF4-FFF2-40B4-BE49-F238E27FC236}">
                    <a16:creationId xmlns:a16="http://schemas.microsoft.com/office/drawing/2014/main" id="{EAB66C9E-D5A7-0F56-7612-105194BB3D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5776" y="4482462"/>
                <a:ext cx="233901" cy="2231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377EB6C-4F91-0F13-4A35-2FF04A723C43}"/>
                </a:ext>
              </a:extLst>
            </p:cNvPr>
            <p:cNvCxnSpPr/>
            <p:nvPr/>
          </p:nvCxnSpPr>
          <p:spPr>
            <a:xfrm>
              <a:off x="574676" y="10201621"/>
              <a:ext cx="662622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15" name="Group 32">
            <a:extLst>
              <a:ext uri="{FF2B5EF4-FFF2-40B4-BE49-F238E27FC236}">
                <a16:creationId xmlns:a16="http://schemas.microsoft.com/office/drawing/2014/main" id="{9DCFA36B-9AFA-9F02-0251-5C395384D6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0696854"/>
              </p:ext>
            </p:extLst>
          </p:nvPr>
        </p:nvGraphicFramePr>
        <p:xfrm>
          <a:off x="588194" y="2427252"/>
          <a:ext cx="6612704" cy="1524000"/>
        </p:xfrm>
        <a:graphic>
          <a:graphicData uri="http://schemas.openxmlformats.org/drawingml/2006/table">
            <a:tbl>
              <a:tblPr/>
              <a:tblGrid>
                <a:gridCol w="4192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408663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1546893281"/>
                    </a:ext>
                  </a:extLst>
                </a:gridCol>
                <a:gridCol w="105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6117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1056117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503393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  <a:gridCol w="503393">
                  <a:extLst>
                    <a:ext uri="{9D8B030D-6E8A-4147-A177-3AD203B41FA5}">
                      <a16:colId xmlns:a16="http://schemas.microsoft.com/office/drawing/2014/main" val="2661205496"/>
                    </a:ext>
                  </a:extLst>
                </a:gridCol>
                <a:gridCol w="794158">
                  <a:extLst>
                    <a:ext uri="{9D8B030D-6E8A-4147-A177-3AD203B41FA5}">
                      <a16:colId xmlns:a16="http://schemas.microsoft.com/office/drawing/2014/main" val="1692305074"/>
                    </a:ext>
                  </a:extLst>
                </a:gridCol>
              </a:tblGrid>
              <a:tr h="212298">
                <a:tc gridSpan="3"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 평균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N+1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N+2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비고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2298">
                <a:tc gridSpan="3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총계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120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120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568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808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278416"/>
                  </a:ext>
                </a:extLst>
              </a:tr>
              <a:tr h="212298">
                <a:tc gridSpan="3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서버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저장장치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191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월별 점검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212298">
                <a:tc rowSpan="3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상용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SW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시스템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DBMS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7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17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49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월별 점검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  <a:tr h="265373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WEB/WAS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분기별 점검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723859"/>
                  </a:ext>
                </a:extLst>
              </a:tr>
              <a:tr h="212298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응용 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SW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464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568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분기별 점검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4439"/>
                  </a:ext>
                </a:extLst>
              </a:tr>
            </a:tbl>
          </a:graphicData>
        </a:graphic>
      </p:graphicFrame>
      <p:graphicFrame>
        <p:nvGraphicFramePr>
          <p:cNvPr id="20" name="Group 32">
            <a:extLst>
              <a:ext uri="{FF2B5EF4-FFF2-40B4-BE49-F238E27FC236}">
                <a16:creationId xmlns:a16="http://schemas.microsoft.com/office/drawing/2014/main" id="{078620A3-058C-5634-2BBD-4432CE55F0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6037582"/>
              </p:ext>
            </p:extLst>
          </p:nvPr>
        </p:nvGraphicFramePr>
        <p:xfrm>
          <a:off x="588194" y="5165245"/>
          <a:ext cx="6612705" cy="1950720"/>
        </p:xfrm>
        <a:graphic>
          <a:graphicData uri="http://schemas.openxmlformats.org/drawingml/2006/table">
            <a:tbl>
              <a:tblPr/>
              <a:tblGrid>
                <a:gridCol w="929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286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1222286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1222286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  <a:gridCol w="794158">
                  <a:extLst>
                    <a:ext uri="{9D8B030D-6E8A-4147-A177-3AD203B41FA5}">
                      <a16:colId xmlns:a16="http://schemas.microsoft.com/office/drawing/2014/main" val="1692305074"/>
                    </a:ext>
                  </a:extLst>
                </a:gridCol>
              </a:tblGrid>
              <a:tr h="203705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 평균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N+1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N+2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비고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77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총계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74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74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422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570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278416"/>
                  </a:ext>
                </a:extLst>
              </a:tr>
              <a:tr h="19577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백본스위치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47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47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47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141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월별 점검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19577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L4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스위치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분기별 점검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  <a:tr h="19577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라우터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월별 점검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7238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정보보호장비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24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68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월별 점검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144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워크그룹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324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324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분기별 점검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45742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NAC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월별</a:t>
                      </a: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026540"/>
                  </a:ext>
                </a:extLst>
              </a:tr>
            </a:tbl>
          </a:graphicData>
        </a:graphic>
      </p:graphicFrame>
      <p:graphicFrame>
        <p:nvGraphicFramePr>
          <p:cNvPr id="34" name="Group 32">
            <a:extLst>
              <a:ext uri="{FF2B5EF4-FFF2-40B4-BE49-F238E27FC236}">
                <a16:creationId xmlns:a16="http://schemas.microsoft.com/office/drawing/2014/main" id="{B300450E-19AF-DCED-F3C6-6D21E63BAA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263160"/>
              </p:ext>
            </p:extLst>
          </p:nvPr>
        </p:nvGraphicFramePr>
        <p:xfrm>
          <a:off x="588194" y="8345037"/>
          <a:ext cx="6612705" cy="1219200"/>
        </p:xfrm>
        <a:graphic>
          <a:graphicData uri="http://schemas.openxmlformats.org/drawingml/2006/table">
            <a:tbl>
              <a:tblPr/>
              <a:tblGrid>
                <a:gridCol w="929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286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1222286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1222286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  <a:gridCol w="794158">
                  <a:extLst>
                    <a:ext uri="{9D8B030D-6E8A-4147-A177-3AD203B41FA5}">
                      <a16:colId xmlns:a16="http://schemas.microsoft.com/office/drawing/2014/main" val="1692305074"/>
                    </a:ext>
                  </a:extLst>
                </a:gridCol>
              </a:tblGrid>
              <a:tr h="203705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 평균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N+1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N+2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비고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77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총계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129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278416"/>
                  </a:ext>
                </a:extLst>
              </a:tr>
              <a:tr h="19577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UPS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39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월별</a:t>
                      </a:r>
                      <a:r>
                        <a:rPr kumimoji="1" lang="en-US" altLang="zh-CN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19577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항온항습기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16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16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16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48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월별</a:t>
                      </a:r>
                      <a:r>
                        <a:rPr kumimoji="1" lang="en-US" altLang="zh-CN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  <a:tr h="19577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소방 설비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14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14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14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월별</a:t>
                      </a: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 </a:t>
                      </a:r>
                      <a:r>
                        <a:rPr kumimoji="1" lang="ko-KR" altLang="en-US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72385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573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DD2595-FA0D-06D8-41A0-310CEC33B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9EBB54EF-9D7B-FEAD-72DF-141CCE3A2AE4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A0C1A00-2D0A-6E46-C2DD-1DC74A7B8C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6" name="제목 1">
            <a:extLst>
              <a:ext uri="{FF2B5EF4-FFF2-40B4-BE49-F238E27FC236}">
                <a16:creationId xmlns:a16="http://schemas.microsoft.com/office/drawing/2014/main" id="{07E41C1D-0A22-A170-CC4E-44A320647F01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58" name="제목 1">
            <a:extLst>
              <a:ext uri="{FF2B5EF4-FFF2-40B4-BE49-F238E27FC236}">
                <a16:creationId xmlns:a16="http://schemas.microsoft.com/office/drawing/2014/main" id="{9B924CEA-4D3A-DB4A-45C5-EEA6C9A2FFA3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 4)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운영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(2/5)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42C72599-140F-794F-5917-4BF009B7785A}"/>
              </a:ext>
            </a:extLst>
          </p:cNvPr>
          <p:cNvSpPr txBox="1"/>
          <p:nvPr/>
        </p:nvSpPr>
        <p:spPr>
          <a:xfrm>
            <a:off x="934361" y="1644256"/>
            <a:ext cx="63393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적극적인 정보열람 및 실무자 인터뷰를 통한 분석으로 성공요소 도출과 서비스 수준 관리</a:t>
            </a:r>
            <a:r>
              <a:rPr kumimoji="1" lang="en-US" altLang="ko-KR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(SLA) </a:t>
            </a: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수립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ABCE76EF-940E-1455-E34F-FC1AF7113E2A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8153CF79-7292-79F8-E487-E3FB874658EA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사무용 전산장비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유지보수 실적 분석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D0867B17-6808-5FCA-404E-98E90F7BE7E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17" name="그룹 16">
            <a:extLst>
              <a:ext uri="{FF2B5EF4-FFF2-40B4-BE49-F238E27FC236}">
                <a16:creationId xmlns:a16="http://schemas.microsoft.com/office/drawing/2014/main" id="{95C937CE-9410-BB34-FF0A-780FA7D4229F}"/>
              </a:ext>
            </a:extLst>
          </p:cNvPr>
          <p:cNvGrpSpPr/>
          <p:nvPr/>
        </p:nvGrpSpPr>
        <p:grpSpPr>
          <a:xfrm>
            <a:off x="575419" y="3509640"/>
            <a:ext cx="6123444" cy="199199"/>
            <a:chOff x="354537" y="2859354"/>
            <a:chExt cx="5810766" cy="165794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9427CC14-9580-557E-79EB-8D840D4D4E02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사무용 전산장비 분야별 지원내용 및 비율 분석</a:t>
              </a:r>
            </a:p>
          </p:txBody>
        </p:sp>
        <p:pic>
          <p:nvPicPr>
            <p:cNvPr id="19" name="그림 18">
              <a:extLst>
                <a:ext uri="{FF2B5EF4-FFF2-40B4-BE49-F238E27FC236}">
                  <a16:creationId xmlns:a16="http://schemas.microsoft.com/office/drawing/2014/main" id="{303AABBC-B93E-D464-B362-8F5C85E1458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DD1BBA47-27EA-E1EA-836F-54BFD9242A34}"/>
              </a:ext>
            </a:extLst>
          </p:cNvPr>
          <p:cNvGrpSpPr/>
          <p:nvPr/>
        </p:nvGrpSpPr>
        <p:grpSpPr>
          <a:xfrm>
            <a:off x="588194" y="7197416"/>
            <a:ext cx="6123444" cy="199199"/>
            <a:chOff x="354537" y="2859354"/>
            <a:chExt cx="5810766" cy="16579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8A7A1266-C5C6-A7CC-46E0-BE50D9C2C4D5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사무용 전산장비 평균 장애조치 및 기술지원 상세 내역</a:t>
              </a: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0F9400AA-229E-FF65-83EE-A06825D0548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2" name="Group 32">
            <a:extLst>
              <a:ext uri="{FF2B5EF4-FFF2-40B4-BE49-F238E27FC236}">
                <a16:creationId xmlns:a16="http://schemas.microsoft.com/office/drawing/2014/main" id="{0DB6EC38-81B3-5F5B-4250-9DA7EB6098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916263"/>
              </p:ext>
            </p:extLst>
          </p:nvPr>
        </p:nvGraphicFramePr>
        <p:xfrm>
          <a:off x="588194" y="2425814"/>
          <a:ext cx="6612705" cy="975360"/>
        </p:xfrm>
        <a:graphic>
          <a:graphicData uri="http://schemas.openxmlformats.org/drawingml/2006/table">
            <a:tbl>
              <a:tblPr/>
              <a:tblGrid>
                <a:gridCol w="9294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22286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1222286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791564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  <a:gridCol w="1224880">
                  <a:extLst>
                    <a:ext uri="{9D8B030D-6E8A-4147-A177-3AD203B41FA5}">
                      <a16:colId xmlns:a16="http://schemas.microsoft.com/office/drawing/2014/main" val="1692305074"/>
                    </a:ext>
                  </a:extLst>
                </a:gridCol>
              </a:tblGrid>
              <a:tr h="170055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 평균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N+1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N+2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비고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055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총계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1,091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1,356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462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2,909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278416"/>
                  </a:ext>
                </a:extLst>
              </a:tr>
              <a:tr h="170055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장애조치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651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572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183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1,406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PC/OA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소모품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170055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기술지원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440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784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273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1,503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PC/OA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소모품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</a:tbl>
          </a:graphicData>
        </a:graphic>
      </p:graphicFrame>
      <p:graphicFrame>
        <p:nvGraphicFramePr>
          <p:cNvPr id="7" name="Group 32">
            <a:extLst>
              <a:ext uri="{FF2B5EF4-FFF2-40B4-BE49-F238E27FC236}">
                <a16:creationId xmlns:a16="http://schemas.microsoft.com/office/drawing/2014/main" id="{E7EB9373-AE7F-1EED-BD03-EB3FD22317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0556842"/>
              </p:ext>
            </p:extLst>
          </p:nvPr>
        </p:nvGraphicFramePr>
        <p:xfrm>
          <a:off x="588194" y="3821658"/>
          <a:ext cx="6612705" cy="3221262"/>
        </p:xfrm>
        <a:graphic>
          <a:graphicData uri="http://schemas.openxmlformats.org/drawingml/2006/table">
            <a:tbl>
              <a:tblPr/>
              <a:tblGrid>
                <a:gridCol w="923329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4896544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792832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</a:tblGrid>
              <a:tr h="292842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분야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지원 내용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평균 비율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842"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PC/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노트북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H/W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부품 및 주요 소모품 노후로 인한 부품 교체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180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94%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292842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운영체제 속도 저하 및 손상으로 인한 운영체제 재설치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180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6%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  <a:tr h="292842"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모니터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모니터 노후화에 따른 비정상 동작으로 장비 교체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180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9%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584125"/>
                  </a:ext>
                </a:extLst>
              </a:tr>
              <a:tr h="292842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기타 지원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전원 케이블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모니터 전원 불량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180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91%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96014"/>
                  </a:ext>
                </a:extLst>
              </a:tr>
              <a:tr h="292842"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프린터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H/W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부품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드럼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토너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인쇄 걸림 등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불량으로 인한 부품 교체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180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98%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4193627"/>
                  </a:ext>
                </a:extLst>
              </a:tr>
              <a:tr h="292842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기타 지원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드라이버 손상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보안 프로그램 정책 변경 등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180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2%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6024030"/>
                  </a:ext>
                </a:extLst>
              </a:tr>
              <a:tr h="292842"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네트워크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회선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허브 불량으로 인한 장비 교체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,IP(MAC)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충돌 해결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180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43%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866830"/>
                  </a:ext>
                </a:extLst>
              </a:tr>
              <a:tr h="292842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보안프로그램 충돌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파수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/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백신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), NAC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정책변경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네트워크 접속 장애로 프로그램 재설치 등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180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57%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9344370"/>
                  </a:ext>
                </a:extLst>
              </a:tr>
              <a:tr h="292842"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기타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이전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재배치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신규설치 작업 등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180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78%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7783296"/>
                  </a:ext>
                </a:extLst>
              </a:tr>
              <a:tr h="292842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비밀번호 분실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신규요청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, SW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오작동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, 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각종 에러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180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22%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3090379"/>
                  </a:ext>
                </a:extLst>
              </a:tr>
            </a:tbl>
          </a:graphicData>
        </a:graphic>
      </p:graphicFrame>
      <p:graphicFrame>
        <p:nvGraphicFramePr>
          <p:cNvPr id="12" name="Group 32">
            <a:extLst>
              <a:ext uri="{FF2B5EF4-FFF2-40B4-BE49-F238E27FC236}">
                <a16:creationId xmlns:a16="http://schemas.microsoft.com/office/drawing/2014/main" id="{8D63994D-4C22-0865-DEF2-F498EB42A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3114560"/>
              </p:ext>
            </p:extLst>
          </p:nvPr>
        </p:nvGraphicFramePr>
        <p:xfrm>
          <a:off x="3887787" y="7539690"/>
          <a:ext cx="3313112" cy="2018622"/>
        </p:xfrm>
        <a:graphic>
          <a:graphicData uri="http://schemas.openxmlformats.org/drawingml/2006/table">
            <a:tbl>
              <a:tblPr/>
              <a:tblGrid>
                <a:gridCol w="8640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22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2254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612254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612254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</a:tblGrid>
              <a:tr h="336437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기술지원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N+1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N+2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37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공문접수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41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158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336437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작업지시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385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155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553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  <a:tr h="336437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전산장비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318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289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73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680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492083"/>
                  </a:ext>
                </a:extLst>
              </a:tr>
              <a:tr h="336437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전화번호안내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47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112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979950"/>
                  </a:ext>
                </a:extLst>
              </a:tr>
              <a:tr h="336437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440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784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279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1,503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684838"/>
                  </a:ext>
                </a:extLst>
              </a:tr>
            </a:tbl>
          </a:graphicData>
        </a:graphic>
      </p:graphicFrame>
      <p:graphicFrame>
        <p:nvGraphicFramePr>
          <p:cNvPr id="14" name="Group 32">
            <a:extLst>
              <a:ext uri="{FF2B5EF4-FFF2-40B4-BE49-F238E27FC236}">
                <a16:creationId xmlns:a16="http://schemas.microsoft.com/office/drawing/2014/main" id="{BB56BFC5-EE59-8AA8-85DE-F9B85BCE8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4856634"/>
              </p:ext>
            </p:extLst>
          </p:nvPr>
        </p:nvGraphicFramePr>
        <p:xfrm>
          <a:off x="588194" y="7539690"/>
          <a:ext cx="3313109" cy="2018622"/>
        </p:xfrm>
        <a:graphic>
          <a:graphicData uri="http://schemas.openxmlformats.org/drawingml/2006/table">
            <a:tbl>
              <a:tblPr/>
              <a:tblGrid>
                <a:gridCol w="8513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4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447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615447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615447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</a:tblGrid>
              <a:tr h="336437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장애조치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N+1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N+2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6437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PC/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노트북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507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435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135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1,077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336437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모니터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47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122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  <a:tr h="336437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프린터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51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18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122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8492083"/>
                  </a:ext>
                </a:extLst>
              </a:tr>
              <a:tr h="336437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네트워크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38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37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85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979950"/>
                  </a:ext>
                </a:extLst>
              </a:tr>
              <a:tr h="336437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651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572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183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1,406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94684838"/>
                  </a:ext>
                </a:extLst>
              </a:tr>
            </a:tbl>
          </a:graphicData>
        </a:graphic>
      </p:graphicFrame>
      <p:grpSp>
        <p:nvGrpSpPr>
          <p:cNvPr id="57" name="그룹 56">
            <a:extLst>
              <a:ext uri="{FF2B5EF4-FFF2-40B4-BE49-F238E27FC236}">
                <a16:creationId xmlns:a16="http://schemas.microsoft.com/office/drawing/2014/main" id="{37A018B0-8AC7-0E85-64BE-0737383554C0}"/>
              </a:ext>
            </a:extLst>
          </p:cNvPr>
          <p:cNvGrpSpPr/>
          <p:nvPr/>
        </p:nvGrpSpPr>
        <p:grpSpPr>
          <a:xfrm>
            <a:off x="574676" y="9564237"/>
            <a:ext cx="6626222" cy="642147"/>
            <a:chOff x="574676" y="9564237"/>
            <a:chExt cx="6626222" cy="642147"/>
          </a:xfrm>
        </p:grpSpPr>
        <p:grpSp>
          <p:nvGrpSpPr>
            <p:cNvPr id="61" name="그룹 60">
              <a:extLst>
                <a:ext uri="{FF2B5EF4-FFF2-40B4-BE49-F238E27FC236}">
                  <a16:creationId xmlns:a16="http://schemas.microsoft.com/office/drawing/2014/main" id="{7BFFF785-B7FD-C055-9CB7-68D8BB36F233}"/>
                </a:ext>
              </a:extLst>
            </p:cNvPr>
            <p:cNvGrpSpPr/>
            <p:nvPr/>
          </p:nvGrpSpPr>
          <p:grpSpPr>
            <a:xfrm>
              <a:off x="574676" y="9564237"/>
              <a:ext cx="6611670" cy="642147"/>
              <a:chOff x="559674" y="4246814"/>
              <a:chExt cx="6611670" cy="642147"/>
            </a:xfrm>
          </p:grpSpPr>
          <p:sp>
            <p:nvSpPr>
              <p:cNvPr id="63" name="직사각형 62">
                <a:extLst>
                  <a:ext uri="{FF2B5EF4-FFF2-40B4-BE49-F238E27FC236}">
                    <a16:creationId xmlns:a16="http://schemas.microsoft.com/office/drawing/2014/main" id="{3E1C90C9-F77B-B72E-7FF9-211F602D6D22}"/>
                  </a:ext>
                </a:extLst>
              </p:cNvPr>
              <p:cNvSpPr/>
              <p:nvPr/>
            </p:nvSpPr>
            <p:spPr>
              <a:xfrm flipH="1">
                <a:off x="559674" y="4246814"/>
                <a:ext cx="965157" cy="642147"/>
              </a:xfrm>
              <a:prstGeom prst="rect">
                <a:avLst/>
              </a:prstGeom>
              <a:solidFill>
                <a:srgbClr val="396CBF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28" name="직사각형 127">
                <a:extLst>
                  <a:ext uri="{FF2B5EF4-FFF2-40B4-BE49-F238E27FC236}">
                    <a16:creationId xmlns:a16="http://schemas.microsoft.com/office/drawing/2014/main" id="{8D25F79E-5B0A-1458-FA87-33C077225E63}"/>
                  </a:ext>
                </a:extLst>
              </p:cNvPr>
              <p:cNvSpPr/>
              <p:nvPr/>
            </p:nvSpPr>
            <p:spPr>
              <a:xfrm>
                <a:off x="950393" y="4398611"/>
                <a:ext cx="40964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vl="0" algn="ctr" latinLnBrk="0">
                  <a:spcAft>
                    <a:spcPts val="200"/>
                  </a:spcAft>
                </a:pPr>
                <a:r>
                  <a:rPr lang="ko-KR" altLang="en-US" sz="11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분석 내역</a:t>
                </a:r>
              </a:p>
            </p:txBody>
          </p:sp>
          <p:sp>
            <p:nvSpPr>
              <p:cNvPr id="129" name="직사각형 128">
                <a:extLst>
                  <a:ext uri="{FF2B5EF4-FFF2-40B4-BE49-F238E27FC236}">
                    <a16:creationId xmlns:a16="http://schemas.microsoft.com/office/drawing/2014/main" id="{76C18D5A-36E6-7907-330A-78CBA20EF7A3}"/>
                  </a:ext>
                </a:extLst>
              </p:cNvPr>
              <p:cNvSpPr/>
              <p:nvPr/>
            </p:nvSpPr>
            <p:spPr>
              <a:xfrm>
                <a:off x="1531161" y="4246814"/>
                <a:ext cx="5640183" cy="6421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30" name="Rectangle 20">
                <a:extLst>
                  <a:ext uri="{FF2B5EF4-FFF2-40B4-BE49-F238E27FC236}">
                    <a16:creationId xmlns:a16="http://schemas.microsoft.com/office/drawing/2014/main" id="{0EA6C532-FEE5-97A1-83C7-B2C3FF8EF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8800" y="4324231"/>
                <a:ext cx="5559859" cy="48731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 anchor="t" anchorCtr="0">
                <a:spAutoFit/>
              </a:bodyPr>
              <a:lstStyle/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사무용 전산장비는 별관 디지털지원센터에서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9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명의 상주인력이 장애조치 및 기술지원을 수행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PC,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노트북 및 모니터의 대부분 장애는 소모품 노후화로 인한 교체를 수행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프린터의 대부분 장애는 부품 불량 교체와 보안제품과의 문제로 인한 네트워크 지원을 수행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31" name="자유형 109">
                <a:extLst>
                  <a:ext uri="{FF2B5EF4-FFF2-40B4-BE49-F238E27FC236}">
                    <a16:creationId xmlns:a16="http://schemas.microsoft.com/office/drawing/2014/main" id="{18AAB5B1-540A-068C-5852-54EC3F99E191}"/>
                  </a:ext>
                </a:extLst>
              </p:cNvPr>
              <p:cNvSpPr/>
              <p:nvPr/>
            </p:nvSpPr>
            <p:spPr>
              <a:xfrm>
                <a:off x="579913" y="4298347"/>
                <a:ext cx="179845" cy="34211"/>
              </a:xfrm>
              <a:custGeom>
                <a:avLst/>
                <a:gdLst>
                  <a:gd name="connsiteX0" fmla="*/ 0 w 173831"/>
                  <a:gd name="connsiteY0" fmla="*/ 45244 h 45244"/>
                  <a:gd name="connsiteX1" fmla="*/ 173831 w 173831"/>
                  <a:gd name="connsiteY1" fmla="*/ 45244 h 45244"/>
                  <a:gd name="connsiteX2" fmla="*/ 128587 w 173831"/>
                  <a:gd name="connsiteY2" fmla="*/ 0 h 4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3831" h="45244">
                    <a:moveTo>
                      <a:pt x="0" y="45244"/>
                    </a:moveTo>
                    <a:lnTo>
                      <a:pt x="173831" y="45244"/>
                    </a:lnTo>
                    <a:lnTo>
                      <a:pt x="128587" y="0"/>
                    </a:lnTo>
                  </a:path>
                </a:pathLst>
              </a:cu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pic>
            <p:nvPicPr>
              <p:cNvPr id="132" name="Picture 2" descr="분석 - 무료 현서와 웹개 아이콘">
                <a:extLst>
                  <a:ext uri="{FF2B5EF4-FFF2-40B4-BE49-F238E27FC236}">
                    <a16:creationId xmlns:a16="http://schemas.microsoft.com/office/drawing/2014/main" id="{665864AA-2A09-F042-F74C-21681926F34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5776" y="4482462"/>
                <a:ext cx="233901" cy="2231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62" name="직선 연결선 61">
              <a:extLst>
                <a:ext uri="{FF2B5EF4-FFF2-40B4-BE49-F238E27FC236}">
                  <a16:creationId xmlns:a16="http://schemas.microsoft.com/office/drawing/2014/main" id="{3B14EBE1-99B9-B6FB-89A7-5D974E4EB2D9}"/>
                </a:ext>
              </a:extLst>
            </p:cNvPr>
            <p:cNvCxnSpPr/>
            <p:nvPr/>
          </p:nvCxnSpPr>
          <p:spPr>
            <a:xfrm>
              <a:off x="574676" y="10201621"/>
              <a:ext cx="662622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3836032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B09FA-07F8-15AE-BFDE-2F696469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9614D7A-8D95-461C-FE3F-247B3349CFAA}"/>
              </a:ext>
            </a:extLst>
          </p:cNvPr>
          <p:cNvGrpSpPr/>
          <p:nvPr/>
        </p:nvGrpSpPr>
        <p:grpSpPr>
          <a:xfrm>
            <a:off x="574676" y="5354954"/>
            <a:ext cx="6626224" cy="642147"/>
            <a:chOff x="574676" y="3945568"/>
            <a:chExt cx="6626224" cy="642147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871AECED-C984-9DF2-6BEF-E409D5CD0435}"/>
                </a:ext>
              </a:extLst>
            </p:cNvPr>
            <p:cNvGrpSpPr/>
            <p:nvPr/>
          </p:nvGrpSpPr>
          <p:grpSpPr>
            <a:xfrm>
              <a:off x="574676" y="3945568"/>
              <a:ext cx="6626224" cy="642147"/>
              <a:chOff x="559674" y="4246814"/>
              <a:chExt cx="6641226" cy="642147"/>
            </a:xfrm>
          </p:grpSpPr>
          <p:sp>
            <p:nvSpPr>
              <p:cNvPr id="11" name="직사각형 10">
                <a:extLst>
                  <a:ext uri="{FF2B5EF4-FFF2-40B4-BE49-F238E27FC236}">
                    <a16:creationId xmlns:a16="http://schemas.microsoft.com/office/drawing/2014/main" id="{524B1945-94E9-9DE1-3F7F-D6E9396506ED}"/>
                  </a:ext>
                </a:extLst>
              </p:cNvPr>
              <p:cNvSpPr/>
              <p:nvPr/>
            </p:nvSpPr>
            <p:spPr>
              <a:xfrm flipH="1">
                <a:off x="559674" y="4246814"/>
                <a:ext cx="965157" cy="642147"/>
              </a:xfrm>
              <a:prstGeom prst="rect">
                <a:avLst/>
              </a:prstGeom>
              <a:solidFill>
                <a:srgbClr val="396CBF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2" name="직사각형 11">
                <a:extLst>
                  <a:ext uri="{FF2B5EF4-FFF2-40B4-BE49-F238E27FC236}">
                    <a16:creationId xmlns:a16="http://schemas.microsoft.com/office/drawing/2014/main" id="{1210EABE-630E-CB2B-6657-AD61732B68FA}"/>
                  </a:ext>
                </a:extLst>
              </p:cNvPr>
              <p:cNvSpPr/>
              <p:nvPr/>
            </p:nvSpPr>
            <p:spPr>
              <a:xfrm>
                <a:off x="950393" y="4398611"/>
                <a:ext cx="40964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vl="0" algn="ctr" latinLnBrk="0">
                  <a:spcAft>
                    <a:spcPts val="200"/>
                  </a:spcAft>
                </a:pPr>
                <a:r>
                  <a:rPr lang="ko-KR" altLang="en-US" sz="11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분석 내역</a:t>
                </a:r>
              </a:p>
            </p:txBody>
          </p:sp>
          <p:sp>
            <p:nvSpPr>
              <p:cNvPr id="13" name="직사각형 12">
                <a:extLst>
                  <a:ext uri="{FF2B5EF4-FFF2-40B4-BE49-F238E27FC236}">
                    <a16:creationId xmlns:a16="http://schemas.microsoft.com/office/drawing/2014/main" id="{1FB327CB-F30F-7E8B-B283-3D0F556F53E0}"/>
                  </a:ext>
                </a:extLst>
              </p:cNvPr>
              <p:cNvSpPr/>
              <p:nvPr/>
            </p:nvSpPr>
            <p:spPr>
              <a:xfrm>
                <a:off x="1531161" y="4246814"/>
                <a:ext cx="5669739" cy="6421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14" name="Rectangle 20">
                <a:extLst>
                  <a:ext uri="{FF2B5EF4-FFF2-40B4-BE49-F238E27FC236}">
                    <a16:creationId xmlns:a16="http://schemas.microsoft.com/office/drawing/2014/main" id="{1460B4CF-A565-A40F-1577-5E29E4AA9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8800" y="4324231"/>
                <a:ext cx="5559859" cy="48731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 anchor="t" anchorCtr="0">
                <a:spAutoFit/>
              </a:bodyPr>
              <a:lstStyle/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국방인증체계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(MPKI)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는 구 인증체계는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24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년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4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월에 신 인증체계로 전환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국방인증체계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(MPKI)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는 상주인력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명이 장애조치 및 기술지원을 수행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주요 기술지원 내역은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SSL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인증서 발급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및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갱신 지원과 인증서 신청 및 키보드보안 설치 절차 등 문의 답변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7" name="자유형 109">
                <a:extLst>
                  <a:ext uri="{FF2B5EF4-FFF2-40B4-BE49-F238E27FC236}">
                    <a16:creationId xmlns:a16="http://schemas.microsoft.com/office/drawing/2014/main" id="{2FE7A176-AD35-F567-CC1D-E176E13FE277}"/>
                  </a:ext>
                </a:extLst>
              </p:cNvPr>
              <p:cNvSpPr/>
              <p:nvPr/>
            </p:nvSpPr>
            <p:spPr>
              <a:xfrm>
                <a:off x="579913" y="4298347"/>
                <a:ext cx="179845" cy="34211"/>
              </a:xfrm>
              <a:custGeom>
                <a:avLst/>
                <a:gdLst>
                  <a:gd name="connsiteX0" fmla="*/ 0 w 173831"/>
                  <a:gd name="connsiteY0" fmla="*/ 45244 h 45244"/>
                  <a:gd name="connsiteX1" fmla="*/ 173831 w 173831"/>
                  <a:gd name="connsiteY1" fmla="*/ 45244 h 45244"/>
                  <a:gd name="connsiteX2" fmla="*/ 128587 w 173831"/>
                  <a:gd name="connsiteY2" fmla="*/ 0 h 4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3831" h="45244">
                    <a:moveTo>
                      <a:pt x="0" y="45244"/>
                    </a:moveTo>
                    <a:lnTo>
                      <a:pt x="173831" y="45244"/>
                    </a:lnTo>
                    <a:lnTo>
                      <a:pt x="128587" y="0"/>
                    </a:lnTo>
                  </a:path>
                </a:pathLst>
              </a:cu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pic>
            <p:nvPicPr>
              <p:cNvPr id="18" name="Picture 2" descr="분석 - 무료 현서와 웹개 아이콘">
                <a:extLst>
                  <a:ext uri="{FF2B5EF4-FFF2-40B4-BE49-F238E27FC236}">
                    <a16:creationId xmlns:a16="http://schemas.microsoft.com/office/drawing/2014/main" id="{2970BA64-AF32-BA7B-5EA0-731CB2CAC30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5776" y="4482462"/>
                <a:ext cx="233901" cy="2231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5" name="직선 연결선 4">
              <a:extLst>
                <a:ext uri="{FF2B5EF4-FFF2-40B4-BE49-F238E27FC236}">
                  <a16:creationId xmlns:a16="http://schemas.microsoft.com/office/drawing/2014/main" id="{97F7B99B-B653-9B87-26E7-705F8F6B6E45}"/>
                </a:ext>
              </a:extLst>
            </p:cNvPr>
            <p:cNvCxnSpPr/>
            <p:nvPr/>
          </p:nvCxnSpPr>
          <p:spPr>
            <a:xfrm>
              <a:off x="574676" y="4587715"/>
              <a:ext cx="662622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928D8630-7C57-47B9-FB29-626BCEE00857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CC611F42-EF75-958E-C854-D2A55EE7A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6" name="제목 1">
            <a:extLst>
              <a:ext uri="{FF2B5EF4-FFF2-40B4-BE49-F238E27FC236}">
                <a16:creationId xmlns:a16="http://schemas.microsoft.com/office/drawing/2014/main" id="{40E2FD3C-8248-3A77-D53D-3A75F71FBAD2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58" name="제목 1">
            <a:extLst>
              <a:ext uri="{FF2B5EF4-FFF2-40B4-BE49-F238E27FC236}">
                <a16:creationId xmlns:a16="http://schemas.microsoft.com/office/drawing/2014/main" id="{EAA5772D-7D18-A1C7-5CF6-5FE95E8AD51F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 4)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운영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(3/5)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767B6C3-77A2-5D61-F586-18E51D977EC4}"/>
              </a:ext>
            </a:extLst>
          </p:cNvPr>
          <p:cNvSpPr txBox="1"/>
          <p:nvPr/>
        </p:nvSpPr>
        <p:spPr>
          <a:xfrm>
            <a:off x="934361" y="1644256"/>
            <a:ext cx="63393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적극적인 정보열람 및 실무자 인터뷰를 통한 분석으로 성공요소 도출과 서비스 수준 관리</a:t>
            </a:r>
            <a:r>
              <a:rPr kumimoji="1" lang="en-US" altLang="ko-KR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(SLA) </a:t>
            </a: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수립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F9138AB-9C6F-DA65-DE48-1F8DE101F1FE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B82F65C-1720-EC86-FB38-2C11B9923142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신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구 국방인증체계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(MPKI)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유지보수 실적 및 기술지원 내역 분석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9607F42E-BF0B-CBEE-2D6D-1E3A41A44A1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711B1917-A2CC-5BFD-EFF2-2C84136943F9}"/>
              </a:ext>
            </a:extLst>
          </p:cNvPr>
          <p:cNvGrpSpPr/>
          <p:nvPr/>
        </p:nvGrpSpPr>
        <p:grpSpPr>
          <a:xfrm>
            <a:off x="575419" y="6173936"/>
            <a:ext cx="6123444" cy="199199"/>
            <a:chOff x="354537" y="2859354"/>
            <a:chExt cx="5810766" cy="165794"/>
          </a:xfrm>
        </p:grpSpPr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4C4C39CB-09AD-7C52-29E8-19DDC9F7E9FB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출입통제체계 인증체계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유지보수 실적 및 기술지원 내역 분석</a:t>
              </a:r>
            </a:p>
          </p:txBody>
        </p:sp>
        <p:pic>
          <p:nvPicPr>
            <p:cNvPr id="24" name="그림 23">
              <a:extLst>
                <a:ext uri="{FF2B5EF4-FFF2-40B4-BE49-F238E27FC236}">
                  <a16:creationId xmlns:a16="http://schemas.microsoft.com/office/drawing/2014/main" id="{926D3BF9-66E4-E257-4584-8C4BCF9B42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31" name="그룹 30">
            <a:extLst>
              <a:ext uri="{FF2B5EF4-FFF2-40B4-BE49-F238E27FC236}">
                <a16:creationId xmlns:a16="http://schemas.microsoft.com/office/drawing/2014/main" id="{2681C01D-B3BB-B924-3467-CFBC55D99C08}"/>
              </a:ext>
            </a:extLst>
          </p:cNvPr>
          <p:cNvGrpSpPr/>
          <p:nvPr/>
        </p:nvGrpSpPr>
        <p:grpSpPr>
          <a:xfrm>
            <a:off x="574676" y="9580730"/>
            <a:ext cx="6626224" cy="642147"/>
            <a:chOff x="574676" y="3945568"/>
            <a:chExt cx="6626224" cy="642147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5FFF5EEB-6F1D-30B2-F9CC-F2BED2EFEE98}"/>
                </a:ext>
              </a:extLst>
            </p:cNvPr>
            <p:cNvGrpSpPr/>
            <p:nvPr/>
          </p:nvGrpSpPr>
          <p:grpSpPr>
            <a:xfrm>
              <a:off x="574676" y="3945568"/>
              <a:ext cx="6626224" cy="642147"/>
              <a:chOff x="559674" y="4246814"/>
              <a:chExt cx="6641226" cy="642147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E2869FFC-DDD9-B663-5056-5944F1114157}"/>
                  </a:ext>
                </a:extLst>
              </p:cNvPr>
              <p:cNvSpPr/>
              <p:nvPr/>
            </p:nvSpPr>
            <p:spPr>
              <a:xfrm flipH="1">
                <a:off x="559674" y="4246814"/>
                <a:ext cx="965157" cy="642147"/>
              </a:xfrm>
              <a:prstGeom prst="rect">
                <a:avLst/>
              </a:prstGeom>
              <a:solidFill>
                <a:srgbClr val="396CBF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6" name="직사각형 45">
                <a:extLst>
                  <a:ext uri="{FF2B5EF4-FFF2-40B4-BE49-F238E27FC236}">
                    <a16:creationId xmlns:a16="http://schemas.microsoft.com/office/drawing/2014/main" id="{EA89E5C7-49BD-1490-996D-8BAFA7DF66F3}"/>
                  </a:ext>
                </a:extLst>
              </p:cNvPr>
              <p:cNvSpPr/>
              <p:nvPr/>
            </p:nvSpPr>
            <p:spPr>
              <a:xfrm>
                <a:off x="950393" y="4398611"/>
                <a:ext cx="409640" cy="338554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vl="0" algn="ctr" latinLnBrk="0">
                  <a:spcAft>
                    <a:spcPts val="200"/>
                  </a:spcAft>
                </a:pPr>
                <a:r>
                  <a:rPr lang="ko-KR" altLang="en-US" sz="11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분석 내역</a:t>
                </a:r>
              </a:p>
            </p:txBody>
          </p:sp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857C7332-ACF9-17BC-5EB7-28C683D913B3}"/>
                  </a:ext>
                </a:extLst>
              </p:cNvPr>
              <p:cNvSpPr/>
              <p:nvPr/>
            </p:nvSpPr>
            <p:spPr>
              <a:xfrm>
                <a:off x="1531161" y="4246814"/>
                <a:ext cx="5669739" cy="64214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8" name="Rectangle 20">
                <a:extLst>
                  <a:ext uri="{FF2B5EF4-FFF2-40B4-BE49-F238E27FC236}">
                    <a16:creationId xmlns:a16="http://schemas.microsoft.com/office/drawing/2014/main" id="{FCDA5641-E9C5-951F-0108-E4F6552C44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98800" y="4324231"/>
                <a:ext cx="5559859" cy="487313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 anchor="t" anchorCtr="0">
                <a:spAutoFit/>
              </a:bodyPr>
              <a:lstStyle/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출입통제체계는 상주인력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2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명이 장애조치 및 기술지원을 수행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서버 장비의 주요 기술지원 내역은 매월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DB/WEB/WAS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등의 서버 계정 비밀번호 변경 지원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marL="128588" lvl="1" indent="-128588" defTabSz="952968" latinLnBrk="0">
                  <a:spcBef>
                    <a:spcPts val="0"/>
                  </a:spcBef>
                  <a:spcAft>
                    <a:spcPts val="100"/>
                  </a:spcAft>
                  <a:buClr>
                    <a:srgbClr val="1E82AA"/>
                  </a:buClr>
                  <a:buSzPct val="100000"/>
                  <a:buFont typeface="Wingdings" pitchFamily="2" charset="2"/>
                  <a:buChar char="ü"/>
                  <a:tabLst>
                    <a:tab pos="456244" algn="l"/>
                    <a:tab pos="912490" algn="l"/>
                    <a:tab pos="1371569" algn="l"/>
                    <a:tab pos="1827814" algn="l"/>
                    <a:tab pos="2284059" algn="l"/>
                    <a:tab pos="2741722" algn="l"/>
                    <a:tab pos="3197966" algn="l"/>
                    <a:tab pos="3655627" algn="l"/>
                    <a:tab pos="4113290" algn="l"/>
                    <a:tab pos="4569535" algn="l"/>
                    <a:tab pos="5027196" algn="l"/>
                    <a:tab pos="5941105" algn="l"/>
                    <a:tab pos="6398766" algn="l"/>
                    <a:tab pos="6855010" algn="l"/>
                    <a:tab pos="7311255" algn="l"/>
                    <a:tab pos="7768918" algn="l"/>
                    <a:tab pos="8226579" algn="l"/>
                    <a:tab pos="8682825" algn="l"/>
                    <a:tab pos="9140487" algn="l"/>
                    <a:tab pos="9596732" algn="l"/>
                    <a:tab pos="10054394" algn="l"/>
                    <a:tab pos="10512056" algn="l"/>
                    <a:tab pos="10968301" algn="l"/>
                    <a:tab pos="11425962" algn="l"/>
                    <a:tab pos="11882207" algn="l"/>
                    <a:tab pos="12338453" algn="l"/>
                    <a:tab pos="12797531" algn="l"/>
                    <a:tab pos="13253776" algn="l"/>
                    <a:tab pos="13710022" algn="l"/>
                    <a:tab pos="14167684" algn="l"/>
                    <a:tab pos="14623929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개발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SW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은 </a:t>
                </a:r>
                <a:r>
                  <a:rPr lang="en-US" altLang="ko-KR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MOUS </a:t>
                </a:r>
                <a:r>
                  <a:rPr lang="ko-KR" altLang="en-US" sz="10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동기화 실패로 임시 사용자 등록 지원과 동기화 출입통계체계 정보상태 확인 지원</a:t>
                </a:r>
                <a:endParaRPr lang="en-US" altLang="ko-KR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49" name="자유형 109">
                <a:extLst>
                  <a:ext uri="{FF2B5EF4-FFF2-40B4-BE49-F238E27FC236}">
                    <a16:creationId xmlns:a16="http://schemas.microsoft.com/office/drawing/2014/main" id="{F324A0D4-D0C5-464B-57F1-59B26903E6E1}"/>
                  </a:ext>
                </a:extLst>
              </p:cNvPr>
              <p:cNvSpPr/>
              <p:nvPr/>
            </p:nvSpPr>
            <p:spPr>
              <a:xfrm>
                <a:off x="579913" y="4298347"/>
                <a:ext cx="179845" cy="34211"/>
              </a:xfrm>
              <a:custGeom>
                <a:avLst/>
                <a:gdLst>
                  <a:gd name="connsiteX0" fmla="*/ 0 w 173831"/>
                  <a:gd name="connsiteY0" fmla="*/ 45244 h 45244"/>
                  <a:gd name="connsiteX1" fmla="*/ 173831 w 173831"/>
                  <a:gd name="connsiteY1" fmla="*/ 45244 h 45244"/>
                  <a:gd name="connsiteX2" fmla="*/ 128587 w 173831"/>
                  <a:gd name="connsiteY2" fmla="*/ 0 h 4524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73831" h="45244">
                    <a:moveTo>
                      <a:pt x="0" y="45244"/>
                    </a:moveTo>
                    <a:lnTo>
                      <a:pt x="173831" y="45244"/>
                    </a:lnTo>
                    <a:lnTo>
                      <a:pt x="128587" y="0"/>
                    </a:lnTo>
                  </a:path>
                </a:pathLst>
              </a:custGeom>
              <a:ln w="19050">
                <a:solidFill>
                  <a:schemeClr val="bg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pic>
            <p:nvPicPr>
              <p:cNvPr id="50" name="Picture 2" descr="분석 - 무료 현서와 웹개 아이콘">
                <a:extLst>
                  <a:ext uri="{FF2B5EF4-FFF2-40B4-BE49-F238E27FC236}">
                    <a16:creationId xmlns:a16="http://schemas.microsoft.com/office/drawing/2014/main" id="{CC161147-88C9-5D58-8E1B-2371BFE5E1A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 cstate="print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75776" y="4482462"/>
                <a:ext cx="233901" cy="22311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42" name="직선 연결선 41">
              <a:extLst>
                <a:ext uri="{FF2B5EF4-FFF2-40B4-BE49-F238E27FC236}">
                  <a16:creationId xmlns:a16="http://schemas.microsoft.com/office/drawing/2014/main" id="{572F942F-69B6-4403-03DF-C19F06E86AD7}"/>
                </a:ext>
              </a:extLst>
            </p:cNvPr>
            <p:cNvCxnSpPr/>
            <p:nvPr/>
          </p:nvCxnSpPr>
          <p:spPr>
            <a:xfrm>
              <a:off x="574676" y="4587715"/>
              <a:ext cx="6626222" cy="0"/>
            </a:xfrm>
            <a:prstGeom prst="line">
              <a:avLst/>
            </a:prstGeom>
            <a:ln w="952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55" name="Group 32">
            <a:extLst>
              <a:ext uri="{FF2B5EF4-FFF2-40B4-BE49-F238E27FC236}">
                <a16:creationId xmlns:a16="http://schemas.microsoft.com/office/drawing/2014/main" id="{97416470-2E72-DEFB-9DC1-63F1428BEA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6219814"/>
              </p:ext>
            </p:extLst>
          </p:nvPr>
        </p:nvGraphicFramePr>
        <p:xfrm>
          <a:off x="3527745" y="2451730"/>
          <a:ext cx="3673154" cy="2890569"/>
        </p:xfrm>
        <a:graphic>
          <a:graphicData uri="http://schemas.openxmlformats.org/drawingml/2006/table">
            <a:tbl>
              <a:tblPr/>
              <a:tblGrid>
                <a:gridCol w="5760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2048">
                  <a:extLst>
                    <a:ext uri="{9D8B030D-6E8A-4147-A177-3AD203B41FA5}">
                      <a16:colId xmlns:a16="http://schemas.microsoft.com/office/drawing/2014/main" val="2473691660"/>
                    </a:ext>
                  </a:extLst>
                </a:gridCol>
                <a:gridCol w="533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008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533008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533008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  <a:gridCol w="533008">
                  <a:extLst>
                    <a:ext uri="{9D8B030D-6E8A-4147-A177-3AD203B41FA5}">
                      <a16:colId xmlns:a16="http://schemas.microsoft.com/office/drawing/2014/main" val="1692305074"/>
                    </a:ext>
                  </a:extLst>
                </a:gridCol>
              </a:tblGrid>
              <a:tr h="670177">
                <a:tc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운영지원</a:t>
                      </a:r>
                      <a:endParaRPr kumimoji="1" lang="en-US" altLang="ko-KR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인증서</a:t>
                      </a:r>
                      <a:b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</a:b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발급문의</a:t>
                      </a:r>
                      <a:endParaRPr kumimoji="1" lang="en-US" altLang="ko-KR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인증서</a:t>
                      </a:r>
                      <a:b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</a:b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갱신문의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기타문의</a:t>
                      </a:r>
                      <a:b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</a:b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타체계</a:t>
                      </a:r>
                      <a:b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</a:b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문의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원격등록</a:t>
                      </a:r>
                      <a:b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</a:b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기관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비고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5098">
                <a:tc rowSpan="3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인증체계</a:t>
                      </a:r>
                      <a:b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</a:b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(960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150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162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137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449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555098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N+1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81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133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134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348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  <a:tr h="555098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N+2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59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163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723859"/>
                  </a:ext>
                </a:extLst>
              </a:tr>
              <a:tr h="555098">
                <a:tc grid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합계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273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354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333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960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705423"/>
                  </a:ext>
                </a:extLst>
              </a:tr>
            </a:tbl>
          </a:graphicData>
        </a:graphic>
      </p:graphicFrame>
      <p:graphicFrame>
        <p:nvGraphicFramePr>
          <p:cNvPr id="54" name="Group 32">
            <a:extLst>
              <a:ext uri="{FF2B5EF4-FFF2-40B4-BE49-F238E27FC236}">
                <a16:creationId xmlns:a16="http://schemas.microsoft.com/office/drawing/2014/main" id="{39967A1D-BB91-B957-6AA8-A5E991FBD6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3947460"/>
              </p:ext>
            </p:extLst>
          </p:nvPr>
        </p:nvGraphicFramePr>
        <p:xfrm>
          <a:off x="588194" y="2451881"/>
          <a:ext cx="2939551" cy="2890416"/>
        </p:xfrm>
        <a:graphic>
          <a:graphicData uri="http://schemas.openxmlformats.org/drawingml/2006/table">
            <a:tbl>
              <a:tblPr/>
              <a:tblGrid>
                <a:gridCol w="6368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5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5668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575668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575668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</a:tblGrid>
              <a:tr h="39818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 평균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N+1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N+2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786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총계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30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278416"/>
                  </a:ext>
                </a:extLst>
              </a:tr>
              <a:tr h="44487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MPKI </a:t>
                      </a:r>
                      <a:b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</a:b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CA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44487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MPKI</a:t>
                      </a: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OCSP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  <a:tr h="44487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MPKI</a:t>
                      </a: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RA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723859"/>
                  </a:ext>
                </a:extLst>
              </a:tr>
              <a:tr h="44487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MPKI </a:t>
                      </a:r>
                      <a:r>
                        <a:rPr kumimoji="1" lang="en-US" altLang="zh-CN" sz="10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RootCA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9705423"/>
                  </a:ext>
                </a:extLst>
              </a:tr>
              <a:tr h="44487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MIKI</a:t>
                      </a: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SCVP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</a:t>
                      </a:r>
                      <a:endParaRPr kumimoji="1" lang="zh-CN" altLang="en-US" sz="10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6179927"/>
                  </a:ext>
                </a:extLst>
              </a:tr>
            </a:tbl>
          </a:graphicData>
        </a:graphic>
      </p:graphicFrame>
      <p:graphicFrame>
        <p:nvGraphicFramePr>
          <p:cNvPr id="53" name="Group 32">
            <a:extLst>
              <a:ext uri="{FF2B5EF4-FFF2-40B4-BE49-F238E27FC236}">
                <a16:creationId xmlns:a16="http://schemas.microsoft.com/office/drawing/2014/main" id="{4B8870D3-9083-15A4-35FF-85AC679CA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3103434"/>
              </p:ext>
            </p:extLst>
          </p:nvPr>
        </p:nvGraphicFramePr>
        <p:xfrm>
          <a:off x="588193" y="6508243"/>
          <a:ext cx="3299595" cy="3072486"/>
        </p:xfrm>
        <a:graphic>
          <a:graphicData uri="http://schemas.openxmlformats.org/drawingml/2006/table">
            <a:tbl>
              <a:tblPr/>
              <a:tblGrid>
                <a:gridCol w="663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667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540667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540667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  <a:gridCol w="473083">
                  <a:extLst>
                    <a:ext uri="{9D8B030D-6E8A-4147-A177-3AD203B41FA5}">
                      <a16:colId xmlns:a16="http://schemas.microsoft.com/office/drawing/2014/main" val="1692305074"/>
                    </a:ext>
                  </a:extLst>
                </a:gridCol>
              </a:tblGrid>
              <a:tr h="26927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분기평균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N+1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N+2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비고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71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총계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5,100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5,100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278416"/>
                  </a:ext>
                </a:extLst>
              </a:tr>
              <a:tr h="422324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서버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분기별 점검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422324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광집결</a:t>
                      </a:r>
                      <a:endParaRPr kumimoji="1" lang="en-US" altLang="ko-KR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스위치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  <a:tr h="422324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위크그룹</a:t>
                      </a:r>
                      <a:endParaRPr kumimoji="1" lang="en-US" altLang="ko-KR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스위치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84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84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723859"/>
                  </a:ext>
                </a:extLst>
              </a:tr>
              <a:tr h="422324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상용 </a:t>
                      </a: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SW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57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57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429179"/>
                  </a:ext>
                </a:extLst>
              </a:tr>
              <a:tr h="422324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개발 </a:t>
                      </a: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SW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683140"/>
                  </a:ext>
                </a:extLst>
              </a:tr>
              <a:tr h="422324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단말기 외</a:t>
                      </a:r>
                      <a:endParaRPr kumimoji="1" lang="en-US" altLang="ko-KR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기타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4,947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4,947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003271"/>
                  </a:ext>
                </a:extLst>
              </a:tr>
            </a:tbl>
          </a:graphicData>
        </a:graphic>
      </p:graphicFrame>
      <p:graphicFrame>
        <p:nvGraphicFramePr>
          <p:cNvPr id="33" name="Group 32">
            <a:extLst>
              <a:ext uri="{FF2B5EF4-FFF2-40B4-BE49-F238E27FC236}">
                <a16:creationId xmlns:a16="http://schemas.microsoft.com/office/drawing/2014/main" id="{1BB3A702-C32F-4A88-B159-732F06AE8D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096971"/>
              </p:ext>
            </p:extLst>
          </p:nvPr>
        </p:nvGraphicFramePr>
        <p:xfrm>
          <a:off x="3894546" y="6508243"/>
          <a:ext cx="3299595" cy="3072486"/>
        </p:xfrm>
        <a:graphic>
          <a:graphicData uri="http://schemas.openxmlformats.org/drawingml/2006/table">
            <a:tbl>
              <a:tblPr/>
              <a:tblGrid>
                <a:gridCol w="6638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0667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540667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540667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  <a:gridCol w="473083">
                  <a:extLst>
                    <a:ext uri="{9D8B030D-6E8A-4147-A177-3AD203B41FA5}">
                      <a16:colId xmlns:a16="http://schemas.microsoft.com/office/drawing/2014/main" val="1692305074"/>
                    </a:ext>
                  </a:extLst>
                </a:gridCol>
              </a:tblGrid>
              <a:tr h="269271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분기평균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N+1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N+2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비고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71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총계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158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134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407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699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278416"/>
                  </a:ext>
                </a:extLst>
              </a:tr>
              <a:tr h="422324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서버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rowSpan="6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기술</a:t>
                      </a:r>
                      <a:endParaRPr kumimoji="1" lang="en-US" altLang="ko-KR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지원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422324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광집결</a:t>
                      </a:r>
                      <a:endParaRPr kumimoji="1" lang="en-US" altLang="ko-KR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스위치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  <a:tr h="422324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위크그룹</a:t>
                      </a:r>
                      <a:endParaRPr kumimoji="1" lang="en-US" altLang="ko-KR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스위치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723859"/>
                  </a:ext>
                </a:extLst>
              </a:tr>
              <a:tr h="422324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상용 </a:t>
                      </a: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SW</a:t>
                      </a: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8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14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42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429179"/>
                  </a:ext>
                </a:extLst>
              </a:tr>
              <a:tr h="422324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개발 </a:t>
                      </a:r>
                      <a:r>
                        <a:rPr kumimoji="1" lang="en-US" altLang="zh-CN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SW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124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119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370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613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683140"/>
                  </a:ext>
                </a:extLst>
              </a:tr>
              <a:tr h="422324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단말기 외</a:t>
                      </a:r>
                      <a:endParaRPr kumimoji="1" lang="en-US" altLang="ko-KR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기타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11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6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19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36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90032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47658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4235C-4634-8F13-0669-98A57DDF4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직사각형 24">
            <a:extLst>
              <a:ext uri="{FF2B5EF4-FFF2-40B4-BE49-F238E27FC236}">
                <a16:creationId xmlns:a16="http://schemas.microsoft.com/office/drawing/2014/main" id="{FD084214-9382-542B-160D-EC9E653AEC02}"/>
              </a:ext>
            </a:extLst>
          </p:cNvPr>
          <p:cNvSpPr/>
          <p:nvPr/>
        </p:nvSpPr>
        <p:spPr>
          <a:xfrm>
            <a:off x="576295" y="6604752"/>
            <a:ext cx="2680708" cy="2908509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anchor="ctr"/>
          <a:lstStyle/>
          <a:p>
            <a:pPr algn="ctr" latinLnBrk="0"/>
            <a:endParaRPr lang="ko-KR" altLang="en-US" sz="1000" dirty="0">
              <a:ln>
                <a:solidFill>
                  <a:srgbClr val="0568B0">
                    <a:alpha val="0"/>
                  </a:srgbClr>
                </a:solidFill>
              </a:ln>
              <a:solidFill>
                <a:srgbClr val="292929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7E060CE-B3D8-C2A3-7954-BCAD6217E82F}"/>
              </a:ext>
            </a:extLst>
          </p:cNvPr>
          <p:cNvSpPr/>
          <p:nvPr/>
        </p:nvSpPr>
        <p:spPr>
          <a:xfrm>
            <a:off x="671227" y="6948791"/>
            <a:ext cx="2471795" cy="2460408"/>
          </a:xfrm>
          <a:prstGeom prst="rect">
            <a:avLst/>
          </a:prstGeom>
          <a:solidFill>
            <a:schemeClr val="bg1"/>
          </a:solidFill>
          <a:ln w="9525">
            <a:solidFill>
              <a:srgbClr val="003C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6BCCD58E-44EE-FFF9-7A56-4BF227B96546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6FCF61E-3C08-3344-BAAE-032AAA907B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3463" y="1249313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6" name="제목 1">
            <a:extLst>
              <a:ext uri="{FF2B5EF4-FFF2-40B4-BE49-F238E27FC236}">
                <a16:creationId xmlns:a16="http://schemas.microsoft.com/office/drawing/2014/main" id="{B1F8B360-E2CA-F947-CCFE-00AFAF5879BC}"/>
              </a:ext>
            </a:extLst>
          </p:cNvPr>
          <p:cNvSpPr txBox="1">
            <a:spLocks/>
          </p:cNvSpPr>
          <p:nvPr/>
        </p:nvSpPr>
        <p:spPr>
          <a:xfrm>
            <a:off x="561295" y="1007208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58" name="제목 1">
            <a:extLst>
              <a:ext uri="{FF2B5EF4-FFF2-40B4-BE49-F238E27FC236}">
                <a16:creationId xmlns:a16="http://schemas.microsoft.com/office/drawing/2014/main" id="{D9E825BE-FC86-D560-5147-E6312B1D47AB}"/>
              </a:ext>
            </a:extLst>
          </p:cNvPr>
          <p:cNvSpPr txBox="1">
            <a:spLocks/>
          </p:cNvSpPr>
          <p:nvPr/>
        </p:nvSpPr>
        <p:spPr>
          <a:xfrm>
            <a:off x="561295" y="1249534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 4)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운영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(4/5)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62701D9-9E82-6B70-0F91-0EE6E8D55F57}"/>
              </a:ext>
            </a:extLst>
          </p:cNvPr>
          <p:cNvSpPr txBox="1"/>
          <p:nvPr/>
        </p:nvSpPr>
        <p:spPr>
          <a:xfrm>
            <a:off x="935980" y="1654208"/>
            <a:ext cx="63393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적극적인 정보열람 및 실무자 인터뷰를 통한 분석으로 성공요소 도출과 서비스 수준 관리</a:t>
            </a:r>
            <a:r>
              <a:rPr kumimoji="1" lang="en-US" altLang="ko-KR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(SLA) </a:t>
            </a: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수립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CDC376F4-0F11-27D2-C3DC-D94C41196F57}"/>
              </a:ext>
            </a:extLst>
          </p:cNvPr>
          <p:cNvGrpSpPr/>
          <p:nvPr/>
        </p:nvGrpSpPr>
        <p:grpSpPr>
          <a:xfrm>
            <a:off x="577038" y="2120757"/>
            <a:ext cx="6123444" cy="199199"/>
            <a:chOff x="354537" y="2859354"/>
            <a:chExt cx="5810766" cy="16579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0DECD3CD-D9FA-E88B-A6C5-CEDDF08BA886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전산장비 유지보수 서비스 수준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(SLA)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평가 분석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6995FF48-B3C6-FBCC-FA2F-0F9A1A6A6B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B54D5409-B5A7-21A0-D727-EC2781DCCE58}"/>
              </a:ext>
            </a:extLst>
          </p:cNvPr>
          <p:cNvGrpSpPr/>
          <p:nvPr/>
        </p:nvGrpSpPr>
        <p:grpSpPr>
          <a:xfrm>
            <a:off x="577038" y="6302196"/>
            <a:ext cx="6123444" cy="199199"/>
            <a:chOff x="354537" y="2859354"/>
            <a:chExt cx="5810766" cy="16579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21E92E07-0A03-26F3-6812-C9D15CD4DA7C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전산장비 유지보수 서비스 수준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(SLA)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평가지표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,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장애처리 및 상주인력 가동률 측정 기준 분석</a:t>
              </a: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41104A39-7690-41D1-1C74-A5F78B4D98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2" name="Group 32">
            <a:extLst>
              <a:ext uri="{FF2B5EF4-FFF2-40B4-BE49-F238E27FC236}">
                <a16:creationId xmlns:a16="http://schemas.microsoft.com/office/drawing/2014/main" id="{725B543B-64D3-F08E-3211-CD8E5FE916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096934"/>
              </p:ext>
            </p:extLst>
          </p:nvPr>
        </p:nvGraphicFramePr>
        <p:xfrm>
          <a:off x="589811" y="2435766"/>
          <a:ext cx="6612705" cy="3696918"/>
        </p:xfrm>
        <a:graphic>
          <a:graphicData uri="http://schemas.openxmlformats.org/drawingml/2006/table">
            <a:tbl>
              <a:tblPr/>
              <a:tblGrid>
                <a:gridCol w="56329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6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327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475327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475327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  <a:gridCol w="475327">
                  <a:extLst>
                    <a:ext uri="{9D8B030D-6E8A-4147-A177-3AD203B41FA5}">
                      <a16:colId xmlns:a16="http://schemas.microsoft.com/office/drawing/2014/main" val="1416604256"/>
                    </a:ext>
                  </a:extLst>
                </a:gridCol>
                <a:gridCol w="475327">
                  <a:extLst>
                    <a:ext uri="{9D8B030D-6E8A-4147-A177-3AD203B41FA5}">
                      <a16:colId xmlns:a16="http://schemas.microsoft.com/office/drawing/2014/main" val="3987347242"/>
                    </a:ext>
                  </a:extLst>
                </a:gridCol>
                <a:gridCol w="475327">
                  <a:extLst>
                    <a:ext uri="{9D8B030D-6E8A-4147-A177-3AD203B41FA5}">
                      <a16:colId xmlns:a16="http://schemas.microsoft.com/office/drawing/2014/main" val="4026295647"/>
                    </a:ext>
                  </a:extLst>
                </a:gridCol>
                <a:gridCol w="475327">
                  <a:extLst>
                    <a:ext uri="{9D8B030D-6E8A-4147-A177-3AD203B41FA5}">
                      <a16:colId xmlns:a16="http://schemas.microsoft.com/office/drawing/2014/main" val="1275304386"/>
                    </a:ext>
                  </a:extLst>
                </a:gridCol>
                <a:gridCol w="475327">
                  <a:extLst>
                    <a:ext uri="{9D8B030D-6E8A-4147-A177-3AD203B41FA5}">
                      <a16:colId xmlns:a16="http://schemas.microsoft.com/office/drawing/2014/main" val="2070686399"/>
                    </a:ext>
                  </a:extLst>
                </a:gridCol>
                <a:gridCol w="475327">
                  <a:extLst>
                    <a:ext uri="{9D8B030D-6E8A-4147-A177-3AD203B41FA5}">
                      <a16:colId xmlns:a16="http://schemas.microsoft.com/office/drawing/2014/main" val="355818954"/>
                    </a:ext>
                  </a:extLst>
                </a:gridCol>
                <a:gridCol w="475327">
                  <a:extLst>
                    <a:ext uri="{9D8B030D-6E8A-4147-A177-3AD203B41FA5}">
                      <a16:colId xmlns:a16="http://schemas.microsoft.com/office/drawing/2014/main" val="2041875692"/>
                    </a:ext>
                  </a:extLst>
                </a:gridCol>
              </a:tblGrid>
              <a:tr h="132179">
                <a:tc rowSpan="2" gridSpan="2"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측정지표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rowSpan="2" hMerge="1"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지표</a:t>
                      </a:r>
                      <a:b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</a:b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구분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b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</a:b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주기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가중치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서비스 수준 평가기준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 평가결과 평균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179">
                <a:tc gridSpan="2"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hMerge="1"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우수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보통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미흡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N+1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N+2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종합</a:t>
                      </a: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7336713"/>
                  </a:ext>
                </a:extLst>
              </a:tr>
              <a:tr h="208990">
                <a:tc rowSpan="8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인프라</a:t>
                      </a:r>
                      <a:endParaRPr kumimoji="1" lang="en-US" altLang="ko-KR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유지보수</a:t>
                      </a:r>
                      <a:endParaRPr kumimoji="1" lang="en-US" altLang="ko-KR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시스템가동률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네트워크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매월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~99.5%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~99%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~99%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미만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15.0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278416"/>
                  </a:ext>
                </a:extLst>
              </a:tr>
              <a:tr h="208990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시스템가동률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서버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기반시설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매월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~99.5%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~99%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~99%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미만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9.6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208990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정산장비 장애 발생 건수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매월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1~2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 이상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9.6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  <a:tr h="208990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장애처리 지체 건수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매월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 이상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9.6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706556"/>
                  </a:ext>
                </a:extLst>
              </a:tr>
              <a:tr h="208990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서비스요청 적기처리율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매월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~95%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85%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85%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미만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5.0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937190"/>
                  </a:ext>
                </a:extLst>
              </a:tr>
              <a:tr h="208990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예방점검 적기처리율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매월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~95%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85%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85%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미만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5.0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6499558"/>
                  </a:ext>
                </a:extLst>
              </a:tr>
              <a:tr h="208990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백업 성공률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매월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~99%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97%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97%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미만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5.0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9977197"/>
                  </a:ext>
                </a:extLst>
              </a:tr>
              <a:tr h="264356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종합안전진단 개선사항 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조치율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관리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회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-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100%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97%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97%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미만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-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-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69053585"/>
                  </a:ext>
                </a:extLst>
              </a:tr>
              <a:tr h="208990"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인증체계</a:t>
                      </a:r>
                      <a:endParaRPr kumimoji="1" lang="en-US" altLang="ko-KR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출입통제</a:t>
                      </a:r>
                      <a:endParaRPr kumimoji="1" lang="en-US" altLang="ko-KR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온북체계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유리보수 요청 처리율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매월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~98%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96%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96%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미만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5.0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3926393"/>
                  </a:ext>
                </a:extLst>
              </a:tr>
              <a:tr h="208990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프로그램 오류 적시 처리율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매월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~98%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94%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94%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미만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5.0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3888984"/>
                  </a:ext>
                </a:extLst>
              </a:tr>
              <a:tr h="208990">
                <a:tc rowSpan="3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사무용</a:t>
                      </a:r>
                      <a:endParaRPr kumimoji="1" lang="en-US" altLang="ko-KR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전산장비</a:t>
                      </a:r>
                      <a:endParaRPr kumimoji="1" lang="en-US" altLang="ko-KR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유지보수</a:t>
                      </a:r>
                      <a:endParaRPr kumimoji="1" lang="en-US" altLang="ko-KR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사무용 전산장비 장애처리율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매월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100%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98%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98%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미만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10.0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6406519"/>
                  </a:ext>
                </a:extLst>
              </a:tr>
              <a:tr h="208990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요구사항 적기 처리율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매월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~95%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85%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85%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미만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5.0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8992540"/>
                  </a:ext>
                </a:extLst>
              </a:tr>
              <a:tr h="208990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이용자 만족도 조사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연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회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-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+5%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이상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-5%~+5%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-5%%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미만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-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-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9201015"/>
                  </a:ext>
                </a:extLst>
              </a:tr>
              <a:tr h="208990">
                <a:tc rowSpan="2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사업관리</a:t>
                      </a:r>
                      <a:endParaRPr kumimoji="1" lang="en-US" altLang="ko-KR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상주인력 가동률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매월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~97%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90%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90%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미만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5.0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1804319"/>
                  </a:ext>
                </a:extLst>
              </a:tr>
              <a:tr h="232382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보안사고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보안점검 사항 위반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평가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 이상</a:t>
                      </a:r>
                      <a:endParaRPr kumimoji="1" lang="zh-CN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9.0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5650123"/>
                  </a:ext>
                </a:extLst>
              </a:tr>
              <a:tr h="208990">
                <a:tc gridSpan="4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종합평가 점수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100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95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 이상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90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 이상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90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 미만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99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99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96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97.8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338697"/>
                  </a:ext>
                </a:extLst>
              </a:tr>
            </a:tbl>
          </a:graphicData>
        </a:graphic>
      </p:graphicFrame>
      <p:sp>
        <p:nvSpPr>
          <p:cNvPr id="14" name="직사각형 13">
            <a:extLst>
              <a:ext uri="{FF2B5EF4-FFF2-40B4-BE49-F238E27FC236}">
                <a16:creationId xmlns:a16="http://schemas.microsoft.com/office/drawing/2014/main" id="{9C25AE87-A535-509C-7BDE-2C233EF16BD4}"/>
              </a:ext>
            </a:extLst>
          </p:cNvPr>
          <p:cNvSpPr/>
          <p:nvPr/>
        </p:nvSpPr>
        <p:spPr>
          <a:xfrm flipH="1">
            <a:off x="576295" y="9590682"/>
            <a:ext cx="962977" cy="642147"/>
          </a:xfrm>
          <a:prstGeom prst="rect">
            <a:avLst/>
          </a:prstGeom>
          <a:solidFill>
            <a:srgbClr val="396C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1000" dirty="0">
              <a:ln>
                <a:solidFill>
                  <a:srgbClr val="0568B0">
                    <a:alpha val="0"/>
                  </a:srgbClr>
                </a:solidFill>
              </a:ln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267B0D0D-45EA-1683-F1D5-1E55ABFFD640}"/>
              </a:ext>
            </a:extLst>
          </p:cNvPr>
          <p:cNvSpPr/>
          <p:nvPr/>
        </p:nvSpPr>
        <p:spPr>
          <a:xfrm>
            <a:off x="966131" y="9742479"/>
            <a:ext cx="408715" cy="33855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 latinLnBrk="0">
              <a:spcAft>
                <a:spcPts val="200"/>
              </a:spcAft>
            </a:pPr>
            <a:r>
              <a:rPr lang="ko-KR" altLang="en-US" sz="1100" dirty="0">
                <a:ln>
                  <a:solidFill>
                    <a:srgbClr val="0568B0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</a:rPr>
              <a:t>분석 내역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802441-42FB-1CB1-7F94-AF1CE59F06C1}"/>
              </a:ext>
            </a:extLst>
          </p:cNvPr>
          <p:cNvSpPr/>
          <p:nvPr/>
        </p:nvSpPr>
        <p:spPr>
          <a:xfrm>
            <a:off x="1545587" y="9590682"/>
            <a:ext cx="5656932" cy="64214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anchor="ctr"/>
          <a:lstStyle/>
          <a:p>
            <a:pPr algn="ctr" latinLnBrk="0"/>
            <a:endParaRPr lang="ko-KR" altLang="en-US" sz="1000" dirty="0">
              <a:ln>
                <a:solidFill>
                  <a:srgbClr val="0568B0">
                    <a:alpha val="0"/>
                  </a:srgbClr>
                </a:solidFill>
              </a:ln>
              <a:solidFill>
                <a:srgbClr val="292929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Rectangle 20">
            <a:extLst>
              <a:ext uri="{FF2B5EF4-FFF2-40B4-BE49-F238E27FC236}">
                <a16:creationId xmlns:a16="http://schemas.microsoft.com/office/drawing/2014/main" id="{6D5EAB33-689E-25A0-2B14-35400CABC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3074" y="9668099"/>
            <a:ext cx="5547300" cy="4873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marL="128588" lvl="1" indent="-128588" defTabSz="952968" latinLnBrk="0">
              <a:spcBef>
                <a:spcPts val="0"/>
              </a:spcBef>
              <a:spcAft>
                <a:spcPts val="100"/>
              </a:spcAft>
              <a:buClr>
                <a:srgbClr val="1E82AA"/>
              </a:buClr>
              <a:buSzPct val="100000"/>
              <a:buFont typeface="Wingdings" pitchFamily="2" charset="2"/>
              <a:buChar char="ü"/>
              <a:tabLst>
                <a:tab pos="456244" algn="l"/>
                <a:tab pos="912490" algn="l"/>
                <a:tab pos="1371569" algn="l"/>
                <a:tab pos="1827814" algn="l"/>
                <a:tab pos="2284059" algn="l"/>
                <a:tab pos="2741722" algn="l"/>
                <a:tab pos="3197966" algn="l"/>
                <a:tab pos="3655627" algn="l"/>
                <a:tab pos="4113290" algn="l"/>
                <a:tab pos="4569535" algn="l"/>
                <a:tab pos="5027196" algn="l"/>
                <a:tab pos="5941105" algn="l"/>
                <a:tab pos="6398766" algn="l"/>
                <a:tab pos="6855010" algn="l"/>
                <a:tab pos="7311255" algn="l"/>
                <a:tab pos="7768918" algn="l"/>
                <a:tab pos="8226579" algn="l"/>
                <a:tab pos="8682825" algn="l"/>
                <a:tab pos="9140487" algn="l"/>
                <a:tab pos="9596732" algn="l"/>
                <a:tab pos="10054394" algn="l"/>
                <a:tab pos="10512056" algn="l"/>
                <a:tab pos="10968301" algn="l"/>
                <a:tab pos="11425962" algn="l"/>
                <a:tab pos="11882207" algn="l"/>
                <a:tab pos="12338453" algn="l"/>
                <a:tab pos="12797531" algn="l"/>
                <a:tab pos="13253776" algn="l"/>
                <a:tab pos="13710022" algn="l"/>
                <a:tab pos="14167684" algn="l"/>
                <a:tab pos="14623929" algn="l"/>
              </a:tabLst>
              <a:defRPr/>
            </a:pPr>
            <a:r>
              <a:rPr lang="ko-KR" altLang="en-US" sz="1000" dirty="0">
                <a:ln>
                  <a:solidFill>
                    <a:srgbClr val="0568B0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국방전산정보원 관제실에 스마트폰 반입으로 보안 점검 위반 사항 발생</a:t>
            </a:r>
            <a:endParaRPr lang="en-US" altLang="ko-KR" sz="1000" dirty="0">
              <a:ln>
                <a:solidFill>
                  <a:srgbClr val="0568B0">
                    <a:alpha val="0"/>
                  </a:srgbClr>
                </a:solidFill>
              </a:ln>
              <a:solidFill>
                <a:srgbClr val="292929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28588" lvl="1" indent="-128588" defTabSz="952968" latinLnBrk="0">
              <a:spcBef>
                <a:spcPts val="0"/>
              </a:spcBef>
              <a:spcAft>
                <a:spcPts val="100"/>
              </a:spcAft>
              <a:buClr>
                <a:srgbClr val="1E82AA"/>
              </a:buClr>
              <a:buSzPct val="100000"/>
              <a:buFont typeface="Wingdings" pitchFamily="2" charset="2"/>
              <a:buChar char="ü"/>
              <a:tabLst>
                <a:tab pos="456244" algn="l"/>
                <a:tab pos="912490" algn="l"/>
                <a:tab pos="1371569" algn="l"/>
                <a:tab pos="1827814" algn="l"/>
                <a:tab pos="2284059" algn="l"/>
                <a:tab pos="2741722" algn="l"/>
                <a:tab pos="3197966" algn="l"/>
                <a:tab pos="3655627" algn="l"/>
                <a:tab pos="4113290" algn="l"/>
                <a:tab pos="4569535" algn="l"/>
                <a:tab pos="5027196" algn="l"/>
                <a:tab pos="5941105" algn="l"/>
                <a:tab pos="6398766" algn="l"/>
                <a:tab pos="6855010" algn="l"/>
                <a:tab pos="7311255" algn="l"/>
                <a:tab pos="7768918" algn="l"/>
                <a:tab pos="8226579" algn="l"/>
                <a:tab pos="8682825" algn="l"/>
                <a:tab pos="9140487" algn="l"/>
                <a:tab pos="9596732" algn="l"/>
                <a:tab pos="10054394" algn="l"/>
                <a:tab pos="10512056" algn="l"/>
                <a:tab pos="10968301" algn="l"/>
                <a:tab pos="11425962" algn="l"/>
                <a:tab pos="11882207" algn="l"/>
                <a:tab pos="12338453" algn="l"/>
                <a:tab pos="12797531" algn="l"/>
                <a:tab pos="13253776" algn="l"/>
                <a:tab pos="13710022" algn="l"/>
                <a:tab pos="14167684" algn="l"/>
                <a:tab pos="14623929" algn="l"/>
              </a:tabLst>
              <a:defRPr/>
            </a:pPr>
            <a:r>
              <a:rPr lang="ko-KR" altLang="en-US" sz="1000" dirty="0">
                <a:ln>
                  <a:solidFill>
                    <a:srgbClr val="0568B0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사업자 전사 기술지원 조직 부재로 장애 발생 시 규정시간 내 장애 처리 및 복구의 어려움 존재</a:t>
            </a:r>
            <a:endParaRPr lang="en-US" altLang="ko-KR" sz="1000" dirty="0">
              <a:ln>
                <a:solidFill>
                  <a:srgbClr val="0568B0">
                    <a:alpha val="0"/>
                  </a:srgbClr>
                </a:solidFill>
              </a:ln>
              <a:solidFill>
                <a:srgbClr val="292929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  <a:p>
            <a:pPr marL="128588" lvl="1" indent="-128588" defTabSz="952968" latinLnBrk="0">
              <a:spcBef>
                <a:spcPts val="0"/>
              </a:spcBef>
              <a:spcAft>
                <a:spcPts val="100"/>
              </a:spcAft>
              <a:buClr>
                <a:srgbClr val="1E82AA"/>
              </a:buClr>
              <a:buSzPct val="100000"/>
              <a:buFont typeface="Wingdings" pitchFamily="2" charset="2"/>
              <a:buChar char="ü"/>
              <a:tabLst>
                <a:tab pos="456244" algn="l"/>
                <a:tab pos="912490" algn="l"/>
                <a:tab pos="1371569" algn="l"/>
                <a:tab pos="1827814" algn="l"/>
                <a:tab pos="2284059" algn="l"/>
                <a:tab pos="2741722" algn="l"/>
                <a:tab pos="3197966" algn="l"/>
                <a:tab pos="3655627" algn="l"/>
                <a:tab pos="4113290" algn="l"/>
                <a:tab pos="4569535" algn="l"/>
                <a:tab pos="5027196" algn="l"/>
                <a:tab pos="5941105" algn="l"/>
                <a:tab pos="6398766" algn="l"/>
                <a:tab pos="6855010" algn="l"/>
                <a:tab pos="7311255" algn="l"/>
                <a:tab pos="7768918" algn="l"/>
                <a:tab pos="8226579" algn="l"/>
                <a:tab pos="8682825" algn="l"/>
                <a:tab pos="9140487" algn="l"/>
                <a:tab pos="9596732" algn="l"/>
                <a:tab pos="10054394" algn="l"/>
                <a:tab pos="10512056" algn="l"/>
                <a:tab pos="10968301" algn="l"/>
                <a:tab pos="11425962" algn="l"/>
                <a:tab pos="11882207" algn="l"/>
                <a:tab pos="12338453" algn="l"/>
                <a:tab pos="12797531" algn="l"/>
                <a:tab pos="13253776" algn="l"/>
                <a:tab pos="13710022" algn="l"/>
                <a:tab pos="14167684" algn="l"/>
                <a:tab pos="14623929" algn="l"/>
              </a:tabLst>
              <a:defRPr/>
            </a:pPr>
            <a:r>
              <a:rPr lang="ko-KR" altLang="en-US" sz="1000" dirty="0">
                <a:ln>
                  <a:solidFill>
                    <a:srgbClr val="0568B0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기존 사업자 기업회생절차로 상주인력의 퇴사 시 대체 인원 충원의 어려움 존재</a:t>
            </a:r>
            <a:endParaRPr lang="en-US" altLang="ko-KR" sz="1000" dirty="0">
              <a:ln>
                <a:solidFill>
                  <a:srgbClr val="0568B0">
                    <a:alpha val="0"/>
                  </a:srgbClr>
                </a:solidFill>
              </a:ln>
              <a:solidFill>
                <a:srgbClr val="292929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19" name="자유형 109">
            <a:extLst>
              <a:ext uri="{FF2B5EF4-FFF2-40B4-BE49-F238E27FC236}">
                <a16:creationId xmlns:a16="http://schemas.microsoft.com/office/drawing/2014/main" id="{9B3EECB3-B3D2-3207-E331-95BF420C2887}"/>
              </a:ext>
            </a:extLst>
          </p:cNvPr>
          <p:cNvSpPr/>
          <p:nvPr/>
        </p:nvSpPr>
        <p:spPr>
          <a:xfrm>
            <a:off x="596488" y="9642215"/>
            <a:ext cx="179439" cy="34211"/>
          </a:xfrm>
          <a:custGeom>
            <a:avLst/>
            <a:gdLst>
              <a:gd name="connsiteX0" fmla="*/ 0 w 173831"/>
              <a:gd name="connsiteY0" fmla="*/ 45244 h 45244"/>
              <a:gd name="connsiteX1" fmla="*/ 173831 w 173831"/>
              <a:gd name="connsiteY1" fmla="*/ 45244 h 45244"/>
              <a:gd name="connsiteX2" fmla="*/ 128587 w 173831"/>
              <a:gd name="connsiteY2" fmla="*/ 0 h 4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831" h="45244">
                <a:moveTo>
                  <a:pt x="0" y="45244"/>
                </a:moveTo>
                <a:lnTo>
                  <a:pt x="173831" y="45244"/>
                </a:lnTo>
                <a:lnTo>
                  <a:pt x="128587" y="0"/>
                </a:lnTo>
              </a:path>
            </a:pathLst>
          </a:cu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latinLnBrk="0"/>
            <a:endParaRPr lang="ko-KR" altLang="en-US" dirty="0">
              <a:ln>
                <a:solidFill>
                  <a:srgbClr val="0568B0">
                    <a:alpha val="0"/>
                  </a:srgbClr>
                </a:solidFill>
              </a:ln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22" name="Picture 2" descr="분석 - 무료 현서와 웹개 아이콘">
            <a:extLst>
              <a:ext uri="{FF2B5EF4-FFF2-40B4-BE49-F238E27FC236}">
                <a16:creationId xmlns:a16="http://schemas.microsoft.com/office/drawing/2014/main" id="{38F04349-C941-97EC-4E56-13F4A3A88B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35" y="9826330"/>
            <a:ext cx="233373" cy="22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63DA8CC-A568-5969-92DD-D60122D2EFFA}"/>
              </a:ext>
            </a:extLst>
          </p:cNvPr>
          <p:cNvCxnSpPr/>
          <p:nvPr/>
        </p:nvCxnSpPr>
        <p:spPr>
          <a:xfrm>
            <a:off x="576295" y="10232829"/>
            <a:ext cx="662622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9BEA8A73-0361-B508-30F7-20A7546D4EC9}"/>
              </a:ext>
            </a:extLst>
          </p:cNvPr>
          <p:cNvSpPr txBox="1"/>
          <p:nvPr/>
        </p:nvSpPr>
        <p:spPr>
          <a:xfrm>
            <a:off x="659737" y="6676197"/>
            <a:ext cx="251383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 defTabSz="1474788" fontAlgn="ctr" latinLnBrk="0">
              <a:spcAft>
                <a:spcPts val="100"/>
              </a:spcAft>
              <a:buClr>
                <a:srgbClr val="4D4D4D"/>
              </a:buClr>
              <a:defRPr/>
            </a:pP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&lt;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전산장비 유지보수 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SLA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평가지표 현재 항목 분석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&gt;</a:t>
            </a:r>
            <a:endParaRPr kumimoji="1" lang="ko-KR" altLang="en-US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E682602-C398-918E-79BA-693B0EF3D5C4}"/>
              </a:ext>
            </a:extLst>
          </p:cNvPr>
          <p:cNvSpPr txBox="1"/>
          <p:nvPr/>
        </p:nvSpPr>
        <p:spPr>
          <a:xfrm>
            <a:off x="679430" y="7019448"/>
            <a:ext cx="2510624" cy="23647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시스템 가동률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나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전산장비 장애 발생 건수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장애처리 지체 건수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라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서비스 요청 적기처리율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마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예방점검 적기처리율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바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백업 성공률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종합안전진단 개선사항 </a:t>
            </a:r>
            <a:r>
              <a:rPr kumimoji="1" lang="ko-KR" altLang="en-US" sz="900" dirty="0" err="1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조치율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아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인증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출입통제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kumimoji="1" lang="ko-KR" altLang="en-US" sz="900" dirty="0" err="1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온북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유지보수 요청 처리율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자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인증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출입통제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kumimoji="1" lang="ko-KR" altLang="en-US" sz="900" dirty="0" err="1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온북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프로그램 오류 적시 처리율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차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사무용 전산장비 장애처리율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카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사무용 전산장비 요구사항 적기처리율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타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이용자 만족도 조사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상주인력 가동률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spcAft>
                <a:spcPts val="200"/>
              </a:spcAft>
            </a:pP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</a:t>
            </a:r>
            <a:r>
              <a:rPr kumimoji="1" lang="en-US" altLang="ko-KR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kumimoji="1" lang="ko-KR" altLang="en-US" sz="9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보안사고 및 보안점검 사항 위반</a:t>
            </a:r>
            <a:endParaRPr kumimoji="1" lang="en-US" altLang="ko-KR" sz="900" dirty="0">
              <a:ln w="9525" cap="flat" cmpd="sng" algn="ctr">
                <a:solidFill>
                  <a:prstClr val="black">
                    <a:alpha val="0"/>
                  </a:prstClr>
                </a:solidFill>
                <a:prstDash val="solid"/>
                <a:round/>
                <a:headEnd type="none" w="med" len="med"/>
                <a:tailEnd type="none" w="med" len="med"/>
              </a:ln>
              <a:solidFill>
                <a:srgbClr val="40404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graphicFrame>
        <p:nvGraphicFramePr>
          <p:cNvPr id="142" name="Group 32">
            <a:extLst>
              <a:ext uri="{FF2B5EF4-FFF2-40B4-BE49-F238E27FC236}">
                <a16:creationId xmlns:a16="http://schemas.microsoft.com/office/drawing/2014/main" id="{162E64E5-57BE-231B-9CF9-0260CABDEB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5707739"/>
              </p:ext>
            </p:extLst>
          </p:nvPr>
        </p:nvGraphicFramePr>
        <p:xfrm>
          <a:off x="3311723" y="6604750"/>
          <a:ext cx="3884268" cy="1511746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041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737041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737041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</a:tblGrid>
              <a:tr h="915654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장애처리 지체건수</a:t>
                      </a:r>
                      <a:endParaRPr kumimoji="1" lang="en-US" altLang="ko-KR" sz="800" kern="120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측정방법</a:t>
                      </a:r>
                      <a:r>
                        <a:rPr kumimoji="1" lang="en-US" altLang="zh-CN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 단위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  <a:endParaRPr kumimoji="1" lang="zh-CN" altLang="en-US" sz="800" kern="120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서버 및 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S/W, 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네트워크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, 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기반시설을 포함한 전산장비 장애의 발생부터 복구까지의 허용 시간을 초과하는 건에 대한 지체 건수 측정</a:t>
                      </a:r>
                      <a:endParaRPr kumimoji="1" lang="en-US" altLang="ko-KR" sz="800" kern="120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" kern="120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※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장애복구 소요시간 허용 기준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 (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수요자 기준 적용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</a:p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    -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근무시간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공휴일이 아닌 날의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09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시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~18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시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은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3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시간 이내</a:t>
                      </a:r>
                      <a:endParaRPr kumimoji="1" lang="en-US" altLang="ko-KR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    -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근무시간 이외에 발생한 장애는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시간 이내</a:t>
                      </a: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72000" marR="72000" marT="72000" marB="7200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265222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측정방법</a:t>
                      </a:r>
                      <a:r>
                        <a:rPr kumimoji="1" lang="en-US" altLang="zh-CN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 단위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  <a:endParaRPr kumimoji="1" lang="zh-CN" altLang="en-US" sz="800" kern="120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  <a:tr h="110290">
                <a:tc rowSpan="3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월별 평가기준</a:t>
                      </a:r>
                      <a:endParaRPr kumimoji="1" lang="zh-CN" altLang="en-US" sz="800" kern="120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구분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우수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보통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미흡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723859"/>
                  </a:ext>
                </a:extLst>
              </a:tr>
              <a:tr h="110290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기준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0</a:t>
                      </a: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</a:t>
                      </a: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 이상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429179"/>
                  </a:ext>
                </a:extLst>
              </a:tr>
              <a:tr h="110290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점수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10</a:t>
                      </a: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7</a:t>
                      </a: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</a:t>
                      </a: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683140"/>
                  </a:ext>
                </a:extLst>
              </a:tr>
            </a:tbl>
          </a:graphicData>
        </a:graphic>
      </p:graphicFrame>
      <p:graphicFrame>
        <p:nvGraphicFramePr>
          <p:cNvPr id="143" name="Group 32">
            <a:extLst>
              <a:ext uri="{FF2B5EF4-FFF2-40B4-BE49-F238E27FC236}">
                <a16:creationId xmlns:a16="http://schemas.microsoft.com/office/drawing/2014/main" id="{0560EC81-1E0A-976E-2B46-DB0A523D96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5326739"/>
              </p:ext>
            </p:extLst>
          </p:nvPr>
        </p:nvGraphicFramePr>
        <p:xfrm>
          <a:off x="3311723" y="8183295"/>
          <a:ext cx="3884268" cy="1329965"/>
        </p:xfrm>
        <a:graphic>
          <a:graphicData uri="http://schemas.openxmlformats.org/drawingml/2006/table">
            <a:tbl>
              <a:tblPr/>
              <a:tblGrid>
                <a:gridCol w="936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0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7041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737041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737041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</a:tblGrid>
              <a:tr h="619607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측정방법</a:t>
                      </a:r>
                      <a:endParaRPr kumimoji="1" lang="en-US" altLang="ko-KR" sz="800" kern="120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 단위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  <a:endParaRPr kumimoji="1" lang="zh-CN" altLang="en-US" sz="800" kern="120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A : ∑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월 총 근무시간 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근무시간 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* 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상주인력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) (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월별 총계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)</a:t>
                      </a:r>
                    </a:p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B : 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월 총 수행시간 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근무일수 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* 8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시간 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* 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상주인력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) (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월별 총계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  <a:sym typeface="Rix모던고딕 L" charset="-127"/>
                        </a:rPr>
                        <a:t>)</a:t>
                      </a:r>
                    </a:p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700" kern="120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l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700" kern="120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  <a:sym typeface="Rix모던고딕 L" charset="-127"/>
                      </a:endParaRPr>
                    </a:p>
                  </a:txBody>
                  <a:tcPr marL="72000" marR="7200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2652403"/>
                  </a:ext>
                </a:extLst>
              </a:tr>
              <a:tr h="316062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측정방법</a:t>
                      </a:r>
                      <a:endParaRPr kumimoji="1" lang="en-US" altLang="ko-KR" sz="800" kern="120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분기 단위</a:t>
                      </a:r>
                      <a:r>
                        <a:rPr kumimoji="1" lang="en-US" altLang="ko-KR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  <a:endParaRPr kumimoji="1" lang="zh-CN" altLang="en-US" sz="800" kern="120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4486562"/>
                  </a:ext>
                </a:extLst>
              </a:tr>
              <a:tr h="131432">
                <a:tc rowSpan="3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kern="120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월별 평가기준</a:t>
                      </a:r>
                      <a:endParaRPr kumimoji="1" lang="zh-CN" altLang="en-US" sz="800" kern="120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구분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우수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보통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미흡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8723859"/>
                  </a:ext>
                </a:extLst>
              </a:tr>
              <a:tr h="131432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zh-CN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기준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~97%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~90%</a:t>
                      </a: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건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zh-CN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90% </a:t>
                      </a: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미만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7429179"/>
                  </a:ext>
                </a:extLst>
              </a:tr>
              <a:tr h="131432">
                <a:tc vMerge="1"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endParaRPr kumimoji="1" lang="zh-CN" alt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점수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5</a:t>
                      </a: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4</a:t>
                      </a: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2</a:t>
                      </a:r>
                      <a:r>
                        <a:rPr kumimoji="1" lang="ko-KR" altLang="en-US" sz="7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점</a:t>
                      </a:r>
                      <a:endParaRPr kumimoji="1" lang="zh-CN" altLang="en-US" sz="7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marL="0" marR="0" marT="0" marB="0"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2683140"/>
                  </a:ext>
                </a:extLst>
              </a:tr>
            </a:tbl>
          </a:graphicData>
        </a:graphic>
      </p:graphicFrame>
      <p:grpSp>
        <p:nvGrpSpPr>
          <p:cNvPr id="174" name="그룹 173">
            <a:extLst>
              <a:ext uri="{FF2B5EF4-FFF2-40B4-BE49-F238E27FC236}">
                <a16:creationId xmlns:a16="http://schemas.microsoft.com/office/drawing/2014/main" id="{E0FF44D9-6057-5D8C-8FE7-DC83514E6942}"/>
              </a:ext>
            </a:extLst>
          </p:cNvPr>
          <p:cNvGrpSpPr/>
          <p:nvPr/>
        </p:nvGrpSpPr>
        <p:grpSpPr>
          <a:xfrm>
            <a:off x="4535859" y="7503525"/>
            <a:ext cx="2066816" cy="314433"/>
            <a:chOff x="4535859" y="7461420"/>
            <a:chExt cx="2066816" cy="314433"/>
          </a:xfrm>
        </p:grpSpPr>
        <p:grpSp>
          <p:nvGrpSpPr>
            <p:cNvPr id="149" name="그룹 148">
              <a:extLst>
                <a:ext uri="{FF2B5EF4-FFF2-40B4-BE49-F238E27FC236}">
                  <a16:creationId xmlns:a16="http://schemas.microsoft.com/office/drawing/2014/main" id="{A84D34CE-67E9-39E3-7CCB-AAED06B39E3F}"/>
                </a:ext>
              </a:extLst>
            </p:cNvPr>
            <p:cNvGrpSpPr/>
            <p:nvPr/>
          </p:nvGrpSpPr>
          <p:grpSpPr>
            <a:xfrm>
              <a:off x="4535859" y="7461420"/>
              <a:ext cx="1599990" cy="314433"/>
              <a:chOff x="4535859" y="7311962"/>
              <a:chExt cx="1599990" cy="314433"/>
            </a:xfrm>
          </p:grpSpPr>
          <p:grpSp>
            <p:nvGrpSpPr>
              <p:cNvPr id="146" name="그룹 145">
                <a:extLst>
                  <a:ext uri="{FF2B5EF4-FFF2-40B4-BE49-F238E27FC236}">
                    <a16:creationId xmlns:a16="http://schemas.microsoft.com/office/drawing/2014/main" id="{20C35D71-CA79-DB35-4AE2-F15070F96623}"/>
                  </a:ext>
                </a:extLst>
              </p:cNvPr>
              <p:cNvGrpSpPr/>
              <p:nvPr/>
            </p:nvGrpSpPr>
            <p:grpSpPr>
              <a:xfrm>
                <a:off x="4607867" y="7311962"/>
                <a:ext cx="1527982" cy="314433"/>
                <a:chOff x="4607867" y="7339793"/>
                <a:chExt cx="1527982" cy="314433"/>
              </a:xfrm>
            </p:grpSpPr>
            <p:sp>
              <p:nvSpPr>
                <p:cNvPr id="144" name="TextBox 143">
                  <a:extLst>
                    <a:ext uri="{FF2B5EF4-FFF2-40B4-BE49-F238E27FC236}">
                      <a16:creationId xmlns:a16="http://schemas.microsoft.com/office/drawing/2014/main" id="{0D92F69B-E3CD-A460-B749-849A245FC680}"/>
                    </a:ext>
                  </a:extLst>
                </p:cNvPr>
                <p:cNvSpPr txBox="1"/>
                <p:nvPr/>
              </p:nvSpPr>
              <p:spPr>
                <a:xfrm>
                  <a:off x="4607867" y="7339793"/>
                  <a:ext cx="1527982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4</a:t>
                  </a:r>
                  <a:r>
                    <a:rPr kumimoji="1" lang="ko-KR" altLang="en-US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월 측정</a:t>
                  </a:r>
                  <a:r>
                    <a:rPr kumimoji="1" lang="en-US" altLang="ko-KR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(10) + 5</a:t>
                  </a:r>
                  <a:r>
                    <a:rPr kumimoji="1" lang="ko-KR" altLang="en-US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월 측정</a:t>
                  </a:r>
                  <a:r>
                    <a:rPr kumimoji="1" lang="en-US" altLang="ko-KR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(10) + 6</a:t>
                  </a:r>
                  <a:r>
                    <a:rPr kumimoji="1" lang="ko-KR" altLang="en-US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월 측정</a:t>
                  </a:r>
                  <a:r>
                    <a:rPr kumimoji="1" lang="en-US" altLang="ko-KR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(7)</a:t>
                  </a:r>
                  <a:endParaRPr kumimoji="1" lang="ko-KR" altLang="en-US" sz="600" dirty="0">
                    <a:ln w="9525" cap="flat" cmpd="sng" algn="ctr">
                      <a:solidFill>
                        <a:prstClr val="black">
                          <a:alpha val="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404040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endParaRPr>
                </a:p>
              </p:txBody>
            </p:sp>
            <p:sp>
              <p:nvSpPr>
                <p:cNvPr id="145" name="TextBox 144">
                  <a:extLst>
                    <a:ext uri="{FF2B5EF4-FFF2-40B4-BE49-F238E27FC236}">
                      <a16:creationId xmlns:a16="http://schemas.microsoft.com/office/drawing/2014/main" id="{4259DE1C-7EC7-3914-BC7A-F3049C8B1999}"/>
                    </a:ext>
                  </a:extLst>
                </p:cNvPr>
                <p:cNvSpPr txBox="1"/>
                <p:nvPr/>
              </p:nvSpPr>
              <p:spPr>
                <a:xfrm>
                  <a:off x="5257884" y="7469560"/>
                  <a:ext cx="22794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3</a:t>
                  </a:r>
                  <a:endParaRPr kumimoji="1" lang="ko-KR" altLang="en-US" sz="600" dirty="0">
                    <a:ln w="9525" cap="flat" cmpd="sng" algn="ctr">
                      <a:solidFill>
                        <a:prstClr val="black">
                          <a:alpha val="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404040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endParaRPr>
                </a:p>
              </p:txBody>
            </p:sp>
          </p:grpSp>
          <p:cxnSp>
            <p:nvCxnSpPr>
              <p:cNvPr id="148" name="직선 연결선 147">
                <a:extLst>
                  <a:ext uri="{FF2B5EF4-FFF2-40B4-BE49-F238E27FC236}">
                    <a16:creationId xmlns:a16="http://schemas.microsoft.com/office/drawing/2014/main" id="{08F947DF-FDBA-0342-C746-3A2716CCB706}"/>
                  </a:ext>
                </a:extLst>
              </p:cNvPr>
              <p:cNvCxnSpPr/>
              <p:nvPr/>
            </p:nvCxnSpPr>
            <p:spPr>
              <a:xfrm>
                <a:off x="4535859" y="7451206"/>
                <a:ext cx="1599990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957529D1-CF35-05BE-AF50-4613A270B49B}"/>
                </a:ext>
              </a:extLst>
            </p:cNvPr>
            <p:cNvSpPr txBox="1"/>
            <p:nvPr/>
          </p:nvSpPr>
          <p:spPr>
            <a:xfrm>
              <a:off x="6259093" y="7500636"/>
              <a:ext cx="34358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700" dirty="0">
                  <a:ln w="9525" cap="flat" cmpd="sng" algn="ctr">
                    <a:solidFill>
                      <a:prstClr val="black">
                        <a:alpha val="0"/>
                      </a:prst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40404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평균</a:t>
              </a:r>
            </a:p>
          </p:txBody>
        </p:sp>
      </p:grpSp>
      <p:grpSp>
        <p:nvGrpSpPr>
          <p:cNvPr id="172" name="그룹 171">
            <a:extLst>
              <a:ext uri="{FF2B5EF4-FFF2-40B4-BE49-F238E27FC236}">
                <a16:creationId xmlns:a16="http://schemas.microsoft.com/office/drawing/2014/main" id="{B585766F-2379-B09B-71BC-CF57D475C64C}"/>
              </a:ext>
            </a:extLst>
          </p:cNvPr>
          <p:cNvGrpSpPr/>
          <p:nvPr/>
        </p:nvGrpSpPr>
        <p:grpSpPr>
          <a:xfrm>
            <a:off x="4535859" y="8806041"/>
            <a:ext cx="2066816" cy="314433"/>
            <a:chOff x="4535859" y="8647845"/>
            <a:chExt cx="2066816" cy="314433"/>
          </a:xfrm>
        </p:grpSpPr>
        <p:grpSp>
          <p:nvGrpSpPr>
            <p:cNvPr id="158" name="그룹 157">
              <a:extLst>
                <a:ext uri="{FF2B5EF4-FFF2-40B4-BE49-F238E27FC236}">
                  <a16:creationId xmlns:a16="http://schemas.microsoft.com/office/drawing/2014/main" id="{F431ACC6-A584-2DE5-7FAE-1571D22A2353}"/>
                </a:ext>
              </a:extLst>
            </p:cNvPr>
            <p:cNvGrpSpPr/>
            <p:nvPr/>
          </p:nvGrpSpPr>
          <p:grpSpPr>
            <a:xfrm>
              <a:off x="4535859" y="8647845"/>
              <a:ext cx="1599990" cy="314433"/>
              <a:chOff x="4535859" y="7311962"/>
              <a:chExt cx="1599990" cy="314433"/>
            </a:xfrm>
          </p:grpSpPr>
          <p:grpSp>
            <p:nvGrpSpPr>
              <p:cNvPr id="160" name="그룹 159">
                <a:extLst>
                  <a:ext uri="{FF2B5EF4-FFF2-40B4-BE49-F238E27FC236}">
                    <a16:creationId xmlns:a16="http://schemas.microsoft.com/office/drawing/2014/main" id="{21D1C6DE-1D89-E443-D4F1-07F6FC5A0F0B}"/>
                  </a:ext>
                </a:extLst>
              </p:cNvPr>
              <p:cNvGrpSpPr/>
              <p:nvPr/>
            </p:nvGrpSpPr>
            <p:grpSpPr>
              <a:xfrm>
                <a:off x="4607867" y="7311962"/>
                <a:ext cx="1441420" cy="314433"/>
                <a:chOff x="4607867" y="7339793"/>
                <a:chExt cx="1441420" cy="314433"/>
              </a:xfrm>
            </p:grpSpPr>
            <p:sp>
              <p:nvSpPr>
                <p:cNvPr id="163" name="TextBox 162">
                  <a:extLst>
                    <a:ext uri="{FF2B5EF4-FFF2-40B4-BE49-F238E27FC236}">
                      <a16:creationId xmlns:a16="http://schemas.microsoft.com/office/drawing/2014/main" id="{3CB70355-F902-B84E-35B1-5631B031FEA5}"/>
                    </a:ext>
                  </a:extLst>
                </p:cNvPr>
                <p:cNvSpPr txBox="1"/>
                <p:nvPr/>
              </p:nvSpPr>
              <p:spPr>
                <a:xfrm>
                  <a:off x="4607867" y="7339793"/>
                  <a:ext cx="1441420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4</a:t>
                  </a:r>
                  <a:r>
                    <a:rPr kumimoji="1" lang="ko-KR" altLang="en-US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월 측정</a:t>
                  </a:r>
                  <a:r>
                    <a:rPr kumimoji="1" lang="en-US" altLang="ko-KR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(5) + 5</a:t>
                  </a:r>
                  <a:r>
                    <a:rPr kumimoji="1" lang="ko-KR" altLang="en-US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월 측정</a:t>
                  </a:r>
                  <a:r>
                    <a:rPr kumimoji="1" lang="en-US" altLang="ko-KR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(5) + 6</a:t>
                  </a:r>
                  <a:r>
                    <a:rPr kumimoji="1" lang="ko-KR" altLang="en-US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월 측정</a:t>
                  </a:r>
                  <a:r>
                    <a:rPr kumimoji="1" lang="en-US" altLang="ko-KR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(5)</a:t>
                  </a:r>
                  <a:endParaRPr kumimoji="1" lang="ko-KR" altLang="en-US" sz="600" dirty="0">
                    <a:ln w="9525" cap="flat" cmpd="sng" algn="ctr">
                      <a:solidFill>
                        <a:prstClr val="black">
                          <a:alpha val="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404040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endParaRPr>
                </a:p>
              </p:txBody>
            </p:sp>
            <p:sp>
              <p:nvSpPr>
                <p:cNvPr id="164" name="TextBox 163">
                  <a:extLst>
                    <a:ext uri="{FF2B5EF4-FFF2-40B4-BE49-F238E27FC236}">
                      <a16:creationId xmlns:a16="http://schemas.microsoft.com/office/drawing/2014/main" id="{12639CE3-8D58-5D9E-E28A-0019AA7D1786}"/>
                    </a:ext>
                  </a:extLst>
                </p:cNvPr>
                <p:cNvSpPr txBox="1"/>
                <p:nvPr/>
              </p:nvSpPr>
              <p:spPr>
                <a:xfrm>
                  <a:off x="5257884" y="7469560"/>
                  <a:ext cx="227948" cy="18466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en-US" altLang="ko-KR" sz="600" dirty="0">
                      <a:ln w="9525" cap="flat" cmpd="sng" algn="ctr">
                        <a:solidFill>
                          <a:prstClr val="black">
                            <a:alpha val="0"/>
                          </a:prstClr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>
                      <a:solidFill>
                        <a:srgbClr val="404040"/>
                      </a:solidFill>
                      <a:latin typeface="KoPub돋움체 Medium" panose="00000600000000000000" pitchFamily="2" charset="-127"/>
                      <a:ea typeface="KoPub돋움체 Medium" panose="00000600000000000000" pitchFamily="2" charset="-127"/>
                    </a:rPr>
                    <a:t>3</a:t>
                  </a:r>
                  <a:endParaRPr kumimoji="1" lang="ko-KR" altLang="en-US" sz="600" dirty="0">
                    <a:ln w="9525" cap="flat" cmpd="sng" algn="ctr">
                      <a:solidFill>
                        <a:prstClr val="black">
                          <a:alpha val="0"/>
                        </a:prst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solidFill>
                      <a:srgbClr val="404040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</a:endParaRPr>
                </a:p>
              </p:txBody>
            </p:sp>
          </p:grpSp>
          <p:cxnSp>
            <p:nvCxnSpPr>
              <p:cNvPr id="162" name="직선 연결선 161">
                <a:extLst>
                  <a:ext uri="{FF2B5EF4-FFF2-40B4-BE49-F238E27FC236}">
                    <a16:creationId xmlns:a16="http://schemas.microsoft.com/office/drawing/2014/main" id="{E87F1910-C8CD-4A09-92D2-E775F4AE28DB}"/>
                  </a:ext>
                </a:extLst>
              </p:cNvPr>
              <p:cNvCxnSpPr/>
              <p:nvPr/>
            </p:nvCxnSpPr>
            <p:spPr>
              <a:xfrm>
                <a:off x="4535859" y="7451206"/>
                <a:ext cx="1599990" cy="0"/>
              </a:xfrm>
              <a:prstGeom prst="line">
                <a:avLst/>
              </a:prstGeom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53B1AC59-B525-4EC0-F3A0-8EA62A45DAAE}"/>
                </a:ext>
              </a:extLst>
            </p:cNvPr>
            <p:cNvSpPr txBox="1"/>
            <p:nvPr/>
          </p:nvSpPr>
          <p:spPr>
            <a:xfrm>
              <a:off x="6259093" y="8687061"/>
              <a:ext cx="343582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ko-KR" altLang="en-US" sz="700" dirty="0">
                  <a:ln w="9525" cap="flat" cmpd="sng" algn="ctr">
                    <a:solidFill>
                      <a:prstClr val="black">
                        <a:alpha val="0"/>
                      </a:prst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40404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평균</a:t>
              </a:r>
            </a:p>
          </p:txBody>
        </p:sp>
      </p:grpSp>
      <p:grpSp>
        <p:nvGrpSpPr>
          <p:cNvPr id="173" name="그룹 172">
            <a:extLst>
              <a:ext uri="{FF2B5EF4-FFF2-40B4-BE49-F238E27FC236}">
                <a16:creationId xmlns:a16="http://schemas.microsoft.com/office/drawing/2014/main" id="{C8678F78-2F96-BCB5-5079-9F521CA71888}"/>
              </a:ext>
            </a:extLst>
          </p:cNvPr>
          <p:cNvGrpSpPr/>
          <p:nvPr/>
        </p:nvGrpSpPr>
        <p:grpSpPr>
          <a:xfrm>
            <a:off x="4535859" y="8496347"/>
            <a:ext cx="2066816" cy="314433"/>
            <a:chOff x="4535859" y="8382171"/>
            <a:chExt cx="2066816" cy="314433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6173F4F7-8D7A-8D8C-7740-1A1209C76F7C}"/>
                </a:ext>
              </a:extLst>
            </p:cNvPr>
            <p:cNvSpPr txBox="1"/>
            <p:nvPr/>
          </p:nvSpPr>
          <p:spPr>
            <a:xfrm>
              <a:off x="5217873" y="8382171"/>
              <a:ext cx="23596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600" dirty="0">
                  <a:ln w="9525" cap="flat" cmpd="sng" algn="ctr">
                    <a:solidFill>
                      <a:prstClr val="black">
                        <a:alpha val="0"/>
                      </a:prst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40404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B</a:t>
              </a:r>
              <a:endParaRPr kumimoji="1" lang="ko-KR" altLang="en-US" sz="6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E019088B-759B-B773-81B3-184EBCE2B723}"/>
                </a:ext>
              </a:extLst>
            </p:cNvPr>
            <p:cNvSpPr txBox="1"/>
            <p:nvPr/>
          </p:nvSpPr>
          <p:spPr>
            <a:xfrm>
              <a:off x="5217873" y="8511938"/>
              <a:ext cx="235962" cy="1846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ko-KR" sz="600" dirty="0">
                  <a:ln w="9525" cap="flat" cmpd="sng" algn="ctr">
                    <a:solidFill>
                      <a:prstClr val="black">
                        <a:alpha val="0"/>
                      </a:prst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40404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A</a:t>
              </a:r>
              <a:endParaRPr kumimoji="1" lang="ko-KR" altLang="en-US" sz="6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cxnSp>
          <p:nvCxnSpPr>
            <p:cNvPr id="169" name="직선 연결선 168">
              <a:extLst>
                <a:ext uri="{FF2B5EF4-FFF2-40B4-BE49-F238E27FC236}">
                  <a16:creationId xmlns:a16="http://schemas.microsoft.com/office/drawing/2014/main" id="{6D11C459-E675-C89E-0B0C-4EDC71192ADB}"/>
                </a:ext>
              </a:extLst>
            </p:cNvPr>
            <p:cNvCxnSpPr>
              <a:cxnSpLocks/>
            </p:cNvCxnSpPr>
            <p:nvPr/>
          </p:nvCxnSpPr>
          <p:spPr>
            <a:xfrm>
              <a:off x="4535859" y="8521415"/>
              <a:ext cx="1599990" cy="0"/>
            </a:xfrm>
            <a:prstGeom prst="line">
              <a:avLst/>
            </a:pr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E05192DE-D6CF-8132-39CC-28FB3001B88A}"/>
                </a:ext>
              </a:extLst>
            </p:cNvPr>
            <p:cNvSpPr txBox="1"/>
            <p:nvPr/>
          </p:nvSpPr>
          <p:spPr>
            <a:xfrm>
              <a:off x="6104007" y="8421387"/>
              <a:ext cx="498668" cy="2000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ko-KR" sz="700" dirty="0">
                  <a:ln w="9525" cap="flat" cmpd="sng" algn="ctr">
                    <a:solidFill>
                      <a:prstClr val="black">
                        <a:alpha val="0"/>
                      </a:prst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solidFill>
                    <a:srgbClr val="40404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X 100%</a:t>
              </a:r>
              <a:endParaRPr kumimoji="1" lang="ko-KR" altLang="en-US" sz="700" dirty="0">
                <a:ln w="9525" cap="flat" cmpd="sng" algn="ctr">
                  <a:solidFill>
                    <a:prstClr val="black">
                      <a:alpha val="0"/>
                    </a:prstClr>
                  </a:solidFill>
                  <a:prstDash val="solid"/>
                  <a:round/>
                  <a:headEnd type="none" w="med" len="med"/>
                  <a:tailEnd type="none" w="med" len="med"/>
                </a:ln>
                <a:solidFill>
                  <a:srgbClr val="40404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28136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3D1DC-0E09-066F-38AF-F1A88637B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ABC9B763-265E-99AA-0F19-1D6936DF4D75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1ABCC62E-C843-D8BC-994B-FCA2D4C9CB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56" name="제목 1">
            <a:extLst>
              <a:ext uri="{FF2B5EF4-FFF2-40B4-BE49-F238E27FC236}">
                <a16:creationId xmlns:a16="http://schemas.microsoft.com/office/drawing/2014/main" id="{17925E26-615E-952C-12F6-9F8E92A7B2F1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58" name="제목 1">
            <a:extLst>
              <a:ext uri="{FF2B5EF4-FFF2-40B4-BE49-F238E27FC236}">
                <a16:creationId xmlns:a16="http://schemas.microsoft.com/office/drawing/2014/main" id="{27BADD95-026A-33C5-FE53-A8AD70832FAA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 4)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운영 현황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(5/5)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56B213B-2910-A17D-9753-92373B615FD3}"/>
              </a:ext>
            </a:extLst>
          </p:cNvPr>
          <p:cNvSpPr txBox="1"/>
          <p:nvPr/>
        </p:nvSpPr>
        <p:spPr>
          <a:xfrm>
            <a:off x="934361" y="1644256"/>
            <a:ext cx="633937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적극적인 정보열람 및 실무자 인터뷰를 통한 운영 현황 분석으로 성공요소 도출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D6CEC339-9FAD-00EB-F665-66C95521F582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2419E0F1-8168-8F81-6D3E-9696B49DC126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영내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영외 지역 네트워크 스위치 및 사무용 전산장비 기술 지원 대상 기관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FE10686D-8460-1483-BE4A-9B4CABDD7D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54E98367-F5B0-7E94-9329-AB6B9D465A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2675783"/>
              </p:ext>
            </p:extLst>
          </p:nvPr>
        </p:nvGraphicFramePr>
        <p:xfrm>
          <a:off x="574868" y="3005584"/>
          <a:ext cx="6626031" cy="7200461"/>
        </p:xfrm>
        <a:graphic>
          <a:graphicData uri="http://schemas.openxmlformats.org/drawingml/2006/table">
            <a:tbl>
              <a:tblPr/>
              <a:tblGrid>
                <a:gridCol w="504607">
                  <a:extLst>
                    <a:ext uri="{9D8B030D-6E8A-4147-A177-3AD203B41FA5}">
                      <a16:colId xmlns:a16="http://schemas.microsoft.com/office/drawing/2014/main" val="4129072543"/>
                    </a:ext>
                  </a:extLst>
                </a:gridCol>
                <a:gridCol w="792089">
                  <a:extLst>
                    <a:ext uri="{9D8B030D-6E8A-4147-A177-3AD203B41FA5}">
                      <a16:colId xmlns:a16="http://schemas.microsoft.com/office/drawing/2014/main" val="4227912004"/>
                    </a:ext>
                  </a:extLst>
                </a:gridCol>
                <a:gridCol w="2304255">
                  <a:extLst>
                    <a:ext uri="{9D8B030D-6E8A-4147-A177-3AD203B41FA5}">
                      <a16:colId xmlns:a16="http://schemas.microsoft.com/office/drawing/2014/main" val="960309588"/>
                    </a:ext>
                  </a:extLst>
                </a:gridCol>
                <a:gridCol w="1512540">
                  <a:extLst>
                    <a:ext uri="{9D8B030D-6E8A-4147-A177-3AD203B41FA5}">
                      <a16:colId xmlns:a16="http://schemas.microsoft.com/office/drawing/2014/main" val="1484156488"/>
                    </a:ext>
                  </a:extLst>
                </a:gridCol>
                <a:gridCol w="1512540">
                  <a:extLst>
                    <a:ext uri="{9D8B030D-6E8A-4147-A177-3AD203B41FA5}">
                      <a16:colId xmlns:a16="http://schemas.microsoft.com/office/drawing/2014/main" val="628217393"/>
                    </a:ext>
                  </a:extLst>
                </a:gridCol>
              </a:tblGrid>
              <a:tr h="239358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번호</a:t>
                      </a:r>
                    </a:p>
                  </a:txBody>
                  <a:tcPr marL="28226" marR="28226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6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구분</a:t>
                      </a:r>
                    </a:p>
                  </a:txBody>
                  <a:tcPr marL="28226" marR="28226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6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명칭</a:t>
                      </a:r>
                    </a:p>
                  </a:txBody>
                  <a:tcPr marL="28226" marR="28226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6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위치</a:t>
                      </a:r>
                    </a:p>
                  </a:txBody>
                  <a:tcPr marL="28226" marR="28226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6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비고</a:t>
                      </a:r>
                    </a:p>
                  </a:txBody>
                  <a:tcPr marL="28226" marR="28226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96C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168926"/>
                  </a:ext>
                </a:extLst>
              </a:tr>
              <a:tr h="199684"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16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영내</a:t>
                      </a: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국방전산정보원 별관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장비실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5277859"/>
                  </a:ext>
                </a:extLst>
              </a:tr>
              <a:tr h="204416"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2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3</a:t>
                      </a: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통신단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PX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20421465"/>
                  </a:ext>
                </a:extLst>
              </a:tr>
              <a:tr h="204416"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3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고등군사법원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82776428"/>
                  </a:ext>
                </a:extLst>
              </a:tr>
              <a:tr h="204416"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4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검찰단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98121493"/>
                  </a:ext>
                </a:extLst>
              </a:tr>
              <a:tr h="204416"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5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국방정보체계 </a:t>
                      </a: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관리단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899841"/>
                  </a:ext>
                </a:extLst>
              </a:tr>
              <a:tr h="204416"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6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육군회관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1093542"/>
                  </a:ext>
                </a:extLst>
              </a:tr>
              <a:tr h="215116"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7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정문민원실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4399837"/>
                  </a:ext>
                </a:extLst>
              </a:tr>
              <a:tr h="215116"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8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서문민원실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762545"/>
                  </a:ext>
                </a:extLst>
              </a:tr>
              <a:tr h="215116"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00000"/>
                        </a:lnSpc>
                      </a:pPr>
                      <a:r>
                        <a:rPr kumimoji="1" lang="en-US" altLang="ko-KR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9</a:t>
                      </a: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gradFill>
                          <a:gsLst>
                            <a:gs pos="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10000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스틸하우스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800366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10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배차실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주유소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6994457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11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함참분청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226751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12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조사본부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0605030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13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전쟁기념관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군사편찬연구소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1309432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14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구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사이버병영건물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4417285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15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국방컨벤션센터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근무지원단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7027433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16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의무대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삼각지역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메인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PX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6291225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17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rowSpan="14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영외</a:t>
                      </a: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국회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국회의사당역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여의도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71520662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18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삼청동 의장대대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청와대 인근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삼청동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2432634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19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국방홍보원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기존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방위사업청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숙대입구역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용산고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옆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7413153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20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시설 본부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기존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방위사업청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숙대입구역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용산고</a:t>
                      </a:r>
                      <a:r>
                        <a:rPr kumimoji="0" lang="ko-KR" altLang="en-US" sz="900" b="0" i="0" u="none" strike="noStrike" kern="0" cap="none" spc="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옆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0457565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21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국비통제검찰단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0" cap="none" spc="0" normalizeH="0" baseline="0" noProof="0" dirty="0" err="1">
                          <a:ln>
                            <a:noFill/>
                          </a:ln>
                          <a:gradFill>
                            <a:gsLst>
                              <a:gs pos="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  <a:gs pos="100000">
                                <a:prstClr val="black">
                                  <a:lumMod val="85000"/>
                                  <a:lumOff val="15000"/>
                                </a:prstClr>
                              </a:gs>
                            </a:gsLst>
                            <a:lin ang="5400000" scaled="1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숙대입구역</a:t>
                      </a: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용산고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옆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6910660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22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군악대대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동작동</a:t>
                      </a:r>
                      <a:endParaRPr lang="en-US" altLang="ko-KR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국립서울현충원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603732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23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유해발굴단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동작역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국립서울현충원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29878383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24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주한미군기지 이전사업단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평택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동창리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9541254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25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국무조정실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주한미군기지 이전사업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세종시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정부종합청사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세종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4369058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26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행정안전부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비상대비정책국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세종시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정부종합청사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세종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4007140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27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수원고등검찰청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수원시 법조타운사거리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수원지방검찰청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6278745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28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KOTRA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서울 염곡사거리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대한무역투자진흥공사 본사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11487899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29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DIDC 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용인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용인 국방통합데이터센터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상용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SW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만 지원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4188312"/>
                  </a:ext>
                </a:extLst>
              </a:tr>
              <a:tr h="2425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gradFill>
                            <a:gsLst>
                              <a:gs pos="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  <a:gs pos="100000">
                                <a:schemeClr val="tx1">
                                  <a:lumMod val="75000"/>
                                  <a:lumOff val="2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30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1006846" rtl="0" eaLnBrk="1" fontAlgn="base" latinLnBrk="0" hangingPunct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900" b="0" i="0" u="none" strike="noStrike" kern="0" cap="none" spc="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prstClr val="black">
                                <a:lumMod val="85000"/>
                                <a:lumOff val="15000"/>
                              </a:prstClr>
                            </a:gs>
                            <a:gs pos="100000">
                              <a:prstClr val="black">
                                <a:lumMod val="85000"/>
                                <a:lumOff val="15000"/>
                              </a:prstClr>
                            </a:gs>
                          </a:gsLst>
                          <a:lin ang="5400000" scaled="1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36000" marR="36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DIDC </a:t>
                      </a: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계룡대</a:t>
                      </a:r>
                      <a:endParaRPr lang="ko-KR" altLang="en-US" sz="900" kern="0" spc="0" dirty="0">
                        <a:gradFill>
                          <a:gsLst>
                            <a:gs pos="0">
                              <a:schemeClr val="tx1">
                                <a:lumMod val="85000"/>
                                <a:lumOff val="15000"/>
                              </a:schemeClr>
                            </a:gs>
                            <a:gs pos="100000">
                              <a:schemeClr val="tx1">
                                <a:lumMod val="85000"/>
                                <a:lumOff val="15000"/>
                              </a:schemeClr>
                            </a:gs>
                          </a:gsLst>
                          <a:lin ang="5400000" scaled="1"/>
                        </a:gra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 err="1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계룡대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국방통합데이터센터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1006846" rtl="0" eaLnBrk="1" fontAlgn="base" latinLnBrk="0" hangingPunct="1">
                        <a:lnSpc>
                          <a:spcPct val="110000"/>
                        </a:lnSpc>
                      </a:pP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상용</a:t>
                      </a:r>
                      <a:r>
                        <a:rPr lang="en-US" altLang="ko-KR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SW</a:t>
                      </a:r>
                      <a:r>
                        <a:rPr lang="ko-KR" altLang="en-US" sz="900" kern="0" spc="0" dirty="0">
                          <a:gradFill>
                            <a:gsLst>
                              <a:gs pos="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  <a:gs pos="100000">
                                <a:schemeClr val="tx1">
                                  <a:lumMod val="85000"/>
                                  <a:lumOff val="15000"/>
                                </a:schemeClr>
                              </a:gs>
                            </a:gsLst>
                            <a:lin ang="5400000" scaled="1"/>
                          </a:gra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만 지원</a:t>
                      </a:r>
                    </a:p>
                  </a:txBody>
                  <a:tcPr marL="72000" marR="72000" marT="14063" marB="14063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283777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76E3D690-FD45-D64D-0560-8AA7C3C05B14}"/>
              </a:ext>
            </a:extLst>
          </p:cNvPr>
          <p:cNvSpPr txBox="1"/>
          <p:nvPr/>
        </p:nvSpPr>
        <p:spPr>
          <a:xfrm>
            <a:off x="567949" y="2429520"/>
            <a:ext cx="6632550" cy="575738"/>
          </a:xfrm>
          <a:prstGeom prst="rect">
            <a:avLst/>
          </a:prstGeom>
          <a:solidFill>
            <a:srgbClr val="396CBF"/>
          </a:solidFill>
          <a:ln>
            <a:noFill/>
          </a:ln>
        </p:spPr>
        <p:txBody>
          <a:bodyPr wrap="none" tIns="0" anchor="ctr"/>
          <a:lstStyle>
            <a:defPPr>
              <a:defRPr lang="ko-KR"/>
            </a:defPPr>
            <a:lvl1pPr algn="ctr" latinLnBrk="0">
              <a:defRPr sz="100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</a:defRPr>
            </a:lvl1pPr>
          </a:lstStyle>
          <a:p>
            <a:pPr marL="171450" indent="-171450" algn="l">
              <a:lnSpc>
                <a:spcPct val="150000"/>
              </a:lnSpc>
              <a:spcAft>
                <a:spcPts val="200"/>
              </a:spcAft>
              <a:buFont typeface="Wingdings" panose="05000000000000000000" pitchFamily="2" charset="2"/>
              <a:buChar char="v"/>
            </a:pPr>
            <a:r>
              <a:rPr lang="ko-KR" altLang="en-US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제안 요구사항에 포함되어 있는 네트워크 유지보수용 차량 </a:t>
            </a:r>
            <a:r>
              <a:rPr lang="en-US" altLang="ko-KR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1</a:t>
            </a:r>
            <a:r>
              <a:rPr lang="ko-KR" altLang="en-US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 및 사무용 전산장비 유지보수용 차량 </a:t>
            </a:r>
            <a:r>
              <a:rPr lang="en-US" altLang="ko-KR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2</a:t>
            </a:r>
            <a:r>
              <a:rPr lang="ko-KR" altLang="en-US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대를 통하여 유지보수 </a:t>
            </a:r>
            <a:br>
              <a:rPr lang="en-US" altLang="ko-KR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ko-KR" altLang="en-US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대상 기관에 대한 네트워크 스위치 및 사무용 전산장비 기술 지원을 수행</a:t>
            </a:r>
            <a:endParaRPr lang="en-US" altLang="ko-KR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6861255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DF898-C111-5F1E-2AAA-E4B7F10F10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2D18706D-86B7-BCE7-2AFF-3F5688D8099A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B6FD2-B757-2856-AAEF-3FC87BDB5F8D}"/>
              </a:ext>
            </a:extLst>
          </p:cNvPr>
          <p:cNvSpPr txBox="1"/>
          <p:nvPr/>
        </p:nvSpPr>
        <p:spPr>
          <a:xfrm>
            <a:off x="934361" y="2524932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사업 추진 담당자 직접 대면 인터뷰 및 방문 실사를 통한 고객 </a:t>
            </a:r>
            <a:r>
              <a:rPr kumimoji="1" lang="en-US" altLang="ko-KR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NEEDS </a:t>
            </a: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파악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586AC5A-97EE-4947-C680-F014E1938B3D}"/>
              </a:ext>
            </a:extLst>
          </p:cNvPr>
          <p:cNvSpPr/>
          <p:nvPr/>
        </p:nvSpPr>
        <p:spPr>
          <a:xfrm>
            <a:off x="1381398" y="1696926"/>
            <a:ext cx="5849058" cy="56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>
                <a:srgbClr val="0061EB"/>
              </a:buClr>
              <a:buSzPct val="80000"/>
              <a:buFont typeface="KoPub돋움체 Bold" panose="02020603020101020101" pitchFamily="18" charset="-127"/>
              <a:buChar char="▶"/>
            </a:pP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제안요청서를 기본으로 고객 요구사항을 분석하여 유지보수 수행 방향성을 정립하며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대면 인터뷰를 통한 부문별 담당자 및 실무자의 핵심 요구사항 분석과 해결방안 도출로 고객과의 공감대 형성을 통한 성공적인 사업 수행을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보장합니다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  <a:endParaRPr lang="ko-KR" altLang="en-US" sz="1000" dirty="0">
              <a:ln>
                <a:solidFill>
                  <a:srgbClr val="BFC8D3">
                    <a:alpha val="0"/>
                  </a:srgbClr>
                </a:solidFill>
              </a:ln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B5831428-D0EA-9076-9313-9715319A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28" name="제목 1">
            <a:extLst>
              <a:ext uri="{FF2B5EF4-FFF2-40B4-BE49-F238E27FC236}">
                <a16:creationId xmlns:a16="http://schemas.microsoft.com/office/drawing/2014/main" id="{05DF54FF-DC42-D9B4-3D03-B61DEF4D1D23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0" name="제목 1">
            <a:extLst>
              <a:ext uri="{FF2B5EF4-FFF2-40B4-BE49-F238E27FC236}">
                <a16:creationId xmlns:a16="http://schemas.microsoft.com/office/drawing/2014/main" id="{C1356285-60A4-F4F4-5BE0-5F21146F2B8D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나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분석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&gt;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5)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고객 요구사항 분석</a:t>
            </a:r>
            <a:endParaRPr lang="en-US" altLang="ko-KR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1"/>
              </a:gra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8579EF65-33AA-ED32-1288-1224D7715171}"/>
              </a:ext>
            </a:extLst>
          </p:cNvPr>
          <p:cNvSpPr/>
          <p:nvPr/>
        </p:nvSpPr>
        <p:spPr>
          <a:xfrm flipH="1">
            <a:off x="576295" y="9590682"/>
            <a:ext cx="962977" cy="642147"/>
          </a:xfrm>
          <a:prstGeom prst="rect">
            <a:avLst/>
          </a:prstGeom>
          <a:solidFill>
            <a:srgbClr val="396CBF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endParaRPr lang="ko-KR" altLang="en-US" sz="1000" dirty="0">
              <a:ln>
                <a:solidFill>
                  <a:srgbClr val="0568B0">
                    <a:alpha val="0"/>
                  </a:srgbClr>
                </a:solidFill>
              </a:ln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FEA25E57-C3F9-8ACE-2956-C393503EC088}"/>
              </a:ext>
            </a:extLst>
          </p:cNvPr>
          <p:cNvSpPr/>
          <p:nvPr/>
        </p:nvSpPr>
        <p:spPr>
          <a:xfrm>
            <a:off x="966131" y="9827117"/>
            <a:ext cx="408715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lvl="0" algn="ctr" latinLnBrk="0">
              <a:spcAft>
                <a:spcPts val="200"/>
              </a:spcAft>
            </a:pPr>
            <a:r>
              <a:rPr lang="ko-KR" altLang="en-US" sz="1100" dirty="0">
                <a:ln>
                  <a:solidFill>
                    <a:srgbClr val="0568B0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</a:rPr>
              <a:t>시사점</a:t>
            </a: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9128BAA-4A2F-054F-6C48-E7C230DD8A67}"/>
              </a:ext>
            </a:extLst>
          </p:cNvPr>
          <p:cNvSpPr/>
          <p:nvPr/>
        </p:nvSpPr>
        <p:spPr>
          <a:xfrm>
            <a:off x="1545587" y="9590682"/>
            <a:ext cx="5656932" cy="642147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  <p:txBody>
          <a:bodyPr wrap="square" anchor="ctr"/>
          <a:lstStyle/>
          <a:p>
            <a:pPr algn="ctr" latinLnBrk="0"/>
            <a:endParaRPr lang="ko-KR" altLang="en-US" sz="1000" dirty="0">
              <a:ln>
                <a:solidFill>
                  <a:srgbClr val="0568B0">
                    <a:alpha val="0"/>
                  </a:srgbClr>
                </a:solidFill>
              </a:ln>
              <a:solidFill>
                <a:srgbClr val="292929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20" name="Rectangle 20">
            <a:extLst>
              <a:ext uri="{FF2B5EF4-FFF2-40B4-BE49-F238E27FC236}">
                <a16:creationId xmlns:a16="http://schemas.microsoft.com/office/drawing/2014/main" id="{BF911003-1D9F-043D-C106-690C6CF40C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13074" y="9740130"/>
            <a:ext cx="5547300" cy="3847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marL="128588" lvl="1" indent="-128588" defTabSz="952968" latinLnBrk="0">
              <a:spcBef>
                <a:spcPts val="200"/>
              </a:spcBef>
              <a:spcAft>
                <a:spcPts val="400"/>
              </a:spcAft>
              <a:buClr>
                <a:srgbClr val="1E82AA"/>
              </a:buClr>
              <a:buSzPct val="100000"/>
              <a:buFont typeface="Wingdings" pitchFamily="2" charset="2"/>
              <a:buChar char="ü"/>
              <a:tabLst>
                <a:tab pos="456244" algn="l"/>
                <a:tab pos="912490" algn="l"/>
                <a:tab pos="1371569" algn="l"/>
                <a:tab pos="1827814" algn="l"/>
                <a:tab pos="2284059" algn="l"/>
                <a:tab pos="2741722" algn="l"/>
                <a:tab pos="3197966" algn="l"/>
                <a:tab pos="3655627" algn="l"/>
                <a:tab pos="4113290" algn="l"/>
                <a:tab pos="4569535" algn="l"/>
                <a:tab pos="5027196" algn="l"/>
                <a:tab pos="5941105" algn="l"/>
                <a:tab pos="6398766" algn="l"/>
                <a:tab pos="6855010" algn="l"/>
                <a:tab pos="7311255" algn="l"/>
                <a:tab pos="7768918" algn="l"/>
                <a:tab pos="8226579" algn="l"/>
                <a:tab pos="8682825" algn="l"/>
                <a:tab pos="9140487" algn="l"/>
                <a:tab pos="9596732" algn="l"/>
                <a:tab pos="10054394" algn="l"/>
                <a:tab pos="10512056" algn="l"/>
                <a:tab pos="10968301" algn="l"/>
                <a:tab pos="11425962" algn="l"/>
                <a:tab pos="11882207" algn="l"/>
                <a:tab pos="12338453" algn="l"/>
                <a:tab pos="12797531" algn="l"/>
                <a:tab pos="13253776" algn="l"/>
                <a:tab pos="13710022" algn="l"/>
                <a:tab pos="14167684" algn="l"/>
                <a:tab pos="14623929" algn="l"/>
              </a:tabLst>
              <a:defRPr/>
            </a:pPr>
            <a:r>
              <a:rPr lang="ko-KR" altLang="en-US" sz="1000" dirty="0">
                <a:ln>
                  <a:solidFill>
                    <a:srgbClr val="0568B0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고객의 요구사항을 만족 할 수 있는 방안을 수립하고 세부 실행 과제에 대한 상세 일정 수립이 필요</a:t>
            </a:r>
          </a:p>
          <a:p>
            <a:pPr marL="128588" lvl="1" indent="-128588" defTabSz="952968" latinLnBrk="0">
              <a:spcBef>
                <a:spcPts val="200"/>
              </a:spcBef>
              <a:spcAft>
                <a:spcPts val="400"/>
              </a:spcAft>
              <a:buClr>
                <a:srgbClr val="1E82AA"/>
              </a:buClr>
              <a:buSzPct val="100000"/>
              <a:buFont typeface="Wingdings" pitchFamily="2" charset="2"/>
              <a:buChar char="ü"/>
              <a:tabLst>
                <a:tab pos="456244" algn="l"/>
                <a:tab pos="912490" algn="l"/>
                <a:tab pos="1371569" algn="l"/>
                <a:tab pos="1827814" algn="l"/>
                <a:tab pos="2284059" algn="l"/>
                <a:tab pos="2741722" algn="l"/>
                <a:tab pos="3197966" algn="l"/>
                <a:tab pos="3655627" algn="l"/>
                <a:tab pos="4113290" algn="l"/>
                <a:tab pos="4569535" algn="l"/>
                <a:tab pos="5027196" algn="l"/>
                <a:tab pos="5941105" algn="l"/>
                <a:tab pos="6398766" algn="l"/>
                <a:tab pos="6855010" algn="l"/>
                <a:tab pos="7311255" algn="l"/>
                <a:tab pos="7768918" algn="l"/>
                <a:tab pos="8226579" algn="l"/>
                <a:tab pos="8682825" algn="l"/>
                <a:tab pos="9140487" algn="l"/>
                <a:tab pos="9596732" algn="l"/>
                <a:tab pos="10054394" algn="l"/>
                <a:tab pos="10512056" algn="l"/>
                <a:tab pos="10968301" algn="l"/>
                <a:tab pos="11425962" algn="l"/>
                <a:tab pos="11882207" algn="l"/>
                <a:tab pos="12338453" algn="l"/>
                <a:tab pos="12797531" algn="l"/>
                <a:tab pos="13253776" algn="l"/>
                <a:tab pos="13710022" algn="l"/>
                <a:tab pos="14167684" algn="l"/>
                <a:tab pos="14623929" algn="l"/>
              </a:tabLst>
              <a:defRPr/>
            </a:pPr>
            <a:r>
              <a:rPr lang="ko-KR" altLang="en-US" sz="1000" dirty="0">
                <a:ln>
                  <a:solidFill>
                    <a:srgbClr val="0568B0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고객의 요구사항에 대한 처리결과 및 수행결과를 고객과 상시 공유 할 수 있는 체계 구축이 필요</a:t>
            </a:r>
          </a:p>
        </p:txBody>
      </p:sp>
      <p:sp>
        <p:nvSpPr>
          <p:cNvPr id="21" name="자유형 109">
            <a:extLst>
              <a:ext uri="{FF2B5EF4-FFF2-40B4-BE49-F238E27FC236}">
                <a16:creationId xmlns:a16="http://schemas.microsoft.com/office/drawing/2014/main" id="{22836ADA-71BB-3FDC-D3B1-98F1DB24E4BC}"/>
              </a:ext>
            </a:extLst>
          </p:cNvPr>
          <p:cNvSpPr/>
          <p:nvPr/>
        </p:nvSpPr>
        <p:spPr>
          <a:xfrm>
            <a:off x="596488" y="9642215"/>
            <a:ext cx="179439" cy="34211"/>
          </a:xfrm>
          <a:custGeom>
            <a:avLst/>
            <a:gdLst>
              <a:gd name="connsiteX0" fmla="*/ 0 w 173831"/>
              <a:gd name="connsiteY0" fmla="*/ 45244 h 45244"/>
              <a:gd name="connsiteX1" fmla="*/ 173831 w 173831"/>
              <a:gd name="connsiteY1" fmla="*/ 45244 h 45244"/>
              <a:gd name="connsiteX2" fmla="*/ 128587 w 173831"/>
              <a:gd name="connsiteY2" fmla="*/ 0 h 4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3831" h="45244">
                <a:moveTo>
                  <a:pt x="0" y="45244"/>
                </a:moveTo>
                <a:lnTo>
                  <a:pt x="173831" y="45244"/>
                </a:lnTo>
                <a:lnTo>
                  <a:pt x="128587" y="0"/>
                </a:lnTo>
              </a:path>
            </a:pathLst>
          </a:cu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 latinLnBrk="0"/>
            <a:endParaRPr lang="ko-KR" altLang="en-US" dirty="0">
              <a:ln>
                <a:solidFill>
                  <a:srgbClr val="0568B0">
                    <a:alpha val="0"/>
                  </a:srgbClr>
                </a:solidFill>
              </a:ln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23" name="Picture 2" descr="분석 - 무료 현서와 웹개 아이콘">
            <a:extLst>
              <a:ext uri="{FF2B5EF4-FFF2-40B4-BE49-F238E27FC236}">
                <a16:creationId xmlns:a16="http://schemas.microsoft.com/office/drawing/2014/main" id="{1E6798A7-9F9D-1A28-A163-EC1584040E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2135" y="9826330"/>
            <a:ext cx="233373" cy="223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B4B458F4-1F82-EA8A-A07E-C132B3772C3E}"/>
              </a:ext>
            </a:extLst>
          </p:cNvPr>
          <p:cNvCxnSpPr/>
          <p:nvPr/>
        </p:nvCxnSpPr>
        <p:spPr>
          <a:xfrm>
            <a:off x="576295" y="10232829"/>
            <a:ext cx="6626222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사각형: 둥근 한쪽 모서리 209">
            <a:extLst>
              <a:ext uri="{FF2B5EF4-FFF2-40B4-BE49-F238E27FC236}">
                <a16:creationId xmlns:a16="http://schemas.microsoft.com/office/drawing/2014/main" id="{622C7A04-450F-1DCD-0286-DC0559DB9E9C}"/>
              </a:ext>
            </a:extLst>
          </p:cNvPr>
          <p:cNvSpPr/>
          <p:nvPr/>
        </p:nvSpPr>
        <p:spPr>
          <a:xfrm>
            <a:off x="2349331" y="3477844"/>
            <a:ext cx="4867326" cy="5936451"/>
          </a:xfrm>
          <a:prstGeom prst="round1Rect">
            <a:avLst>
              <a:gd name="adj" fmla="val 2164"/>
            </a:avLst>
          </a:prstGeom>
          <a:solidFill>
            <a:srgbClr val="51565D">
              <a:lumMod val="20000"/>
              <a:lumOff val="80000"/>
              <a:alpha val="5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40" normalizeH="0" baseline="0" noProof="0" dirty="0">
              <a:ln>
                <a:solidFill>
                  <a:srgbClr val="126AD4">
                    <a:alpha val="0"/>
                  </a:srgbClr>
                </a:solidFill>
              </a:ln>
              <a:solidFill>
                <a:prstClr val="white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sp>
        <p:nvSpPr>
          <p:cNvPr id="211" name="자유형: 도형 210">
            <a:extLst>
              <a:ext uri="{FF2B5EF4-FFF2-40B4-BE49-F238E27FC236}">
                <a16:creationId xmlns:a16="http://schemas.microsoft.com/office/drawing/2014/main" id="{70D9A032-334B-9F80-CA07-1E73375240BA}"/>
              </a:ext>
            </a:extLst>
          </p:cNvPr>
          <p:cNvSpPr/>
          <p:nvPr/>
        </p:nvSpPr>
        <p:spPr>
          <a:xfrm>
            <a:off x="935459" y="2927662"/>
            <a:ext cx="6247821" cy="6486634"/>
          </a:xfrm>
          <a:custGeom>
            <a:avLst/>
            <a:gdLst>
              <a:gd name="connsiteX0" fmla="*/ 0 w 5905500"/>
              <a:gd name="connsiteY0" fmla="*/ 0 h 5562600"/>
              <a:gd name="connsiteX1" fmla="*/ 1323975 w 5905500"/>
              <a:gd name="connsiteY1" fmla="*/ 0 h 5562600"/>
              <a:gd name="connsiteX2" fmla="*/ 1323975 w 5905500"/>
              <a:gd name="connsiteY2" fmla="*/ 5562600 h 5562600"/>
              <a:gd name="connsiteX3" fmla="*/ 5905500 w 5905500"/>
              <a:gd name="connsiteY3" fmla="*/ 5562600 h 5562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05500" h="5562600">
                <a:moveTo>
                  <a:pt x="0" y="0"/>
                </a:moveTo>
                <a:lnTo>
                  <a:pt x="1323975" y="0"/>
                </a:lnTo>
                <a:lnTo>
                  <a:pt x="1323975" y="5562600"/>
                </a:lnTo>
                <a:lnTo>
                  <a:pt x="5905500" y="5562600"/>
                </a:lnTo>
              </a:path>
            </a:pathLst>
          </a:custGeom>
          <a:noFill/>
          <a:ln w="6350" cap="flat" cmpd="sng" algn="ctr">
            <a:solidFill>
              <a:srgbClr val="51565D">
                <a:lumMod val="40000"/>
                <a:lumOff val="60000"/>
                <a:alpha val="70000"/>
              </a:srgbClr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-40" normalizeH="0" baseline="0" noProof="0" dirty="0">
              <a:ln>
                <a:solidFill>
                  <a:srgbClr val="126AD4"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KoPub돋움체 Medium"/>
              <a:ea typeface="KoPub돋움체 Medium"/>
              <a:cs typeface="+mn-cs"/>
            </a:endParaRPr>
          </a:p>
        </p:txBody>
      </p:sp>
      <p:grpSp>
        <p:nvGrpSpPr>
          <p:cNvPr id="404" name="그룹 403">
            <a:extLst>
              <a:ext uri="{FF2B5EF4-FFF2-40B4-BE49-F238E27FC236}">
                <a16:creationId xmlns:a16="http://schemas.microsoft.com/office/drawing/2014/main" id="{AB893A0A-0512-B4E5-4241-79CC2436E590}"/>
              </a:ext>
            </a:extLst>
          </p:cNvPr>
          <p:cNvGrpSpPr/>
          <p:nvPr/>
        </p:nvGrpSpPr>
        <p:grpSpPr>
          <a:xfrm>
            <a:off x="765675" y="3109368"/>
            <a:ext cx="1393920" cy="1861435"/>
            <a:chOff x="765675" y="3109368"/>
            <a:chExt cx="1393920" cy="1861435"/>
          </a:xfrm>
        </p:grpSpPr>
        <p:sp>
          <p:nvSpPr>
            <p:cNvPr id="212" name="사각형: 둥근 모서리 211">
              <a:extLst>
                <a:ext uri="{FF2B5EF4-FFF2-40B4-BE49-F238E27FC236}">
                  <a16:creationId xmlns:a16="http://schemas.microsoft.com/office/drawing/2014/main" id="{2655650A-8306-C222-9951-048FD34B6EA4}"/>
                </a:ext>
              </a:extLst>
            </p:cNvPr>
            <p:cNvSpPr/>
            <p:nvPr/>
          </p:nvSpPr>
          <p:spPr>
            <a:xfrm>
              <a:off x="765675" y="3758878"/>
              <a:ext cx="1393920" cy="283140"/>
            </a:xfrm>
            <a:prstGeom prst="roundRect">
              <a:avLst>
                <a:gd name="adj" fmla="val 50000"/>
              </a:avLst>
            </a:prstGeom>
            <a:solidFill>
              <a:srgbClr val="51565D">
                <a:lumMod val="20000"/>
                <a:lumOff val="80000"/>
              </a:srgbClr>
            </a:solidFill>
          </p:spPr>
          <p:txBody>
            <a:bodyPr wrap="square" anchor="ctr">
              <a:noAutofit/>
            </a:bodyPr>
            <a:lstStyle/>
            <a:p>
              <a:pPr marL="0" marR="0" lvl="0" indent="-180975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-40" normalizeH="0" baseline="0" noProof="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대 상</a:t>
              </a:r>
            </a:p>
          </p:txBody>
        </p:sp>
        <p:grpSp>
          <p:nvGrpSpPr>
            <p:cNvPr id="213" name="그룹 212">
              <a:extLst>
                <a:ext uri="{FF2B5EF4-FFF2-40B4-BE49-F238E27FC236}">
                  <a16:creationId xmlns:a16="http://schemas.microsoft.com/office/drawing/2014/main" id="{D9A383A8-503F-D599-B593-CA30071DAF29}"/>
                </a:ext>
              </a:extLst>
            </p:cNvPr>
            <p:cNvGrpSpPr/>
            <p:nvPr/>
          </p:nvGrpSpPr>
          <p:grpSpPr>
            <a:xfrm>
              <a:off x="1175048" y="3109368"/>
              <a:ext cx="575175" cy="555636"/>
              <a:chOff x="1393031" y="2100022"/>
              <a:chExt cx="1004782" cy="970648"/>
            </a:xfrm>
          </p:grpSpPr>
          <p:sp>
            <p:nvSpPr>
              <p:cNvPr id="214" name="자유형: 도형 213">
                <a:extLst>
                  <a:ext uri="{FF2B5EF4-FFF2-40B4-BE49-F238E27FC236}">
                    <a16:creationId xmlns:a16="http://schemas.microsoft.com/office/drawing/2014/main" id="{FAE7DC9B-19CE-4752-89D6-5404826F63F8}"/>
                  </a:ext>
                </a:extLst>
              </p:cNvPr>
              <p:cNvSpPr/>
              <p:nvPr/>
            </p:nvSpPr>
            <p:spPr>
              <a:xfrm>
                <a:off x="1436180" y="2131505"/>
                <a:ext cx="914400" cy="914400"/>
              </a:xfrm>
              <a:custGeom>
                <a:avLst/>
                <a:gdLst>
                  <a:gd name="connsiteX0" fmla="*/ 908780 w 914400"/>
                  <a:gd name="connsiteY0" fmla="*/ 457962 h 914400"/>
                  <a:gd name="connsiteX1" fmla="*/ 457962 w 914400"/>
                  <a:gd name="connsiteY1" fmla="*/ 908780 h 914400"/>
                  <a:gd name="connsiteX2" fmla="*/ 7144 w 914400"/>
                  <a:gd name="connsiteY2" fmla="*/ 457962 h 914400"/>
                  <a:gd name="connsiteX3" fmla="*/ 457962 w 914400"/>
                  <a:gd name="connsiteY3" fmla="*/ 7144 h 914400"/>
                  <a:gd name="connsiteX4" fmla="*/ 908780 w 914400"/>
                  <a:gd name="connsiteY4" fmla="*/ 457962 h 914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14400" h="914400">
                    <a:moveTo>
                      <a:pt x="908780" y="457962"/>
                    </a:moveTo>
                    <a:cubicBezTo>
                      <a:pt x="908780" y="706942"/>
                      <a:pt x="706942" y="908780"/>
                      <a:pt x="457962" y="908780"/>
                    </a:cubicBezTo>
                    <a:cubicBezTo>
                      <a:pt x="208982" y="908780"/>
                      <a:pt x="7144" y="706942"/>
                      <a:pt x="7144" y="457962"/>
                    </a:cubicBezTo>
                    <a:cubicBezTo>
                      <a:pt x="7144" y="208982"/>
                      <a:pt x="208982" y="7144"/>
                      <a:pt x="457962" y="7144"/>
                    </a:cubicBezTo>
                    <a:cubicBezTo>
                      <a:pt x="706942" y="7144"/>
                      <a:pt x="908780" y="208982"/>
                      <a:pt x="908780" y="457962"/>
                    </a:cubicBezTo>
                    <a:close/>
                  </a:path>
                </a:pathLst>
              </a:custGeom>
              <a:solidFill>
                <a:srgbClr val="51565D">
                  <a:lumMod val="20000"/>
                  <a:lumOff val="8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15" name="자유형: 도형 214">
                <a:extLst>
                  <a:ext uri="{FF2B5EF4-FFF2-40B4-BE49-F238E27FC236}">
                    <a16:creationId xmlns:a16="http://schemas.microsoft.com/office/drawing/2014/main" id="{2E0D41CB-402B-88EA-3144-DA2F1ACDA51E}"/>
                  </a:ext>
                </a:extLst>
              </p:cNvPr>
              <p:cNvSpPr/>
              <p:nvPr/>
            </p:nvSpPr>
            <p:spPr>
              <a:xfrm>
                <a:off x="1616488" y="2188083"/>
                <a:ext cx="704850" cy="600075"/>
              </a:xfrm>
              <a:custGeom>
                <a:avLst/>
                <a:gdLst>
                  <a:gd name="connsiteX0" fmla="*/ 7144 w 704850"/>
                  <a:gd name="connsiteY0" fmla="*/ 7144 h 600075"/>
                  <a:gd name="connsiteX1" fmla="*/ 698087 w 704850"/>
                  <a:gd name="connsiteY1" fmla="*/ 7144 h 600075"/>
                  <a:gd name="connsiteX2" fmla="*/ 698087 w 704850"/>
                  <a:gd name="connsiteY2" fmla="*/ 601504 h 600075"/>
                  <a:gd name="connsiteX3" fmla="*/ 7144 w 704850"/>
                  <a:gd name="connsiteY3" fmla="*/ 601504 h 6000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704850" h="600075">
                    <a:moveTo>
                      <a:pt x="7144" y="7144"/>
                    </a:moveTo>
                    <a:lnTo>
                      <a:pt x="698087" y="7144"/>
                    </a:lnTo>
                    <a:lnTo>
                      <a:pt x="698087" y="601504"/>
                    </a:lnTo>
                    <a:lnTo>
                      <a:pt x="7144" y="60150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16" name="자유형: 도형 215">
                <a:extLst>
                  <a:ext uri="{FF2B5EF4-FFF2-40B4-BE49-F238E27FC236}">
                    <a16:creationId xmlns:a16="http://schemas.microsoft.com/office/drawing/2014/main" id="{FE90DCC8-C719-764C-5DD5-03BBC6D4D1A5}"/>
                  </a:ext>
                </a:extLst>
              </p:cNvPr>
              <p:cNvSpPr/>
              <p:nvPr/>
            </p:nvSpPr>
            <p:spPr>
              <a:xfrm>
                <a:off x="1595342" y="2166747"/>
                <a:ext cx="742950" cy="647700"/>
              </a:xfrm>
              <a:custGeom>
                <a:avLst/>
                <a:gdLst>
                  <a:gd name="connsiteX0" fmla="*/ 719328 w 742950"/>
                  <a:gd name="connsiteY0" fmla="*/ 644271 h 647700"/>
                  <a:gd name="connsiteX1" fmla="*/ 28575 w 742950"/>
                  <a:gd name="connsiteY1" fmla="*/ 644271 h 647700"/>
                  <a:gd name="connsiteX2" fmla="*/ 7144 w 742950"/>
                  <a:gd name="connsiteY2" fmla="*/ 622840 h 647700"/>
                  <a:gd name="connsiteX3" fmla="*/ 7144 w 742950"/>
                  <a:gd name="connsiteY3" fmla="*/ 28575 h 647700"/>
                  <a:gd name="connsiteX4" fmla="*/ 28575 w 742950"/>
                  <a:gd name="connsiteY4" fmla="*/ 7144 h 647700"/>
                  <a:gd name="connsiteX5" fmla="*/ 719518 w 742950"/>
                  <a:gd name="connsiteY5" fmla="*/ 7144 h 647700"/>
                  <a:gd name="connsiteX6" fmla="*/ 740950 w 742950"/>
                  <a:gd name="connsiteY6" fmla="*/ 28575 h 647700"/>
                  <a:gd name="connsiteX7" fmla="*/ 740950 w 742950"/>
                  <a:gd name="connsiteY7" fmla="*/ 622745 h 647700"/>
                  <a:gd name="connsiteX8" fmla="*/ 719614 w 742950"/>
                  <a:gd name="connsiteY8" fmla="*/ 644271 h 647700"/>
                  <a:gd name="connsiteX9" fmla="*/ 719328 w 742950"/>
                  <a:gd name="connsiteY9" fmla="*/ 644271 h 647700"/>
                  <a:gd name="connsiteX10" fmla="*/ 49816 w 742950"/>
                  <a:gd name="connsiteY10" fmla="*/ 601409 h 647700"/>
                  <a:gd name="connsiteX11" fmla="*/ 697516 w 742950"/>
                  <a:gd name="connsiteY11" fmla="*/ 601409 h 647700"/>
                  <a:gd name="connsiteX12" fmla="*/ 697516 w 742950"/>
                  <a:gd name="connsiteY12" fmla="*/ 50006 h 647700"/>
                  <a:gd name="connsiteX13" fmla="*/ 49816 w 742950"/>
                  <a:gd name="connsiteY13" fmla="*/ 50006 h 64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742950" h="647700">
                    <a:moveTo>
                      <a:pt x="719328" y="644271"/>
                    </a:moveTo>
                    <a:lnTo>
                      <a:pt x="28575" y="644271"/>
                    </a:lnTo>
                    <a:cubicBezTo>
                      <a:pt x="16735" y="644271"/>
                      <a:pt x="7144" y="634679"/>
                      <a:pt x="7144" y="622840"/>
                    </a:cubicBezTo>
                    <a:lnTo>
                      <a:pt x="7144" y="28575"/>
                    </a:lnTo>
                    <a:cubicBezTo>
                      <a:pt x="7144" y="16736"/>
                      <a:pt x="16735" y="7144"/>
                      <a:pt x="28575" y="7144"/>
                    </a:cubicBezTo>
                    <a:lnTo>
                      <a:pt x="719518" y="7144"/>
                    </a:lnTo>
                    <a:cubicBezTo>
                      <a:pt x="731358" y="7144"/>
                      <a:pt x="740950" y="16736"/>
                      <a:pt x="740950" y="28575"/>
                    </a:cubicBezTo>
                    <a:lnTo>
                      <a:pt x="740950" y="622745"/>
                    </a:lnTo>
                    <a:cubicBezTo>
                      <a:pt x="741007" y="634584"/>
                      <a:pt x="731453" y="644223"/>
                      <a:pt x="719614" y="644271"/>
                    </a:cubicBezTo>
                    <a:cubicBezTo>
                      <a:pt x="719518" y="644271"/>
                      <a:pt x="719423" y="644271"/>
                      <a:pt x="719328" y="644271"/>
                    </a:cubicBezTo>
                    <a:close/>
                    <a:moveTo>
                      <a:pt x="49816" y="601409"/>
                    </a:moveTo>
                    <a:lnTo>
                      <a:pt x="697516" y="601409"/>
                    </a:lnTo>
                    <a:lnTo>
                      <a:pt x="697516" y="50006"/>
                    </a:lnTo>
                    <a:lnTo>
                      <a:pt x="49816" y="50006"/>
                    </a:ln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17" name="자유형: 도형 216">
                <a:extLst>
                  <a:ext uri="{FF2B5EF4-FFF2-40B4-BE49-F238E27FC236}">
                    <a16:creationId xmlns:a16="http://schemas.microsoft.com/office/drawing/2014/main" id="{42BEF6CE-6062-5D4C-5930-FCB0B17E3224}"/>
                  </a:ext>
                </a:extLst>
              </p:cNvPr>
              <p:cNvSpPr/>
              <p:nvPr/>
            </p:nvSpPr>
            <p:spPr>
              <a:xfrm>
                <a:off x="1564576" y="2121313"/>
                <a:ext cx="800100" cy="104775"/>
              </a:xfrm>
              <a:custGeom>
                <a:avLst/>
                <a:gdLst>
                  <a:gd name="connsiteX0" fmla="*/ 802291 w 800100"/>
                  <a:gd name="connsiteY0" fmla="*/ 55340 h 104775"/>
                  <a:gd name="connsiteX1" fmla="*/ 753999 w 800100"/>
                  <a:gd name="connsiteY1" fmla="*/ 103632 h 104775"/>
                  <a:gd name="connsiteX2" fmla="*/ 55435 w 800100"/>
                  <a:gd name="connsiteY2" fmla="*/ 103632 h 104775"/>
                  <a:gd name="connsiteX3" fmla="*/ 7144 w 800100"/>
                  <a:gd name="connsiteY3" fmla="*/ 55340 h 104775"/>
                  <a:gd name="connsiteX4" fmla="*/ 7144 w 800100"/>
                  <a:gd name="connsiteY4" fmla="*/ 55340 h 104775"/>
                  <a:gd name="connsiteX5" fmla="*/ 55435 w 800100"/>
                  <a:gd name="connsiteY5" fmla="*/ 7144 h 104775"/>
                  <a:gd name="connsiteX6" fmla="*/ 753809 w 800100"/>
                  <a:gd name="connsiteY6" fmla="*/ 7144 h 104775"/>
                  <a:gd name="connsiteX7" fmla="*/ 802100 w 800100"/>
                  <a:gd name="connsiteY7" fmla="*/ 55340 h 104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00100" h="104775">
                    <a:moveTo>
                      <a:pt x="802291" y="55340"/>
                    </a:moveTo>
                    <a:cubicBezTo>
                      <a:pt x="802291" y="82011"/>
                      <a:pt x="780669" y="103632"/>
                      <a:pt x="753999" y="103632"/>
                    </a:cubicBezTo>
                    <a:lnTo>
                      <a:pt x="55435" y="103632"/>
                    </a:lnTo>
                    <a:cubicBezTo>
                      <a:pt x="28766" y="103632"/>
                      <a:pt x="7144" y="82011"/>
                      <a:pt x="7144" y="55340"/>
                    </a:cubicBezTo>
                    <a:lnTo>
                      <a:pt x="7144" y="55340"/>
                    </a:lnTo>
                    <a:cubicBezTo>
                      <a:pt x="7201" y="28709"/>
                      <a:pt x="28804" y="7144"/>
                      <a:pt x="55435" y="7144"/>
                    </a:cubicBezTo>
                    <a:lnTo>
                      <a:pt x="753809" y="7144"/>
                    </a:lnTo>
                    <a:cubicBezTo>
                      <a:pt x="780440" y="7144"/>
                      <a:pt x="802043" y="28709"/>
                      <a:pt x="802100" y="55340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18" name="자유형: 도형 217">
                <a:extLst>
                  <a:ext uri="{FF2B5EF4-FFF2-40B4-BE49-F238E27FC236}">
                    <a16:creationId xmlns:a16="http://schemas.microsoft.com/office/drawing/2014/main" id="{5C042AC2-7DC9-51B3-3BB8-E3E0245C7E3D}"/>
                  </a:ext>
                </a:extLst>
              </p:cNvPr>
              <p:cNvSpPr/>
              <p:nvPr/>
            </p:nvSpPr>
            <p:spPr>
              <a:xfrm>
                <a:off x="1540563" y="2100022"/>
                <a:ext cx="857250" cy="152400"/>
              </a:xfrm>
              <a:custGeom>
                <a:avLst/>
                <a:gdLst>
                  <a:gd name="connsiteX0" fmla="*/ 777822 w 857250"/>
                  <a:gd name="connsiteY0" fmla="*/ 146545 h 152400"/>
                  <a:gd name="connsiteX1" fmla="*/ 79449 w 857250"/>
                  <a:gd name="connsiteY1" fmla="*/ 146545 h 152400"/>
                  <a:gd name="connsiteX2" fmla="*/ 7192 w 857250"/>
                  <a:gd name="connsiteY2" fmla="*/ 79451 h 152400"/>
                  <a:gd name="connsiteX3" fmla="*/ 74296 w 857250"/>
                  <a:gd name="connsiteY3" fmla="*/ 7194 h 152400"/>
                  <a:gd name="connsiteX4" fmla="*/ 79449 w 857250"/>
                  <a:gd name="connsiteY4" fmla="*/ 7194 h 152400"/>
                  <a:gd name="connsiteX5" fmla="*/ 777822 w 857250"/>
                  <a:gd name="connsiteY5" fmla="*/ 7194 h 152400"/>
                  <a:gd name="connsiteX6" fmla="*/ 850078 w 857250"/>
                  <a:gd name="connsiteY6" fmla="*/ 74288 h 152400"/>
                  <a:gd name="connsiteX7" fmla="*/ 782975 w 857250"/>
                  <a:gd name="connsiteY7" fmla="*/ 146545 h 152400"/>
                  <a:gd name="connsiteX8" fmla="*/ 777822 w 857250"/>
                  <a:gd name="connsiteY8" fmla="*/ 146545 h 152400"/>
                  <a:gd name="connsiteX9" fmla="*/ 79449 w 857250"/>
                  <a:gd name="connsiteY9" fmla="*/ 50056 h 152400"/>
                  <a:gd name="connsiteX10" fmla="*/ 51036 w 857250"/>
                  <a:gd name="connsiteY10" fmla="*/ 75269 h 152400"/>
                  <a:gd name="connsiteX11" fmla="*/ 76248 w 857250"/>
                  <a:gd name="connsiteY11" fmla="*/ 103682 h 152400"/>
                  <a:gd name="connsiteX12" fmla="*/ 79449 w 857250"/>
                  <a:gd name="connsiteY12" fmla="*/ 103682 h 152400"/>
                  <a:gd name="connsiteX13" fmla="*/ 777822 w 857250"/>
                  <a:gd name="connsiteY13" fmla="*/ 103682 h 152400"/>
                  <a:gd name="connsiteX14" fmla="*/ 806235 w 857250"/>
                  <a:gd name="connsiteY14" fmla="*/ 78470 h 152400"/>
                  <a:gd name="connsiteX15" fmla="*/ 781022 w 857250"/>
                  <a:gd name="connsiteY15" fmla="*/ 50056 h 152400"/>
                  <a:gd name="connsiteX16" fmla="*/ 777822 w 857250"/>
                  <a:gd name="connsiteY16" fmla="*/ 50056 h 1524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</a:cxnLst>
                <a:rect l="l" t="t" r="r" b="b"/>
                <a:pathLst>
                  <a:path w="857250" h="152400">
                    <a:moveTo>
                      <a:pt x="777822" y="146545"/>
                    </a:moveTo>
                    <a:lnTo>
                      <a:pt x="79449" y="146545"/>
                    </a:lnTo>
                    <a:cubicBezTo>
                      <a:pt x="40968" y="147964"/>
                      <a:pt x="8621" y="117922"/>
                      <a:pt x="7192" y="79451"/>
                    </a:cubicBezTo>
                    <a:cubicBezTo>
                      <a:pt x="5773" y="40970"/>
                      <a:pt x="35815" y="8613"/>
                      <a:pt x="74296" y="7194"/>
                    </a:cubicBezTo>
                    <a:cubicBezTo>
                      <a:pt x="76010" y="7127"/>
                      <a:pt x="77734" y="7127"/>
                      <a:pt x="79449" y="7194"/>
                    </a:cubicBezTo>
                    <a:lnTo>
                      <a:pt x="777822" y="7194"/>
                    </a:lnTo>
                    <a:cubicBezTo>
                      <a:pt x="816303" y="5775"/>
                      <a:pt x="848650" y="35817"/>
                      <a:pt x="850078" y="74288"/>
                    </a:cubicBezTo>
                    <a:cubicBezTo>
                      <a:pt x="851498" y="112769"/>
                      <a:pt x="821456" y="145126"/>
                      <a:pt x="782975" y="146545"/>
                    </a:cubicBezTo>
                    <a:cubicBezTo>
                      <a:pt x="781260" y="146612"/>
                      <a:pt x="779536" y="146612"/>
                      <a:pt x="777822" y="146545"/>
                    </a:cubicBezTo>
                    <a:close/>
                    <a:moveTo>
                      <a:pt x="79449" y="50056"/>
                    </a:moveTo>
                    <a:cubicBezTo>
                      <a:pt x="64637" y="49170"/>
                      <a:pt x="51921" y="60458"/>
                      <a:pt x="51036" y="75269"/>
                    </a:cubicBezTo>
                    <a:cubicBezTo>
                      <a:pt x="50150" y="90081"/>
                      <a:pt x="61446" y="102796"/>
                      <a:pt x="76248" y="103682"/>
                    </a:cubicBezTo>
                    <a:cubicBezTo>
                      <a:pt x="77315" y="103749"/>
                      <a:pt x="78382" y="103749"/>
                      <a:pt x="79449" y="103682"/>
                    </a:cubicBezTo>
                    <a:lnTo>
                      <a:pt x="777822" y="103682"/>
                    </a:lnTo>
                    <a:cubicBezTo>
                      <a:pt x="792633" y="104568"/>
                      <a:pt x="805349" y="93281"/>
                      <a:pt x="806235" y="78470"/>
                    </a:cubicBezTo>
                    <a:cubicBezTo>
                      <a:pt x="807121" y="63658"/>
                      <a:pt x="795824" y="50942"/>
                      <a:pt x="781022" y="50056"/>
                    </a:cubicBezTo>
                    <a:cubicBezTo>
                      <a:pt x="779955" y="49990"/>
                      <a:pt x="778889" y="49990"/>
                      <a:pt x="777822" y="50056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19" name="자유형: 도형 218">
                <a:extLst>
                  <a:ext uri="{FF2B5EF4-FFF2-40B4-BE49-F238E27FC236}">
                    <a16:creationId xmlns:a16="http://schemas.microsoft.com/office/drawing/2014/main" id="{84DC17E3-DF40-4383-6BD0-6BDFEC9CF0E9}"/>
                  </a:ext>
                </a:extLst>
              </p:cNvPr>
              <p:cNvSpPr/>
              <p:nvPr/>
            </p:nvSpPr>
            <p:spPr>
              <a:xfrm>
                <a:off x="1763840" y="2574417"/>
                <a:ext cx="95250" cy="114300"/>
              </a:xfrm>
              <a:custGeom>
                <a:avLst/>
                <a:gdLst>
                  <a:gd name="connsiteX0" fmla="*/ 7144 w 95250"/>
                  <a:gd name="connsiteY0" fmla="*/ 7144 h 114300"/>
                  <a:gd name="connsiteX1" fmla="*/ 96298 w 95250"/>
                  <a:gd name="connsiteY1" fmla="*/ 7144 h 114300"/>
                  <a:gd name="connsiteX2" fmla="*/ 96298 w 95250"/>
                  <a:gd name="connsiteY2" fmla="*/ 111157 h 114300"/>
                  <a:gd name="connsiteX3" fmla="*/ 7144 w 95250"/>
                  <a:gd name="connsiteY3" fmla="*/ 111157 h 1143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0" h="114300">
                    <a:moveTo>
                      <a:pt x="7144" y="7144"/>
                    </a:moveTo>
                    <a:lnTo>
                      <a:pt x="96298" y="7144"/>
                    </a:lnTo>
                    <a:lnTo>
                      <a:pt x="96298" y="111157"/>
                    </a:lnTo>
                    <a:lnTo>
                      <a:pt x="7144" y="111157"/>
                    </a:lnTo>
                    <a:close/>
                  </a:path>
                </a:pathLst>
              </a:custGeom>
              <a:solidFill>
                <a:srgbClr val="2D58B9">
                  <a:lumMod val="40000"/>
                  <a:lumOff val="6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20" name="자유형: 도형 219">
                <a:extLst>
                  <a:ext uri="{FF2B5EF4-FFF2-40B4-BE49-F238E27FC236}">
                    <a16:creationId xmlns:a16="http://schemas.microsoft.com/office/drawing/2014/main" id="{CF223BA7-2CAC-60F1-7F2A-814323E5F932}"/>
                  </a:ext>
                </a:extLst>
              </p:cNvPr>
              <p:cNvSpPr/>
              <p:nvPr/>
            </p:nvSpPr>
            <p:spPr>
              <a:xfrm>
                <a:off x="1917383" y="2480310"/>
                <a:ext cx="95250" cy="209550"/>
              </a:xfrm>
              <a:custGeom>
                <a:avLst/>
                <a:gdLst>
                  <a:gd name="connsiteX0" fmla="*/ 7144 w 95250"/>
                  <a:gd name="connsiteY0" fmla="*/ 7144 h 209550"/>
                  <a:gd name="connsiteX1" fmla="*/ 96298 w 95250"/>
                  <a:gd name="connsiteY1" fmla="*/ 7144 h 209550"/>
                  <a:gd name="connsiteX2" fmla="*/ 96298 w 95250"/>
                  <a:gd name="connsiteY2" fmla="*/ 205264 h 209550"/>
                  <a:gd name="connsiteX3" fmla="*/ 7144 w 95250"/>
                  <a:gd name="connsiteY3" fmla="*/ 205264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0" h="209550">
                    <a:moveTo>
                      <a:pt x="7144" y="7144"/>
                    </a:moveTo>
                    <a:lnTo>
                      <a:pt x="96298" y="7144"/>
                    </a:lnTo>
                    <a:lnTo>
                      <a:pt x="96298" y="205264"/>
                    </a:lnTo>
                    <a:lnTo>
                      <a:pt x="7144" y="205264"/>
                    </a:lnTo>
                    <a:close/>
                  </a:path>
                </a:pathLst>
              </a:custGeom>
              <a:solidFill>
                <a:srgbClr val="2D58B9">
                  <a:lumMod val="40000"/>
                  <a:lumOff val="6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21" name="자유형: 도형 220">
                <a:extLst>
                  <a:ext uri="{FF2B5EF4-FFF2-40B4-BE49-F238E27FC236}">
                    <a16:creationId xmlns:a16="http://schemas.microsoft.com/office/drawing/2014/main" id="{C503A8C9-62F5-FBF1-CAF8-D5EF16B4E57E}"/>
                  </a:ext>
                </a:extLst>
              </p:cNvPr>
              <p:cNvSpPr/>
              <p:nvPr/>
            </p:nvSpPr>
            <p:spPr>
              <a:xfrm>
                <a:off x="2070926" y="2311908"/>
                <a:ext cx="95250" cy="371475"/>
              </a:xfrm>
              <a:custGeom>
                <a:avLst/>
                <a:gdLst>
                  <a:gd name="connsiteX0" fmla="*/ 7144 w 95250"/>
                  <a:gd name="connsiteY0" fmla="*/ 7144 h 371475"/>
                  <a:gd name="connsiteX1" fmla="*/ 96298 w 95250"/>
                  <a:gd name="connsiteY1" fmla="*/ 7144 h 371475"/>
                  <a:gd name="connsiteX2" fmla="*/ 96298 w 95250"/>
                  <a:gd name="connsiteY2" fmla="*/ 373666 h 371475"/>
                  <a:gd name="connsiteX3" fmla="*/ 7144 w 95250"/>
                  <a:gd name="connsiteY3" fmla="*/ 373666 h 3714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0" h="371475">
                    <a:moveTo>
                      <a:pt x="7144" y="7144"/>
                    </a:moveTo>
                    <a:lnTo>
                      <a:pt x="96298" y="7144"/>
                    </a:lnTo>
                    <a:lnTo>
                      <a:pt x="96298" y="373666"/>
                    </a:lnTo>
                    <a:lnTo>
                      <a:pt x="7144" y="373666"/>
                    </a:lnTo>
                    <a:close/>
                  </a:path>
                </a:pathLst>
              </a:custGeom>
              <a:solidFill>
                <a:srgbClr val="2D58B9">
                  <a:lumMod val="40000"/>
                  <a:lumOff val="6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22" name="자유형: 도형 221">
                <a:extLst>
                  <a:ext uri="{FF2B5EF4-FFF2-40B4-BE49-F238E27FC236}">
                    <a16:creationId xmlns:a16="http://schemas.microsoft.com/office/drawing/2014/main" id="{FD0FC227-A4A8-EC9B-9318-9DC6C91E5704}"/>
                  </a:ext>
                </a:extLst>
              </p:cNvPr>
              <p:cNvSpPr/>
              <p:nvPr/>
            </p:nvSpPr>
            <p:spPr>
              <a:xfrm>
                <a:off x="1711833" y="2678430"/>
                <a:ext cx="514350" cy="9525"/>
              </a:xfrm>
              <a:custGeom>
                <a:avLst/>
                <a:gdLst>
                  <a:gd name="connsiteX0" fmla="*/ 7144 w 514350"/>
                  <a:gd name="connsiteY0" fmla="*/ 7144 h 9525"/>
                  <a:gd name="connsiteX1" fmla="*/ 507397 w 514350"/>
                  <a:gd name="connsiteY1" fmla="*/ 7144 h 95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514350" h="9525">
                    <a:moveTo>
                      <a:pt x="7144" y="7144"/>
                    </a:moveTo>
                    <a:lnTo>
                      <a:pt x="507397" y="7144"/>
                    </a:lnTo>
                  </a:path>
                </a:pathLst>
              </a:custGeom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23" name="자유형: 도형 222">
                <a:extLst>
                  <a:ext uri="{FF2B5EF4-FFF2-40B4-BE49-F238E27FC236}">
                    <a16:creationId xmlns:a16="http://schemas.microsoft.com/office/drawing/2014/main" id="{B038ACB2-7441-4307-D588-D5A664B63EC0}"/>
                  </a:ext>
                </a:extLst>
              </p:cNvPr>
              <p:cNvSpPr/>
              <p:nvPr/>
            </p:nvSpPr>
            <p:spPr>
              <a:xfrm>
                <a:off x="1690592" y="2656999"/>
                <a:ext cx="552450" cy="57150"/>
              </a:xfrm>
              <a:custGeom>
                <a:avLst/>
                <a:gdLst>
                  <a:gd name="connsiteX0" fmla="*/ 528733 w 552450"/>
                  <a:gd name="connsiteY0" fmla="*/ 50006 h 57150"/>
                  <a:gd name="connsiteX1" fmla="*/ 28575 w 552450"/>
                  <a:gd name="connsiteY1" fmla="*/ 50006 h 57150"/>
                  <a:gd name="connsiteX2" fmla="*/ 7144 w 552450"/>
                  <a:gd name="connsiteY2" fmla="*/ 28575 h 57150"/>
                  <a:gd name="connsiteX3" fmla="*/ 28575 w 552450"/>
                  <a:gd name="connsiteY3" fmla="*/ 7144 h 57150"/>
                  <a:gd name="connsiteX4" fmla="*/ 528828 w 552450"/>
                  <a:gd name="connsiteY4" fmla="*/ 7144 h 57150"/>
                  <a:gd name="connsiteX5" fmla="*/ 550259 w 552450"/>
                  <a:gd name="connsiteY5" fmla="*/ 28575 h 57150"/>
                  <a:gd name="connsiteX6" fmla="*/ 528828 w 552450"/>
                  <a:gd name="connsiteY6" fmla="*/ 50006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52450" h="57150">
                    <a:moveTo>
                      <a:pt x="528733" y="50006"/>
                    </a:moveTo>
                    <a:lnTo>
                      <a:pt x="28575" y="50006"/>
                    </a:lnTo>
                    <a:cubicBezTo>
                      <a:pt x="16735" y="50006"/>
                      <a:pt x="7144" y="40414"/>
                      <a:pt x="7144" y="28575"/>
                    </a:cubicBezTo>
                    <a:cubicBezTo>
                      <a:pt x="7144" y="16735"/>
                      <a:pt x="16735" y="7144"/>
                      <a:pt x="28575" y="7144"/>
                    </a:cubicBezTo>
                    <a:lnTo>
                      <a:pt x="528828" y="7144"/>
                    </a:lnTo>
                    <a:cubicBezTo>
                      <a:pt x="540668" y="7144"/>
                      <a:pt x="550259" y="16735"/>
                      <a:pt x="550259" y="28575"/>
                    </a:cubicBezTo>
                    <a:cubicBezTo>
                      <a:pt x="550259" y="40414"/>
                      <a:pt x="540668" y="50006"/>
                      <a:pt x="528828" y="50006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24" name="자유형: 도형 223">
                <a:extLst>
                  <a:ext uri="{FF2B5EF4-FFF2-40B4-BE49-F238E27FC236}">
                    <a16:creationId xmlns:a16="http://schemas.microsoft.com/office/drawing/2014/main" id="{6D12D25D-5D8E-FC16-D047-07C6676FF9D7}"/>
                  </a:ext>
                </a:extLst>
              </p:cNvPr>
              <p:cNvSpPr/>
              <p:nvPr/>
            </p:nvSpPr>
            <p:spPr>
              <a:xfrm>
                <a:off x="1414558" y="2768251"/>
                <a:ext cx="466725" cy="285750"/>
              </a:xfrm>
              <a:custGeom>
                <a:avLst/>
                <a:gdLst>
                  <a:gd name="connsiteX0" fmla="*/ 360236 w 466725"/>
                  <a:gd name="connsiteY0" fmla="*/ 7144 h 285750"/>
                  <a:gd name="connsiteX1" fmla="*/ 112586 w 466725"/>
                  <a:gd name="connsiteY1" fmla="*/ 7144 h 285750"/>
                  <a:gd name="connsiteX2" fmla="*/ 7144 w 466725"/>
                  <a:gd name="connsiteY2" fmla="*/ 112490 h 285750"/>
                  <a:gd name="connsiteX3" fmla="*/ 7144 w 466725"/>
                  <a:gd name="connsiteY3" fmla="*/ 247269 h 285750"/>
                  <a:gd name="connsiteX4" fmla="*/ 465677 w 466725"/>
                  <a:gd name="connsiteY4" fmla="*/ 247269 h 285750"/>
                  <a:gd name="connsiteX5" fmla="*/ 465677 w 466725"/>
                  <a:gd name="connsiteY5" fmla="*/ 112490 h 285750"/>
                  <a:gd name="connsiteX6" fmla="*/ 360331 w 466725"/>
                  <a:gd name="connsiteY6" fmla="*/ 7144 h 285750"/>
                  <a:gd name="connsiteX7" fmla="*/ 360236 w 466725"/>
                  <a:gd name="connsiteY7" fmla="*/ 7144 h 2857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466725" h="285750">
                    <a:moveTo>
                      <a:pt x="360236" y="7144"/>
                    </a:moveTo>
                    <a:lnTo>
                      <a:pt x="112586" y="7144"/>
                    </a:lnTo>
                    <a:cubicBezTo>
                      <a:pt x="54388" y="7144"/>
                      <a:pt x="7201" y="54292"/>
                      <a:pt x="7144" y="112490"/>
                    </a:cubicBezTo>
                    <a:lnTo>
                      <a:pt x="7144" y="247269"/>
                    </a:lnTo>
                    <a:cubicBezTo>
                      <a:pt x="156439" y="293875"/>
                      <a:pt x="316382" y="293875"/>
                      <a:pt x="465677" y="247269"/>
                    </a:cubicBezTo>
                    <a:lnTo>
                      <a:pt x="465677" y="112490"/>
                    </a:lnTo>
                    <a:cubicBezTo>
                      <a:pt x="465677" y="54311"/>
                      <a:pt x="418509" y="7144"/>
                      <a:pt x="360331" y="7144"/>
                    </a:cubicBezTo>
                    <a:cubicBezTo>
                      <a:pt x="360302" y="7144"/>
                      <a:pt x="360264" y="7144"/>
                      <a:pt x="360236" y="7144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25" name="자유형: 도형 224">
                <a:extLst>
                  <a:ext uri="{FF2B5EF4-FFF2-40B4-BE49-F238E27FC236}">
                    <a16:creationId xmlns:a16="http://schemas.microsoft.com/office/drawing/2014/main" id="{AB598E3C-12EA-4F21-5E3A-DC1EC9E1C3C5}"/>
                  </a:ext>
                </a:extLst>
              </p:cNvPr>
              <p:cNvSpPr/>
              <p:nvPr/>
            </p:nvSpPr>
            <p:spPr>
              <a:xfrm>
                <a:off x="1393031" y="2746820"/>
                <a:ext cx="514350" cy="323850"/>
              </a:xfrm>
              <a:custGeom>
                <a:avLst/>
                <a:gdLst>
                  <a:gd name="connsiteX0" fmla="*/ 257842 w 514350"/>
                  <a:gd name="connsiteY0" fmla="*/ 325088 h 323850"/>
                  <a:gd name="connsiteX1" fmla="*/ 21907 w 514350"/>
                  <a:gd name="connsiteY1" fmla="*/ 288988 h 323850"/>
                  <a:gd name="connsiteX2" fmla="*/ 7144 w 514350"/>
                  <a:gd name="connsiteY2" fmla="*/ 268700 h 323850"/>
                  <a:gd name="connsiteX3" fmla="*/ 7144 w 514350"/>
                  <a:gd name="connsiteY3" fmla="*/ 133921 h 323850"/>
                  <a:gd name="connsiteX4" fmla="*/ 134017 w 514350"/>
                  <a:gd name="connsiteY4" fmla="*/ 7144 h 323850"/>
                  <a:gd name="connsiteX5" fmla="*/ 381667 w 514350"/>
                  <a:gd name="connsiteY5" fmla="*/ 7144 h 323850"/>
                  <a:gd name="connsiteX6" fmla="*/ 508444 w 514350"/>
                  <a:gd name="connsiteY6" fmla="*/ 133921 h 323850"/>
                  <a:gd name="connsiteX7" fmla="*/ 508444 w 514350"/>
                  <a:gd name="connsiteY7" fmla="*/ 268700 h 323850"/>
                  <a:gd name="connsiteX8" fmla="*/ 493681 w 514350"/>
                  <a:gd name="connsiteY8" fmla="*/ 288988 h 323850"/>
                  <a:gd name="connsiteX9" fmla="*/ 257842 w 514350"/>
                  <a:gd name="connsiteY9" fmla="*/ 325088 h 323850"/>
                  <a:gd name="connsiteX10" fmla="*/ 49911 w 514350"/>
                  <a:gd name="connsiteY10" fmla="*/ 252889 h 323850"/>
                  <a:gd name="connsiteX11" fmla="*/ 465582 w 514350"/>
                  <a:gd name="connsiteY11" fmla="*/ 252889 h 323850"/>
                  <a:gd name="connsiteX12" fmla="*/ 465582 w 514350"/>
                  <a:gd name="connsiteY12" fmla="*/ 133921 h 323850"/>
                  <a:gd name="connsiteX13" fmla="*/ 381667 w 514350"/>
                  <a:gd name="connsiteY13" fmla="*/ 50006 h 323850"/>
                  <a:gd name="connsiteX14" fmla="*/ 134017 w 514350"/>
                  <a:gd name="connsiteY14" fmla="*/ 50006 h 323850"/>
                  <a:gd name="connsiteX15" fmla="*/ 50006 w 514350"/>
                  <a:gd name="connsiteY15" fmla="*/ 133921 h 3238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514350" h="323850">
                    <a:moveTo>
                      <a:pt x="257842" y="325088"/>
                    </a:moveTo>
                    <a:cubicBezTo>
                      <a:pt x="177794" y="325441"/>
                      <a:pt x="98184" y="313258"/>
                      <a:pt x="21907" y="288988"/>
                    </a:cubicBezTo>
                    <a:cubicBezTo>
                      <a:pt x="13125" y="286112"/>
                      <a:pt x="7182" y="277939"/>
                      <a:pt x="7144" y="268700"/>
                    </a:cubicBezTo>
                    <a:lnTo>
                      <a:pt x="7144" y="133921"/>
                    </a:lnTo>
                    <a:cubicBezTo>
                      <a:pt x="7249" y="63912"/>
                      <a:pt x="64008" y="7201"/>
                      <a:pt x="134017" y="7144"/>
                    </a:cubicBezTo>
                    <a:lnTo>
                      <a:pt x="381667" y="7144"/>
                    </a:lnTo>
                    <a:cubicBezTo>
                      <a:pt x="451666" y="7201"/>
                      <a:pt x="508387" y="63922"/>
                      <a:pt x="508444" y="133921"/>
                    </a:cubicBezTo>
                    <a:lnTo>
                      <a:pt x="508444" y="268700"/>
                    </a:lnTo>
                    <a:cubicBezTo>
                      <a:pt x="508473" y="277959"/>
                      <a:pt x="502501" y="286169"/>
                      <a:pt x="493681" y="288988"/>
                    </a:cubicBezTo>
                    <a:cubicBezTo>
                      <a:pt x="417433" y="313248"/>
                      <a:pt x="337861" y="325431"/>
                      <a:pt x="257842" y="325088"/>
                    </a:cubicBezTo>
                    <a:close/>
                    <a:moveTo>
                      <a:pt x="49911" y="252889"/>
                    </a:moveTo>
                    <a:cubicBezTo>
                      <a:pt x="185709" y="292008"/>
                      <a:pt x="329784" y="292008"/>
                      <a:pt x="465582" y="252889"/>
                    </a:cubicBezTo>
                    <a:lnTo>
                      <a:pt x="465582" y="133921"/>
                    </a:lnTo>
                    <a:cubicBezTo>
                      <a:pt x="465525" y="87601"/>
                      <a:pt x="427987" y="50063"/>
                      <a:pt x="381667" y="50006"/>
                    </a:cubicBezTo>
                    <a:lnTo>
                      <a:pt x="134017" y="50006"/>
                    </a:lnTo>
                    <a:cubicBezTo>
                      <a:pt x="87678" y="50063"/>
                      <a:pt x="50111" y="87582"/>
                      <a:pt x="50006" y="133921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26" name="자유형: 도형 225">
                <a:extLst>
                  <a:ext uri="{FF2B5EF4-FFF2-40B4-BE49-F238E27FC236}">
                    <a16:creationId xmlns:a16="http://schemas.microsoft.com/office/drawing/2014/main" id="{D07C6E80-94F0-DB62-DE53-D7B85B3E56DA}"/>
                  </a:ext>
                </a:extLst>
              </p:cNvPr>
              <p:cNvSpPr/>
              <p:nvPr/>
            </p:nvSpPr>
            <p:spPr>
              <a:xfrm>
                <a:off x="1495234" y="2901982"/>
                <a:ext cx="57150" cy="142875"/>
              </a:xfrm>
              <a:custGeom>
                <a:avLst/>
                <a:gdLst>
                  <a:gd name="connsiteX0" fmla="*/ 28575 w 57150"/>
                  <a:gd name="connsiteY0" fmla="*/ 138589 h 142875"/>
                  <a:gd name="connsiteX1" fmla="*/ 7144 w 57150"/>
                  <a:gd name="connsiteY1" fmla="*/ 117157 h 142875"/>
                  <a:gd name="connsiteX2" fmla="*/ 7144 w 57150"/>
                  <a:gd name="connsiteY2" fmla="*/ 28575 h 142875"/>
                  <a:gd name="connsiteX3" fmla="*/ 28575 w 57150"/>
                  <a:gd name="connsiteY3" fmla="*/ 7144 h 142875"/>
                  <a:gd name="connsiteX4" fmla="*/ 50006 w 57150"/>
                  <a:gd name="connsiteY4" fmla="*/ 28575 h 142875"/>
                  <a:gd name="connsiteX5" fmla="*/ 50006 w 57150"/>
                  <a:gd name="connsiteY5" fmla="*/ 117157 h 142875"/>
                  <a:gd name="connsiteX6" fmla="*/ 28575 w 57150"/>
                  <a:gd name="connsiteY6" fmla="*/ 138589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7150" h="142875">
                    <a:moveTo>
                      <a:pt x="28575" y="138589"/>
                    </a:moveTo>
                    <a:cubicBezTo>
                      <a:pt x="16735" y="138589"/>
                      <a:pt x="7144" y="128997"/>
                      <a:pt x="7144" y="117157"/>
                    </a:cubicBezTo>
                    <a:lnTo>
                      <a:pt x="7144" y="28575"/>
                    </a:lnTo>
                    <a:cubicBezTo>
                      <a:pt x="7144" y="16736"/>
                      <a:pt x="16735" y="7144"/>
                      <a:pt x="28575" y="7144"/>
                    </a:cubicBezTo>
                    <a:cubicBezTo>
                      <a:pt x="40415" y="7144"/>
                      <a:pt x="50006" y="16736"/>
                      <a:pt x="50006" y="28575"/>
                    </a:cubicBezTo>
                    <a:lnTo>
                      <a:pt x="50006" y="117157"/>
                    </a:lnTo>
                    <a:cubicBezTo>
                      <a:pt x="50006" y="128997"/>
                      <a:pt x="40415" y="138589"/>
                      <a:pt x="28575" y="138589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27" name="자유형: 도형 226">
                <a:extLst>
                  <a:ext uri="{FF2B5EF4-FFF2-40B4-BE49-F238E27FC236}">
                    <a16:creationId xmlns:a16="http://schemas.microsoft.com/office/drawing/2014/main" id="{41D6EB0F-2A0C-88C4-0B6C-DAA460009443}"/>
                  </a:ext>
                </a:extLst>
              </p:cNvPr>
              <p:cNvSpPr/>
              <p:nvPr/>
            </p:nvSpPr>
            <p:spPr>
              <a:xfrm>
                <a:off x="1749457" y="2901982"/>
                <a:ext cx="57150" cy="142875"/>
              </a:xfrm>
              <a:custGeom>
                <a:avLst/>
                <a:gdLst>
                  <a:gd name="connsiteX0" fmla="*/ 28575 w 57150"/>
                  <a:gd name="connsiteY0" fmla="*/ 138589 h 142875"/>
                  <a:gd name="connsiteX1" fmla="*/ 7144 w 57150"/>
                  <a:gd name="connsiteY1" fmla="*/ 117348 h 142875"/>
                  <a:gd name="connsiteX2" fmla="*/ 7144 w 57150"/>
                  <a:gd name="connsiteY2" fmla="*/ 117157 h 142875"/>
                  <a:gd name="connsiteX3" fmla="*/ 7144 w 57150"/>
                  <a:gd name="connsiteY3" fmla="*/ 28575 h 142875"/>
                  <a:gd name="connsiteX4" fmla="*/ 28575 w 57150"/>
                  <a:gd name="connsiteY4" fmla="*/ 7144 h 142875"/>
                  <a:gd name="connsiteX5" fmla="*/ 50006 w 57150"/>
                  <a:gd name="connsiteY5" fmla="*/ 28575 h 142875"/>
                  <a:gd name="connsiteX6" fmla="*/ 50006 w 57150"/>
                  <a:gd name="connsiteY6" fmla="*/ 117157 h 142875"/>
                  <a:gd name="connsiteX7" fmla="*/ 28575 w 57150"/>
                  <a:gd name="connsiteY7" fmla="*/ 138589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57150" h="142875">
                    <a:moveTo>
                      <a:pt x="28575" y="138589"/>
                    </a:moveTo>
                    <a:cubicBezTo>
                      <a:pt x="16793" y="138646"/>
                      <a:pt x="7201" y="129130"/>
                      <a:pt x="7144" y="117348"/>
                    </a:cubicBezTo>
                    <a:cubicBezTo>
                      <a:pt x="7144" y="117281"/>
                      <a:pt x="7144" y="117224"/>
                      <a:pt x="7144" y="117157"/>
                    </a:cubicBezTo>
                    <a:lnTo>
                      <a:pt x="7144" y="28575"/>
                    </a:lnTo>
                    <a:cubicBezTo>
                      <a:pt x="7144" y="16736"/>
                      <a:pt x="16735" y="7144"/>
                      <a:pt x="28575" y="7144"/>
                    </a:cubicBezTo>
                    <a:cubicBezTo>
                      <a:pt x="40415" y="7144"/>
                      <a:pt x="50006" y="16736"/>
                      <a:pt x="50006" y="28575"/>
                    </a:cubicBezTo>
                    <a:lnTo>
                      <a:pt x="50006" y="117157"/>
                    </a:lnTo>
                    <a:cubicBezTo>
                      <a:pt x="50006" y="128997"/>
                      <a:pt x="40415" y="138589"/>
                      <a:pt x="28575" y="138589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28" name="자유형: 도형 227">
                <a:extLst>
                  <a:ext uri="{FF2B5EF4-FFF2-40B4-BE49-F238E27FC236}">
                    <a16:creationId xmlns:a16="http://schemas.microsoft.com/office/drawing/2014/main" id="{650A2C77-0F63-FCA4-3032-1FDF5001CED6}"/>
                  </a:ext>
                </a:extLst>
              </p:cNvPr>
              <p:cNvSpPr/>
              <p:nvPr/>
            </p:nvSpPr>
            <p:spPr>
              <a:xfrm>
                <a:off x="1550956" y="2523458"/>
                <a:ext cx="190500" cy="190500"/>
              </a:xfrm>
              <a:custGeom>
                <a:avLst/>
                <a:gdLst>
                  <a:gd name="connsiteX0" fmla="*/ 192691 w 190500"/>
                  <a:gd name="connsiteY0" fmla="*/ 99917 h 190500"/>
                  <a:gd name="connsiteX1" fmla="*/ 99917 w 190500"/>
                  <a:gd name="connsiteY1" fmla="*/ 7144 h 190500"/>
                  <a:gd name="connsiteX2" fmla="*/ 7144 w 190500"/>
                  <a:gd name="connsiteY2" fmla="*/ 99917 h 190500"/>
                  <a:gd name="connsiteX3" fmla="*/ 99917 w 190500"/>
                  <a:gd name="connsiteY3" fmla="*/ 192691 h 190500"/>
                  <a:gd name="connsiteX4" fmla="*/ 192691 w 190500"/>
                  <a:gd name="connsiteY4" fmla="*/ 99917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0500" h="190500">
                    <a:moveTo>
                      <a:pt x="192691" y="99917"/>
                    </a:moveTo>
                    <a:cubicBezTo>
                      <a:pt x="192691" y="48682"/>
                      <a:pt x="151152" y="7144"/>
                      <a:pt x="99917" y="7144"/>
                    </a:cubicBezTo>
                    <a:cubicBezTo>
                      <a:pt x="48682" y="7144"/>
                      <a:pt x="7144" y="48682"/>
                      <a:pt x="7144" y="99917"/>
                    </a:cubicBezTo>
                    <a:cubicBezTo>
                      <a:pt x="7144" y="151152"/>
                      <a:pt x="48682" y="192691"/>
                      <a:pt x="99917" y="192691"/>
                    </a:cubicBezTo>
                    <a:cubicBezTo>
                      <a:pt x="151152" y="192691"/>
                      <a:pt x="192691" y="151152"/>
                      <a:pt x="192691" y="9991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29" name="자유형: 도형 228">
                <a:extLst>
                  <a:ext uri="{FF2B5EF4-FFF2-40B4-BE49-F238E27FC236}">
                    <a16:creationId xmlns:a16="http://schemas.microsoft.com/office/drawing/2014/main" id="{99AAEDA8-5674-1690-7FEA-131EBA946886}"/>
                  </a:ext>
                </a:extLst>
              </p:cNvPr>
              <p:cNvSpPr/>
              <p:nvPr/>
            </p:nvSpPr>
            <p:spPr>
              <a:xfrm>
                <a:off x="1529429" y="2501836"/>
                <a:ext cx="238125" cy="238125"/>
              </a:xfrm>
              <a:custGeom>
                <a:avLst/>
                <a:gdLst>
                  <a:gd name="connsiteX0" fmla="*/ 121444 w 238125"/>
                  <a:gd name="connsiteY0" fmla="*/ 235744 h 238125"/>
                  <a:gd name="connsiteX1" fmla="*/ 7144 w 238125"/>
                  <a:gd name="connsiteY1" fmla="*/ 121444 h 238125"/>
                  <a:gd name="connsiteX2" fmla="*/ 121444 w 238125"/>
                  <a:gd name="connsiteY2" fmla="*/ 7144 h 238125"/>
                  <a:gd name="connsiteX3" fmla="*/ 235744 w 238125"/>
                  <a:gd name="connsiteY3" fmla="*/ 121444 h 238125"/>
                  <a:gd name="connsiteX4" fmla="*/ 121444 w 238125"/>
                  <a:gd name="connsiteY4" fmla="*/ 235744 h 238125"/>
                  <a:gd name="connsiteX5" fmla="*/ 121444 w 238125"/>
                  <a:gd name="connsiteY5" fmla="*/ 50292 h 238125"/>
                  <a:gd name="connsiteX6" fmla="*/ 50101 w 238125"/>
                  <a:gd name="connsiteY6" fmla="*/ 121634 h 238125"/>
                  <a:gd name="connsiteX7" fmla="*/ 121444 w 238125"/>
                  <a:gd name="connsiteY7" fmla="*/ 192977 h 238125"/>
                  <a:gd name="connsiteX8" fmla="*/ 192786 w 238125"/>
                  <a:gd name="connsiteY8" fmla="*/ 121634 h 238125"/>
                  <a:gd name="connsiteX9" fmla="*/ 192786 w 238125"/>
                  <a:gd name="connsiteY9" fmla="*/ 121539 h 238125"/>
                  <a:gd name="connsiteX10" fmla="*/ 121444 w 238125"/>
                  <a:gd name="connsiteY10" fmla="*/ 50292 h 2381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238125" h="238125">
                    <a:moveTo>
                      <a:pt x="121444" y="235744"/>
                    </a:moveTo>
                    <a:cubicBezTo>
                      <a:pt x="58322" y="235744"/>
                      <a:pt x="7144" y="184566"/>
                      <a:pt x="7144" y="121444"/>
                    </a:cubicBezTo>
                    <a:cubicBezTo>
                      <a:pt x="7144" y="58321"/>
                      <a:pt x="58322" y="7144"/>
                      <a:pt x="121444" y="7144"/>
                    </a:cubicBezTo>
                    <a:cubicBezTo>
                      <a:pt x="184566" y="7144"/>
                      <a:pt x="235744" y="58321"/>
                      <a:pt x="235744" y="121444"/>
                    </a:cubicBezTo>
                    <a:cubicBezTo>
                      <a:pt x="235744" y="184566"/>
                      <a:pt x="184566" y="235744"/>
                      <a:pt x="121444" y="235744"/>
                    </a:cubicBezTo>
                    <a:close/>
                    <a:moveTo>
                      <a:pt x="121444" y="50292"/>
                    </a:moveTo>
                    <a:cubicBezTo>
                      <a:pt x="82039" y="50292"/>
                      <a:pt x="50101" y="82229"/>
                      <a:pt x="50101" y="121634"/>
                    </a:cubicBezTo>
                    <a:cubicBezTo>
                      <a:pt x="50101" y="161039"/>
                      <a:pt x="82039" y="192977"/>
                      <a:pt x="121444" y="192977"/>
                    </a:cubicBezTo>
                    <a:cubicBezTo>
                      <a:pt x="160849" y="192977"/>
                      <a:pt x="192786" y="161039"/>
                      <a:pt x="192786" y="121634"/>
                    </a:cubicBezTo>
                    <a:cubicBezTo>
                      <a:pt x="192786" y="121606"/>
                      <a:pt x="192786" y="121568"/>
                      <a:pt x="192786" y="121539"/>
                    </a:cubicBezTo>
                    <a:cubicBezTo>
                      <a:pt x="192729" y="82172"/>
                      <a:pt x="160811" y="50292"/>
                      <a:pt x="121444" y="50292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</p:grpSp>
        <p:sp>
          <p:nvSpPr>
            <p:cNvPr id="230" name="TextBox 229">
              <a:extLst>
                <a:ext uri="{FF2B5EF4-FFF2-40B4-BE49-F238E27FC236}">
                  <a16:creationId xmlns:a16="http://schemas.microsoft.com/office/drawing/2014/main" id="{5E115CD8-2DB8-2944-C084-15ED4BEFBE47}"/>
                </a:ext>
              </a:extLst>
            </p:cNvPr>
            <p:cNvSpPr txBox="1"/>
            <p:nvPr/>
          </p:nvSpPr>
          <p:spPr>
            <a:xfrm>
              <a:off x="765675" y="4070557"/>
              <a:ext cx="1086369" cy="900246"/>
            </a:xfrm>
            <a:prstGeom prst="rect">
              <a:avLst/>
            </a:prstGeom>
            <a:noFill/>
          </p:spPr>
          <p:txBody>
            <a:bodyPr wrap="none" lIns="72000" rIns="72000">
              <a:spAutoFit/>
            </a:bodyPr>
            <a:lstStyle/>
            <a:p>
              <a:pPr marL="95250" lvl="1" indent="-95250" defTabSz="957263" eaLnBrk="0" latinLnBrk="0" hangingPunct="0">
                <a:spcAft>
                  <a:spcPts val="5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100000"/>
                <a:buFont typeface="Arial" panose="020B0604020202020204" pitchFamily="34" charset="0"/>
                <a:buChar char="•"/>
                <a:tabLst>
                  <a:tab pos="5648325" algn="l"/>
                </a:tabLst>
                <a:defRPr/>
              </a:pPr>
              <a:r>
                <a:rPr lang="ko-KR" altLang="en-US" sz="1000" kern="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유지보수 담당자</a:t>
              </a:r>
              <a:endParaRPr lang="en-US" altLang="ko-KR" sz="1000" kern="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/>
                <a:ea typeface="KoPub돋움체 Medium"/>
              </a:endParaRPr>
            </a:p>
            <a:p>
              <a:pPr marL="95250" lvl="1" indent="-95250" defTabSz="957263" eaLnBrk="0" latinLnBrk="0" hangingPunct="0">
                <a:spcAft>
                  <a:spcPts val="5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100000"/>
                <a:buFont typeface="Arial" panose="020B0604020202020204" pitchFamily="34" charset="0"/>
                <a:buChar char="•"/>
                <a:tabLst>
                  <a:tab pos="5648325" algn="l"/>
                </a:tabLst>
                <a:defRPr/>
              </a:pPr>
              <a:r>
                <a:rPr lang="ko-KR" altLang="en-US" sz="1000" kern="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유지보수 실무자</a:t>
              </a:r>
              <a:endParaRPr lang="en-US" altLang="ko-KR" sz="1000" kern="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/>
                <a:ea typeface="KoPub돋움체 Medium"/>
              </a:endParaRPr>
            </a:p>
            <a:p>
              <a:pPr marL="95250" lvl="1" indent="-95250" defTabSz="957263" eaLnBrk="0" latinLnBrk="0" hangingPunct="0">
                <a:spcAft>
                  <a:spcPts val="5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100000"/>
                <a:buFont typeface="Arial" panose="020B0604020202020204" pitchFamily="34" charset="0"/>
                <a:buChar char="•"/>
                <a:tabLst>
                  <a:tab pos="5648325" algn="l"/>
                </a:tabLst>
                <a:defRPr/>
              </a:pPr>
              <a:r>
                <a:rPr lang="ko-KR" altLang="en-US" sz="1000" kern="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파트별 담당자</a:t>
              </a:r>
              <a:endParaRPr lang="en-US" altLang="ko-KR" sz="1000" kern="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/>
                <a:ea typeface="KoPub돋움체 Medium"/>
              </a:endParaRPr>
            </a:p>
            <a:p>
              <a:pPr marL="95250" lvl="1" indent="-95250" defTabSz="957263" eaLnBrk="0" latinLnBrk="0" hangingPunct="0">
                <a:spcAft>
                  <a:spcPts val="500"/>
                </a:spcAft>
                <a:buClr>
                  <a:prstClr val="black">
                    <a:lumMod val="75000"/>
                    <a:lumOff val="25000"/>
                  </a:prstClr>
                </a:buClr>
                <a:buSzPct val="100000"/>
                <a:buFont typeface="Arial" panose="020B0604020202020204" pitchFamily="34" charset="0"/>
                <a:buChar char="•"/>
                <a:tabLst>
                  <a:tab pos="5648325" algn="l"/>
                </a:tabLst>
                <a:defRPr/>
              </a:pPr>
              <a:r>
                <a:rPr lang="ko-KR" altLang="en-US" sz="1000" kern="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사업 관련 협력사</a:t>
              </a:r>
            </a:p>
          </p:txBody>
        </p:sp>
      </p:grpSp>
      <p:grpSp>
        <p:nvGrpSpPr>
          <p:cNvPr id="403" name="그룹 402">
            <a:extLst>
              <a:ext uri="{FF2B5EF4-FFF2-40B4-BE49-F238E27FC236}">
                <a16:creationId xmlns:a16="http://schemas.microsoft.com/office/drawing/2014/main" id="{10D0A9FB-1F23-6629-A385-34E18FC2DA12}"/>
              </a:ext>
            </a:extLst>
          </p:cNvPr>
          <p:cNvGrpSpPr/>
          <p:nvPr/>
        </p:nvGrpSpPr>
        <p:grpSpPr>
          <a:xfrm>
            <a:off x="765675" y="5293973"/>
            <a:ext cx="1428450" cy="1839273"/>
            <a:chOff x="765675" y="5198759"/>
            <a:chExt cx="1428450" cy="1839273"/>
          </a:xfrm>
        </p:grpSpPr>
        <p:sp>
          <p:nvSpPr>
            <p:cNvPr id="231" name="사각형: 둥근 모서리 230">
              <a:extLst>
                <a:ext uri="{FF2B5EF4-FFF2-40B4-BE49-F238E27FC236}">
                  <a16:creationId xmlns:a16="http://schemas.microsoft.com/office/drawing/2014/main" id="{DFBF73B1-29A7-BEDC-489D-D4EAA8615DA1}"/>
                </a:ext>
              </a:extLst>
            </p:cNvPr>
            <p:cNvSpPr/>
            <p:nvPr/>
          </p:nvSpPr>
          <p:spPr>
            <a:xfrm>
              <a:off x="765675" y="5826107"/>
              <a:ext cx="1393920" cy="283140"/>
            </a:xfrm>
            <a:prstGeom prst="roundRect">
              <a:avLst>
                <a:gd name="adj" fmla="val 50000"/>
              </a:avLst>
            </a:prstGeom>
            <a:solidFill>
              <a:srgbClr val="51565D">
                <a:lumMod val="20000"/>
                <a:lumOff val="80000"/>
              </a:srgbClr>
            </a:solidFill>
          </p:spPr>
          <p:txBody>
            <a:bodyPr wrap="square" anchor="ctr">
              <a:noAutofit/>
            </a:bodyPr>
            <a:lstStyle/>
            <a:p>
              <a:pPr marL="0" marR="0" lvl="0" indent="-180975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-40" normalizeH="0" baseline="0" noProof="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방 식</a:t>
              </a:r>
            </a:p>
          </p:txBody>
        </p:sp>
        <p:grpSp>
          <p:nvGrpSpPr>
            <p:cNvPr id="232" name="그룹 231">
              <a:extLst>
                <a:ext uri="{FF2B5EF4-FFF2-40B4-BE49-F238E27FC236}">
                  <a16:creationId xmlns:a16="http://schemas.microsoft.com/office/drawing/2014/main" id="{3D544ADE-8ED3-98AD-24F3-FCC6F4F4FC36}"/>
                </a:ext>
              </a:extLst>
            </p:cNvPr>
            <p:cNvGrpSpPr/>
            <p:nvPr/>
          </p:nvGrpSpPr>
          <p:grpSpPr>
            <a:xfrm>
              <a:off x="1176354" y="5198759"/>
              <a:ext cx="572562" cy="562639"/>
              <a:chOff x="1392936" y="5449157"/>
              <a:chExt cx="1000220" cy="982885"/>
            </a:xfrm>
          </p:grpSpPr>
          <p:sp>
            <p:nvSpPr>
              <p:cNvPr id="233" name="자유형: 도형 232">
                <a:extLst>
                  <a:ext uri="{FF2B5EF4-FFF2-40B4-BE49-F238E27FC236}">
                    <a16:creationId xmlns:a16="http://schemas.microsoft.com/office/drawing/2014/main" id="{7DC304DF-3874-A4D6-33F9-51EF1D06EC92}"/>
                  </a:ext>
                </a:extLst>
              </p:cNvPr>
              <p:cNvSpPr/>
              <p:nvPr/>
            </p:nvSpPr>
            <p:spPr>
              <a:xfrm>
                <a:off x="1414463" y="5470589"/>
                <a:ext cx="952500" cy="800100"/>
              </a:xfrm>
              <a:custGeom>
                <a:avLst/>
                <a:gdLst>
                  <a:gd name="connsiteX0" fmla="*/ 7144 w 952500"/>
                  <a:gd name="connsiteY0" fmla="*/ 7144 h 800100"/>
                  <a:gd name="connsiteX1" fmla="*/ 952119 w 952500"/>
                  <a:gd name="connsiteY1" fmla="*/ 7144 h 800100"/>
                  <a:gd name="connsiteX2" fmla="*/ 952119 w 952500"/>
                  <a:gd name="connsiteY2" fmla="*/ 800958 h 800100"/>
                  <a:gd name="connsiteX3" fmla="*/ 7144 w 952500"/>
                  <a:gd name="connsiteY3" fmla="*/ 800958 h 800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00" h="800100">
                    <a:moveTo>
                      <a:pt x="7144" y="7144"/>
                    </a:moveTo>
                    <a:lnTo>
                      <a:pt x="952119" y="7144"/>
                    </a:lnTo>
                    <a:lnTo>
                      <a:pt x="952119" y="800958"/>
                    </a:lnTo>
                    <a:lnTo>
                      <a:pt x="7144" y="800958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34" name="자유형: 도형 233">
                <a:extLst>
                  <a:ext uri="{FF2B5EF4-FFF2-40B4-BE49-F238E27FC236}">
                    <a16:creationId xmlns:a16="http://schemas.microsoft.com/office/drawing/2014/main" id="{35440484-DD74-1478-E2AE-AFEC2BF1934D}"/>
                  </a:ext>
                </a:extLst>
              </p:cNvPr>
              <p:cNvSpPr/>
              <p:nvPr/>
            </p:nvSpPr>
            <p:spPr>
              <a:xfrm>
                <a:off x="1393031" y="5449157"/>
                <a:ext cx="1000125" cy="847725"/>
              </a:xfrm>
              <a:custGeom>
                <a:avLst/>
                <a:gdLst>
                  <a:gd name="connsiteX0" fmla="*/ 973836 w 1000125"/>
                  <a:gd name="connsiteY0" fmla="*/ 843819 h 847725"/>
                  <a:gd name="connsiteX1" fmla="*/ 28575 w 1000125"/>
                  <a:gd name="connsiteY1" fmla="*/ 843819 h 847725"/>
                  <a:gd name="connsiteX2" fmla="*/ 7144 w 1000125"/>
                  <a:gd name="connsiteY2" fmla="*/ 822388 h 847725"/>
                  <a:gd name="connsiteX3" fmla="*/ 7144 w 1000125"/>
                  <a:gd name="connsiteY3" fmla="*/ 28575 h 847725"/>
                  <a:gd name="connsiteX4" fmla="*/ 28575 w 1000125"/>
                  <a:gd name="connsiteY4" fmla="*/ 7144 h 847725"/>
                  <a:gd name="connsiteX5" fmla="*/ 973836 w 1000125"/>
                  <a:gd name="connsiteY5" fmla="*/ 7144 h 847725"/>
                  <a:gd name="connsiteX6" fmla="*/ 995267 w 1000125"/>
                  <a:gd name="connsiteY6" fmla="*/ 28575 h 847725"/>
                  <a:gd name="connsiteX7" fmla="*/ 995267 w 1000125"/>
                  <a:gd name="connsiteY7" fmla="*/ 822388 h 847725"/>
                  <a:gd name="connsiteX8" fmla="*/ 973836 w 1000125"/>
                  <a:gd name="connsiteY8" fmla="*/ 843819 h 847725"/>
                  <a:gd name="connsiteX9" fmla="*/ 49911 w 1000125"/>
                  <a:gd name="connsiteY9" fmla="*/ 800957 h 847725"/>
                  <a:gd name="connsiteX10" fmla="*/ 952119 w 1000125"/>
                  <a:gd name="connsiteY10" fmla="*/ 800957 h 847725"/>
                  <a:gd name="connsiteX11" fmla="*/ 952119 w 1000125"/>
                  <a:gd name="connsiteY11" fmla="*/ 50006 h 847725"/>
                  <a:gd name="connsiteX12" fmla="*/ 49911 w 1000125"/>
                  <a:gd name="connsiteY12" fmla="*/ 50006 h 8477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000125" h="847725">
                    <a:moveTo>
                      <a:pt x="973836" y="843819"/>
                    </a:moveTo>
                    <a:lnTo>
                      <a:pt x="28575" y="843819"/>
                    </a:lnTo>
                    <a:cubicBezTo>
                      <a:pt x="16735" y="843819"/>
                      <a:pt x="7144" y="834200"/>
                      <a:pt x="7144" y="822388"/>
                    </a:cubicBezTo>
                    <a:lnTo>
                      <a:pt x="7144" y="28575"/>
                    </a:lnTo>
                    <a:cubicBezTo>
                      <a:pt x="7144" y="16736"/>
                      <a:pt x="16735" y="7144"/>
                      <a:pt x="28575" y="7144"/>
                    </a:cubicBezTo>
                    <a:lnTo>
                      <a:pt x="973836" y="7144"/>
                    </a:lnTo>
                    <a:cubicBezTo>
                      <a:pt x="985676" y="7144"/>
                      <a:pt x="995267" y="16736"/>
                      <a:pt x="995267" y="28575"/>
                    </a:cubicBezTo>
                    <a:lnTo>
                      <a:pt x="995267" y="822388"/>
                    </a:lnTo>
                    <a:cubicBezTo>
                      <a:pt x="995267" y="834200"/>
                      <a:pt x="985676" y="843819"/>
                      <a:pt x="973836" y="843819"/>
                    </a:cubicBezTo>
                    <a:close/>
                    <a:moveTo>
                      <a:pt x="49911" y="800957"/>
                    </a:moveTo>
                    <a:lnTo>
                      <a:pt x="952119" y="800957"/>
                    </a:lnTo>
                    <a:lnTo>
                      <a:pt x="952119" y="50006"/>
                    </a:lnTo>
                    <a:lnTo>
                      <a:pt x="49911" y="50006"/>
                    </a:ln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35" name="자유형: 도형 234">
                <a:extLst>
                  <a:ext uri="{FF2B5EF4-FFF2-40B4-BE49-F238E27FC236}">
                    <a16:creationId xmlns:a16="http://schemas.microsoft.com/office/drawing/2014/main" id="{0EA53988-73F1-51E2-89C4-7DDD7B150AD8}"/>
                  </a:ext>
                </a:extLst>
              </p:cNvPr>
              <p:cNvSpPr/>
              <p:nvPr/>
            </p:nvSpPr>
            <p:spPr>
              <a:xfrm>
                <a:off x="1414463" y="5470589"/>
                <a:ext cx="952500" cy="133350"/>
              </a:xfrm>
              <a:custGeom>
                <a:avLst/>
                <a:gdLst>
                  <a:gd name="connsiteX0" fmla="*/ 7144 w 952500"/>
                  <a:gd name="connsiteY0" fmla="*/ 131921 h 133350"/>
                  <a:gd name="connsiteX1" fmla="*/ 7144 w 952500"/>
                  <a:gd name="connsiteY1" fmla="*/ 7144 h 133350"/>
                  <a:gd name="connsiteX2" fmla="*/ 952119 w 952500"/>
                  <a:gd name="connsiteY2" fmla="*/ 7144 h 133350"/>
                  <a:gd name="connsiteX3" fmla="*/ 952119 w 952500"/>
                  <a:gd name="connsiteY3" fmla="*/ 131921 h 1333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952500" h="133350">
                    <a:moveTo>
                      <a:pt x="7144" y="131921"/>
                    </a:moveTo>
                    <a:lnTo>
                      <a:pt x="7144" y="7144"/>
                    </a:lnTo>
                    <a:lnTo>
                      <a:pt x="952119" y="7144"/>
                    </a:lnTo>
                    <a:lnTo>
                      <a:pt x="952119" y="131921"/>
                    </a:lnTo>
                  </a:path>
                </a:pathLst>
              </a:custGeom>
              <a:solidFill>
                <a:srgbClr val="2D58B9">
                  <a:lumMod val="40000"/>
                  <a:lumOff val="6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36" name="자유형: 도형 235">
                <a:extLst>
                  <a:ext uri="{FF2B5EF4-FFF2-40B4-BE49-F238E27FC236}">
                    <a16:creationId xmlns:a16="http://schemas.microsoft.com/office/drawing/2014/main" id="{B32251F6-2BC9-7E34-A0F0-78E6EEBF4E25}"/>
                  </a:ext>
                </a:extLst>
              </p:cNvPr>
              <p:cNvSpPr/>
              <p:nvPr/>
            </p:nvSpPr>
            <p:spPr>
              <a:xfrm>
                <a:off x="1392936" y="5449157"/>
                <a:ext cx="1000125" cy="180975"/>
              </a:xfrm>
              <a:custGeom>
                <a:avLst/>
                <a:gdLst>
                  <a:gd name="connsiteX0" fmla="*/ 973931 w 1000125"/>
                  <a:gd name="connsiteY0" fmla="*/ 174784 h 180975"/>
                  <a:gd name="connsiteX1" fmla="*/ 952500 w 1000125"/>
                  <a:gd name="connsiteY1" fmla="*/ 153543 h 180975"/>
                  <a:gd name="connsiteX2" fmla="*/ 952500 w 1000125"/>
                  <a:gd name="connsiteY2" fmla="*/ 153353 h 180975"/>
                  <a:gd name="connsiteX3" fmla="*/ 952500 w 1000125"/>
                  <a:gd name="connsiteY3" fmla="*/ 50006 h 180975"/>
                  <a:gd name="connsiteX4" fmla="*/ 50006 w 1000125"/>
                  <a:gd name="connsiteY4" fmla="*/ 50006 h 180975"/>
                  <a:gd name="connsiteX5" fmla="*/ 50006 w 1000125"/>
                  <a:gd name="connsiteY5" fmla="*/ 153353 h 180975"/>
                  <a:gd name="connsiteX6" fmla="*/ 28575 w 1000125"/>
                  <a:gd name="connsiteY6" fmla="*/ 174784 h 180975"/>
                  <a:gd name="connsiteX7" fmla="*/ 7144 w 1000125"/>
                  <a:gd name="connsiteY7" fmla="*/ 153353 h 180975"/>
                  <a:gd name="connsiteX8" fmla="*/ 7144 w 1000125"/>
                  <a:gd name="connsiteY8" fmla="*/ 28575 h 180975"/>
                  <a:gd name="connsiteX9" fmla="*/ 28575 w 1000125"/>
                  <a:gd name="connsiteY9" fmla="*/ 7144 h 180975"/>
                  <a:gd name="connsiteX10" fmla="*/ 973931 w 1000125"/>
                  <a:gd name="connsiteY10" fmla="*/ 7144 h 180975"/>
                  <a:gd name="connsiteX11" fmla="*/ 995363 w 1000125"/>
                  <a:gd name="connsiteY11" fmla="*/ 28575 h 180975"/>
                  <a:gd name="connsiteX12" fmla="*/ 995363 w 1000125"/>
                  <a:gd name="connsiteY12" fmla="*/ 153353 h 180975"/>
                  <a:gd name="connsiteX13" fmla="*/ 973931 w 1000125"/>
                  <a:gd name="connsiteY13" fmla="*/ 174784 h 18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</a:cxnLst>
                <a:rect l="l" t="t" r="r" b="b"/>
                <a:pathLst>
                  <a:path w="1000125" h="180975">
                    <a:moveTo>
                      <a:pt x="973931" y="174784"/>
                    </a:moveTo>
                    <a:cubicBezTo>
                      <a:pt x="962149" y="174841"/>
                      <a:pt x="952557" y="165325"/>
                      <a:pt x="952500" y="153543"/>
                    </a:cubicBezTo>
                    <a:cubicBezTo>
                      <a:pt x="952500" y="153477"/>
                      <a:pt x="952500" y="153419"/>
                      <a:pt x="952500" y="153353"/>
                    </a:cubicBezTo>
                    <a:lnTo>
                      <a:pt x="952500" y="50006"/>
                    </a:lnTo>
                    <a:lnTo>
                      <a:pt x="50006" y="50006"/>
                    </a:lnTo>
                    <a:lnTo>
                      <a:pt x="50006" y="153353"/>
                    </a:lnTo>
                    <a:cubicBezTo>
                      <a:pt x="50006" y="165192"/>
                      <a:pt x="40415" y="174784"/>
                      <a:pt x="28575" y="174784"/>
                    </a:cubicBezTo>
                    <a:cubicBezTo>
                      <a:pt x="16735" y="174784"/>
                      <a:pt x="7144" y="165192"/>
                      <a:pt x="7144" y="153353"/>
                    </a:cubicBezTo>
                    <a:lnTo>
                      <a:pt x="7144" y="28575"/>
                    </a:lnTo>
                    <a:cubicBezTo>
                      <a:pt x="7144" y="16736"/>
                      <a:pt x="16735" y="7144"/>
                      <a:pt x="28575" y="7144"/>
                    </a:cubicBezTo>
                    <a:lnTo>
                      <a:pt x="973931" y="7144"/>
                    </a:lnTo>
                    <a:cubicBezTo>
                      <a:pt x="985771" y="7144"/>
                      <a:pt x="995363" y="16736"/>
                      <a:pt x="995363" y="28575"/>
                    </a:cubicBezTo>
                    <a:lnTo>
                      <a:pt x="995363" y="153353"/>
                    </a:lnTo>
                    <a:cubicBezTo>
                      <a:pt x="995363" y="165192"/>
                      <a:pt x="985771" y="174784"/>
                      <a:pt x="973931" y="174784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37" name="자유형: 도형 236">
                <a:extLst>
                  <a:ext uri="{FF2B5EF4-FFF2-40B4-BE49-F238E27FC236}">
                    <a16:creationId xmlns:a16="http://schemas.microsoft.com/office/drawing/2014/main" id="{B4E5D545-34DC-E172-F46C-B5192F365F7F}"/>
                  </a:ext>
                </a:extLst>
              </p:cNvPr>
              <p:cNvSpPr/>
              <p:nvPr/>
            </p:nvSpPr>
            <p:spPr>
              <a:xfrm>
                <a:off x="1474184" y="5519928"/>
                <a:ext cx="47625" cy="47625"/>
              </a:xfrm>
              <a:custGeom>
                <a:avLst/>
                <a:gdLst>
                  <a:gd name="connsiteX0" fmla="*/ 48863 w 47625"/>
                  <a:gd name="connsiteY0" fmla="*/ 28004 h 47625"/>
                  <a:gd name="connsiteX1" fmla="*/ 28004 w 47625"/>
                  <a:gd name="connsiteY1" fmla="*/ 7144 h 47625"/>
                  <a:gd name="connsiteX2" fmla="*/ 7144 w 47625"/>
                  <a:gd name="connsiteY2" fmla="*/ 28004 h 47625"/>
                  <a:gd name="connsiteX3" fmla="*/ 28004 w 47625"/>
                  <a:gd name="connsiteY3" fmla="*/ 48863 h 47625"/>
                  <a:gd name="connsiteX4" fmla="*/ 48863 w 47625"/>
                  <a:gd name="connsiteY4" fmla="*/ 2800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8863" y="28004"/>
                    </a:moveTo>
                    <a:cubicBezTo>
                      <a:pt x="48863" y="16479"/>
                      <a:pt x="39529" y="7144"/>
                      <a:pt x="28004" y="7144"/>
                    </a:cubicBezTo>
                    <a:cubicBezTo>
                      <a:pt x="16478" y="7144"/>
                      <a:pt x="7144" y="16479"/>
                      <a:pt x="7144" y="28004"/>
                    </a:cubicBezTo>
                    <a:cubicBezTo>
                      <a:pt x="7144" y="39529"/>
                      <a:pt x="16478" y="48863"/>
                      <a:pt x="28004" y="48863"/>
                    </a:cubicBezTo>
                    <a:cubicBezTo>
                      <a:pt x="39529" y="48863"/>
                      <a:pt x="48863" y="39529"/>
                      <a:pt x="48863" y="28004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38" name="자유형: 도형 237">
                <a:extLst>
                  <a:ext uri="{FF2B5EF4-FFF2-40B4-BE49-F238E27FC236}">
                    <a16:creationId xmlns:a16="http://schemas.microsoft.com/office/drawing/2014/main" id="{211727C4-B371-71F9-549F-5726634FC8FA}"/>
                  </a:ext>
                </a:extLst>
              </p:cNvPr>
              <p:cNvSpPr/>
              <p:nvPr/>
            </p:nvSpPr>
            <p:spPr>
              <a:xfrm>
                <a:off x="1549622" y="5519928"/>
                <a:ext cx="47625" cy="47625"/>
              </a:xfrm>
              <a:custGeom>
                <a:avLst/>
                <a:gdLst>
                  <a:gd name="connsiteX0" fmla="*/ 48863 w 47625"/>
                  <a:gd name="connsiteY0" fmla="*/ 28004 h 47625"/>
                  <a:gd name="connsiteX1" fmla="*/ 28004 w 47625"/>
                  <a:gd name="connsiteY1" fmla="*/ 7144 h 47625"/>
                  <a:gd name="connsiteX2" fmla="*/ 7144 w 47625"/>
                  <a:gd name="connsiteY2" fmla="*/ 28004 h 47625"/>
                  <a:gd name="connsiteX3" fmla="*/ 28004 w 47625"/>
                  <a:gd name="connsiteY3" fmla="*/ 48863 h 47625"/>
                  <a:gd name="connsiteX4" fmla="*/ 48863 w 47625"/>
                  <a:gd name="connsiteY4" fmla="*/ 28004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8863" y="28004"/>
                    </a:moveTo>
                    <a:cubicBezTo>
                      <a:pt x="48863" y="16479"/>
                      <a:pt x="39529" y="7144"/>
                      <a:pt x="28004" y="7144"/>
                    </a:cubicBezTo>
                    <a:cubicBezTo>
                      <a:pt x="16478" y="7144"/>
                      <a:pt x="7144" y="16479"/>
                      <a:pt x="7144" y="28004"/>
                    </a:cubicBezTo>
                    <a:cubicBezTo>
                      <a:pt x="7144" y="39529"/>
                      <a:pt x="16478" y="48863"/>
                      <a:pt x="28004" y="48863"/>
                    </a:cubicBezTo>
                    <a:cubicBezTo>
                      <a:pt x="39529" y="48863"/>
                      <a:pt x="48863" y="39529"/>
                      <a:pt x="48863" y="28004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39" name="자유형: 도형 238">
                <a:extLst>
                  <a:ext uri="{FF2B5EF4-FFF2-40B4-BE49-F238E27FC236}">
                    <a16:creationId xmlns:a16="http://schemas.microsoft.com/office/drawing/2014/main" id="{FA14EB43-EDD2-383B-8BBA-1434BD2847DE}"/>
                  </a:ext>
                </a:extLst>
              </p:cNvPr>
              <p:cNvSpPr/>
              <p:nvPr/>
            </p:nvSpPr>
            <p:spPr>
              <a:xfrm>
                <a:off x="1625155" y="5520118"/>
                <a:ext cx="47625" cy="47625"/>
              </a:xfrm>
              <a:custGeom>
                <a:avLst/>
                <a:gdLst>
                  <a:gd name="connsiteX0" fmla="*/ 48673 w 47625"/>
                  <a:gd name="connsiteY0" fmla="*/ 27813 h 47625"/>
                  <a:gd name="connsiteX1" fmla="*/ 27813 w 47625"/>
                  <a:gd name="connsiteY1" fmla="*/ 7144 h 47625"/>
                  <a:gd name="connsiteX2" fmla="*/ 7144 w 47625"/>
                  <a:gd name="connsiteY2" fmla="*/ 28004 h 47625"/>
                  <a:gd name="connsiteX3" fmla="*/ 27908 w 47625"/>
                  <a:gd name="connsiteY3" fmla="*/ 48673 h 47625"/>
                  <a:gd name="connsiteX4" fmla="*/ 48673 w 47625"/>
                  <a:gd name="connsiteY4" fmla="*/ 27813 h 47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" h="47625">
                    <a:moveTo>
                      <a:pt x="48673" y="27813"/>
                    </a:moveTo>
                    <a:cubicBezTo>
                      <a:pt x="48616" y="16345"/>
                      <a:pt x="39281" y="7087"/>
                      <a:pt x="27813" y="7144"/>
                    </a:cubicBezTo>
                    <a:cubicBezTo>
                      <a:pt x="16345" y="7192"/>
                      <a:pt x="7096" y="16536"/>
                      <a:pt x="7144" y="28004"/>
                    </a:cubicBezTo>
                    <a:cubicBezTo>
                      <a:pt x="7201" y="39434"/>
                      <a:pt x="16478" y="48673"/>
                      <a:pt x="27908" y="48673"/>
                    </a:cubicBezTo>
                    <a:cubicBezTo>
                      <a:pt x="39396" y="48616"/>
                      <a:pt x="48673" y="39301"/>
                      <a:pt x="48673" y="27813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40" name="자유형: 도형 239">
                <a:extLst>
                  <a:ext uri="{FF2B5EF4-FFF2-40B4-BE49-F238E27FC236}">
                    <a16:creationId xmlns:a16="http://schemas.microsoft.com/office/drawing/2014/main" id="{F35E0BD5-4982-B1B0-3A89-0AFC2271D539}"/>
                  </a:ext>
                </a:extLst>
              </p:cNvPr>
              <p:cNvSpPr/>
              <p:nvPr/>
            </p:nvSpPr>
            <p:spPr>
              <a:xfrm>
                <a:off x="1824609" y="6177343"/>
                <a:ext cx="133350" cy="228600"/>
              </a:xfrm>
              <a:custGeom>
                <a:avLst/>
                <a:gdLst>
                  <a:gd name="connsiteX0" fmla="*/ 7144 w 133350"/>
                  <a:gd name="connsiteY0" fmla="*/ 229458 h 228600"/>
                  <a:gd name="connsiteX1" fmla="*/ 7144 w 133350"/>
                  <a:gd name="connsiteY1" fmla="*/ 7144 h 228600"/>
                  <a:gd name="connsiteX2" fmla="*/ 131826 w 133350"/>
                  <a:gd name="connsiteY2" fmla="*/ 7144 h 228600"/>
                  <a:gd name="connsiteX3" fmla="*/ 131826 w 133350"/>
                  <a:gd name="connsiteY3" fmla="*/ 229458 h 2286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3350" h="228600">
                    <a:moveTo>
                      <a:pt x="7144" y="229458"/>
                    </a:moveTo>
                    <a:lnTo>
                      <a:pt x="7144" y="7144"/>
                    </a:lnTo>
                    <a:lnTo>
                      <a:pt x="131826" y="7144"/>
                    </a:lnTo>
                    <a:lnTo>
                      <a:pt x="131826" y="229458"/>
                    </a:lnTo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41" name="자유형: 도형 240">
                <a:extLst>
                  <a:ext uri="{FF2B5EF4-FFF2-40B4-BE49-F238E27FC236}">
                    <a16:creationId xmlns:a16="http://schemas.microsoft.com/office/drawing/2014/main" id="{5BE93EE0-9B4E-7609-A6ED-42ECE192F4D5}"/>
                  </a:ext>
                </a:extLst>
              </p:cNvPr>
              <p:cNvSpPr/>
              <p:nvPr/>
            </p:nvSpPr>
            <p:spPr>
              <a:xfrm>
                <a:off x="1803273" y="6155817"/>
                <a:ext cx="180975" cy="276225"/>
              </a:xfrm>
              <a:custGeom>
                <a:avLst/>
                <a:gdLst>
                  <a:gd name="connsiteX0" fmla="*/ 153162 w 180975"/>
                  <a:gd name="connsiteY0" fmla="*/ 272225 h 276225"/>
                  <a:gd name="connsiteX1" fmla="*/ 131731 w 180975"/>
                  <a:gd name="connsiteY1" fmla="*/ 250794 h 276225"/>
                  <a:gd name="connsiteX2" fmla="*/ 131731 w 180975"/>
                  <a:gd name="connsiteY2" fmla="*/ 50007 h 276225"/>
                  <a:gd name="connsiteX3" fmla="*/ 50007 w 180975"/>
                  <a:gd name="connsiteY3" fmla="*/ 50007 h 276225"/>
                  <a:gd name="connsiteX4" fmla="*/ 50007 w 180975"/>
                  <a:gd name="connsiteY4" fmla="*/ 250794 h 276225"/>
                  <a:gd name="connsiteX5" fmla="*/ 28575 w 180975"/>
                  <a:gd name="connsiteY5" fmla="*/ 272225 h 276225"/>
                  <a:gd name="connsiteX6" fmla="*/ 7144 w 180975"/>
                  <a:gd name="connsiteY6" fmla="*/ 250794 h 276225"/>
                  <a:gd name="connsiteX7" fmla="*/ 7144 w 180975"/>
                  <a:gd name="connsiteY7" fmla="*/ 28576 h 276225"/>
                  <a:gd name="connsiteX8" fmla="*/ 28385 w 180975"/>
                  <a:gd name="connsiteY8" fmla="*/ 7144 h 276225"/>
                  <a:gd name="connsiteX9" fmla="*/ 28575 w 180975"/>
                  <a:gd name="connsiteY9" fmla="*/ 7144 h 276225"/>
                  <a:gd name="connsiteX10" fmla="*/ 153162 w 180975"/>
                  <a:gd name="connsiteY10" fmla="*/ 7144 h 276225"/>
                  <a:gd name="connsiteX11" fmla="*/ 174594 w 180975"/>
                  <a:gd name="connsiteY11" fmla="*/ 28385 h 276225"/>
                  <a:gd name="connsiteX12" fmla="*/ 174594 w 180975"/>
                  <a:gd name="connsiteY12" fmla="*/ 28576 h 276225"/>
                  <a:gd name="connsiteX13" fmla="*/ 174594 w 180975"/>
                  <a:gd name="connsiteY13" fmla="*/ 250794 h 276225"/>
                  <a:gd name="connsiteX14" fmla="*/ 153162 w 180975"/>
                  <a:gd name="connsiteY14" fmla="*/ 272225 h 2762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</a:cxnLst>
                <a:rect l="l" t="t" r="r" b="b"/>
                <a:pathLst>
                  <a:path w="180975" h="276225">
                    <a:moveTo>
                      <a:pt x="153162" y="272225"/>
                    </a:moveTo>
                    <a:cubicBezTo>
                      <a:pt x="141323" y="272225"/>
                      <a:pt x="131731" y="262604"/>
                      <a:pt x="131731" y="250794"/>
                    </a:cubicBezTo>
                    <a:lnTo>
                      <a:pt x="131731" y="50007"/>
                    </a:lnTo>
                    <a:lnTo>
                      <a:pt x="50007" y="50007"/>
                    </a:lnTo>
                    <a:lnTo>
                      <a:pt x="50007" y="250794"/>
                    </a:lnTo>
                    <a:cubicBezTo>
                      <a:pt x="50007" y="262604"/>
                      <a:pt x="40415" y="272225"/>
                      <a:pt x="28575" y="272225"/>
                    </a:cubicBezTo>
                    <a:cubicBezTo>
                      <a:pt x="16736" y="272225"/>
                      <a:pt x="7144" y="262604"/>
                      <a:pt x="7144" y="250794"/>
                    </a:cubicBezTo>
                    <a:lnTo>
                      <a:pt x="7144" y="28576"/>
                    </a:lnTo>
                    <a:cubicBezTo>
                      <a:pt x="7087" y="16765"/>
                      <a:pt x="16602" y="7240"/>
                      <a:pt x="28385" y="7144"/>
                    </a:cubicBezTo>
                    <a:cubicBezTo>
                      <a:pt x="28451" y="7144"/>
                      <a:pt x="28509" y="7144"/>
                      <a:pt x="28575" y="7144"/>
                    </a:cubicBezTo>
                    <a:lnTo>
                      <a:pt x="153162" y="7144"/>
                    </a:lnTo>
                    <a:cubicBezTo>
                      <a:pt x="164945" y="7049"/>
                      <a:pt x="174536" y="16574"/>
                      <a:pt x="174594" y="28385"/>
                    </a:cubicBezTo>
                    <a:cubicBezTo>
                      <a:pt x="174594" y="28480"/>
                      <a:pt x="174594" y="28480"/>
                      <a:pt x="174594" y="28576"/>
                    </a:cubicBezTo>
                    <a:lnTo>
                      <a:pt x="174594" y="250794"/>
                    </a:lnTo>
                    <a:cubicBezTo>
                      <a:pt x="174594" y="262604"/>
                      <a:pt x="165002" y="272225"/>
                      <a:pt x="153162" y="272225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42" name="자유형: 도형 241">
                <a:extLst>
                  <a:ext uri="{FF2B5EF4-FFF2-40B4-BE49-F238E27FC236}">
                    <a16:creationId xmlns:a16="http://schemas.microsoft.com/office/drawing/2014/main" id="{14163462-3EFD-6C45-63E5-75D4CED8C15F}"/>
                  </a:ext>
                </a:extLst>
              </p:cNvPr>
              <p:cNvSpPr/>
              <p:nvPr/>
            </p:nvSpPr>
            <p:spPr>
              <a:xfrm>
                <a:off x="1621155" y="5664708"/>
                <a:ext cx="542925" cy="542925"/>
              </a:xfrm>
              <a:custGeom>
                <a:avLst/>
                <a:gdLst>
                  <a:gd name="connsiteX0" fmla="*/ 538829 w 542925"/>
                  <a:gd name="connsiteY0" fmla="*/ 272987 h 542925"/>
                  <a:gd name="connsiteX1" fmla="*/ 272986 w 542925"/>
                  <a:gd name="connsiteY1" fmla="*/ 7144 h 542925"/>
                  <a:gd name="connsiteX2" fmla="*/ 7144 w 542925"/>
                  <a:gd name="connsiteY2" fmla="*/ 272987 h 542925"/>
                  <a:gd name="connsiteX3" fmla="*/ 272986 w 542925"/>
                  <a:gd name="connsiteY3" fmla="*/ 538830 h 542925"/>
                  <a:gd name="connsiteX4" fmla="*/ 538829 w 542925"/>
                  <a:gd name="connsiteY4" fmla="*/ 273177 h 542925"/>
                  <a:gd name="connsiteX5" fmla="*/ 538829 w 542925"/>
                  <a:gd name="connsiteY5" fmla="*/ 272987 h 5429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542925" h="542925">
                    <a:moveTo>
                      <a:pt x="538829" y="272987"/>
                    </a:moveTo>
                    <a:cubicBezTo>
                      <a:pt x="538829" y="126168"/>
                      <a:pt x="419805" y="7144"/>
                      <a:pt x="272986" y="7144"/>
                    </a:cubicBezTo>
                    <a:cubicBezTo>
                      <a:pt x="126168" y="7144"/>
                      <a:pt x="7144" y="126168"/>
                      <a:pt x="7144" y="272987"/>
                    </a:cubicBezTo>
                    <a:cubicBezTo>
                      <a:pt x="7144" y="419767"/>
                      <a:pt x="126168" y="538830"/>
                      <a:pt x="272986" y="538830"/>
                    </a:cubicBezTo>
                    <a:cubicBezTo>
                      <a:pt x="419757" y="538924"/>
                      <a:pt x="538772" y="419957"/>
                      <a:pt x="538829" y="273177"/>
                    </a:cubicBezTo>
                    <a:cubicBezTo>
                      <a:pt x="538829" y="273082"/>
                      <a:pt x="538829" y="273082"/>
                      <a:pt x="538829" y="272987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43" name="자유형: 도형 242">
                <a:extLst>
                  <a:ext uri="{FF2B5EF4-FFF2-40B4-BE49-F238E27FC236}">
                    <a16:creationId xmlns:a16="http://schemas.microsoft.com/office/drawing/2014/main" id="{66975436-B7AF-232E-8BA3-8702E6E4577B}"/>
                  </a:ext>
                </a:extLst>
              </p:cNvPr>
              <p:cNvSpPr/>
              <p:nvPr/>
            </p:nvSpPr>
            <p:spPr>
              <a:xfrm>
                <a:off x="1599724" y="5643277"/>
                <a:ext cx="581025" cy="581025"/>
              </a:xfrm>
              <a:custGeom>
                <a:avLst/>
                <a:gdLst>
                  <a:gd name="connsiteX0" fmla="*/ 294418 w 581025"/>
                  <a:gd name="connsiteY0" fmla="*/ 581692 h 581025"/>
                  <a:gd name="connsiteX1" fmla="*/ 7144 w 581025"/>
                  <a:gd name="connsiteY1" fmla="*/ 294418 h 581025"/>
                  <a:gd name="connsiteX2" fmla="*/ 294418 w 581025"/>
                  <a:gd name="connsiteY2" fmla="*/ 7144 h 581025"/>
                  <a:gd name="connsiteX3" fmla="*/ 581692 w 581025"/>
                  <a:gd name="connsiteY3" fmla="*/ 294418 h 581025"/>
                  <a:gd name="connsiteX4" fmla="*/ 294418 w 581025"/>
                  <a:gd name="connsiteY4" fmla="*/ 581692 h 581025"/>
                  <a:gd name="connsiteX5" fmla="*/ 294418 w 581025"/>
                  <a:gd name="connsiteY5" fmla="*/ 50006 h 581025"/>
                  <a:gd name="connsiteX6" fmla="*/ 49720 w 581025"/>
                  <a:gd name="connsiteY6" fmla="*/ 294132 h 581025"/>
                  <a:gd name="connsiteX7" fmla="*/ 293846 w 581025"/>
                  <a:gd name="connsiteY7" fmla="*/ 538830 h 581025"/>
                  <a:gd name="connsiteX8" fmla="*/ 538543 w 581025"/>
                  <a:gd name="connsiteY8" fmla="*/ 294704 h 581025"/>
                  <a:gd name="connsiteX9" fmla="*/ 538543 w 581025"/>
                  <a:gd name="connsiteY9" fmla="*/ 294418 h 581025"/>
                  <a:gd name="connsiteX10" fmla="*/ 294418 w 581025"/>
                  <a:gd name="connsiteY10" fmla="*/ 50006 h 5810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581025" h="581025">
                    <a:moveTo>
                      <a:pt x="294418" y="581692"/>
                    </a:moveTo>
                    <a:cubicBezTo>
                      <a:pt x="135760" y="581692"/>
                      <a:pt x="7144" y="453105"/>
                      <a:pt x="7144" y="294418"/>
                    </a:cubicBezTo>
                    <a:cubicBezTo>
                      <a:pt x="7144" y="135760"/>
                      <a:pt x="135760" y="7144"/>
                      <a:pt x="294418" y="7144"/>
                    </a:cubicBezTo>
                    <a:cubicBezTo>
                      <a:pt x="453076" y="7144"/>
                      <a:pt x="581692" y="135760"/>
                      <a:pt x="581692" y="294418"/>
                    </a:cubicBezTo>
                    <a:cubicBezTo>
                      <a:pt x="581530" y="453010"/>
                      <a:pt x="453009" y="581502"/>
                      <a:pt x="294418" y="581692"/>
                    </a:cubicBezTo>
                    <a:close/>
                    <a:moveTo>
                      <a:pt x="294418" y="50006"/>
                    </a:moveTo>
                    <a:cubicBezTo>
                      <a:pt x="159429" y="49845"/>
                      <a:pt x="49882" y="159163"/>
                      <a:pt x="49720" y="294132"/>
                    </a:cubicBezTo>
                    <a:cubicBezTo>
                      <a:pt x="49558" y="429102"/>
                      <a:pt x="158858" y="538639"/>
                      <a:pt x="293846" y="538830"/>
                    </a:cubicBezTo>
                    <a:cubicBezTo>
                      <a:pt x="428834" y="539019"/>
                      <a:pt x="538382" y="429673"/>
                      <a:pt x="538543" y="294704"/>
                    </a:cubicBezTo>
                    <a:cubicBezTo>
                      <a:pt x="538543" y="294608"/>
                      <a:pt x="538543" y="294513"/>
                      <a:pt x="538543" y="294418"/>
                    </a:cubicBezTo>
                    <a:cubicBezTo>
                      <a:pt x="538391" y="159639"/>
                      <a:pt x="429225" y="50321"/>
                      <a:pt x="294418" y="50006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44" name="자유형: 도형 243">
                <a:extLst>
                  <a:ext uri="{FF2B5EF4-FFF2-40B4-BE49-F238E27FC236}">
                    <a16:creationId xmlns:a16="http://schemas.microsoft.com/office/drawing/2014/main" id="{C7C3DC92-2F52-0C85-F997-2AF0E940C9FE}"/>
                  </a:ext>
                </a:extLst>
              </p:cNvPr>
              <p:cNvSpPr/>
              <p:nvPr/>
            </p:nvSpPr>
            <p:spPr>
              <a:xfrm>
                <a:off x="1475256" y="5846155"/>
                <a:ext cx="85725" cy="180975"/>
              </a:xfrm>
              <a:custGeom>
                <a:avLst/>
                <a:gdLst>
                  <a:gd name="connsiteX0" fmla="*/ 64937 w 85725"/>
                  <a:gd name="connsiteY0" fmla="*/ 175931 h 180975"/>
                  <a:gd name="connsiteX1" fmla="*/ 46363 w 85725"/>
                  <a:gd name="connsiteY1" fmla="*/ 165167 h 180975"/>
                  <a:gd name="connsiteX2" fmla="*/ 10073 w 85725"/>
                  <a:gd name="connsiteY2" fmla="*/ 102207 h 180975"/>
                  <a:gd name="connsiteX3" fmla="*/ 10073 w 85725"/>
                  <a:gd name="connsiteY3" fmla="*/ 80776 h 180975"/>
                  <a:gd name="connsiteX4" fmla="*/ 46363 w 85725"/>
                  <a:gd name="connsiteY4" fmla="*/ 17911 h 180975"/>
                  <a:gd name="connsiteX5" fmla="*/ 75652 w 85725"/>
                  <a:gd name="connsiteY5" fmla="*/ 10005 h 180975"/>
                  <a:gd name="connsiteX6" fmla="*/ 83510 w 85725"/>
                  <a:gd name="connsiteY6" fmla="*/ 39342 h 180975"/>
                  <a:gd name="connsiteX7" fmla="*/ 53316 w 85725"/>
                  <a:gd name="connsiteY7" fmla="*/ 91539 h 180975"/>
                  <a:gd name="connsiteX8" fmla="*/ 83510 w 85725"/>
                  <a:gd name="connsiteY8" fmla="*/ 143736 h 180975"/>
                  <a:gd name="connsiteX9" fmla="*/ 75700 w 85725"/>
                  <a:gd name="connsiteY9" fmla="*/ 173073 h 180975"/>
                  <a:gd name="connsiteX10" fmla="*/ 64937 w 85725"/>
                  <a:gd name="connsiteY10" fmla="*/ 175931 h 18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5725" h="180975">
                    <a:moveTo>
                      <a:pt x="64937" y="175931"/>
                    </a:moveTo>
                    <a:cubicBezTo>
                      <a:pt x="57269" y="175931"/>
                      <a:pt x="50182" y="171835"/>
                      <a:pt x="46363" y="165167"/>
                    </a:cubicBezTo>
                    <a:lnTo>
                      <a:pt x="10073" y="102207"/>
                    </a:lnTo>
                    <a:cubicBezTo>
                      <a:pt x="6167" y="95635"/>
                      <a:pt x="6167" y="87348"/>
                      <a:pt x="10073" y="80776"/>
                    </a:cubicBezTo>
                    <a:lnTo>
                      <a:pt x="46363" y="17911"/>
                    </a:lnTo>
                    <a:cubicBezTo>
                      <a:pt x="52278" y="7624"/>
                      <a:pt x="65394" y="4100"/>
                      <a:pt x="75652" y="10005"/>
                    </a:cubicBezTo>
                    <a:cubicBezTo>
                      <a:pt x="85911" y="16006"/>
                      <a:pt x="89425" y="29055"/>
                      <a:pt x="83510" y="39342"/>
                    </a:cubicBezTo>
                    <a:lnTo>
                      <a:pt x="53316" y="91539"/>
                    </a:lnTo>
                    <a:lnTo>
                      <a:pt x="83510" y="143736"/>
                    </a:lnTo>
                    <a:cubicBezTo>
                      <a:pt x="89416" y="154023"/>
                      <a:pt x="85930" y="167073"/>
                      <a:pt x="75700" y="173073"/>
                    </a:cubicBezTo>
                    <a:cubicBezTo>
                      <a:pt x="72414" y="174978"/>
                      <a:pt x="68709" y="175931"/>
                      <a:pt x="64937" y="175931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45" name="자유형: 도형 244">
                <a:extLst>
                  <a:ext uri="{FF2B5EF4-FFF2-40B4-BE49-F238E27FC236}">
                    <a16:creationId xmlns:a16="http://schemas.microsoft.com/office/drawing/2014/main" id="{045B07BF-F399-9529-915E-8AED60D7C574}"/>
                  </a:ext>
                </a:extLst>
              </p:cNvPr>
              <p:cNvSpPr/>
              <p:nvPr/>
            </p:nvSpPr>
            <p:spPr>
              <a:xfrm>
                <a:off x="2219500" y="5846155"/>
                <a:ext cx="85725" cy="180975"/>
              </a:xfrm>
              <a:custGeom>
                <a:avLst/>
                <a:gdLst>
                  <a:gd name="connsiteX0" fmla="*/ 28591 w 85725"/>
                  <a:gd name="connsiteY0" fmla="*/ 175931 h 180975"/>
                  <a:gd name="connsiteX1" fmla="*/ 17828 w 85725"/>
                  <a:gd name="connsiteY1" fmla="*/ 173073 h 180975"/>
                  <a:gd name="connsiteX2" fmla="*/ 10017 w 85725"/>
                  <a:gd name="connsiteY2" fmla="*/ 143736 h 180975"/>
                  <a:gd name="connsiteX3" fmla="*/ 40211 w 85725"/>
                  <a:gd name="connsiteY3" fmla="*/ 91539 h 180975"/>
                  <a:gd name="connsiteX4" fmla="*/ 10017 w 85725"/>
                  <a:gd name="connsiteY4" fmla="*/ 39342 h 180975"/>
                  <a:gd name="connsiteX5" fmla="*/ 17875 w 85725"/>
                  <a:gd name="connsiteY5" fmla="*/ 10005 h 180975"/>
                  <a:gd name="connsiteX6" fmla="*/ 47165 w 85725"/>
                  <a:gd name="connsiteY6" fmla="*/ 17911 h 180975"/>
                  <a:gd name="connsiteX7" fmla="*/ 83455 w 85725"/>
                  <a:gd name="connsiteY7" fmla="*/ 80776 h 180975"/>
                  <a:gd name="connsiteX8" fmla="*/ 83455 w 85725"/>
                  <a:gd name="connsiteY8" fmla="*/ 102207 h 180975"/>
                  <a:gd name="connsiteX9" fmla="*/ 47165 w 85725"/>
                  <a:gd name="connsiteY9" fmla="*/ 165167 h 180975"/>
                  <a:gd name="connsiteX10" fmla="*/ 28591 w 85725"/>
                  <a:gd name="connsiteY10" fmla="*/ 175931 h 1809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85725" h="180975">
                    <a:moveTo>
                      <a:pt x="28591" y="175931"/>
                    </a:moveTo>
                    <a:cubicBezTo>
                      <a:pt x="24819" y="175931"/>
                      <a:pt x="21114" y="174978"/>
                      <a:pt x="17828" y="173073"/>
                    </a:cubicBezTo>
                    <a:cubicBezTo>
                      <a:pt x="7598" y="167073"/>
                      <a:pt x="4112" y="154023"/>
                      <a:pt x="10017" y="143736"/>
                    </a:cubicBezTo>
                    <a:lnTo>
                      <a:pt x="40211" y="91539"/>
                    </a:lnTo>
                    <a:lnTo>
                      <a:pt x="10017" y="39342"/>
                    </a:lnTo>
                    <a:cubicBezTo>
                      <a:pt x="4102" y="29055"/>
                      <a:pt x="7617" y="16006"/>
                      <a:pt x="17875" y="10005"/>
                    </a:cubicBezTo>
                    <a:cubicBezTo>
                      <a:pt x="28134" y="4100"/>
                      <a:pt x="41249" y="7624"/>
                      <a:pt x="47165" y="17911"/>
                    </a:cubicBezTo>
                    <a:lnTo>
                      <a:pt x="83455" y="80776"/>
                    </a:lnTo>
                    <a:cubicBezTo>
                      <a:pt x="87360" y="87348"/>
                      <a:pt x="87360" y="95635"/>
                      <a:pt x="83455" y="102207"/>
                    </a:cubicBezTo>
                    <a:lnTo>
                      <a:pt x="47165" y="165167"/>
                    </a:lnTo>
                    <a:cubicBezTo>
                      <a:pt x="43345" y="171835"/>
                      <a:pt x="36259" y="175931"/>
                      <a:pt x="28591" y="175931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46" name="자유형: 도형 245">
                <a:extLst>
                  <a:ext uri="{FF2B5EF4-FFF2-40B4-BE49-F238E27FC236}">
                    <a16:creationId xmlns:a16="http://schemas.microsoft.com/office/drawing/2014/main" id="{8CC0FB42-6501-B162-9A9B-7E2E919AE314}"/>
                  </a:ext>
                </a:extLst>
              </p:cNvPr>
              <p:cNvSpPr/>
              <p:nvPr/>
            </p:nvSpPr>
            <p:spPr>
              <a:xfrm>
                <a:off x="1687830" y="5731383"/>
                <a:ext cx="409575" cy="409575"/>
              </a:xfrm>
              <a:custGeom>
                <a:avLst/>
                <a:gdLst>
                  <a:gd name="connsiteX0" fmla="*/ 405479 w 409575"/>
                  <a:gd name="connsiteY0" fmla="*/ 206312 h 409575"/>
                  <a:gd name="connsiteX1" fmla="*/ 206311 w 409575"/>
                  <a:gd name="connsiteY1" fmla="*/ 7144 h 409575"/>
                  <a:gd name="connsiteX2" fmla="*/ 7144 w 409575"/>
                  <a:gd name="connsiteY2" fmla="*/ 206312 h 409575"/>
                  <a:gd name="connsiteX3" fmla="*/ 206311 w 409575"/>
                  <a:gd name="connsiteY3" fmla="*/ 405480 h 409575"/>
                  <a:gd name="connsiteX4" fmla="*/ 405479 w 409575"/>
                  <a:gd name="connsiteY4" fmla="*/ 206312 h 409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9575" h="409575">
                    <a:moveTo>
                      <a:pt x="405479" y="206312"/>
                    </a:moveTo>
                    <a:cubicBezTo>
                      <a:pt x="405479" y="96298"/>
                      <a:pt x="316306" y="7144"/>
                      <a:pt x="206311" y="7144"/>
                    </a:cubicBezTo>
                    <a:cubicBezTo>
                      <a:pt x="96317" y="7144"/>
                      <a:pt x="7144" y="96298"/>
                      <a:pt x="7144" y="206312"/>
                    </a:cubicBezTo>
                    <a:cubicBezTo>
                      <a:pt x="7144" y="316325"/>
                      <a:pt x="96317" y="405480"/>
                      <a:pt x="206311" y="405480"/>
                    </a:cubicBezTo>
                    <a:cubicBezTo>
                      <a:pt x="316306" y="405480"/>
                      <a:pt x="405479" y="316325"/>
                      <a:pt x="405479" y="206312"/>
                    </a:cubicBezTo>
                    <a:close/>
                  </a:path>
                </a:pathLst>
              </a:custGeom>
              <a:solidFill>
                <a:srgbClr val="51565D">
                  <a:lumMod val="20000"/>
                  <a:lumOff val="8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47" name="자유형: 도형 246">
                <a:extLst>
                  <a:ext uri="{FF2B5EF4-FFF2-40B4-BE49-F238E27FC236}">
                    <a16:creationId xmlns:a16="http://schemas.microsoft.com/office/drawing/2014/main" id="{B4F6DAD2-2E4E-626F-0D0A-A0B12D66D844}"/>
                  </a:ext>
                </a:extLst>
              </p:cNvPr>
              <p:cNvSpPr/>
              <p:nvPr/>
            </p:nvSpPr>
            <p:spPr>
              <a:xfrm>
                <a:off x="1723549" y="5767102"/>
                <a:ext cx="190500" cy="190500"/>
              </a:xfrm>
              <a:custGeom>
                <a:avLst/>
                <a:gdLst>
                  <a:gd name="connsiteX0" fmla="*/ 28575 w 190500"/>
                  <a:gd name="connsiteY0" fmla="*/ 192024 h 190500"/>
                  <a:gd name="connsiteX1" fmla="*/ 7144 w 190500"/>
                  <a:gd name="connsiteY1" fmla="*/ 170593 h 190500"/>
                  <a:gd name="connsiteX2" fmla="*/ 170593 w 190500"/>
                  <a:gd name="connsiteY2" fmla="*/ 7144 h 190500"/>
                  <a:gd name="connsiteX3" fmla="*/ 192024 w 190500"/>
                  <a:gd name="connsiteY3" fmla="*/ 28575 h 190500"/>
                  <a:gd name="connsiteX4" fmla="*/ 170593 w 190500"/>
                  <a:gd name="connsiteY4" fmla="*/ 50006 h 190500"/>
                  <a:gd name="connsiteX5" fmla="*/ 50006 w 190500"/>
                  <a:gd name="connsiteY5" fmla="*/ 170593 h 190500"/>
                  <a:gd name="connsiteX6" fmla="*/ 28575 w 190500"/>
                  <a:gd name="connsiteY6" fmla="*/ 192024 h 1905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90500" h="190500">
                    <a:moveTo>
                      <a:pt x="28575" y="192024"/>
                    </a:moveTo>
                    <a:cubicBezTo>
                      <a:pt x="16735" y="192024"/>
                      <a:pt x="7144" y="182404"/>
                      <a:pt x="7144" y="170593"/>
                    </a:cubicBezTo>
                    <a:cubicBezTo>
                      <a:pt x="7248" y="80391"/>
                      <a:pt x="80362" y="7248"/>
                      <a:pt x="170593" y="7144"/>
                    </a:cubicBezTo>
                    <a:cubicBezTo>
                      <a:pt x="182432" y="7144"/>
                      <a:pt x="192024" y="16736"/>
                      <a:pt x="192024" y="28575"/>
                    </a:cubicBezTo>
                    <a:cubicBezTo>
                      <a:pt x="192024" y="40386"/>
                      <a:pt x="182432" y="50006"/>
                      <a:pt x="170593" y="50006"/>
                    </a:cubicBezTo>
                    <a:cubicBezTo>
                      <a:pt x="104041" y="50102"/>
                      <a:pt x="50111" y="104013"/>
                      <a:pt x="50006" y="170593"/>
                    </a:cubicBezTo>
                    <a:cubicBezTo>
                      <a:pt x="50006" y="182404"/>
                      <a:pt x="40415" y="192024"/>
                      <a:pt x="28575" y="192024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48" name="자유형: 도형 247">
                <a:extLst>
                  <a:ext uri="{FF2B5EF4-FFF2-40B4-BE49-F238E27FC236}">
                    <a16:creationId xmlns:a16="http://schemas.microsoft.com/office/drawing/2014/main" id="{C4FB8783-27EB-D9BF-07B0-4C53BE9B4BB2}"/>
                  </a:ext>
                </a:extLst>
              </p:cNvPr>
              <p:cNvSpPr/>
              <p:nvPr/>
            </p:nvSpPr>
            <p:spPr>
              <a:xfrm>
                <a:off x="1827466" y="6309931"/>
                <a:ext cx="133350" cy="57150"/>
              </a:xfrm>
              <a:custGeom>
                <a:avLst/>
                <a:gdLst>
                  <a:gd name="connsiteX0" fmla="*/ 104775 w 133350"/>
                  <a:gd name="connsiteY0" fmla="*/ 50006 h 57150"/>
                  <a:gd name="connsiteX1" fmla="*/ 28575 w 133350"/>
                  <a:gd name="connsiteY1" fmla="*/ 50006 h 57150"/>
                  <a:gd name="connsiteX2" fmla="*/ 7144 w 133350"/>
                  <a:gd name="connsiteY2" fmla="*/ 28575 h 57150"/>
                  <a:gd name="connsiteX3" fmla="*/ 28575 w 133350"/>
                  <a:gd name="connsiteY3" fmla="*/ 7144 h 57150"/>
                  <a:gd name="connsiteX4" fmla="*/ 104775 w 133350"/>
                  <a:gd name="connsiteY4" fmla="*/ 7144 h 57150"/>
                  <a:gd name="connsiteX5" fmla="*/ 126206 w 133350"/>
                  <a:gd name="connsiteY5" fmla="*/ 28575 h 57150"/>
                  <a:gd name="connsiteX6" fmla="*/ 104775 w 133350"/>
                  <a:gd name="connsiteY6" fmla="*/ 50006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350" h="57150">
                    <a:moveTo>
                      <a:pt x="104775" y="50006"/>
                    </a:moveTo>
                    <a:lnTo>
                      <a:pt x="28575" y="50006"/>
                    </a:lnTo>
                    <a:cubicBezTo>
                      <a:pt x="16735" y="50006"/>
                      <a:pt x="7144" y="40386"/>
                      <a:pt x="7144" y="28575"/>
                    </a:cubicBezTo>
                    <a:cubicBezTo>
                      <a:pt x="7144" y="16764"/>
                      <a:pt x="16735" y="7144"/>
                      <a:pt x="28575" y="7144"/>
                    </a:cubicBezTo>
                    <a:lnTo>
                      <a:pt x="104775" y="7144"/>
                    </a:lnTo>
                    <a:cubicBezTo>
                      <a:pt x="116615" y="7144"/>
                      <a:pt x="126206" y="16764"/>
                      <a:pt x="126206" y="28575"/>
                    </a:cubicBezTo>
                    <a:cubicBezTo>
                      <a:pt x="126206" y="40386"/>
                      <a:pt x="116615" y="50006"/>
                      <a:pt x="104775" y="50006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</p:grpSp>
        <p:sp>
          <p:nvSpPr>
            <p:cNvPr id="249" name="TextBox 248">
              <a:extLst>
                <a:ext uri="{FF2B5EF4-FFF2-40B4-BE49-F238E27FC236}">
                  <a16:creationId xmlns:a16="http://schemas.microsoft.com/office/drawing/2014/main" id="{3CA7FAA8-866B-106E-331A-44B12E897660}"/>
                </a:ext>
              </a:extLst>
            </p:cNvPr>
            <p:cNvSpPr txBox="1"/>
            <p:nvPr/>
          </p:nvSpPr>
          <p:spPr>
            <a:xfrm>
              <a:off x="765675" y="6137786"/>
              <a:ext cx="1428450" cy="900246"/>
            </a:xfrm>
            <a:prstGeom prst="rect">
              <a:avLst/>
            </a:prstGeom>
            <a:noFill/>
          </p:spPr>
          <p:txBody>
            <a:bodyPr wrap="none" lIns="72000" rIns="72000">
              <a:spAutoFit/>
            </a:bodyPr>
            <a:lstStyle>
              <a:defPPr>
                <a:defRPr lang="ko-KR"/>
              </a:defPPr>
              <a:lvl2pPr marL="88900" lvl="1" indent="-88900" defTabSz="957263" eaLnBrk="1" fontAlgn="auto" hangingPunct="1">
                <a:spcBef>
                  <a:spcPts val="0"/>
                </a:spcBef>
                <a:spcAft>
                  <a:spcPts val="100"/>
                </a:spcAft>
                <a:buSzPct val="100000"/>
                <a:buFont typeface="Arial" panose="020B0604020202020204" pitchFamily="34" charset="0"/>
                <a:buChar char="•"/>
                <a:tabLst>
                  <a:tab pos="5648325" algn="l"/>
                </a:tabLst>
                <a:defRPr sz="1200" kern="0">
                  <a:ln>
                    <a:solidFill>
                      <a:srgbClr val="0F4374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itchFamily="18" charset="-127"/>
                  <a:ea typeface="Rix모던고딕 M" pitchFamily="18" charset="-127"/>
                </a:defRPr>
              </a:lvl2pPr>
            </a:lstStyle>
            <a:p>
              <a:pPr marL="95250" lvl="1" indent="-95250" eaLnBrk="0" latinLnBrk="0" hangingPunct="0">
                <a:spcAft>
                  <a:spcPts val="50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100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대면 질의</a:t>
              </a:r>
              <a:endPara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/>
                <a:ea typeface="KoPub돋움체 Medium"/>
              </a:endParaRPr>
            </a:p>
            <a:p>
              <a:pPr marL="95250" lvl="1" indent="-95250" eaLnBrk="0" latinLnBrk="0" hangingPunct="0">
                <a:spcAft>
                  <a:spcPts val="50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100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유</a:t>
              </a:r>
              <a:r>
                <a:rPr lang="en-US" altLang="ko-KR" sz="100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/</a:t>
              </a:r>
              <a:r>
                <a:rPr lang="ko-KR" altLang="en-US" sz="100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무선 통화</a:t>
              </a:r>
            </a:p>
            <a:p>
              <a:pPr marL="95250" lvl="1" indent="-95250" eaLnBrk="0" latinLnBrk="0" hangingPunct="0">
                <a:spcAft>
                  <a:spcPts val="50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100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제안요청서 분석</a:t>
              </a:r>
              <a:endPara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/>
                <a:ea typeface="KoPub돋움체 Medium"/>
              </a:endParaRPr>
            </a:p>
            <a:p>
              <a:pPr marL="95250" lvl="1" indent="-95250" eaLnBrk="0" latinLnBrk="0" hangingPunct="0">
                <a:spcAft>
                  <a:spcPts val="50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100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정보열람</a:t>
              </a:r>
              <a:r>
                <a:rPr lang="en-US" altLang="ko-KR" sz="100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/</a:t>
              </a:r>
              <a:r>
                <a:rPr lang="ko-KR" altLang="en-US" sz="100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현황 자료 분석</a:t>
              </a:r>
            </a:p>
          </p:txBody>
        </p:sp>
      </p:grpSp>
      <p:grpSp>
        <p:nvGrpSpPr>
          <p:cNvPr id="402" name="그룹 401">
            <a:extLst>
              <a:ext uri="{FF2B5EF4-FFF2-40B4-BE49-F238E27FC236}">
                <a16:creationId xmlns:a16="http://schemas.microsoft.com/office/drawing/2014/main" id="{40D08876-68D7-DEE7-4503-D420081027F1}"/>
              </a:ext>
            </a:extLst>
          </p:cNvPr>
          <p:cNvGrpSpPr/>
          <p:nvPr/>
        </p:nvGrpSpPr>
        <p:grpSpPr>
          <a:xfrm>
            <a:off x="765675" y="7456416"/>
            <a:ext cx="1393920" cy="1885872"/>
            <a:chOff x="765675" y="7312400"/>
            <a:chExt cx="1393920" cy="1885872"/>
          </a:xfrm>
        </p:grpSpPr>
        <p:sp>
          <p:nvSpPr>
            <p:cNvPr id="250" name="사각형: 둥근 모서리 249">
              <a:extLst>
                <a:ext uri="{FF2B5EF4-FFF2-40B4-BE49-F238E27FC236}">
                  <a16:creationId xmlns:a16="http://schemas.microsoft.com/office/drawing/2014/main" id="{54C07745-B2B6-F729-AACB-60F956480F3C}"/>
                </a:ext>
              </a:extLst>
            </p:cNvPr>
            <p:cNvSpPr/>
            <p:nvPr/>
          </p:nvSpPr>
          <p:spPr>
            <a:xfrm>
              <a:off x="765675" y="7986347"/>
              <a:ext cx="1393920" cy="283140"/>
            </a:xfrm>
            <a:prstGeom prst="roundRect">
              <a:avLst>
                <a:gd name="adj" fmla="val 50000"/>
              </a:avLst>
            </a:prstGeom>
            <a:solidFill>
              <a:srgbClr val="51565D">
                <a:lumMod val="20000"/>
                <a:lumOff val="80000"/>
              </a:srgbClr>
            </a:solidFill>
          </p:spPr>
          <p:txBody>
            <a:bodyPr wrap="square" anchor="ctr">
              <a:noAutofit/>
            </a:bodyPr>
            <a:lstStyle/>
            <a:p>
              <a:pPr marL="0" marR="0" lvl="0" indent="-180975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100" b="0" i="0" u="none" strike="noStrike" kern="0" cap="none" spc="-40" normalizeH="0" baseline="0" noProof="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내 용</a:t>
              </a:r>
            </a:p>
          </p:txBody>
        </p:sp>
        <p:grpSp>
          <p:nvGrpSpPr>
            <p:cNvPr id="251" name="그룹 250">
              <a:extLst>
                <a:ext uri="{FF2B5EF4-FFF2-40B4-BE49-F238E27FC236}">
                  <a16:creationId xmlns:a16="http://schemas.microsoft.com/office/drawing/2014/main" id="{B77E8C64-DAEF-9B1B-80E2-30EE3C1BEBDF}"/>
                </a:ext>
              </a:extLst>
            </p:cNvPr>
            <p:cNvGrpSpPr/>
            <p:nvPr/>
          </p:nvGrpSpPr>
          <p:grpSpPr>
            <a:xfrm>
              <a:off x="1085984" y="7312400"/>
              <a:ext cx="586572" cy="598007"/>
              <a:chOff x="6709039" y="2043719"/>
              <a:chExt cx="1024690" cy="1044667"/>
            </a:xfrm>
          </p:grpSpPr>
          <p:sp>
            <p:nvSpPr>
              <p:cNvPr id="252" name="자유형: 도형 251">
                <a:extLst>
                  <a:ext uri="{FF2B5EF4-FFF2-40B4-BE49-F238E27FC236}">
                    <a16:creationId xmlns:a16="http://schemas.microsoft.com/office/drawing/2014/main" id="{971292A2-B63C-A198-4500-EBC2672ED9C9}"/>
                  </a:ext>
                </a:extLst>
              </p:cNvPr>
              <p:cNvSpPr/>
              <p:nvPr/>
            </p:nvSpPr>
            <p:spPr>
              <a:xfrm>
                <a:off x="6709039" y="2043719"/>
                <a:ext cx="1019175" cy="1019175"/>
              </a:xfrm>
              <a:custGeom>
                <a:avLst/>
                <a:gdLst>
                  <a:gd name="connsiteX0" fmla="*/ 944255 w 1019175"/>
                  <a:gd name="connsiteY0" fmla="*/ 440632 h 1019175"/>
                  <a:gd name="connsiteX1" fmla="*/ 583031 w 1019175"/>
                  <a:gd name="connsiteY1" fmla="*/ 944254 h 1019175"/>
                  <a:gd name="connsiteX2" fmla="*/ 79409 w 1019175"/>
                  <a:gd name="connsiteY2" fmla="*/ 583031 h 1019175"/>
                  <a:gd name="connsiteX3" fmla="*/ 440632 w 1019175"/>
                  <a:gd name="connsiteY3" fmla="*/ 79409 h 1019175"/>
                  <a:gd name="connsiteX4" fmla="*/ 944255 w 1019175"/>
                  <a:gd name="connsiteY4" fmla="*/ 440632 h 10191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019175" h="1019175">
                    <a:moveTo>
                      <a:pt x="944255" y="440632"/>
                    </a:moveTo>
                    <a:cubicBezTo>
                      <a:pt x="983577" y="679453"/>
                      <a:pt x="821852" y="904932"/>
                      <a:pt x="583031" y="944254"/>
                    </a:cubicBezTo>
                    <a:cubicBezTo>
                      <a:pt x="344211" y="983577"/>
                      <a:pt x="118731" y="821852"/>
                      <a:pt x="79409" y="583031"/>
                    </a:cubicBezTo>
                    <a:cubicBezTo>
                      <a:pt x="40086" y="344210"/>
                      <a:pt x="201811" y="118731"/>
                      <a:pt x="440632" y="79409"/>
                    </a:cubicBezTo>
                    <a:cubicBezTo>
                      <a:pt x="679453" y="40086"/>
                      <a:pt x="904932" y="201811"/>
                      <a:pt x="944255" y="440632"/>
                    </a:cubicBezTo>
                    <a:close/>
                  </a:path>
                </a:pathLst>
              </a:custGeom>
              <a:solidFill>
                <a:srgbClr val="51565D">
                  <a:lumMod val="20000"/>
                  <a:lumOff val="8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53" name="자유형: 도형 252">
                <a:extLst>
                  <a:ext uri="{FF2B5EF4-FFF2-40B4-BE49-F238E27FC236}">
                    <a16:creationId xmlns:a16="http://schemas.microsoft.com/office/drawing/2014/main" id="{852839FD-2534-3645-E90B-D11DF3D9743F}"/>
                  </a:ext>
                </a:extLst>
              </p:cNvPr>
              <p:cNvSpPr/>
              <p:nvPr/>
            </p:nvSpPr>
            <p:spPr>
              <a:xfrm>
                <a:off x="7020687" y="2204942"/>
                <a:ext cx="695325" cy="857250"/>
              </a:xfrm>
              <a:custGeom>
                <a:avLst/>
                <a:gdLst>
                  <a:gd name="connsiteX0" fmla="*/ 7144 w 695325"/>
                  <a:gd name="connsiteY0" fmla="*/ 856964 h 857250"/>
                  <a:gd name="connsiteX1" fmla="*/ 690848 w 695325"/>
                  <a:gd name="connsiteY1" fmla="*/ 856964 h 857250"/>
                  <a:gd name="connsiteX2" fmla="*/ 690848 w 695325"/>
                  <a:gd name="connsiteY2" fmla="*/ 165925 h 857250"/>
                  <a:gd name="connsiteX3" fmla="*/ 531971 w 695325"/>
                  <a:gd name="connsiteY3" fmla="*/ 7144 h 857250"/>
                  <a:gd name="connsiteX4" fmla="*/ 7144 w 695325"/>
                  <a:gd name="connsiteY4" fmla="*/ 7144 h 857250"/>
                  <a:gd name="connsiteX5" fmla="*/ 7144 w 695325"/>
                  <a:gd name="connsiteY5" fmla="*/ 856964 h 857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95325" h="857250">
                    <a:moveTo>
                      <a:pt x="7144" y="856964"/>
                    </a:moveTo>
                    <a:lnTo>
                      <a:pt x="690848" y="856964"/>
                    </a:lnTo>
                    <a:lnTo>
                      <a:pt x="690848" y="165925"/>
                    </a:lnTo>
                    <a:lnTo>
                      <a:pt x="531971" y="7144"/>
                    </a:lnTo>
                    <a:lnTo>
                      <a:pt x="7144" y="7144"/>
                    </a:lnTo>
                    <a:lnTo>
                      <a:pt x="7144" y="856964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54" name="자유형: 도형 253">
                <a:extLst>
                  <a:ext uri="{FF2B5EF4-FFF2-40B4-BE49-F238E27FC236}">
                    <a16:creationId xmlns:a16="http://schemas.microsoft.com/office/drawing/2014/main" id="{D26A0C9E-ADB3-2EA2-A59A-71548389447E}"/>
                  </a:ext>
                </a:extLst>
              </p:cNvPr>
              <p:cNvSpPr/>
              <p:nvPr/>
            </p:nvSpPr>
            <p:spPr>
              <a:xfrm>
                <a:off x="6999256" y="2183511"/>
                <a:ext cx="733425" cy="904875"/>
              </a:xfrm>
              <a:custGeom>
                <a:avLst/>
                <a:gdLst>
                  <a:gd name="connsiteX0" fmla="*/ 712279 w 733425"/>
                  <a:gd name="connsiteY0" fmla="*/ 899922 h 904875"/>
                  <a:gd name="connsiteX1" fmla="*/ 28575 w 733425"/>
                  <a:gd name="connsiteY1" fmla="*/ 899922 h 904875"/>
                  <a:gd name="connsiteX2" fmla="*/ 7144 w 733425"/>
                  <a:gd name="connsiteY2" fmla="*/ 878491 h 904875"/>
                  <a:gd name="connsiteX3" fmla="*/ 7144 w 733425"/>
                  <a:gd name="connsiteY3" fmla="*/ 28575 h 904875"/>
                  <a:gd name="connsiteX4" fmla="*/ 28575 w 733425"/>
                  <a:gd name="connsiteY4" fmla="*/ 7144 h 904875"/>
                  <a:gd name="connsiteX5" fmla="*/ 553498 w 733425"/>
                  <a:gd name="connsiteY5" fmla="*/ 7144 h 904875"/>
                  <a:gd name="connsiteX6" fmla="*/ 568642 w 733425"/>
                  <a:gd name="connsiteY6" fmla="*/ 13430 h 904875"/>
                  <a:gd name="connsiteX7" fmla="*/ 727424 w 733425"/>
                  <a:gd name="connsiteY7" fmla="*/ 172212 h 904875"/>
                  <a:gd name="connsiteX8" fmla="*/ 733710 w 733425"/>
                  <a:gd name="connsiteY8" fmla="*/ 187357 h 904875"/>
                  <a:gd name="connsiteX9" fmla="*/ 733710 w 733425"/>
                  <a:gd name="connsiteY9" fmla="*/ 878491 h 904875"/>
                  <a:gd name="connsiteX10" fmla="*/ 712279 w 733425"/>
                  <a:gd name="connsiteY10" fmla="*/ 899922 h 904875"/>
                  <a:gd name="connsiteX11" fmla="*/ 50006 w 733425"/>
                  <a:gd name="connsiteY11" fmla="*/ 857059 h 904875"/>
                  <a:gd name="connsiteX12" fmla="*/ 690848 w 733425"/>
                  <a:gd name="connsiteY12" fmla="*/ 857059 h 904875"/>
                  <a:gd name="connsiteX13" fmla="*/ 690848 w 733425"/>
                  <a:gd name="connsiteY13" fmla="*/ 196405 h 904875"/>
                  <a:gd name="connsiteX14" fmla="*/ 544639 w 733425"/>
                  <a:gd name="connsiteY14" fmla="*/ 50102 h 904875"/>
                  <a:gd name="connsiteX15" fmla="*/ 50006 w 733425"/>
                  <a:gd name="connsiteY15" fmla="*/ 50102 h 904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733425" h="904875">
                    <a:moveTo>
                      <a:pt x="712279" y="899922"/>
                    </a:moveTo>
                    <a:lnTo>
                      <a:pt x="28575" y="899922"/>
                    </a:lnTo>
                    <a:cubicBezTo>
                      <a:pt x="16735" y="899922"/>
                      <a:pt x="7144" y="890331"/>
                      <a:pt x="7144" y="878491"/>
                    </a:cubicBezTo>
                    <a:lnTo>
                      <a:pt x="7144" y="28575"/>
                    </a:lnTo>
                    <a:cubicBezTo>
                      <a:pt x="7144" y="16736"/>
                      <a:pt x="16735" y="7144"/>
                      <a:pt x="28575" y="7144"/>
                    </a:cubicBezTo>
                    <a:lnTo>
                      <a:pt x="553498" y="7144"/>
                    </a:lnTo>
                    <a:cubicBezTo>
                      <a:pt x="559175" y="7172"/>
                      <a:pt x="564613" y="9430"/>
                      <a:pt x="568642" y="13430"/>
                    </a:cubicBezTo>
                    <a:lnTo>
                      <a:pt x="727424" y="172212"/>
                    </a:lnTo>
                    <a:cubicBezTo>
                      <a:pt x="731472" y="176213"/>
                      <a:pt x="733739" y="181670"/>
                      <a:pt x="733710" y="187357"/>
                    </a:cubicBezTo>
                    <a:lnTo>
                      <a:pt x="733710" y="878491"/>
                    </a:lnTo>
                    <a:cubicBezTo>
                      <a:pt x="733710" y="890331"/>
                      <a:pt x="724119" y="899922"/>
                      <a:pt x="712279" y="899922"/>
                    </a:cubicBezTo>
                    <a:close/>
                    <a:moveTo>
                      <a:pt x="50006" y="857059"/>
                    </a:moveTo>
                    <a:lnTo>
                      <a:pt x="690848" y="857059"/>
                    </a:lnTo>
                    <a:lnTo>
                      <a:pt x="690848" y="196405"/>
                    </a:lnTo>
                    <a:lnTo>
                      <a:pt x="544639" y="50102"/>
                    </a:lnTo>
                    <a:lnTo>
                      <a:pt x="50006" y="50102"/>
                    </a:ln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55" name="자유형: 도형 254">
                <a:extLst>
                  <a:ext uri="{FF2B5EF4-FFF2-40B4-BE49-F238E27FC236}">
                    <a16:creationId xmlns:a16="http://schemas.microsoft.com/office/drawing/2014/main" id="{2462CA52-7E28-0221-06CE-86D642539C53}"/>
                  </a:ext>
                </a:extLst>
              </p:cNvPr>
              <p:cNvSpPr/>
              <p:nvPr/>
            </p:nvSpPr>
            <p:spPr>
              <a:xfrm>
                <a:off x="7545514" y="2204942"/>
                <a:ext cx="171450" cy="171450"/>
              </a:xfrm>
              <a:custGeom>
                <a:avLst/>
                <a:gdLst>
                  <a:gd name="connsiteX0" fmla="*/ 7144 w 171450"/>
                  <a:gd name="connsiteY0" fmla="*/ 165925 h 171450"/>
                  <a:gd name="connsiteX1" fmla="*/ 166021 w 171450"/>
                  <a:gd name="connsiteY1" fmla="*/ 165925 h 171450"/>
                  <a:gd name="connsiteX2" fmla="*/ 7144 w 171450"/>
                  <a:gd name="connsiteY2" fmla="*/ 7144 h 171450"/>
                  <a:gd name="connsiteX3" fmla="*/ 7144 w 171450"/>
                  <a:gd name="connsiteY3" fmla="*/ 165925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71450" h="171450">
                    <a:moveTo>
                      <a:pt x="7144" y="165925"/>
                    </a:moveTo>
                    <a:lnTo>
                      <a:pt x="166021" y="165925"/>
                    </a:lnTo>
                    <a:lnTo>
                      <a:pt x="7144" y="7144"/>
                    </a:lnTo>
                    <a:lnTo>
                      <a:pt x="7144" y="165925"/>
                    </a:ln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56" name="자유형: 도형 255">
                <a:extLst>
                  <a:ext uri="{FF2B5EF4-FFF2-40B4-BE49-F238E27FC236}">
                    <a16:creationId xmlns:a16="http://schemas.microsoft.com/office/drawing/2014/main" id="{618F5C54-8214-12B5-659E-3D545361EE10}"/>
                  </a:ext>
                </a:extLst>
              </p:cNvPr>
              <p:cNvSpPr/>
              <p:nvPr/>
            </p:nvSpPr>
            <p:spPr>
              <a:xfrm>
                <a:off x="7524179" y="2183530"/>
                <a:ext cx="209550" cy="209550"/>
              </a:xfrm>
              <a:custGeom>
                <a:avLst/>
                <a:gdLst>
                  <a:gd name="connsiteX0" fmla="*/ 187357 w 209550"/>
                  <a:gd name="connsiteY0" fmla="*/ 208769 h 209550"/>
                  <a:gd name="connsiteX1" fmla="*/ 28575 w 209550"/>
                  <a:gd name="connsiteY1" fmla="*/ 208769 h 209550"/>
                  <a:gd name="connsiteX2" fmla="*/ 7144 w 209550"/>
                  <a:gd name="connsiteY2" fmla="*/ 187337 h 209550"/>
                  <a:gd name="connsiteX3" fmla="*/ 7144 w 209550"/>
                  <a:gd name="connsiteY3" fmla="*/ 28556 h 209550"/>
                  <a:gd name="connsiteX4" fmla="*/ 28594 w 209550"/>
                  <a:gd name="connsiteY4" fmla="*/ 7144 h 209550"/>
                  <a:gd name="connsiteX5" fmla="*/ 43719 w 209550"/>
                  <a:gd name="connsiteY5" fmla="*/ 13411 h 209550"/>
                  <a:gd name="connsiteX6" fmla="*/ 202502 w 209550"/>
                  <a:gd name="connsiteY6" fmla="*/ 172193 h 209550"/>
                  <a:gd name="connsiteX7" fmla="*/ 202482 w 209550"/>
                  <a:gd name="connsiteY7" fmla="*/ 202502 h 209550"/>
                  <a:gd name="connsiteX8" fmla="*/ 187357 w 209550"/>
                  <a:gd name="connsiteY8" fmla="*/ 208769 h 209550"/>
                  <a:gd name="connsiteX9" fmla="*/ 50006 w 209550"/>
                  <a:gd name="connsiteY9" fmla="*/ 165906 h 209550"/>
                  <a:gd name="connsiteX10" fmla="*/ 135731 w 209550"/>
                  <a:gd name="connsiteY10" fmla="*/ 165906 h 209550"/>
                  <a:gd name="connsiteX11" fmla="*/ 50006 w 209550"/>
                  <a:gd name="connsiteY11" fmla="*/ 80181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09550" h="209550">
                    <a:moveTo>
                      <a:pt x="187357" y="208769"/>
                    </a:moveTo>
                    <a:lnTo>
                      <a:pt x="28575" y="208769"/>
                    </a:lnTo>
                    <a:cubicBezTo>
                      <a:pt x="16735" y="208769"/>
                      <a:pt x="7144" y="199177"/>
                      <a:pt x="7144" y="187337"/>
                    </a:cubicBezTo>
                    <a:lnTo>
                      <a:pt x="7144" y="28556"/>
                    </a:lnTo>
                    <a:cubicBezTo>
                      <a:pt x="7153" y="16716"/>
                      <a:pt x="16754" y="7134"/>
                      <a:pt x="28594" y="7144"/>
                    </a:cubicBezTo>
                    <a:cubicBezTo>
                      <a:pt x="34271" y="7153"/>
                      <a:pt x="39710" y="9401"/>
                      <a:pt x="43719" y="13411"/>
                    </a:cubicBezTo>
                    <a:lnTo>
                      <a:pt x="202502" y="172193"/>
                    </a:lnTo>
                    <a:cubicBezTo>
                      <a:pt x="210864" y="180565"/>
                      <a:pt x="210855" y="194138"/>
                      <a:pt x="202482" y="202502"/>
                    </a:cubicBezTo>
                    <a:cubicBezTo>
                      <a:pt x="198472" y="206511"/>
                      <a:pt x="193034" y="208759"/>
                      <a:pt x="187357" y="208769"/>
                    </a:cubicBezTo>
                    <a:close/>
                    <a:moveTo>
                      <a:pt x="50006" y="165906"/>
                    </a:moveTo>
                    <a:lnTo>
                      <a:pt x="135731" y="165906"/>
                    </a:lnTo>
                    <a:lnTo>
                      <a:pt x="50006" y="80181"/>
                    </a:ln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57" name="자유형: 도형 256">
                <a:extLst>
                  <a:ext uri="{FF2B5EF4-FFF2-40B4-BE49-F238E27FC236}">
                    <a16:creationId xmlns:a16="http://schemas.microsoft.com/office/drawing/2014/main" id="{6FF3D8F6-A7F5-B352-2B34-FCFCF3730AAE}"/>
                  </a:ext>
                </a:extLst>
              </p:cNvPr>
              <p:cNvSpPr/>
              <p:nvPr/>
            </p:nvSpPr>
            <p:spPr>
              <a:xfrm>
                <a:off x="7154037" y="2490216"/>
                <a:ext cx="95250" cy="95250"/>
              </a:xfrm>
              <a:custGeom>
                <a:avLst/>
                <a:gdLst>
                  <a:gd name="connsiteX0" fmla="*/ 96107 w 95250"/>
                  <a:gd name="connsiteY0" fmla="*/ 51625 h 95250"/>
                  <a:gd name="connsiteX1" fmla="*/ 51625 w 95250"/>
                  <a:gd name="connsiteY1" fmla="*/ 7144 h 95250"/>
                  <a:gd name="connsiteX2" fmla="*/ 7144 w 95250"/>
                  <a:gd name="connsiteY2" fmla="*/ 51625 h 95250"/>
                  <a:gd name="connsiteX3" fmla="*/ 51625 w 95250"/>
                  <a:gd name="connsiteY3" fmla="*/ 96107 h 95250"/>
                  <a:gd name="connsiteX4" fmla="*/ 96107 w 95250"/>
                  <a:gd name="connsiteY4" fmla="*/ 51625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107" y="51625"/>
                    </a:moveTo>
                    <a:cubicBezTo>
                      <a:pt x="96107" y="27061"/>
                      <a:pt x="76190" y="7144"/>
                      <a:pt x="51625" y="7144"/>
                    </a:cubicBezTo>
                    <a:cubicBezTo>
                      <a:pt x="27061" y="7144"/>
                      <a:pt x="7144" y="27061"/>
                      <a:pt x="7144" y="51625"/>
                    </a:cubicBezTo>
                    <a:cubicBezTo>
                      <a:pt x="7144" y="76190"/>
                      <a:pt x="27061" y="96107"/>
                      <a:pt x="51625" y="96107"/>
                    </a:cubicBezTo>
                    <a:cubicBezTo>
                      <a:pt x="76190" y="96107"/>
                      <a:pt x="96107" y="76190"/>
                      <a:pt x="96107" y="516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58" name="자유형: 도형 257">
                <a:extLst>
                  <a:ext uri="{FF2B5EF4-FFF2-40B4-BE49-F238E27FC236}">
                    <a16:creationId xmlns:a16="http://schemas.microsoft.com/office/drawing/2014/main" id="{CC4E5438-B79B-6B1C-12E7-DA78AF9A08B7}"/>
                  </a:ext>
                </a:extLst>
              </p:cNvPr>
              <p:cNvSpPr/>
              <p:nvPr/>
            </p:nvSpPr>
            <p:spPr>
              <a:xfrm>
                <a:off x="7132511" y="2469546"/>
                <a:ext cx="142875" cy="142875"/>
              </a:xfrm>
              <a:custGeom>
                <a:avLst/>
                <a:gdLst>
                  <a:gd name="connsiteX0" fmla="*/ 73057 w 142875"/>
                  <a:gd name="connsiteY0" fmla="*/ 138970 h 142875"/>
                  <a:gd name="connsiteX1" fmla="*/ 7144 w 142875"/>
                  <a:gd name="connsiteY1" fmla="*/ 73057 h 142875"/>
                  <a:gd name="connsiteX2" fmla="*/ 73057 w 142875"/>
                  <a:gd name="connsiteY2" fmla="*/ 7144 h 142875"/>
                  <a:gd name="connsiteX3" fmla="*/ 138969 w 142875"/>
                  <a:gd name="connsiteY3" fmla="*/ 73057 h 142875"/>
                  <a:gd name="connsiteX4" fmla="*/ 73057 w 142875"/>
                  <a:gd name="connsiteY4" fmla="*/ 138970 h 142875"/>
                  <a:gd name="connsiteX5" fmla="*/ 73057 w 142875"/>
                  <a:gd name="connsiteY5" fmla="*/ 50006 h 142875"/>
                  <a:gd name="connsiteX6" fmla="*/ 50006 w 142875"/>
                  <a:gd name="connsiteY6" fmla="*/ 73057 h 142875"/>
                  <a:gd name="connsiteX7" fmla="*/ 73057 w 142875"/>
                  <a:gd name="connsiteY7" fmla="*/ 96108 h 142875"/>
                  <a:gd name="connsiteX8" fmla="*/ 96107 w 142875"/>
                  <a:gd name="connsiteY8" fmla="*/ 73057 h 142875"/>
                  <a:gd name="connsiteX9" fmla="*/ 73437 w 142875"/>
                  <a:gd name="connsiteY9" fmla="*/ 49625 h 142875"/>
                  <a:gd name="connsiteX10" fmla="*/ 73057 w 142875"/>
                  <a:gd name="connsiteY10" fmla="*/ 49625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42875" h="142875">
                    <a:moveTo>
                      <a:pt x="73057" y="138970"/>
                    </a:moveTo>
                    <a:cubicBezTo>
                      <a:pt x="36652" y="138970"/>
                      <a:pt x="7144" y="109461"/>
                      <a:pt x="7144" y="73057"/>
                    </a:cubicBezTo>
                    <a:cubicBezTo>
                      <a:pt x="7144" y="36652"/>
                      <a:pt x="36652" y="7144"/>
                      <a:pt x="73057" y="7144"/>
                    </a:cubicBezTo>
                    <a:cubicBezTo>
                      <a:pt x="109461" y="7144"/>
                      <a:pt x="138969" y="36652"/>
                      <a:pt x="138969" y="73057"/>
                    </a:cubicBezTo>
                    <a:cubicBezTo>
                      <a:pt x="138912" y="109443"/>
                      <a:pt x="109442" y="138922"/>
                      <a:pt x="73057" y="138970"/>
                    </a:cubicBezTo>
                    <a:close/>
                    <a:moveTo>
                      <a:pt x="73057" y="50006"/>
                    </a:moveTo>
                    <a:cubicBezTo>
                      <a:pt x="60322" y="50006"/>
                      <a:pt x="50006" y="60322"/>
                      <a:pt x="50006" y="73057"/>
                    </a:cubicBezTo>
                    <a:cubicBezTo>
                      <a:pt x="50006" y="85792"/>
                      <a:pt x="60331" y="96108"/>
                      <a:pt x="73057" y="96108"/>
                    </a:cubicBezTo>
                    <a:cubicBezTo>
                      <a:pt x="85791" y="96108"/>
                      <a:pt x="96107" y="85783"/>
                      <a:pt x="96107" y="73057"/>
                    </a:cubicBezTo>
                    <a:cubicBezTo>
                      <a:pt x="96317" y="60332"/>
                      <a:pt x="86173" y="49835"/>
                      <a:pt x="73437" y="49625"/>
                    </a:cubicBezTo>
                    <a:cubicBezTo>
                      <a:pt x="73314" y="49625"/>
                      <a:pt x="73180" y="49625"/>
                      <a:pt x="73057" y="49625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59" name="자유형: 도형 258">
                <a:extLst>
                  <a:ext uri="{FF2B5EF4-FFF2-40B4-BE49-F238E27FC236}">
                    <a16:creationId xmlns:a16="http://schemas.microsoft.com/office/drawing/2014/main" id="{D600B301-2A69-1413-4FCC-7EACB6F5F6BF}"/>
                  </a:ext>
                </a:extLst>
              </p:cNvPr>
              <p:cNvSpPr/>
              <p:nvPr/>
            </p:nvSpPr>
            <p:spPr>
              <a:xfrm>
                <a:off x="7305008" y="2513647"/>
                <a:ext cx="295275" cy="57150"/>
              </a:xfrm>
              <a:custGeom>
                <a:avLst/>
                <a:gdLst>
                  <a:gd name="connsiteX0" fmla="*/ 273177 w 295275"/>
                  <a:gd name="connsiteY0" fmla="*/ 50006 h 57150"/>
                  <a:gd name="connsiteX1" fmla="*/ 28575 w 295275"/>
                  <a:gd name="connsiteY1" fmla="*/ 50006 h 57150"/>
                  <a:gd name="connsiteX2" fmla="*/ 7144 w 295275"/>
                  <a:gd name="connsiteY2" fmla="*/ 28575 h 57150"/>
                  <a:gd name="connsiteX3" fmla="*/ 28575 w 295275"/>
                  <a:gd name="connsiteY3" fmla="*/ 7144 h 57150"/>
                  <a:gd name="connsiteX4" fmla="*/ 273177 w 295275"/>
                  <a:gd name="connsiteY4" fmla="*/ 7144 h 57150"/>
                  <a:gd name="connsiteX5" fmla="*/ 294608 w 295275"/>
                  <a:gd name="connsiteY5" fmla="*/ 28575 h 57150"/>
                  <a:gd name="connsiteX6" fmla="*/ 273177 w 295275"/>
                  <a:gd name="connsiteY6" fmla="*/ 50006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5275" h="57150">
                    <a:moveTo>
                      <a:pt x="273177" y="50006"/>
                    </a:moveTo>
                    <a:lnTo>
                      <a:pt x="28575" y="50006"/>
                    </a:lnTo>
                    <a:cubicBezTo>
                      <a:pt x="16736" y="50006"/>
                      <a:pt x="7144" y="40415"/>
                      <a:pt x="7144" y="28575"/>
                    </a:cubicBezTo>
                    <a:cubicBezTo>
                      <a:pt x="7144" y="16736"/>
                      <a:pt x="16736" y="7144"/>
                      <a:pt x="28575" y="7144"/>
                    </a:cubicBezTo>
                    <a:lnTo>
                      <a:pt x="273177" y="7144"/>
                    </a:lnTo>
                    <a:cubicBezTo>
                      <a:pt x="285016" y="7144"/>
                      <a:pt x="294608" y="16736"/>
                      <a:pt x="294608" y="28575"/>
                    </a:cubicBezTo>
                    <a:cubicBezTo>
                      <a:pt x="294608" y="40415"/>
                      <a:pt x="285016" y="50006"/>
                      <a:pt x="273177" y="50006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60" name="자유형: 도형 259">
                <a:extLst>
                  <a:ext uri="{FF2B5EF4-FFF2-40B4-BE49-F238E27FC236}">
                    <a16:creationId xmlns:a16="http://schemas.microsoft.com/office/drawing/2014/main" id="{91F4CC09-0ACA-071C-DDEF-8FFD49943829}"/>
                  </a:ext>
                </a:extLst>
              </p:cNvPr>
              <p:cNvSpPr/>
              <p:nvPr/>
            </p:nvSpPr>
            <p:spPr>
              <a:xfrm>
                <a:off x="7154037" y="2671096"/>
                <a:ext cx="95250" cy="95250"/>
              </a:xfrm>
              <a:custGeom>
                <a:avLst/>
                <a:gdLst>
                  <a:gd name="connsiteX0" fmla="*/ 96107 w 95250"/>
                  <a:gd name="connsiteY0" fmla="*/ 51721 h 95250"/>
                  <a:gd name="connsiteX1" fmla="*/ 51721 w 95250"/>
                  <a:gd name="connsiteY1" fmla="*/ 7144 h 95250"/>
                  <a:gd name="connsiteX2" fmla="*/ 7144 w 95250"/>
                  <a:gd name="connsiteY2" fmla="*/ 51530 h 95250"/>
                  <a:gd name="connsiteX3" fmla="*/ 51530 w 95250"/>
                  <a:gd name="connsiteY3" fmla="*/ 96107 h 95250"/>
                  <a:gd name="connsiteX4" fmla="*/ 51625 w 95250"/>
                  <a:gd name="connsiteY4" fmla="*/ 96107 h 95250"/>
                  <a:gd name="connsiteX5" fmla="*/ 96107 w 95250"/>
                  <a:gd name="connsiteY5" fmla="*/ 51721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95250" h="95250">
                    <a:moveTo>
                      <a:pt x="96107" y="51721"/>
                    </a:moveTo>
                    <a:cubicBezTo>
                      <a:pt x="96155" y="27156"/>
                      <a:pt x="76286" y="7201"/>
                      <a:pt x="51721" y="7144"/>
                    </a:cubicBezTo>
                    <a:cubicBezTo>
                      <a:pt x="27155" y="7096"/>
                      <a:pt x="7201" y="26965"/>
                      <a:pt x="7144" y="51530"/>
                    </a:cubicBezTo>
                    <a:cubicBezTo>
                      <a:pt x="7096" y="76095"/>
                      <a:pt x="26965" y="96050"/>
                      <a:pt x="51530" y="96107"/>
                    </a:cubicBezTo>
                    <a:cubicBezTo>
                      <a:pt x="51559" y="96107"/>
                      <a:pt x="51597" y="96107"/>
                      <a:pt x="51625" y="96107"/>
                    </a:cubicBezTo>
                    <a:cubicBezTo>
                      <a:pt x="76152" y="96107"/>
                      <a:pt x="96050" y="76248"/>
                      <a:pt x="96107" y="51721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61" name="자유형: 도형 260">
                <a:extLst>
                  <a:ext uri="{FF2B5EF4-FFF2-40B4-BE49-F238E27FC236}">
                    <a16:creationId xmlns:a16="http://schemas.microsoft.com/office/drawing/2014/main" id="{39FF8CC9-B679-0B89-9C87-E4DF3ADDC0B8}"/>
                  </a:ext>
                </a:extLst>
              </p:cNvPr>
              <p:cNvSpPr/>
              <p:nvPr/>
            </p:nvSpPr>
            <p:spPr>
              <a:xfrm>
                <a:off x="7132511" y="2649760"/>
                <a:ext cx="142875" cy="142875"/>
              </a:xfrm>
              <a:custGeom>
                <a:avLst/>
                <a:gdLst>
                  <a:gd name="connsiteX0" fmla="*/ 73057 w 142875"/>
                  <a:gd name="connsiteY0" fmla="*/ 138969 h 142875"/>
                  <a:gd name="connsiteX1" fmla="*/ 7144 w 142875"/>
                  <a:gd name="connsiteY1" fmla="*/ 73057 h 142875"/>
                  <a:gd name="connsiteX2" fmla="*/ 73057 w 142875"/>
                  <a:gd name="connsiteY2" fmla="*/ 7144 h 142875"/>
                  <a:gd name="connsiteX3" fmla="*/ 138969 w 142875"/>
                  <a:gd name="connsiteY3" fmla="*/ 73057 h 142875"/>
                  <a:gd name="connsiteX4" fmla="*/ 138969 w 142875"/>
                  <a:gd name="connsiteY4" fmla="*/ 73152 h 142875"/>
                  <a:gd name="connsiteX5" fmla="*/ 73057 w 142875"/>
                  <a:gd name="connsiteY5" fmla="*/ 138969 h 142875"/>
                  <a:gd name="connsiteX6" fmla="*/ 73057 w 142875"/>
                  <a:gd name="connsiteY6" fmla="*/ 50102 h 142875"/>
                  <a:gd name="connsiteX7" fmla="*/ 50006 w 142875"/>
                  <a:gd name="connsiteY7" fmla="*/ 73152 h 142875"/>
                  <a:gd name="connsiteX8" fmla="*/ 73057 w 142875"/>
                  <a:gd name="connsiteY8" fmla="*/ 96202 h 142875"/>
                  <a:gd name="connsiteX9" fmla="*/ 96107 w 142875"/>
                  <a:gd name="connsiteY9" fmla="*/ 73152 h 142875"/>
                  <a:gd name="connsiteX10" fmla="*/ 73247 w 142875"/>
                  <a:gd name="connsiteY10" fmla="*/ 50102 h 142875"/>
                  <a:gd name="connsiteX11" fmla="*/ 73057 w 142875"/>
                  <a:gd name="connsiteY11" fmla="*/ 50102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2875" h="142875">
                    <a:moveTo>
                      <a:pt x="73057" y="138969"/>
                    </a:moveTo>
                    <a:cubicBezTo>
                      <a:pt x="36652" y="138969"/>
                      <a:pt x="7144" y="109461"/>
                      <a:pt x="7144" y="73057"/>
                    </a:cubicBezTo>
                    <a:cubicBezTo>
                      <a:pt x="7144" y="36652"/>
                      <a:pt x="36652" y="7144"/>
                      <a:pt x="73057" y="7144"/>
                    </a:cubicBezTo>
                    <a:cubicBezTo>
                      <a:pt x="109461" y="7144"/>
                      <a:pt x="138969" y="36652"/>
                      <a:pt x="138969" y="73057"/>
                    </a:cubicBezTo>
                    <a:cubicBezTo>
                      <a:pt x="138969" y="73085"/>
                      <a:pt x="138969" y="73123"/>
                      <a:pt x="138969" y="73152"/>
                    </a:cubicBezTo>
                    <a:cubicBezTo>
                      <a:pt x="138912" y="109518"/>
                      <a:pt x="109423" y="138969"/>
                      <a:pt x="73057" y="138969"/>
                    </a:cubicBezTo>
                    <a:close/>
                    <a:moveTo>
                      <a:pt x="73057" y="50102"/>
                    </a:moveTo>
                    <a:cubicBezTo>
                      <a:pt x="60322" y="50102"/>
                      <a:pt x="50006" y="60427"/>
                      <a:pt x="50006" y="73152"/>
                    </a:cubicBezTo>
                    <a:cubicBezTo>
                      <a:pt x="50006" y="85887"/>
                      <a:pt x="60331" y="96202"/>
                      <a:pt x="73057" y="96202"/>
                    </a:cubicBezTo>
                    <a:cubicBezTo>
                      <a:pt x="85791" y="96202"/>
                      <a:pt x="96107" y="85877"/>
                      <a:pt x="96107" y="73152"/>
                    </a:cubicBezTo>
                    <a:cubicBezTo>
                      <a:pt x="96164" y="60474"/>
                      <a:pt x="85925" y="50159"/>
                      <a:pt x="73247" y="50102"/>
                    </a:cubicBezTo>
                    <a:cubicBezTo>
                      <a:pt x="73180" y="50102"/>
                      <a:pt x="73123" y="50102"/>
                      <a:pt x="73057" y="50102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62" name="자유형: 도형 261">
                <a:extLst>
                  <a:ext uri="{FF2B5EF4-FFF2-40B4-BE49-F238E27FC236}">
                    <a16:creationId xmlns:a16="http://schemas.microsoft.com/office/drawing/2014/main" id="{34B96901-37C2-0D8F-03D2-7322BCEEAA1A}"/>
                  </a:ext>
                </a:extLst>
              </p:cNvPr>
              <p:cNvSpPr/>
              <p:nvPr/>
            </p:nvSpPr>
            <p:spPr>
              <a:xfrm>
                <a:off x="7305008" y="2694337"/>
                <a:ext cx="295275" cy="57150"/>
              </a:xfrm>
              <a:custGeom>
                <a:avLst/>
                <a:gdLst>
                  <a:gd name="connsiteX0" fmla="*/ 273177 w 295275"/>
                  <a:gd name="connsiteY0" fmla="*/ 50006 h 57150"/>
                  <a:gd name="connsiteX1" fmla="*/ 28575 w 295275"/>
                  <a:gd name="connsiteY1" fmla="*/ 50006 h 57150"/>
                  <a:gd name="connsiteX2" fmla="*/ 7144 w 295275"/>
                  <a:gd name="connsiteY2" fmla="*/ 28575 h 57150"/>
                  <a:gd name="connsiteX3" fmla="*/ 28575 w 295275"/>
                  <a:gd name="connsiteY3" fmla="*/ 7144 h 57150"/>
                  <a:gd name="connsiteX4" fmla="*/ 273177 w 295275"/>
                  <a:gd name="connsiteY4" fmla="*/ 7144 h 57150"/>
                  <a:gd name="connsiteX5" fmla="*/ 294608 w 295275"/>
                  <a:gd name="connsiteY5" fmla="*/ 28575 h 57150"/>
                  <a:gd name="connsiteX6" fmla="*/ 273177 w 295275"/>
                  <a:gd name="connsiteY6" fmla="*/ 50006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5275" h="57150">
                    <a:moveTo>
                      <a:pt x="273177" y="50006"/>
                    </a:moveTo>
                    <a:lnTo>
                      <a:pt x="28575" y="50006"/>
                    </a:lnTo>
                    <a:cubicBezTo>
                      <a:pt x="16736" y="50006"/>
                      <a:pt x="7144" y="40414"/>
                      <a:pt x="7144" y="28575"/>
                    </a:cubicBezTo>
                    <a:cubicBezTo>
                      <a:pt x="7144" y="16736"/>
                      <a:pt x="16736" y="7144"/>
                      <a:pt x="28575" y="7144"/>
                    </a:cubicBezTo>
                    <a:lnTo>
                      <a:pt x="273177" y="7144"/>
                    </a:lnTo>
                    <a:cubicBezTo>
                      <a:pt x="285016" y="7144"/>
                      <a:pt x="294608" y="16736"/>
                      <a:pt x="294608" y="28575"/>
                    </a:cubicBezTo>
                    <a:cubicBezTo>
                      <a:pt x="294608" y="40414"/>
                      <a:pt x="285016" y="50006"/>
                      <a:pt x="273177" y="50006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63" name="자유형: 도형 262">
                <a:extLst>
                  <a:ext uri="{FF2B5EF4-FFF2-40B4-BE49-F238E27FC236}">
                    <a16:creationId xmlns:a16="http://schemas.microsoft.com/office/drawing/2014/main" id="{E8EE9BD5-5519-3F03-847B-19244C7167D5}"/>
                  </a:ext>
                </a:extLst>
              </p:cNvPr>
              <p:cNvSpPr/>
              <p:nvPr/>
            </p:nvSpPr>
            <p:spPr>
              <a:xfrm>
                <a:off x="7154037" y="2852166"/>
                <a:ext cx="95250" cy="95250"/>
              </a:xfrm>
              <a:custGeom>
                <a:avLst/>
                <a:gdLst>
                  <a:gd name="connsiteX0" fmla="*/ 96107 w 95250"/>
                  <a:gd name="connsiteY0" fmla="*/ 51625 h 95250"/>
                  <a:gd name="connsiteX1" fmla="*/ 51625 w 95250"/>
                  <a:gd name="connsiteY1" fmla="*/ 7144 h 95250"/>
                  <a:gd name="connsiteX2" fmla="*/ 7144 w 95250"/>
                  <a:gd name="connsiteY2" fmla="*/ 51625 h 95250"/>
                  <a:gd name="connsiteX3" fmla="*/ 51625 w 95250"/>
                  <a:gd name="connsiteY3" fmla="*/ 96107 h 95250"/>
                  <a:gd name="connsiteX4" fmla="*/ 96107 w 95250"/>
                  <a:gd name="connsiteY4" fmla="*/ 51625 h 952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5250" h="95250">
                    <a:moveTo>
                      <a:pt x="96107" y="51625"/>
                    </a:moveTo>
                    <a:cubicBezTo>
                      <a:pt x="96107" y="27061"/>
                      <a:pt x="76190" y="7144"/>
                      <a:pt x="51625" y="7144"/>
                    </a:cubicBezTo>
                    <a:cubicBezTo>
                      <a:pt x="27061" y="7144"/>
                      <a:pt x="7144" y="27061"/>
                      <a:pt x="7144" y="51625"/>
                    </a:cubicBezTo>
                    <a:cubicBezTo>
                      <a:pt x="7144" y="76190"/>
                      <a:pt x="27061" y="96107"/>
                      <a:pt x="51625" y="96107"/>
                    </a:cubicBezTo>
                    <a:cubicBezTo>
                      <a:pt x="76190" y="96107"/>
                      <a:pt x="96107" y="76190"/>
                      <a:pt x="96107" y="51625"/>
                    </a:cubicBezTo>
                    <a:close/>
                  </a:path>
                </a:pathLst>
              </a:custGeom>
              <a:solidFill>
                <a:srgbClr val="FFFFFF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64" name="자유형: 도형 263">
                <a:extLst>
                  <a:ext uri="{FF2B5EF4-FFF2-40B4-BE49-F238E27FC236}">
                    <a16:creationId xmlns:a16="http://schemas.microsoft.com/office/drawing/2014/main" id="{07FDAF97-BD71-19CE-7891-D60D5B9DE69C}"/>
                  </a:ext>
                </a:extLst>
              </p:cNvPr>
              <p:cNvSpPr/>
              <p:nvPr/>
            </p:nvSpPr>
            <p:spPr>
              <a:xfrm>
                <a:off x="7132511" y="2830449"/>
                <a:ext cx="142875" cy="142875"/>
              </a:xfrm>
              <a:custGeom>
                <a:avLst/>
                <a:gdLst>
                  <a:gd name="connsiteX0" fmla="*/ 73057 w 142875"/>
                  <a:gd name="connsiteY0" fmla="*/ 138970 h 142875"/>
                  <a:gd name="connsiteX1" fmla="*/ 7144 w 142875"/>
                  <a:gd name="connsiteY1" fmla="*/ 73057 h 142875"/>
                  <a:gd name="connsiteX2" fmla="*/ 73057 w 142875"/>
                  <a:gd name="connsiteY2" fmla="*/ 7144 h 142875"/>
                  <a:gd name="connsiteX3" fmla="*/ 138969 w 142875"/>
                  <a:gd name="connsiteY3" fmla="*/ 73057 h 142875"/>
                  <a:gd name="connsiteX4" fmla="*/ 73057 w 142875"/>
                  <a:gd name="connsiteY4" fmla="*/ 138970 h 142875"/>
                  <a:gd name="connsiteX5" fmla="*/ 73057 w 142875"/>
                  <a:gd name="connsiteY5" fmla="*/ 50102 h 142875"/>
                  <a:gd name="connsiteX6" fmla="*/ 50006 w 142875"/>
                  <a:gd name="connsiteY6" fmla="*/ 73152 h 142875"/>
                  <a:gd name="connsiteX7" fmla="*/ 73057 w 142875"/>
                  <a:gd name="connsiteY7" fmla="*/ 96203 h 142875"/>
                  <a:gd name="connsiteX8" fmla="*/ 96107 w 142875"/>
                  <a:gd name="connsiteY8" fmla="*/ 73152 h 142875"/>
                  <a:gd name="connsiteX9" fmla="*/ 96107 w 142875"/>
                  <a:gd name="connsiteY9" fmla="*/ 73057 h 142875"/>
                  <a:gd name="connsiteX10" fmla="*/ 73152 w 142875"/>
                  <a:gd name="connsiteY10" fmla="*/ 50102 h 142875"/>
                  <a:gd name="connsiteX11" fmla="*/ 73057 w 142875"/>
                  <a:gd name="connsiteY11" fmla="*/ 50102 h 1428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42875" h="142875">
                    <a:moveTo>
                      <a:pt x="73057" y="138970"/>
                    </a:moveTo>
                    <a:cubicBezTo>
                      <a:pt x="36652" y="138970"/>
                      <a:pt x="7144" y="109461"/>
                      <a:pt x="7144" y="73057"/>
                    </a:cubicBezTo>
                    <a:cubicBezTo>
                      <a:pt x="7144" y="36652"/>
                      <a:pt x="36652" y="7144"/>
                      <a:pt x="73057" y="7144"/>
                    </a:cubicBezTo>
                    <a:cubicBezTo>
                      <a:pt x="109461" y="7144"/>
                      <a:pt x="138969" y="36652"/>
                      <a:pt x="138969" y="73057"/>
                    </a:cubicBezTo>
                    <a:cubicBezTo>
                      <a:pt x="138969" y="109461"/>
                      <a:pt x="109461" y="138970"/>
                      <a:pt x="73057" y="138970"/>
                    </a:cubicBezTo>
                    <a:close/>
                    <a:moveTo>
                      <a:pt x="73057" y="50102"/>
                    </a:moveTo>
                    <a:cubicBezTo>
                      <a:pt x="60322" y="50102"/>
                      <a:pt x="50006" y="60417"/>
                      <a:pt x="50006" y="73152"/>
                    </a:cubicBezTo>
                    <a:cubicBezTo>
                      <a:pt x="50006" y="85887"/>
                      <a:pt x="60331" y="96203"/>
                      <a:pt x="73057" y="96203"/>
                    </a:cubicBezTo>
                    <a:cubicBezTo>
                      <a:pt x="85791" y="96203"/>
                      <a:pt x="96107" y="85887"/>
                      <a:pt x="96107" y="73152"/>
                    </a:cubicBezTo>
                    <a:cubicBezTo>
                      <a:pt x="96107" y="73123"/>
                      <a:pt x="96107" y="73086"/>
                      <a:pt x="96107" y="73057"/>
                    </a:cubicBezTo>
                    <a:cubicBezTo>
                      <a:pt x="96107" y="60379"/>
                      <a:pt x="85830" y="50102"/>
                      <a:pt x="73152" y="50102"/>
                    </a:cubicBezTo>
                    <a:cubicBezTo>
                      <a:pt x="73123" y="50102"/>
                      <a:pt x="73085" y="50102"/>
                      <a:pt x="73057" y="50102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65" name="자유형: 도형 264">
                <a:extLst>
                  <a:ext uri="{FF2B5EF4-FFF2-40B4-BE49-F238E27FC236}">
                    <a16:creationId xmlns:a16="http://schemas.microsoft.com/office/drawing/2014/main" id="{D2242814-70A5-1F31-7F64-E753DB3B7B79}"/>
                  </a:ext>
                </a:extLst>
              </p:cNvPr>
              <p:cNvSpPr/>
              <p:nvPr/>
            </p:nvSpPr>
            <p:spPr>
              <a:xfrm>
                <a:off x="7305008" y="2874930"/>
                <a:ext cx="295275" cy="57150"/>
              </a:xfrm>
              <a:custGeom>
                <a:avLst/>
                <a:gdLst>
                  <a:gd name="connsiteX0" fmla="*/ 273177 w 295275"/>
                  <a:gd name="connsiteY0" fmla="*/ 50006 h 57150"/>
                  <a:gd name="connsiteX1" fmla="*/ 28575 w 295275"/>
                  <a:gd name="connsiteY1" fmla="*/ 50006 h 57150"/>
                  <a:gd name="connsiteX2" fmla="*/ 7144 w 295275"/>
                  <a:gd name="connsiteY2" fmla="*/ 28575 h 57150"/>
                  <a:gd name="connsiteX3" fmla="*/ 28575 w 295275"/>
                  <a:gd name="connsiteY3" fmla="*/ 7144 h 57150"/>
                  <a:gd name="connsiteX4" fmla="*/ 273177 w 295275"/>
                  <a:gd name="connsiteY4" fmla="*/ 7144 h 57150"/>
                  <a:gd name="connsiteX5" fmla="*/ 294608 w 295275"/>
                  <a:gd name="connsiteY5" fmla="*/ 28575 h 57150"/>
                  <a:gd name="connsiteX6" fmla="*/ 273177 w 295275"/>
                  <a:gd name="connsiteY6" fmla="*/ 50006 h 57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295275" h="57150">
                    <a:moveTo>
                      <a:pt x="273177" y="50006"/>
                    </a:moveTo>
                    <a:lnTo>
                      <a:pt x="28575" y="50006"/>
                    </a:lnTo>
                    <a:cubicBezTo>
                      <a:pt x="16736" y="50006"/>
                      <a:pt x="7144" y="40415"/>
                      <a:pt x="7144" y="28575"/>
                    </a:cubicBezTo>
                    <a:cubicBezTo>
                      <a:pt x="7144" y="16736"/>
                      <a:pt x="16736" y="7144"/>
                      <a:pt x="28575" y="7144"/>
                    </a:cubicBezTo>
                    <a:lnTo>
                      <a:pt x="273177" y="7144"/>
                    </a:lnTo>
                    <a:cubicBezTo>
                      <a:pt x="285016" y="7144"/>
                      <a:pt x="294608" y="16736"/>
                      <a:pt x="294608" y="28575"/>
                    </a:cubicBezTo>
                    <a:cubicBezTo>
                      <a:pt x="294608" y="40415"/>
                      <a:pt x="285016" y="50006"/>
                      <a:pt x="273177" y="50006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66" name="자유형: 도형 265">
                <a:extLst>
                  <a:ext uri="{FF2B5EF4-FFF2-40B4-BE49-F238E27FC236}">
                    <a16:creationId xmlns:a16="http://schemas.microsoft.com/office/drawing/2014/main" id="{B2C62325-E72F-46B4-EC34-8EB3CD1B7823}"/>
                  </a:ext>
                </a:extLst>
              </p:cNvPr>
              <p:cNvSpPr/>
              <p:nvPr/>
            </p:nvSpPr>
            <p:spPr>
              <a:xfrm>
                <a:off x="6749279" y="2083342"/>
                <a:ext cx="438150" cy="438150"/>
              </a:xfrm>
              <a:custGeom>
                <a:avLst/>
                <a:gdLst>
                  <a:gd name="connsiteX0" fmla="*/ 409518 w 438150"/>
                  <a:gd name="connsiteY0" fmla="*/ 195074 h 438150"/>
                  <a:gd name="connsiteX1" fmla="*/ 250025 w 438150"/>
                  <a:gd name="connsiteY1" fmla="*/ 409518 h 438150"/>
                  <a:gd name="connsiteX2" fmla="*/ 35581 w 438150"/>
                  <a:gd name="connsiteY2" fmla="*/ 250026 h 438150"/>
                  <a:gd name="connsiteX3" fmla="*/ 195074 w 438150"/>
                  <a:gd name="connsiteY3" fmla="*/ 35582 h 438150"/>
                  <a:gd name="connsiteX4" fmla="*/ 409518 w 438150"/>
                  <a:gd name="connsiteY4" fmla="*/ 195074 h 4381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38150" h="438150">
                    <a:moveTo>
                      <a:pt x="409518" y="195074"/>
                    </a:moveTo>
                    <a:cubicBezTo>
                      <a:pt x="424692" y="298334"/>
                      <a:pt x="353285" y="394344"/>
                      <a:pt x="250025" y="409518"/>
                    </a:cubicBezTo>
                    <a:cubicBezTo>
                      <a:pt x="146766" y="424693"/>
                      <a:pt x="50756" y="353285"/>
                      <a:pt x="35581" y="250026"/>
                    </a:cubicBezTo>
                    <a:cubicBezTo>
                      <a:pt x="20407" y="146766"/>
                      <a:pt x="91814" y="50756"/>
                      <a:pt x="195074" y="35582"/>
                    </a:cubicBezTo>
                    <a:cubicBezTo>
                      <a:pt x="298334" y="20407"/>
                      <a:pt x="394343" y="91815"/>
                      <a:pt x="409518" y="195074"/>
                    </a:cubicBezTo>
                    <a:close/>
                  </a:path>
                </a:pathLst>
              </a:custGeom>
              <a:solidFill>
                <a:srgbClr val="2D58B9">
                  <a:lumMod val="40000"/>
                  <a:lumOff val="60000"/>
                </a:srgbClr>
              </a:solidFill>
              <a:ln w="9525" cap="flat">
                <a:noFill/>
                <a:prstDash val="solid"/>
                <a:miter/>
              </a:ln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67" name="자유형: 도형 266">
                <a:extLst>
                  <a:ext uri="{FF2B5EF4-FFF2-40B4-BE49-F238E27FC236}">
                    <a16:creationId xmlns:a16="http://schemas.microsoft.com/office/drawing/2014/main" id="{EE522A61-EDA2-6289-49D5-B1109FD24228}"/>
                  </a:ext>
                </a:extLst>
              </p:cNvPr>
              <p:cNvSpPr/>
              <p:nvPr/>
            </p:nvSpPr>
            <p:spPr>
              <a:xfrm>
                <a:off x="6754082" y="2088261"/>
                <a:ext cx="428625" cy="428625"/>
              </a:xfrm>
              <a:custGeom>
                <a:avLst/>
                <a:gdLst>
                  <a:gd name="connsiteX0" fmla="*/ 217742 w 428625"/>
                  <a:gd name="connsiteY0" fmla="*/ 428149 h 428625"/>
                  <a:gd name="connsiteX1" fmla="*/ 7144 w 428625"/>
                  <a:gd name="connsiteY1" fmla="*/ 217741 h 428625"/>
                  <a:gd name="connsiteX2" fmla="*/ 217551 w 428625"/>
                  <a:gd name="connsiteY2" fmla="*/ 7144 h 428625"/>
                  <a:gd name="connsiteX3" fmla="*/ 428149 w 428625"/>
                  <a:gd name="connsiteY3" fmla="*/ 217551 h 428625"/>
                  <a:gd name="connsiteX4" fmla="*/ 428149 w 428625"/>
                  <a:gd name="connsiteY4" fmla="*/ 217741 h 428625"/>
                  <a:gd name="connsiteX5" fmla="*/ 217742 w 428625"/>
                  <a:gd name="connsiteY5" fmla="*/ 428149 h 428625"/>
                  <a:gd name="connsiteX6" fmla="*/ 217742 w 428625"/>
                  <a:gd name="connsiteY6" fmla="*/ 50102 h 428625"/>
                  <a:gd name="connsiteX7" fmla="*/ 50006 w 428625"/>
                  <a:gd name="connsiteY7" fmla="*/ 217646 h 428625"/>
                  <a:gd name="connsiteX8" fmla="*/ 217551 w 428625"/>
                  <a:gd name="connsiteY8" fmla="*/ 385382 h 428625"/>
                  <a:gd name="connsiteX9" fmla="*/ 385286 w 428625"/>
                  <a:gd name="connsiteY9" fmla="*/ 217837 h 428625"/>
                  <a:gd name="connsiteX10" fmla="*/ 385286 w 428625"/>
                  <a:gd name="connsiteY10" fmla="*/ 217741 h 428625"/>
                  <a:gd name="connsiteX11" fmla="*/ 217742 w 428625"/>
                  <a:gd name="connsiteY11" fmla="*/ 50102 h 42862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428625" h="428625">
                    <a:moveTo>
                      <a:pt x="217742" y="428149"/>
                    </a:moveTo>
                    <a:cubicBezTo>
                      <a:pt x="101489" y="428206"/>
                      <a:pt x="7201" y="333994"/>
                      <a:pt x="7144" y="217741"/>
                    </a:cubicBezTo>
                    <a:cubicBezTo>
                      <a:pt x="7096" y="101479"/>
                      <a:pt x="101298" y="7191"/>
                      <a:pt x="217551" y="7144"/>
                    </a:cubicBezTo>
                    <a:cubicBezTo>
                      <a:pt x="333813" y="7096"/>
                      <a:pt x="428101" y="101298"/>
                      <a:pt x="428149" y="217551"/>
                    </a:cubicBezTo>
                    <a:cubicBezTo>
                      <a:pt x="428149" y="217618"/>
                      <a:pt x="428149" y="217675"/>
                      <a:pt x="428149" y="217741"/>
                    </a:cubicBezTo>
                    <a:cubicBezTo>
                      <a:pt x="427997" y="333880"/>
                      <a:pt x="333880" y="427997"/>
                      <a:pt x="217742" y="428149"/>
                    </a:cubicBezTo>
                    <a:close/>
                    <a:moveTo>
                      <a:pt x="217742" y="50102"/>
                    </a:moveTo>
                    <a:cubicBezTo>
                      <a:pt x="125159" y="50054"/>
                      <a:pt x="50064" y="125063"/>
                      <a:pt x="50006" y="217646"/>
                    </a:cubicBezTo>
                    <a:cubicBezTo>
                      <a:pt x="49959" y="310229"/>
                      <a:pt x="124968" y="385334"/>
                      <a:pt x="217551" y="385382"/>
                    </a:cubicBezTo>
                    <a:cubicBezTo>
                      <a:pt x="310134" y="385439"/>
                      <a:pt x="385239" y="310419"/>
                      <a:pt x="385286" y="217837"/>
                    </a:cubicBezTo>
                    <a:cubicBezTo>
                      <a:pt x="385286" y="217808"/>
                      <a:pt x="385286" y="217770"/>
                      <a:pt x="385286" y="217741"/>
                    </a:cubicBezTo>
                    <a:cubicBezTo>
                      <a:pt x="385182" y="125235"/>
                      <a:pt x="310249" y="50254"/>
                      <a:pt x="217742" y="50102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  <p:sp>
            <p:nvSpPr>
              <p:cNvPr id="268" name="자유형: 도형 267">
                <a:extLst>
                  <a:ext uri="{FF2B5EF4-FFF2-40B4-BE49-F238E27FC236}">
                    <a16:creationId xmlns:a16="http://schemas.microsoft.com/office/drawing/2014/main" id="{299466B4-83D1-6D2C-DF69-127B2641BC50}"/>
                  </a:ext>
                </a:extLst>
              </p:cNvPr>
              <p:cNvSpPr/>
              <p:nvPr/>
            </p:nvSpPr>
            <p:spPr>
              <a:xfrm>
                <a:off x="6852438" y="2226984"/>
                <a:ext cx="219075" cy="171450"/>
              </a:xfrm>
              <a:custGeom>
                <a:avLst/>
                <a:gdLst>
                  <a:gd name="connsiteX0" fmla="*/ 78809 w 219075"/>
                  <a:gd name="connsiteY0" fmla="*/ 169411 h 171450"/>
                  <a:gd name="connsiteX1" fmla="*/ 63664 w 219075"/>
                  <a:gd name="connsiteY1" fmla="*/ 163124 h 171450"/>
                  <a:gd name="connsiteX2" fmla="*/ 12896 w 219075"/>
                  <a:gd name="connsiteY2" fmla="*/ 112261 h 171450"/>
                  <a:gd name="connsiteX3" fmla="*/ 13963 w 219075"/>
                  <a:gd name="connsiteY3" fmla="*/ 81971 h 171450"/>
                  <a:gd name="connsiteX4" fmla="*/ 43186 w 219075"/>
                  <a:gd name="connsiteY4" fmla="*/ 81971 h 171450"/>
                  <a:gd name="connsiteX5" fmla="*/ 78809 w 219075"/>
                  <a:gd name="connsiteY5" fmla="*/ 117595 h 171450"/>
                  <a:gd name="connsiteX6" fmla="*/ 182537 w 219075"/>
                  <a:gd name="connsiteY6" fmla="*/ 13963 h 171450"/>
                  <a:gd name="connsiteX7" fmla="*/ 212826 w 219075"/>
                  <a:gd name="connsiteY7" fmla="*/ 12896 h 171450"/>
                  <a:gd name="connsiteX8" fmla="*/ 213893 w 219075"/>
                  <a:gd name="connsiteY8" fmla="*/ 43186 h 171450"/>
                  <a:gd name="connsiteX9" fmla="*/ 212826 w 219075"/>
                  <a:gd name="connsiteY9" fmla="*/ 44253 h 171450"/>
                  <a:gd name="connsiteX10" fmla="*/ 93954 w 219075"/>
                  <a:gd name="connsiteY10" fmla="*/ 163124 h 171450"/>
                  <a:gd name="connsiteX11" fmla="*/ 78809 w 219075"/>
                  <a:gd name="connsiteY11" fmla="*/ 169411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219075" h="171450">
                    <a:moveTo>
                      <a:pt x="78809" y="169411"/>
                    </a:moveTo>
                    <a:cubicBezTo>
                      <a:pt x="73123" y="169401"/>
                      <a:pt x="67684" y="167144"/>
                      <a:pt x="63664" y="163124"/>
                    </a:cubicBezTo>
                    <a:lnTo>
                      <a:pt x="12896" y="112261"/>
                    </a:lnTo>
                    <a:cubicBezTo>
                      <a:pt x="4828" y="103603"/>
                      <a:pt x="5304" y="90039"/>
                      <a:pt x="13963" y="81971"/>
                    </a:cubicBezTo>
                    <a:cubicBezTo>
                      <a:pt x="22192" y="74304"/>
                      <a:pt x="34956" y="74304"/>
                      <a:pt x="43186" y="81971"/>
                    </a:cubicBezTo>
                    <a:lnTo>
                      <a:pt x="78809" y="117595"/>
                    </a:lnTo>
                    <a:lnTo>
                      <a:pt x="182537" y="13963"/>
                    </a:lnTo>
                    <a:cubicBezTo>
                      <a:pt x="190604" y="5304"/>
                      <a:pt x="204168" y="4828"/>
                      <a:pt x="212826" y="12896"/>
                    </a:cubicBezTo>
                    <a:cubicBezTo>
                      <a:pt x="221484" y="20964"/>
                      <a:pt x="221960" y="34527"/>
                      <a:pt x="213893" y="43186"/>
                    </a:cubicBezTo>
                    <a:cubicBezTo>
                      <a:pt x="213550" y="43547"/>
                      <a:pt x="213197" y="43910"/>
                      <a:pt x="212826" y="44253"/>
                    </a:cubicBezTo>
                    <a:lnTo>
                      <a:pt x="93954" y="163124"/>
                    </a:lnTo>
                    <a:cubicBezTo>
                      <a:pt x="89953" y="167172"/>
                      <a:pt x="84495" y="169439"/>
                      <a:pt x="78809" y="169411"/>
                    </a:cubicBezTo>
                    <a:close/>
                  </a:path>
                </a:pathLst>
              </a:custGeom>
              <a:solidFill>
                <a:srgbClr val="595757"/>
              </a:solidFill>
              <a:ln w="9525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pPr marL="0" marR="0" lvl="0" indent="0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0" cap="none" spc="-40" normalizeH="0" baseline="0" noProof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/>
                  </a:solidFill>
                  <a:effectLst/>
                  <a:uLnTx/>
                  <a:uFillTx/>
                  <a:latin typeface="KoPub돋움체 Medium"/>
                  <a:ea typeface="KoPub돋움체 Medium"/>
                </a:endParaRPr>
              </a:p>
            </p:txBody>
          </p:sp>
        </p:grpSp>
        <p:sp>
          <p:nvSpPr>
            <p:cNvPr id="269" name="TextBox 268">
              <a:extLst>
                <a:ext uri="{FF2B5EF4-FFF2-40B4-BE49-F238E27FC236}">
                  <a16:creationId xmlns:a16="http://schemas.microsoft.com/office/drawing/2014/main" id="{6DFDE706-243E-BE64-95FC-78F84C3F9BA4}"/>
                </a:ext>
              </a:extLst>
            </p:cNvPr>
            <p:cNvSpPr txBox="1"/>
            <p:nvPr/>
          </p:nvSpPr>
          <p:spPr>
            <a:xfrm>
              <a:off x="765675" y="8298026"/>
              <a:ext cx="1277768" cy="900246"/>
            </a:xfrm>
            <a:prstGeom prst="rect">
              <a:avLst/>
            </a:prstGeom>
            <a:noFill/>
          </p:spPr>
          <p:txBody>
            <a:bodyPr wrap="none" lIns="72000" rIns="72000">
              <a:spAutoFit/>
            </a:bodyPr>
            <a:lstStyle>
              <a:defPPr>
                <a:defRPr lang="ko-KR"/>
              </a:defPPr>
              <a:lvl2pPr marL="88900" lvl="1" indent="-88900" defTabSz="957263" eaLnBrk="1" fontAlgn="auto" hangingPunct="1">
                <a:spcBef>
                  <a:spcPts val="0"/>
                </a:spcBef>
                <a:spcAft>
                  <a:spcPts val="100"/>
                </a:spcAft>
                <a:buSzPct val="100000"/>
                <a:buFont typeface="Arial" panose="020B0604020202020204" pitchFamily="34" charset="0"/>
                <a:buChar char="•"/>
                <a:tabLst>
                  <a:tab pos="5648325" algn="l"/>
                </a:tabLst>
                <a:defRPr sz="1200" kern="0">
                  <a:ln>
                    <a:solidFill>
                      <a:srgbClr val="0F4374">
                        <a:alpha val="0"/>
                      </a:srgb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Rix모던고딕 M" pitchFamily="18" charset="-127"/>
                  <a:ea typeface="Rix모던고딕 M" pitchFamily="18" charset="-127"/>
                </a:defRPr>
              </a:lvl2pPr>
            </a:lstStyle>
            <a:p>
              <a:pPr marL="95250" lvl="1" indent="-95250" eaLnBrk="0" latinLnBrk="0" hangingPunct="0">
                <a:spcAft>
                  <a:spcPts val="50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100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전산장비 현황</a:t>
              </a:r>
              <a:endPara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/>
                <a:ea typeface="KoPub돋움체 Medium"/>
              </a:endParaRPr>
            </a:p>
            <a:p>
              <a:pPr marL="95250" lvl="1" indent="-95250" eaLnBrk="0" latinLnBrk="0" hangingPunct="0">
                <a:spcAft>
                  <a:spcPts val="50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100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주요업무 현안</a:t>
              </a:r>
              <a:endPara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/>
                <a:ea typeface="KoPub돋움체 Medium"/>
              </a:endParaRPr>
            </a:p>
            <a:p>
              <a:pPr marL="95250" lvl="1" indent="-95250" eaLnBrk="0" latinLnBrk="0" hangingPunct="0">
                <a:spcAft>
                  <a:spcPts val="50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100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유지보수 수행 주안점</a:t>
              </a:r>
            </a:p>
            <a:p>
              <a:pPr marL="95250" lvl="1" indent="-95250" eaLnBrk="0" latinLnBrk="0" hangingPunct="0">
                <a:spcAft>
                  <a:spcPts val="500"/>
                </a:spcAft>
                <a:buClr>
                  <a:prstClr val="black">
                    <a:lumMod val="75000"/>
                    <a:lumOff val="25000"/>
                  </a:prstClr>
                </a:buClr>
                <a:defRPr/>
              </a:pPr>
              <a:r>
                <a:rPr lang="ko-KR" altLang="en-US" sz="1000" spc="-40" dirty="0">
                  <a:ln>
                    <a:solidFill>
                      <a:srgbClr val="126AD4">
                        <a:alpha val="0"/>
                      </a:srgbClr>
                    </a:solidFill>
                  </a:ln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Medium"/>
                  <a:ea typeface="KoPub돋움체 Medium"/>
                </a:rPr>
                <a:t>운영 현황 및 협업 등</a:t>
              </a:r>
            </a:p>
          </p:txBody>
        </p:sp>
      </p:grpSp>
      <p:pic>
        <p:nvPicPr>
          <p:cNvPr id="270" name="그림 269">
            <a:extLst>
              <a:ext uri="{FF2B5EF4-FFF2-40B4-BE49-F238E27FC236}">
                <a16:creationId xmlns:a16="http://schemas.microsoft.com/office/drawing/2014/main" id="{7EAF954B-47B0-D00A-FE5F-DCCF486F41A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708" t="9957" r="10229" b="44314"/>
          <a:stretch/>
        </p:blipFill>
        <p:spPr>
          <a:xfrm>
            <a:off x="3633467" y="2918187"/>
            <a:ext cx="2045321" cy="515819"/>
          </a:xfrm>
          <a:prstGeom prst="rect">
            <a:avLst/>
          </a:prstGeom>
        </p:spPr>
      </p:pic>
      <p:sp>
        <p:nvSpPr>
          <p:cNvPr id="312" name="Text Box 164">
            <a:extLst>
              <a:ext uri="{FF2B5EF4-FFF2-40B4-BE49-F238E27FC236}">
                <a16:creationId xmlns:a16="http://schemas.microsoft.com/office/drawing/2014/main" id="{A836D926-C88F-0D8B-92EF-D0EE2A113CD4}"/>
              </a:ext>
            </a:extLst>
          </p:cNvPr>
          <p:cNvSpPr txBox="1">
            <a:spLocks noChangeArrowheads="1"/>
          </p:cNvSpPr>
          <p:nvPr/>
        </p:nvSpPr>
        <p:spPr bwMode="gray">
          <a:xfrm>
            <a:off x="2467585" y="3776294"/>
            <a:ext cx="4660562" cy="299806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>
            <a:defPPr>
              <a:defRPr lang="ko-KR"/>
            </a:defPPr>
            <a:lvl2pPr marL="180975" lvl="1" indent="-180975" defTabSz="957263" eaLnBrk="0" latinLnBrk="0" hangingPunct="0">
              <a:spcBef>
                <a:spcPts val="0"/>
              </a:spcBef>
              <a:spcAft>
                <a:spcPts val="500"/>
              </a:spcAft>
              <a:buClr>
                <a:srgbClr val="969696"/>
              </a:buClr>
              <a:buSzPct val="80000"/>
              <a:buBlip>
                <a:blip r:embed="rId4"/>
              </a:buBlip>
              <a:tabLst>
                <a:tab pos="5648325" algn="l"/>
              </a:tabLst>
              <a:defRPr kumimoji="0" sz="1400">
                <a:solidFill>
                  <a:srgbClr val="262626"/>
                </a:solidFill>
                <a:latin typeface="Rix고딕 B" pitchFamily="18" charset="-127"/>
                <a:ea typeface="Rix고딕 B" pitchFamily="18" charset="-127"/>
              </a:defRPr>
            </a:lvl2pPr>
          </a:lstStyle>
          <a:p>
            <a:pPr marL="0" lvl="1" indent="0" defTabSz="1096268" eaLnBrk="1" hangingPunct="1">
              <a:lnSpc>
                <a:spcPct val="114000"/>
              </a:lnSpc>
              <a:spcAft>
                <a:spcPts val="1200"/>
              </a:spcAft>
              <a:buClr>
                <a:srgbClr val="C00000"/>
              </a:buClr>
              <a:buSzPct val="70000"/>
              <a:buFontTx/>
              <a:buNone/>
              <a:tabLst>
                <a:tab pos="117475" algn="l"/>
                <a:tab pos="5648325" algn="l"/>
              </a:tabLst>
              <a:defRPr/>
            </a:pP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“ </a:t>
            </a:r>
            <a:r>
              <a:rPr lang="ko-KR" altLang="en-US" sz="1000" b="1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/>
                <a:ea typeface="KoPub돋움체 Medium"/>
              </a:rPr>
              <a:t>안정적인 유지보수 수행 사업자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를 원합니다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. ”</a:t>
            </a:r>
          </a:p>
          <a:p>
            <a:pPr marL="0" lvl="1" indent="0" defTabSz="1096268" eaLnBrk="1" hangingPunct="1">
              <a:lnSpc>
                <a:spcPct val="114000"/>
              </a:lnSpc>
              <a:spcAft>
                <a:spcPts val="1200"/>
              </a:spcAft>
              <a:buClr>
                <a:srgbClr val="C00000"/>
              </a:buClr>
              <a:buSzPct val="70000"/>
              <a:buFontTx/>
              <a:buNone/>
              <a:tabLst>
                <a:tab pos="117475" algn="l"/>
                <a:tab pos="5648325" algn="l"/>
              </a:tabLst>
              <a:defRPr/>
            </a:pP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“ 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급여지급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,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 기술지원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,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 상주인력 근태관리 및 보안교육 등에 대한 </a:t>
            </a:r>
            <a:r>
              <a:rPr lang="ko-KR" altLang="en-US" sz="1000" b="1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/>
                <a:ea typeface="KoPub돋움체 Medium"/>
              </a:rPr>
              <a:t>기본이 충실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했으면 좋겠습니다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. ”</a:t>
            </a:r>
          </a:p>
          <a:p>
            <a:pPr marL="0" lvl="1" indent="0" defTabSz="1096268" eaLnBrk="1" hangingPunct="1">
              <a:lnSpc>
                <a:spcPct val="114000"/>
              </a:lnSpc>
              <a:spcAft>
                <a:spcPts val="1200"/>
              </a:spcAft>
              <a:buClr>
                <a:srgbClr val="C00000"/>
              </a:buClr>
              <a:buSzPct val="70000"/>
              <a:buNone/>
              <a:tabLst>
                <a:tab pos="117475" algn="l"/>
                <a:tab pos="5648325" algn="l"/>
              </a:tabLst>
              <a:defRPr/>
            </a:pP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“ 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기존 및 신규 사업자간 </a:t>
            </a:r>
            <a:r>
              <a:rPr lang="ko-KR" altLang="en-US" sz="1000" b="1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/>
                <a:ea typeface="KoPub돋움체 Medium"/>
              </a:rPr>
              <a:t>인수인계가 차질 없이 진행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되어야 합니다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. ”</a:t>
            </a:r>
          </a:p>
          <a:p>
            <a:pPr marL="0" lvl="1" indent="0" defTabSz="1096268" eaLnBrk="1" hangingPunct="1">
              <a:lnSpc>
                <a:spcPct val="114000"/>
              </a:lnSpc>
              <a:spcAft>
                <a:spcPts val="1200"/>
              </a:spcAft>
              <a:buClr>
                <a:srgbClr val="C00000"/>
              </a:buClr>
              <a:buSzPct val="70000"/>
              <a:buFontTx/>
              <a:buNone/>
              <a:tabLst>
                <a:tab pos="117475" algn="l"/>
                <a:tab pos="5648325" algn="l"/>
              </a:tabLst>
              <a:defRPr/>
            </a:pP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“ 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보안관제가 용인 국방데이터센터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(DIDC)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로 이전 후 최근 발생한 </a:t>
            </a:r>
            <a:r>
              <a:rPr lang="en-US" altLang="ko-KR" sz="1000" b="1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/>
                <a:ea typeface="KoPub돋움체 Medium"/>
              </a:rPr>
              <a:t>DDoS </a:t>
            </a:r>
            <a:r>
              <a:rPr lang="ko-KR" altLang="en-US" sz="1000" b="1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/>
                <a:ea typeface="KoPub돋움체 Medium"/>
              </a:rPr>
              <a:t>공격 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등 사이버 보안</a:t>
            </a:r>
            <a:b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</a:b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 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 위협 시 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DIDC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에서 통보하기 전까지 알 수가 없고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,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 </a:t>
            </a:r>
            <a:r>
              <a:rPr lang="ko-KR" altLang="en-US" sz="1000" b="1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/>
                <a:ea typeface="KoPub돋움체 Medium"/>
              </a:rPr>
              <a:t>자체적인 모니터링 방안은 현재 없습니다</a:t>
            </a:r>
            <a:r>
              <a:rPr lang="en-US" altLang="ko-KR" sz="1000" b="1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/>
                <a:ea typeface="KoPub돋움체 Medium"/>
              </a:rPr>
              <a:t>.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 ”</a:t>
            </a:r>
          </a:p>
          <a:p>
            <a:pPr marL="0" lvl="1" indent="0" defTabSz="1096268" eaLnBrk="1" hangingPunct="1">
              <a:lnSpc>
                <a:spcPct val="114000"/>
              </a:lnSpc>
              <a:spcAft>
                <a:spcPts val="1200"/>
              </a:spcAft>
              <a:buClr>
                <a:srgbClr val="C00000"/>
              </a:buClr>
              <a:buSzPct val="70000"/>
              <a:buFontTx/>
              <a:buNone/>
              <a:tabLst>
                <a:tab pos="117475" algn="l"/>
                <a:tab pos="5648325" algn="l"/>
              </a:tabLst>
              <a:defRPr/>
            </a:pP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“ 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최근 이메일로 장병들 월급 인상과 관련하여 </a:t>
            </a:r>
            <a:r>
              <a:rPr lang="ko-KR" altLang="en-US" sz="1000" b="1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/>
                <a:ea typeface="KoPub돋움체 Medium"/>
              </a:rPr>
              <a:t>악성 메일이 발생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하고 있습니다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. ”</a:t>
            </a:r>
          </a:p>
          <a:p>
            <a:pPr marL="0" lvl="1" indent="0" defTabSz="1096268" eaLnBrk="1" hangingPunct="1">
              <a:lnSpc>
                <a:spcPct val="114000"/>
              </a:lnSpc>
              <a:spcAft>
                <a:spcPts val="1200"/>
              </a:spcAft>
              <a:buClr>
                <a:srgbClr val="C00000"/>
              </a:buClr>
              <a:buSzPct val="70000"/>
              <a:buFontTx/>
              <a:buNone/>
              <a:tabLst>
                <a:tab pos="117475" algn="l"/>
                <a:tab pos="5648325" algn="l"/>
              </a:tabLst>
              <a:defRPr/>
            </a:pP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“ 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필수 예방점검 대상 제외 항목에서 문제 발생 시 </a:t>
            </a:r>
            <a:r>
              <a:rPr lang="ko-KR" altLang="en-US" sz="1000" b="1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/>
                <a:ea typeface="KoPub돋움체 Medium"/>
              </a:rPr>
              <a:t>기술지원을 받는 것이 오래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 걸렸습니다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. ”</a:t>
            </a:r>
          </a:p>
          <a:p>
            <a:pPr marL="0" lvl="1" indent="0" defTabSz="1096268" eaLnBrk="1" hangingPunct="1">
              <a:lnSpc>
                <a:spcPct val="114000"/>
              </a:lnSpc>
              <a:spcAft>
                <a:spcPts val="1200"/>
              </a:spcAft>
              <a:buClr>
                <a:srgbClr val="C00000"/>
              </a:buClr>
              <a:buSzPct val="70000"/>
              <a:buFontTx/>
              <a:buNone/>
              <a:tabLst>
                <a:tab pos="117475" algn="l"/>
                <a:tab pos="5648325" algn="l"/>
              </a:tabLst>
              <a:defRPr/>
            </a:pP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“ 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국방정보체계는 전군 지원 정보체계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, 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국방부 영내 지원 및 대국민 서비스라 안정적이고 연속성이</a:t>
            </a:r>
            <a:b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</a:b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  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 중요한데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, </a:t>
            </a:r>
            <a:r>
              <a:rPr lang="en-US" altLang="ko-KR" sz="1000" b="1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/>
                <a:ea typeface="KoPub돋움체 Medium"/>
              </a:rPr>
              <a:t>DBMS</a:t>
            </a:r>
            <a:r>
              <a:rPr lang="ko-KR" altLang="en-US" sz="1000" b="1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/>
                <a:ea typeface="KoPub돋움체 Medium"/>
              </a:rPr>
              <a:t>의 안정적 운영 및 모니터링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이 잘되어야 합니다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.”</a:t>
            </a:r>
          </a:p>
          <a:p>
            <a:pPr marL="0" lvl="1" indent="0" defTabSz="1096268" eaLnBrk="1" hangingPunct="1">
              <a:lnSpc>
                <a:spcPct val="114000"/>
              </a:lnSpc>
              <a:spcAft>
                <a:spcPts val="1200"/>
              </a:spcAft>
              <a:buClr>
                <a:srgbClr val="C00000"/>
              </a:buClr>
              <a:buSzPct val="70000"/>
              <a:buFontTx/>
              <a:buNone/>
              <a:tabLst>
                <a:tab pos="117475" algn="l"/>
                <a:tab pos="5648325" algn="l"/>
              </a:tabLst>
              <a:defRPr/>
            </a:pP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“ 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전산장비 현행화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,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 장애이력관리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 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및 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SR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처리 등의 효율적이고 </a:t>
            </a:r>
            <a:r>
              <a:rPr lang="ko-KR" altLang="en-US" sz="1000" b="1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rgbClr val="FF0000"/>
                </a:solidFill>
                <a:latin typeface="KoPub돋움체 Medium"/>
                <a:ea typeface="KoPub돋움체 Medium"/>
              </a:rPr>
              <a:t>체계적인 유지보수 통합관리시스템</a:t>
            </a:r>
            <a:b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</a:b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  </a:t>
            </a:r>
            <a:r>
              <a:rPr lang="ko-KR" altLang="en-US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을 구현하고 싶은데 관련 지원이 문제입니다</a:t>
            </a:r>
            <a:r>
              <a:rPr lang="en-US" altLang="ko-KR" sz="1000" spc="-40" dirty="0">
                <a:ln>
                  <a:solidFill>
                    <a:srgbClr val="126AD4">
                      <a:alpha val="0"/>
                    </a:srgbClr>
                  </a:solidFill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KoPub돋움체 Medium"/>
                <a:ea typeface="KoPub돋움체 Medium"/>
              </a:rPr>
              <a:t>. ”</a:t>
            </a:r>
          </a:p>
        </p:txBody>
      </p:sp>
      <p:pic>
        <p:nvPicPr>
          <p:cNvPr id="313" name="그림 312">
            <a:extLst>
              <a:ext uri="{FF2B5EF4-FFF2-40B4-BE49-F238E27FC236}">
                <a16:creationId xmlns:a16="http://schemas.microsoft.com/office/drawing/2014/main" id="{4E043A53-FE4C-E83C-1B15-C0B6384A24E2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2457" y="6871565"/>
            <a:ext cx="1093141" cy="619124"/>
          </a:xfrm>
          <a:prstGeom prst="rect">
            <a:avLst/>
          </a:prstGeom>
        </p:spPr>
      </p:pic>
      <p:grpSp>
        <p:nvGrpSpPr>
          <p:cNvPr id="372" name="그룹 371">
            <a:extLst>
              <a:ext uri="{FF2B5EF4-FFF2-40B4-BE49-F238E27FC236}">
                <a16:creationId xmlns:a16="http://schemas.microsoft.com/office/drawing/2014/main" id="{3912384E-7218-7321-40D5-9E7E32B1B7B2}"/>
              </a:ext>
            </a:extLst>
          </p:cNvPr>
          <p:cNvGrpSpPr/>
          <p:nvPr/>
        </p:nvGrpSpPr>
        <p:grpSpPr>
          <a:xfrm>
            <a:off x="2629743" y="7458462"/>
            <a:ext cx="4326527" cy="1657735"/>
            <a:chOff x="1957091" y="6492052"/>
            <a:chExt cx="4283690" cy="1657735"/>
          </a:xfrm>
        </p:grpSpPr>
        <p:grpSp>
          <p:nvGrpSpPr>
            <p:cNvPr id="373" name="그룹 372">
              <a:extLst>
                <a:ext uri="{FF2B5EF4-FFF2-40B4-BE49-F238E27FC236}">
                  <a16:creationId xmlns:a16="http://schemas.microsoft.com/office/drawing/2014/main" id="{9E11971B-5414-56D7-4F73-13DE9852367C}"/>
                </a:ext>
              </a:extLst>
            </p:cNvPr>
            <p:cNvGrpSpPr/>
            <p:nvPr/>
          </p:nvGrpSpPr>
          <p:grpSpPr>
            <a:xfrm>
              <a:off x="1957091" y="6492052"/>
              <a:ext cx="4283690" cy="295200"/>
              <a:chOff x="1957091" y="6476812"/>
              <a:chExt cx="4283690" cy="295200"/>
            </a:xfrm>
          </p:grpSpPr>
          <p:sp>
            <p:nvSpPr>
              <p:cNvPr id="394" name="AutoShape 43" descr="두산도형05">
                <a:extLst>
                  <a:ext uri="{FF2B5EF4-FFF2-40B4-BE49-F238E27FC236}">
                    <a16:creationId xmlns:a16="http://schemas.microsoft.com/office/drawing/2014/main" id="{63972E82-A417-3EF4-9BFE-711A3526CA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7091" y="6476812"/>
                <a:ext cx="4283690" cy="295200"/>
              </a:xfrm>
              <a:prstGeom prst="roundRect">
                <a:avLst>
                  <a:gd name="adj" fmla="val 0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79200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-180975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0" cap="none" spc="-40" normalizeH="0" baseline="0" noProof="0" dirty="0">
                    <a:ln>
                      <a:solidFill>
                        <a:srgbClr val="126AD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rPr>
                  <a:t>경험과 수행능력을 겸비한 </a:t>
                </a:r>
                <a:r>
                  <a:rPr kumimoji="0" lang="ko-KR" altLang="en-US" sz="1100" b="0" i="0" u="none" strike="noStrike" kern="0" cap="none" spc="-40" normalizeH="0" baseline="0" noProof="0" dirty="0">
                    <a:ln>
                      <a:solidFill>
                        <a:srgbClr val="126AD4">
                          <a:alpha val="0"/>
                        </a:srgbClr>
                      </a:solidFill>
                    </a:ln>
                    <a:solidFill>
                      <a:srgbClr val="2D58B9"/>
                    </a:soli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rPr>
                  <a:t>조직 및 인력 구성</a:t>
                </a:r>
              </a:p>
            </p:txBody>
          </p:sp>
          <p:grpSp>
            <p:nvGrpSpPr>
              <p:cNvPr id="395" name="그룹 394">
                <a:extLst>
                  <a:ext uri="{FF2B5EF4-FFF2-40B4-BE49-F238E27FC236}">
                    <a16:creationId xmlns:a16="http://schemas.microsoft.com/office/drawing/2014/main" id="{115CB593-D496-8593-1619-F4C26CFF60AC}"/>
                  </a:ext>
                </a:extLst>
              </p:cNvPr>
              <p:cNvGrpSpPr/>
              <p:nvPr/>
            </p:nvGrpSpPr>
            <p:grpSpPr>
              <a:xfrm>
                <a:off x="2472826" y="6530679"/>
                <a:ext cx="137029" cy="146993"/>
                <a:chOff x="8915056" y="4875757"/>
                <a:chExt cx="243675" cy="261393"/>
              </a:xfrm>
            </p:grpSpPr>
            <p:sp>
              <p:nvSpPr>
                <p:cNvPr id="396" name="Rectangle 402">
                  <a:extLst>
                    <a:ext uri="{FF2B5EF4-FFF2-40B4-BE49-F238E27FC236}">
                      <a16:creationId xmlns:a16="http://schemas.microsoft.com/office/drawing/2014/main" id="{62B9FD80-98AA-ACE6-AF35-369C988B30D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101" y="4965700"/>
                  <a:ext cx="171450" cy="171450"/>
                </a:xfrm>
                <a:prstGeom prst="rect">
                  <a:avLst/>
                </a:prstGeom>
                <a:noFill/>
                <a:ln w="22225">
                  <a:solidFill>
                    <a:srgbClr val="51565D">
                      <a:lumMod val="40000"/>
                      <a:lumOff val="60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-4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Medium"/>
                    <a:ea typeface="KoPub돋움체 Medium"/>
                  </a:endParaRPr>
                </a:p>
              </p:txBody>
            </p:sp>
            <p:sp>
              <p:nvSpPr>
                <p:cNvPr id="397" name="Freeform 403">
                  <a:extLst>
                    <a:ext uri="{FF2B5EF4-FFF2-40B4-BE49-F238E27FC236}">
                      <a16:creationId xmlns:a16="http://schemas.microsoft.com/office/drawing/2014/main" id="{6F95B47E-998E-7233-755D-25081CAE4DF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15056" y="4875757"/>
                  <a:ext cx="243675" cy="185192"/>
                </a:xfrm>
                <a:custGeom>
                  <a:avLst/>
                  <a:gdLst>
                    <a:gd name="T0" fmla="*/ 0 w 200"/>
                    <a:gd name="T1" fmla="*/ 38 h 152"/>
                    <a:gd name="T2" fmla="*/ 80 w 200"/>
                    <a:gd name="T3" fmla="*/ 152 h 152"/>
                    <a:gd name="T4" fmla="*/ 200 w 200"/>
                    <a:gd name="T5" fmla="*/ 0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0" h="152">
                      <a:moveTo>
                        <a:pt x="0" y="38"/>
                      </a:moveTo>
                      <a:lnTo>
                        <a:pt x="80" y="152"/>
                      </a:lnTo>
                      <a:lnTo>
                        <a:pt x="200" y="0"/>
                      </a:lnTo>
                    </a:path>
                  </a:pathLst>
                </a:custGeom>
                <a:noFill/>
                <a:ln w="22225">
                  <a:solidFill>
                    <a:srgbClr val="2D58B9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-4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Medium"/>
                    <a:ea typeface="KoPub돋움체 Medium"/>
                  </a:endParaRPr>
                </a:p>
              </p:txBody>
            </p:sp>
          </p:grpSp>
        </p:grpSp>
        <p:grpSp>
          <p:nvGrpSpPr>
            <p:cNvPr id="374" name="그룹 373">
              <a:extLst>
                <a:ext uri="{FF2B5EF4-FFF2-40B4-BE49-F238E27FC236}">
                  <a16:creationId xmlns:a16="http://schemas.microsoft.com/office/drawing/2014/main" id="{AE799D5E-021E-DD48-B60D-6A9026B6554C}"/>
                </a:ext>
              </a:extLst>
            </p:cNvPr>
            <p:cNvGrpSpPr/>
            <p:nvPr/>
          </p:nvGrpSpPr>
          <p:grpSpPr>
            <a:xfrm>
              <a:off x="1957091" y="6832686"/>
              <a:ext cx="4283690" cy="295200"/>
              <a:chOff x="1957091" y="6830781"/>
              <a:chExt cx="4283690" cy="295200"/>
            </a:xfrm>
          </p:grpSpPr>
          <p:sp>
            <p:nvSpPr>
              <p:cNvPr id="390" name="AutoShape 43" descr="두산도형05">
                <a:extLst>
                  <a:ext uri="{FF2B5EF4-FFF2-40B4-BE49-F238E27FC236}">
                    <a16:creationId xmlns:a16="http://schemas.microsoft.com/office/drawing/2014/main" id="{7E1B03D8-BD1D-85E9-26B0-A57DDBD4F0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7091" y="6830781"/>
                <a:ext cx="4283690" cy="295200"/>
              </a:xfrm>
              <a:prstGeom prst="roundRect">
                <a:avLst>
                  <a:gd name="adj" fmla="val 0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79200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-180975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100" b="0" i="0" u="none" strike="noStrike" kern="0" cap="none" spc="-40" normalizeH="0" baseline="0" noProof="0" dirty="0">
                    <a:ln>
                      <a:solidFill>
                        <a:srgbClr val="126AD4">
                          <a:alpha val="0"/>
                        </a:srgbClr>
                      </a:solidFill>
                    </a:ln>
                    <a:solidFill>
                      <a:srgbClr val="2D58B9"/>
                    </a:soli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rPr>
                  <a:t>선제적인 장애예방 </a:t>
                </a:r>
                <a:r>
                  <a:rPr kumimoji="0" lang="ko-KR" altLang="en-US" sz="1050" b="0" i="0" u="none" strike="noStrike" kern="0" cap="none" spc="-40" normalizeH="0" baseline="0" noProof="0" dirty="0">
                    <a:ln>
                      <a:solidFill>
                        <a:srgbClr val="126AD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rPr>
                  <a:t>활동으로 운영 안정성 확보</a:t>
                </a:r>
              </a:p>
            </p:txBody>
          </p:sp>
          <p:grpSp>
            <p:nvGrpSpPr>
              <p:cNvPr id="391" name="그룹 390">
                <a:extLst>
                  <a:ext uri="{FF2B5EF4-FFF2-40B4-BE49-F238E27FC236}">
                    <a16:creationId xmlns:a16="http://schemas.microsoft.com/office/drawing/2014/main" id="{0CEFB0B6-1622-A6EB-422F-493CA73576B3}"/>
                  </a:ext>
                </a:extLst>
              </p:cNvPr>
              <p:cNvGrpSpPr/>
              <p:nvPr/>
            </p:nvGrpSpPr>
            <p:grpSpPr>
              <a:xfrm>
                <a:off x="2472826" y="6884648"/>
                <a:ext cx="137029" cy="146993"/>
                <a:chOff x="8915056" y="4875757"/>
                <a:chExt cx="243675" cy="261393"/>
              </a:xfrm>
            </p:grpSpPr>
            <p:sp>
              <p:nvSpPr>
                <p:cNvPr id="392" name="Rectangle 402">
                  <a:extLst>
                    <a:ext uri="{FF2B5EF4-FFF2-40B4-BE49-F238E27FC236}">
                      <a16:creationId xmlns:a16="http://schemas.microsoft.com/office/drawing/2014/main" id="{8269C81B-3151-3EE0-4BC7-1EF55702A5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101" y="4965700"/>
                  <a:ext cx="171450" cy="171450"/>
                </a:xfrm>
                <a:prstGeom prst="rect">
                  <a:avLst/>
                </a:prstGeom>
                <a:noFill/>
                <a:ln w="22225">
                  <a:solidFill>
                    <a:srgbClr val="51565D">
                      <a:lumMod val="40000"/>
                      <a:lumOff val="60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-4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Medium"/>
                    <a:ea typeface="KoPub돋움체 Medium"/>
                  </a:endParaRPr>
                </a:p>
              </p:txBody>
            </p:sp>
            <p:sp>
              <p:nvSpPr>
                <p:cNvPr id="393" name="Freeform 403">
                  <a:extLst>
                    <a:ext uri="{FF2B5EF4-FFF2-40B4-BE49-F238E27FC236}">
                      <a16:creationId xmlns:a16="http://schemas.microsoft.com/office/drawing/2014/main" id="{0156BCCE-74F7-EAD4-812F-39F0F080323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15056" y="4875757"/>
                  <a:ext cx="243675" cy="185192"/>
                </a:xfrm>
                <a:custGeom>
                  <a:avLst/>
                  <a:gdLst>
                    <a:gd name="T0" fmla="*/ 0 w 200"/>
                    <a:gd name="T1" fmla="*/ 38 h 152"/>
                    <a:gd name="T2" fmla="*/ 80 w 200"/>
                    <a:gd name="T3" fmla="*/ 152 h 152"/>
                    <a:gd name="T4" fmla="*/ 200 w 200"/>
                    <a:gd name="T5" fmla="*/ 0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0" h="152">
                      <a:moveTo>
                        <a:pt x="0" y="38"/>
                      </a:moveTo>
                      <a:lnTo>
                        <a:pt x="80" y="152"/>
                      </a:lnTo>
                      <a:lnTo>
                        <a:pt x="200" y="0"/>
                      </a:lnTo>
                    </a:path>
                  </a:pathLst>
                </a:custGeom>
                <a:noFill/>
                <a:ln w="22225">
                  <a:solidFill>
                    <a:srgbClr val="2D58B9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-4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Medium"/>
                    <a:ea typeface="KoPub돋움체 Medium"/>
                  </a:endParaRPr>
                </a:p>
              </p:txBody>
            </p:sp>
          </p:grpSp>
        </p:grpSp>
        <p:grpSp>
          <p:nvGrpSpPr>
            <p:cNvPr id="375" name="그룹 374">
              <a:extLst>
                <a:ext uri="{FF2B5EF4-FFF2-40B4-BE49-F238E27FC236}">
                  <a16:creationId xmlns:a16="http://schemas.microsoft.com/office/drawing/2014/main" id="{E48E541B-7265-049F-EB13-602EFE35F216}"/>
                </a:ext>
              </a:extLst>
            </p:cNvPr>
            <p:cNvGrpSpPr/>
            <p:nvPr/>
          </p:nvGrpSpPr>
          <p:grpSpPr>
            <a:xfrm>
              <a:off x="1957091" y="7173320"/>
              <a:ext cx="4283690" cy="295200"/>
              <a:chOff x="1957091" y="7184750"/>
              <a:chExt cx="4283690" cy="295200"/>
            </a:xfrm>
          </p:grpSpPr>
          <p:sp>
            <p:nvSpPr>
              <p:cNvPr id="386" name="AutoShape 43" descr="두산도형05">
                <a:extLst>
                  <a:ext uri="{FF2B5EF4-FFF2-40B4-BE49-F238E27FC236}">
                    <a16:creationId xmlns:a16="http://schemas.microsoft.com/office/drawing/2014/main" id="{4AB3A903-0051-4E4B-8E75-0DC61BCBE4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7091" y="7184750"/>
                <a:ext cx="4283690" cy="295200"/>
              </a:xfrm>
              <a:prstGeom prst="roundRect">
                <a:avLst>
                  <a:gd name="adj" fmla="val 0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79200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-180975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0" cap="none" spc="-40" normalizeH="0" baseline="0" noProof="0" dirty="0">
                    <a:ln>
                      <a:solidFill>
                        <a:srgbClr val="126AD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rPr>
                  <a:t>운영관리 업무지원 등 </a:t>
                </a:r>
                <a:r>
                  <a:rPr kumimoji="0" lang="ko-KR" altLang="en-US" sz="1100" b="0" i="0" u="none" strike="noStrike" kern="0" cap="none" spc="-40" normalizeH="0" baseline="0" noProof="0" dirty="0">
                    <a:ln>
                      <a:solidFill>
                        <a:srgbClr val="126AD4">
                          <a:alpha val="0"/>
                        </a:srgbClr>
                      </a:solidFill>
                    </a:ln>
                    <a:solidFill>
                      <a:srgbClr val="2D58B9"/>
                    </a:soli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rPr>
                  <a:t>능동적인 업무처리</a:t>
                </a:r>
              </a:p>
            </p:txBody>
          </p:sp>
          <p:grpSp>
            <p:nvGrpSpPr>
              <p:cNvPr id="387" name="그룹 386">
                <a:extLst>
                  <a:ext uri="{FF2B5EF4-FFF2-40B4-BE49-F238E27FC236}">
                    <a16:creationId xmlns:a16="http://schemas.microsoft.com/office/drawing/2014/main" id="{399CA72D-79AA-034E-2C54-45D855F614AE}"/>
                  </a:ext>
                </a:extLst>
              </p:cNvPr>
              <p:cNvGrpSpPr/>
              <p:nvPr/>
            </p:nvGrpSpPr>
            <p:grpSpPr>
              <a:xfrm>
                <a:off x="2472826" y="7238617"/>
                <a:ext cx="137029" cy="146993"/>
                <a:chOff x="8915056" y="4875757"/>
                <a:chExt cx="243675" cy="261393"/>
              </a:xfrm>
            </p:grpSpPr>
            <p:sp>
              <p:nvSpPr>
                <p:cNvPr id="388" name="Rectangle 402">
                  <a:extLst>
                    <a:ext uri="{FF2B5EF4-FFF2-40B4-BE49-F238E27FC236}">
                      <a16:creationId xmlns:a16="http://schemas.microsoft.com/office/drawing/2014/main" id="{21A59DCF-5F97-811C-EDD4-6CC64F3FB85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101" y="4965700"/>
                  <a:ext cx="171450" cy="171450"/>
                </a:xfrm>
                <a:prstGeom prst="rect">
                  <a:avLst/>
                </a:prstGeom>
                <a:noFill/>
                <a:ln w="22225">
                  <a:solidFill>
                    <a:srgbClr val="51565D">
                      <a:lumMod val="40000"/>
                      <a:lumOff val="60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-4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Medium"/>
                    <a:ea typeface="KoPub돋움체 Medium"/>
                  </a:endParaRPr>
                </a:p>
              </p:txBody>
            </p:sp>
            <p:sp>
              <p:nvSpPr>
                <p:cNvPr id="389" name="Freeform 403">
                  <a:extLst>
                    <a:ext uri="{FF2B5EF4-FFF2-40B4-BE49-F238E27FC236}">
                      <a16:creationId xmlns:a16="http://schemas.microsoft.com/office/drawing/2014/main" id="{EAF86B80-F4F9-8D06-528A-A09DBB5B5A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15056" y="4875757"/>
                  <a:ext cx="243675" cy="185192"/>
                </a:xfrm>
                <a:custGeom>
                  <a:avLst/>
                  <a:gdLst>
                    <a:gd name="T0" fmla="*/ 0 w 200"/>
                    <a:gd name="T1" fmla="*/ 38 h 152"/>
                    <a:gd name="T2" fmla="*/ 80 w 200"/>
                    <a:gd name="T3" fmla="*/ 152 h 152"/>
                    <a:gd name="T4" fmla="*/ 200 w 200"/>
                    <a:gd name="T5" fmla="*/ 0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0" h="152">
                      <a:moveTo>
                        <a:pt x="0" y="38"/>
                      </a:moveTo>
                      <a:lnTo>
                        <a:pt x="80" y="152"/>
                      </a:lnTo>
                      <a:lnTo>
                        <a:pt x="200" y="0"/>
                      </a:lnTo>
                    </a:path>
                  </a:pathLst>
                </a:custGeom>
                <a:noFill/>
                <a:ln w="22225">
                  <a:solidFill>
                    <a:srgbClr val="2D58B9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-4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Medium"/>
                    <a:ea typeface="KoPub돋움체 Medium"/>
                  </a:endParaRPr>
                </a:p>
              </p:txBody>
            </p:sp>
          </p:grpSp>
        </p:grpSp>
        <p:grpSp>
          <p:nvGrpSpPr>
            <p:cNvPr id="376" name="그룹 375">
              <a:extLst>
                <a:ext uri="{FF2B5EF4-FFF2-40B4-BE49-F238E27FC236}">
                  <a16:creationId xmlns:a16="http://schemas.microsoft.com/office/drawing/2014/main" id="{006A8667-3539-B2EE-2EA1-353C93BB9D13}"/>
                </a:ext>
              </a:extLst>
            </p:cNvPr>
            <p:cNvGrpSpPr/>
            <p:nvPr/>
          </p:nvGrpSpPr>
          <p:grpSpPr>
            <a:xfrm>
              <a:off x="1957091" y="7513954"/>
              <a:ext cx="4283690" cy="295200"/>
              <a:chOff x="1957091" y="7538719"/>
              <a:chExt cx="4283690" cy="295200"/>
            </a:xfrm>
          </p:grpSpPr>
          <p:sp>
            <p:nvSpPr>
              <p:cNvPr id="382" name="AutoShape 43" descr="두산도형05">
                <a:extLst>
                  <a:ext uri="{FF2B5EF4-FFF2-40B4-BE49-F238E27FC236}">
                    <a16:creationId xmlns:a16="http://schemas.microsoft.com/office/drawing/2014/main" id="{17BC3D07-79C1-4EE1-65D5-BA8F7BBD2C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7091" y="7538719"/>
                <a:ext cx="4283690" cy="295200"/>
              </a:xfrm>
              <a:prstGeom prst="roundRect">
                <a:avLst>
                  <a:gd name="adj" fmla="val 0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79200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-180975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0" cap="none" spc="-40" normalizeH="0" baseline="0" noProof="0" dirty="0">
                    <a:ln>
                      <a:solidFill>
                        <a:srgbClr val="126AD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rPr>
                  <a:t>단위 보안업무 뿐만 아니라 </a:t>
                </a:r>
                <a:r>
                  <a:rPr kumimoji="0" lang="ko-KR" altLang="en-US" sz="1100" b="0" i="0" u="none" strike="noStrike" kern="0" cap="none" spc="-40" normalizeH="0" baseline="0" noProof="0" dirty="0">
                    <a:ln>
                      <a:solidFill>
                        <a:srgbClr val="126AD4">
                          <a:alpha val="0"/>
                        </a:srgbClr>
                      </a:solidFill>
                    </a:ln>
                    <a:solidFill>
                      <a:srgbClr val="2D58B9"/>
                    </a:soli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rPr>
                  <a:t>보안관리체계 강화 지속</a:t>
                </a:r>
              </a:p>
            </p:txBody>
          </p:sp>
          <p:grpSp>
            <p:nvGrpSpPr>
              <p:cNvPr id="383" name="그룹 382">
                <a:extLst>
                  <a:ext uri="{FF2B5EF4-FFF2-40B4-BE49-F238E27FC236}">
                    <a16:creationId xmlns:a16="http://schemas.microsoft.com/office/drawing/2014/main" id="{D8643252-90CB-D7AE-5345-2389CE9080E1}"/>
                  </a:ext>
                </a:extLst>
              </p:cNvPr>
              <p:cNvGrpSpPr/>
              <p:nvPr/>
            </p:nvGrpSpPr>
            <p:grpSpPr>
              <a:xfrm>
                <a:off x="2472826" y="7592586"/>
                <a:ext cx="137029" cy="146993"/>
                <a:chOff x="8915056" y="4875757"/>
                <a:chExt cx="243675" cy="261393"/>
              </a:xfrm>
            </p:grpSpPr>
            <p:sp>
              <p:nvSpPr>
                <p:cNvPr id="384" name="Rectangle 402">
                  <a:extLst>
                    <a:ext uri="{FF2B5EF4-FFF2-40B4-BE49-F238E27FC236}">
                      <a16:creationId xmlns:a16="http://schemas.microsoft.com/office/drawing/2014/main" id="{C0D94037-B865-6742-4A70-1A6E5259F71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101" y="4965700"/>
                  <a:ext cx="171450" cy="171450"/>
                </a:xfrm>
                <a:prstGeom prst="rect">
                  <a:avLst/>
                </a:prstGeom>
                <a:noFill/>
                <a:ln w="22225">
                  <a:solidFill>
                    <a:srgbClr val="51565D">
                      <a:lumMod val="40000"/>
                      <a:lumOff val="60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-4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Medium"/>
                    <a:ea typeface="KoPub돋움체 Medium"/>
                  </a:endParaRPr>
                </a:p>
              </p:txBody>
            </p:sp>
            <p:sp>
              <p:nvSpPr>
                <p:cNvPr id="385" name="Freeform 403">
                  <a:extLst>
                    <a:ext uri="{FF2B5EF4-FFF2-40B4-BE49-F238E27FC236}">
                      <a16:creationId xmlns:a16="http://schemas.microsoft.com/office/drawing/2014/main" id="{99D1F067-973D-F7C3-6A4F-389231919C8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15056" y="4875757"/>
                  <a:ext cx="243675" cy="185192"/>
                </a:xfrm>
                <a:custGeom>
                  <a:avLst/>
                  <a:gdLst>
                    <a:gd name="T0" fmla="*/ 0 w 200"/>
                    <a:gd name="T1" fmla="*/ 38 h 152"/>
                    <a:gd name="T2" fmla="*/ 80 w 200"/>
                    <a:gd name="T3" fmla="*/ 152 h 152"/>
                    <a:gd name="T4" fmla="*/ 200 w 200"/>
                    <a:gd name="T5" fmla="*/ 0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0" h="152">
                      <a:moveTo>
                        <a:pt x="0" y="38"/>
                      </a:moveTo>
                      <a:lnTo>
                        <a:pt x="80" y="152"/>
                      </a:lnTo>
                      <a:lnTo>
                        <a:pt x="200" y="0"/>
                      </a:lnTo>
                    </a:path>
                  </a:pathLst>
                </a:custGeom>
                <a:noFill/>
                <a:ln w="22225">
                  <a:solidFill>
                    <a:srgbClr val="2D58B9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-4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Medium"/>
                    <a:ea typeface="KoPub돋움체 Medium"/>
                  </a:endParaRPr>
                </a:p>
              </p:txBody>
            </p:sp>
          </p:grpSp>
        </p:grpSp>
        <p:grpSp>
          <p:nvGrpSpPr>
            <p:cNvPr id="377" name="그룹 376">
              <a:extLst>
                <a:ext uri="{FF2B5EF4-FFF2-40B4-BE49-F238E27FC236}">
                  <a16:creationId xmlns:a16="http://schemas.microsoft.com/office/drawing/2014/main" id="{54A8160A-2FDD-12CD-071F-51BAB38CD419}"/>
                </a:ext>
              </a:extLst>
            </p:cNvPr>
            <p:cNvGrpSpPr/>
            <p:nvPr/>
          </p:nvGrpSpPr>
          <p:grpSpPr>
            <a:xfrm>
              <a:off x="1957091" y="7854587"/>
              <a:ext cx="4283690" cy="295200"/>
              <a:chOff x="1957091" y="7892687"/>
              <a:chExt cx="4283690" cy="295200"/>
            </a:xfrm>
          </p:grpSpPr>
          <p:sp>
            <p:nvSpPr>
              <p:cNvPr id="378" name="AutoShape 43" descr="두산도형05">
                <a:extLst>
                  <a:ext uri="{FF2B5EF4-FFF2-40B4-BE49-F238E27FC236}">
                    <a16:creationId xmlns:a16="http://schemas.microsoft.com/office/drawing/2014/main" id="{7091CACD-7BBC-9ED7-545A-97389FA81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57091" y="7892687"/>
                <a:ext cx="4283690" cy="295200"/>
              </a:xfrm>
              <a:prstGeom prst="roundRect">
                <a:avLst>
                  <a:gd name="adj" fmla="val 0"/>
                </a:avLst>
              </a:prstGeom>
              <a:solidFill>
                <a:sysClr val="window" lastClr="FFFFFF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79200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-180975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ko-KR" altLang="en-US" sz="1050" b="0" i="0" u="none" strike="noStrike" kern="0" cap="none" spc="-40" normalizeH="0" baseline="0" noProof="0" dirty="0">
                    <a:ln>
                      <a:solidFill>
                        <a:srgbClr val="126AD4">
                          <a:alpha val="0"/>
                        </a:srgbClr>
                      </a:solidFill>
                    </a:ln>
                    <a:solidFill>
                      <a:prstClr val="black">
                        <a:lumMod val="75000"/>
                        <a:lumOff val="25000"/>
                      </a:prstClr>
                    </a:soli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rPr>
                  <a:t>정보화 지원 및 </a:t>
                </a:r>
                <a:r>
                  <a:rPr kumimoji="0" lang="ko-KR" altLang="en-US" sz="1100" b="0" i="0" u="none" strike="noStrike" kern="0" cap="none" spc="-40" normalizeH="0" baseline="0" noProof="0" dirty="0">
                    <a:ln>
                      <a:solidFill>
                        <a:srgbClr val="126AD4">
                          <a:alpha val="0"/>
                        </a:srgbClr>
                      </a:solidFill>
                    </a:ln>
                    <a:solidFill>
                      <a:srgbClr val="2D58B9"/>
                    </a:soli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</a:rPr>
                  <a:t>책임감 있는 사업관리</a:t>
                </a:r>
              </a:p>
            </p:txBody>
          </p:sp>
          <p:grpSp>
            <p:nvGrpSpPr>
              <p:cNvPr id="379" name="그룹 378">
                <a:extLst>
                  <a:ext uri="{FF2B5EF4-FFF2-40B4-BE49-F238E27FC236}">
                    <a16:creationId xmlns:a16="http://schemas.microsoft.com/office/drawing/2014/main" id="{4F24315B-B5BA-9406-F753-2AEA56F1FE53}"/>
                  </a:ext>
                </a:extLst>
              </p:cNvPr>
              <p:cNvGrpSpPr/>
              <p:nvPr/>
            </p:nvGrpSpPr>
            <p:grpSpPr>
              <a:xfrm>
                <a:off x="2472826" y="7946554"/>
                <a:ext cx="137029" cy="146993"/>
                <a:chOff x="8915056" y="4875757"/>
                <a:chExt cx="243675" cy="261393"/>
              </a:xfrm>
            </p:grpSpPr>
            <p:sp>
              <p:nvSpPr>
                <p:cNvPr id="380" name="Rectangle 402">
                  <a:extLst>
                    <a:ext uri="{FF2B5EF4-FFF2-40B4-BE49-F238E27FC236}">
                      <a16:creationId xmlns:a16="http://schemas.microsoft.com/office/drawing/2014/main" id="{A023038B-AB96-9354-7230-0EF590BA949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928101" y="4965700"/>
                  <a:ext cx="171450" cy="171450"/>
                </a:xfrm>
                <a:prstGeom prst="rect">
                  <a:avLst/>
                </a:prstGeom>
                <a:noFill/>
                <a:ln w="22225">
                  <a:solidFill>
                    <a:srgbClr val="51565D">
                      <a:lumMod val="40000"/>
                      <a:lumOff val="60000"/>
                    </a:srgbClr>
                  </a:solidFill>
                  <a:prstDash val="solid"/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-4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Medium"/>
                    <a:ea typeface="KoPub돋움체 Medium"/>
                  </a:endParaRPr>
                </a:p>
              </p:txBody>
            </p:sp>
            <p:sp>
              <p:nvSpPr>
                <p:cNvPr id="381" name="Freeform 403">
                  <a:extLst>
                    <a:ext uri="{FF2B5EF4-FFF2-40B4-BE49-F238E27FC236}">
                      <a16:creationId xmlns:a16="http://schemas.microsoft.com/office/drawing/2014/main" id="{EF19BCB9-2225-3B7C-2A8E-3AB3B065F75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8915056" y="4875757"/>
                  <a:ext cx="243675" cy="185192"/>
                </a:xfrm>
                <a:custGeom>
                  <a:avLst/>
                  <a:gdLst>
                    <a:gd name="T0" fmla="*/ 0 w 200"/>
                    <a:gd name="T1" fmla="*/ 38 h 152"/>
                    <a:gd name="T2" fmla="*/ 80 w 200"/>
                    <a:gd name="T3" fmla="*/ 152 h 152"/>
                    <a:gd name="T4" fmla="*/ 200 w 200"/>
                    <a:gd name="T5" fmla="*/ 0 h 15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200" h="152">
                      <a:moveTo>
                        <a:pt x="0" y="38"/>
                      </a:moveTo>
                      <a:lnTo>
                        <a:pt x="80" y="152"/>
                      </a:lnTo>
                      <a:lnTo>
                        <a:pt x="200" y="0"/>
                      </a:lnTo>
                    </a:path>
                  </a:pathLst>
                </a:custGeom>
                <a:noFill/>
                <a:ln w="22225">
                  <a:solidFill>
                    <a:srgbClr val="2D58B9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0" cap="none" spc="-4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KoPub돋움체 Medium"/>
                    <a:ea typeface="KoPub돋움체 Medium"/>
                  </a:endParaRPr>
                </a:p>
              </p:txBody>
            </p:sp>
          </p:grpSp>
        </p:grpSp>
      </p:grpSp>
      <p:grpSp>
        <p:nvGrpSpPr>
          <p:cNvPr id="398" name="그룹 397">
            <a:extLst>
              <a:ext uri="{FF2B5EF4-FFF2-40B4-BE49-F238E27FC236}">
                <a16:creationId xmlns:a16="http://schemas.microsoft.com/office/drawing/2014/main" id="{A0432178-3527-633C-1BEF-96D671B6509B}"/>
              </a:ext>
            </a:extLst>
          </p:cNvPr>
          <p:cNvGrpSpPr/>
          <p:nvPr/>
        </p:nvGrpSpPr>
        <p:grpSpPr>
          <a:xfrm>
            <a:off x="2651161" y="7439600"/>
            <a:ext cx="4283690" cy="1695459"/>
            <a:chOff x="1957091" y="6469192"/>
            <a:chExt cx="4283690" cy="1711075"/>
          </a:xfrm>
        </p:grpSpPr>
        <p:sp>
          <p:nvSpPr>
            <p:cNvPr id="399" name="자유형: 도형 398">
              <a:extLst>
                <a:ext uri="{FF2B5EF4-FFF2-40B4-BE49-F238E27FC236}">
                  <a16:creationId xmlns:a16="http://schemas.microsoft.com/office/drawing/2014/main" id="{29E62A26-C5EF-2AB7-7CA4-F3EDE95A2E72}"/>
                </a:ext>
              </a:extLst>
            </p:cNvPr>
            <p:cNvSpPr/>
            <p:nvPr/>
          </p:nvSpPr>
          <p:spPr>
            <a:xfrm>
              <a:off x="1957091" y="6469192"/>
              <a:ext cx="90000" cy="1711075"/>
            </a:xfrm>
            <a:custGeom>
              <a:avLst/>
              <a:gdLst>
                <a:gd name="connsiteX0" fmla="*/ 123825 w 127000"/>
                <a:gd name="connsiteY0" fmla="*/ 0 h 146050"/>
                <a:gd name="connsiteX1" fmla="*/ 0 w 127000"/>
                <a:gd name="connsiteY1" fmla="*/ 0 h 146050"/>
                <a:gd name="connsiteX2" fmla="*/ 0 w 127000"/>
                <a:gd name="connsiteY2" fmla="*/ 146050 h 146050"/>
                <a:gd name="connsiteX3" fmla="*/ 127000 w 127000"/>
                <a:gd name="connsiteY3" fmla="*/ 146050 h 14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146050">
                  <a:moveTo>
                    <a:pt x="123825" y="0"/>
                  </a:moveTo>
                  <a:lnTo>
                    <a:pt x="0" y="0"/>
                  </a:lnTo>
                  <a:lnTo>
                    <a:pt x="0" y="146050"/>
                  </a:lnTo>
                  <a:lnTo>
                    <a:pt x="127000" y="146050"/>
                  </a:lnTo>
                </a:path>
              </a:pathLst>
            </a:custGeom>
            <a:noFill/>
            <a:ln w="38100" cap="flat" cmpd="sng" algn="ctr">
              <a:solidFill>
                <a:srgbClr val="51565D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-4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endParaRPr>
            </a:p>
          </p:txBody>
        </p:sp>
        <p:sp>
          <p:nvSpPr>
            <p:cNvPr id="400" name="자유형: 도형 399">
              <a:extLst>
                <a:ext uri="{FF2B5EF4-FFF2-40B4-BE49-F238E27FC236}">
                  <a16:creationId xmlns:a16="http://schemas.microsoft.com/office/drawing/2014/main" id="{5936D563-C654-CCEB-54A1-50BB02F1C810}"/>
                </a:ext>
              </a:extLst>
            </p:cNvPr>
            <p:cNvSpPr/>
            <p:nvPr/>
          </p:nvSpPr>
          <p:spPr>
            <a:xfrm flipH="1">
              <a:off x="6150781" y="6469192"/>
              <a:ext cx="90000" cy="1711075"/>
            </a:xfrm>
            <a:custGeom>
              <a:avLst/>
              <a:gdLst>
                <a:gd name="connsiteX0" fmla="*/ 123825 w 127000"/>
                <a:gd name="connsiteY0" fmla="*/ 0 h 146050"/>
                <a:gd name="connsiteX1" fmla="*/ 0 w 127000"/>
                <a:gd name="connsiteY1" fmla="*/ 0 h 146050"/>
                <a:gd name="connsiteX2" fmla="*/ 0 w 127000"/>
                <a:gd name="connsiteY2" fmla="*/ 146050 h 146050"/>
                <a:gd name="connsiteX3" fmla="*/ 127000 w 127000"/>
                <a:gd name="connsiteY3" fmla="*/ 146050 h 146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7000" h="146050">
                  <a:moveTo>
                    <a:pt x="123825" y="0"/>
                  </a:moveTo>
                  <a:lnTo>
                    <a:pt x="0" y="0"/>
                  </a:lnTo>
                  <a:lnTo>
                    <a:pt x="0" y="146050"/>
                  </a:lnTo>
                  <a:lnTo>
                    <a:pt x="127000" y="146050"/>
                  </a:lnTo>
                </a:path>
              </a:pathLst>
            </a:custGeom>
            <a:noFill/>
            <a:ln w="38100" cap="flat" cmpd="sng" algn="ctr">
              <a:solidFill>
                <a:srgbClr val="51565D">
                  <a:lumMod val="40000"/>
                  <a:lumOff val="60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-4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Medium"/>
                <a:ea typeface="KoPub돋움체 Medium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45874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5EB94BF4-269D-4ADE-8025-A904DB6FAF1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D15C4-AF98-EFE3-EB7A-8C48293D6D4B}"/>
              </a:ext>
            </a:extLst>
          </p:cNvPr>
          <p:cNvSpPr txBox="1"/>
          <p:nvPr/>
        </p:nvSpPr>
        <p:spPr>
          <a:xfrm>
            <a:off x="934361" y="2524932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안정성 극대화로 신속한 대응이 가능한 유지보수 서비스 제공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F03E0E-F6C0-91ED-93A3-245C8135B495}"/>
              </a:ext>
            </a:extLst>
          </p:cNvPr>
          <p:cNvSpPr/>
          <p:nvPr/>
        </p:nvSpPr>
        <p:spPr>
          <a:xfrm>
            <a:off x="1381398" y="1696926"/>
            <a:ext cx="5849058" cy="56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>
                <a:srgbClr val="0061EB"/>
              </a:buClr>
              <a:buSzPct val="80000"/>
              <a:buFont typeface="KoPub돋움체 Bold" panose="02020603020101020101" pitchFamily="18" charset="-127"/>
              <a:buChar char="▶"/>
            </a:pP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제안사는 국방전산정보원의 전군 지원 정보체계 및 국방부 영내 지원과 대국민 서비스의 안정적인 제공을 통해 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대내외 서비스 신뢰성을 확보하고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다수의 유사사업 경험을 바탕으로 한 노하우를 접목하여 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24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시간 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365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일 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안정적인 서비스 제공을 통해 성공적인 유지보수 사업을 수행합니다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8FA33E-FCA6-5565-BB5E-627D28B7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1AD25E6B-72CB-6EC4-DDE8-4471418641D6}"/>
              </a:ext>
            </a:extLst>
          </p:cNvPr>
          <p:cNvGrpSpPr/>
          <p:nvPr/>
        </p:nvGrpSpPr>
        <p:grpSpPr>
          <a:xfrm>
            <a:off x="732467" y="2956930"/>
            <a:ext cx="6352635" cy="2470442"/>
            <a:chOff x="1192901" y="3759622"/>
            <a:chExt cx="5547633" cy="2157389"/>
          </a:xfrm>
        </p:grpSpPr>
        <p:pic>
          <p:nvPicPr>
            <p:cNvPr id="15" name="Picture 3">
              <a:extLst>
                <a:ext uri="{FF2B5EF4-FFF2-40B4-BE49-F238E27FC236}">
                  <a16:creationId xmlns:a16="http://schemas.microsoft.com/office/drawing/2014/main" id="{37FF5931-8C10-8F35-0645-E4E2C59CBB1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1192901" y="3759622"/>
              <a:ext cx="5543261" cy="2001694"/>
            </a:xfrm>
            <a:prstGeom prst="rect">
              <a:avLst/>
            </a:prstGeom>
            <a:noFill/>
          </p:spPr>
        </p:pic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C47673A9-8C56-CB79-4D4B-C5D1BC60A9B4}"/>
                </a:ext>
              </a:extLst>
            </p:cNvPr>
            <p:cNvGrpSpPr/>
            <p:nvPr/>
          </p:nvGrpSpPr>
          <p:grpSpPr>
            <a:xfrm>
              <a:off x="2748467" y="4993929"/>
              <a:ext cx="987186" cy="923082"/>
              <a:chOff x="1069182" y="5481829"/>
              <a:chExt cx="1131897" cy="1058395"/>
            </a:xfrm>
          </p:grpSpPr>
          <p:sp>
            <p:nvSpPr>
              <p:cNvPr id="35" name="타원 34">
                <a:extLst>
                  <a:ext uri="{FF2B5EF4-FFF2-40B4-BE49-F238E27FC236}">
                    <a16:creationId xmlns:a16="http://schemas.microsoft.com/office/drawing/2014/main" id="{6FF85141-EE99-1472-335F-60352F93F34C}"/>
                  </a:ext>
                </a:extLst>
              </p:cNvPr>
              <p:cNvSpPr/>
              <p:nvPr/>
            </p:nvSpPr>
            <p:spPr>
              <a:xfrm>
                <a:off x="1172814" y="5544828"/>
                <a:ext cx="995398" cy="995396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latinLnBrk="0">
                  <a:lnSpc>
                    <a:spcPct val="110000"/>
                  </a:lnSpc>
                  <a:spcBef>
                    <a:spcPts val="100"/>
                  </a:spcBef>
                </a:pPr>
                <a:endPara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grpSp>
            <p:nvGrpSpPr>
              <p:cNvPr id="36" name="그룹 45">
                <a:extLst>
                  <a:ext uri="{FF2B5EF4-FFF2-40B4-BE49-F238E27FC236}">
                    <a16:creationId xmlns:a16="http://schemas.microsoft.com/office/drawing/2014/main" id="{E5B9DF70-E471-4E2B-06D5-070EF0B44FAD}"/>
                  </a:ext>
                </a:extLst>
              </p:cNvPr>
              <p:cNvGrpSpPr/>
              <p:nvPr/>
            </p:nvGrpSpPr>
            <p:grpSpPr>
              <a:xfrm>
                <a:off x="1069182" y="5481829"/>
                <a:ext cx="1131897" cy="1054121"/>
                <a:chOff x="4241793" y="3295641"/>
                <a:chExt cx="1131897" cy="1054121"/>
              </a:xfrm>
            </p:grpSpPr>
            <p:sp>
              <p:nvSpPr>
                <p:cNvPr id="37" name="타원 36">
                  <a:extLst>
                    <a:ext uri="{FF2B5EF4-FFF2-40B4-BE49-F238E27FC236}">
                      <a16:creationId xmlns:a16="http://schemas.microsoft.com/office/drawing/2014/main" id="{AA8CC104-56F5-382D-76C5-C5C5A5EC52D3}"/>
                    </a:ext>
                  </a:extLst>
                </p:cNvPr>
                <p:cNvSpPr/>
                <p:nvPr/>
              </p:nvSpPr>
              <p:spPr>
                <a:xfrm>
                  <a:off x="4460865" y="3295641"/>
                  <a:ext cx="912825" cy="912825"/>
                </a:xfrm>
                <a:prstGeom prst="ellipse">
                  <a:avLst/>
                </a:prstGeom>
                <a:solidFill>
                  <a:srgbClr val="1E8CC8">
                    <a:alpha val="24000"/>
                  </a:srgbClr>
                </a:soli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200" b="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effectLst>
                      <a:outerShdw blurRad="127000" algn="ctr" rotWithShape="0">
                        <a:prstClr val="black">
                          <a:alpha val="21000"/>
                        </a:prstClr>
                      </a:outerShdw>
                    </a:effectLst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38" name="타원 37">
                  <a:extLst>
                    <a:ext uri="{FF2B5EF4-FFF2-40B4-BE49-F238E27FC236}">
                      <a16:creationId xmlns:a16="http://schemas.microsoft.com/office/drawing/2014/main" id="{DB9DE19F-73B8-B62A-D705-90C5CB50CCD5}"/>
                    </a:ext>
                  </a:extLst>
                </p:cNvPr>
                <p:cNvSpPr/>
                <p:nvPr/>
              </p:nvSpPr>
              <p:spPr>
                <a:xfrm>
                  <a:off x="4241793" y="3328980"/>
                  <a:ext cx="912825" cy="912825"/>
                </a:xfrm>
                <a:prstGeom prst="ellipse">
                  <a:avLst/>
                </a:prstGeom>
                <a:solidFill>
                  <a:srgbClr val="1E8CC8">
                    <a:alpha val="31000"/>
                  </a:srgbClr>
                </a:soli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200" b="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effectLst>
                      <a:outerShdw blurRad="127000" algn="ctr" rotWithShape="0">
                        <a:prstClr val="black">
                          <a:alpha val="21000"/>
                        </a:prstClr>
                      </a:outerShdw>
                    </a:effectLst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39" name="타원 38">
                  <a:extLst>
                    <a:ext uri="{FF2B5EF4-FFF2-40B4-BE49-F238E27FC236}">
                      <a16:creationId xmlns:a16="http://schemas.microsoft.com/office/drawing/2014/main" id="{3AE68EAE-6D1D-0BD8-84C9-09AB2AF32CE2}"/>
                    </a:ext>
                  </a:extLst>
                </p:cNvPr>
                <p:cNvSpPr/>
                <p:nvPr/>
              </p:nvSpPr>
              <p:spPr>
                <a:xfrm>
                  <a:off x="4348128" y="3354366"/>
                  <a:ext cx="995398" cy="995396"/>
                </a:xfrm>
                <a:prstGeom prst="ellipse">
                  <a:avLst/>
                </a:prstGeom>
                <a:solidFill>
                  <a:srgbClr val="1E8CC8">
                    <a:alpha val="50000"/>
                  </a:srgbClr>
                </a:soli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 latinLnBrk="0">
                    <a:lnSpc>
                      <a:spcPct val="110000"/>
                    </a:lnSpc>
                    <a:spcBef>
                      <a:spcPts val="100"/>
                    </a:spcBef>
                  </a:pPr>
                  <a:r>
                    <a:rPr lang="ko-KR" altLang="en-US" sz="1200" b="1" spc="-70" dirty="0">
                      <a:gradFill>
                        <a:gsLst>
                          <a:gs pos="0">
                            <a:schemeClr val="bg1"/>
                          </a:gs>
                          <a:gs pos="100000">
                            <a:schemeClr val="bg1"/>
                          </a:gs>
                        </a:gsLst>
                        <a:lin ang="5400000" scaled="0"/>
                      </a:gra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운영 전문성</a:t>
                  </a:r>
                  <a:endParaRPr lang="en-US" altLang="ko-KR" sz="1200" b="1" spc="-7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  <a:p>
                  <a:pPr algn="ctr" latinLnBrk="0">
                    <a:lnSpc>
                      <a:spcPct val="110000"/>
                    </a:lnSpc>
                    <a:spcBef>
                      <a:spcPts val="100"/>
                    </a:spcBef>
                  </a:pPr>
                  <a:r>
                    <a:rPr lang="ko-KR" altLang="en-US" sz="1200" b="1" spc="-70" dirty="0">
                      <a:gradFill>
                        <a:gsLst>
                          <a:gs pos="0">
                            <a:schemeClr val="bg1"/>
                          </a:gs>
                          <a:gs pos="100000">
                            <a:schemeClr val="bg1"/>
                          </a:gs>
                        </a:gsLst>
                        <a:lin ang="5400000" scaled="0"/>
                      </a:gra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강화</a:t>
                  </a:r>
                  <a:endParaRPr lang="en-US" altLang="ko-KR" sz="1200" b="1" spc="-7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</p:grpSp>
        <p:grpSp>
          <p:nvGrpSpPr>
            <p:cNvPr id="17" name="그룹 16">
              <a:extLst>
                <a:ext uri="{FF2B5EF4-FFF2-40B4-BE49-F238E27FC236}">
                  <a16:creationId xmlns:a16="http://schemas.microsoft.com/office/drawing/2014/main" id="{A96F8CC4-7BCC-BD5D-2684-FE174C6A80BE}"/>
                </a:ext>
              </a:extLst>
            </p:cNvPr>
            <p:cNvGrpSpPr/>
            <p:nvPr/>
          </p:nvGrpSpPr>
          <p:grpSpPr>
            <a:xfrm>
              <a:off x="4388081" y="4993929"/>
              <a:ext cx="987186" cy="923082"/>
              <a:chOff x="1069182" y="5481829"/>
              <a:chExt cx="1131897" cy="1058395"/>
            </a:xfrm>
          </p:grpSpPr>
          <p:sp>
            <p:nvSpPr>
              <p:cNvPr id="30" name="타원 29">
                <a:extLst>
                  <a:ext uri="{FF2B5EF4-FFF2-40B4-BE49-F238E27FC236}">
                    <a16:creationId xmlns:a16="http://schemas.microsoft.com/office/drawing/2014/main" id="{9E018F65-DBAF-40A4-8C9C-1E2033AC7FB5}"/>
                  </a:ext>
                </a:extLst>
              </p:cNvPr>
              <p:cNvSpPr/>
              <p:nvPr/>
            </p:nvSpPr>
            <p:spPr>
              <a:xfrm>
                <a:off x="1172814" y="5544828"/>
                <a:ext cx="995398" cy="995396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latinLnBrk="0">
                  <a:lnSpc>
                    <a:spcPct val="110000"/>
                  </a:lnSpc>
                  <a:spcBef>
                    <a:spcPts val="100"/>
                  </a:spcBef>
                </a:pPr>
                <a:endPara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grpSp>
            <p:nvGrpSpPr>
              <p:cNvPr id="31" name="그룹 45">
                <a:extLst>
                  <a:ext uri="{FF2B5EF4-FFF2-40B4-BE49-F238E27FC236}">
                    <a16:creationId xmlns:a16="http://schemas.microsoft.com/office/drawing/2014/main" id="{B251A5CA-AF93-9449-9C4E-5351D656C01F}"/>
                  </a:ext>
                </a:extLst>
              </p:cNvPr>
              <p:cNvGrpSpPr/>
              <p:nvPr/>
            </p:nvGrpSpPr>
            <p:grpSpPr>
              <a:xfrm>
                <a:off x="1069182" y="5481829"/>
                <a:ext cx="1131897" cy="1054121"/>
                <a:chOff x="4241793" y="3295641"/>
                <a:chExt cx="1131897" cy="1054121"/>
              </a:xfrm>
            </p:grpSpPr>
            <p:sp>
              <p:nvSpPr>
                <p:cNvPr id="32" name="타원 31">
                  <a:extLst>
                    <a:ext uri="{FF2B5EF4-FFF2-40B4-BE49-F238E27FC236}">
                      <a16:creationId xmlns:a16="http://schemas.microsoft.com/office/drawing/2014/main" id="{E599BFE3-C5B6-3DEB-81B3-3198C27C1DBF}"/>
                    </a:ext>
                  </a:extLst>
                </p:cNvPr>
                <p:cNvSpPr/>
                <p:nvPr/>
              </p:nvSpPr>
              <p:spPr>
                <a:xfrm>
                  <a:off x="4460865" y="3295641"/>
                  <a:ext cx="912825" cy="912825"/>
                </a:xfrm>
                <a:prstGeom prst="ellipse">
                  <a:avLst/>
                </a:prstGeom>
                <a:solidFill>
                  <a:srgbClr val="1E8CC8">
                    <a:alpha val="24000"/>
                  </a:srgbClr>
                </a:soli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200" b="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effectLst>
                      <a:outerShdw blurRad="127000" algn="ctr" rotWithShape="0">
                        <a:prstClr val="black">
                          <a:alpha val="21000"/>
                        </a:prstClr>
                      </a:outerShdw>
                    </a:effectLst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33" name="타원 32">
                  <a:extLst>
                    <a:ext uri="{FF2B5EF4-FFF2-40B4-BE49-F238E27FC236}">
                      <a16:creationId xmlns:a16="http://schemas.microsoft.com/office/drawing/2014/main" id="{8A1625F6-7788-452F-C9AA-703E99630ECF}"/>
                    </a:ext>
                  </a:extLst>
                </p:cNvPr>
                <p:cNvSpPr/>
                <p:nvPr/>
              </p:nvSpPr>
              <p:spPr>
                <a:xfrm>
                  <a:off x="4241793" y="3328980"/>
                  <a:ext cx="912825" cy="912825"/>
                </a:xfrm>
                <a:prstGeom prst="ellipse">
                  <a:avLst/>
                </a:prstGeom>
                <a:solidFill>
                  <a:srgbClr val="1E8CC8">
                    <a:alpha val="31000"/>
                  </a:srgbClr>
                </a:soli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200" b="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effectLst>
                      <a:outerShdw blurRad="127000" algn="ctr" rotWithShape="0">
                        <a:prstClr val="black">
                          <a:alpha val="21000"/>
                        </a:prstClr>
                      </a:outerShdw>
                    </a:effectLst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34" name="타원 33">
                  <a:extLst>
                    <a:ext uri="{FF2B5EF4-FFF2-40B4-BE49-F238E27FC236}">
                      <a16:creationId xmlns:a16="http://schemas.microsoft.com/office/drawing/2014/main" id="{CC21AD84-8092-D7B0-085E-EFF7719B2521}"/>
                    </a:ext>
                  </a:extLst>
                </p:cNvPr>
                <p:cNvSpPr/>
                <p:nvPr/>
              </p:nvSpPr>
              <p:spPr>
                <a:xfrm>
                  <a:off x="4348128" y="3354366"/>
                  <a:ext cx="995398" cy="995396"/>
                </a:xfrm>
                <a:prstGeom prst="ellipse">
                  <a:avLst/>
                </a:prstGeom>
                <a:solidFill>
                  <a:srgbClr val="1E8CC8">
                    <a:alpha val="50000"/>
                  </a:srgbClr>
                </a:soli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 latinLnBrk="0">
                    <a:lnSpc>
                      <a:spcPct val="110000"/>
                    </a:lnSpc>
                    <a:spcBef>
                      <a:spcPts val="100"/>
                    </a:spcBef>
                  </a:pPr>
                  <a:r>
                    <a:rPr lang="ko-KR" altLang="en-US" sz="1200" b="1" spc="-70" dirty="0">
                      <a:gradFill>
                        <a:gsLst>
                          <a:gs pos="0">
                            <a:schemeClr val="bg1"/>
                          </a:gs>
                          <a:gs pos="100000">
                            <a:schemeClr val="bg1"/>
                          </a:gs>
                        </a:gsLst>
                        <a:lin ang="5400000" scaled="0"/>
                      </a:gra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업무 효율성</a:t>
                  </a:r>
                  <a:endParaRPr lang="en-US" altLang="ko-KR" sz="1200" b="1" spc="-7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  <a:p>
                  <a:pPr algn="ctr" latinLnBrk="0">
                    <a:lnSpc>
                      <a:spcPct val="110000"/>
                    </a:lnSpc>
                    <a:spcBef>
                      <a:spcPts val="100"/>
                    </a:spcBef>
                  </a:pPr>
                  <a:r>
                    <a:rPr lang="ko-KR" altLang="en-US" sz="1200" b="1" spc="-70" dirty="0">
                      <a:gradFill>
                        <a:gsLst>
                          <a:gs pos="0">
                            <a:schemeClr val="bg1"/>
                          </a:gs>
                          <a:gs pos="100000">
                            <a:schemeClr val="bg1"/>
                          </a:gs>
                        </a:gsLst>
                        <a:lin ang="5400000" scaled="0"/>
                      </a:gra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제고</a:t>
                  </a:r>
                  <a:endParaRPr lang="en-US" altLang="ko-KR" sz="1200" b="1" spc="-7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</p:grpSp>
        <p:grpSp>
          <p:nvGrpSpPr>
            <p:cNvPr id="18" name="그룹 17">
              <a:extLst>
                <a:ext uri="{FF2B5EF4-FFF2-40B4-BE49-F238E27FC236}">
                  <a16:creationId xmlns:a16="http://schemas.microsoft.com/office/drawing/2014/main" id="{EA083B13-F846-F01D-EB85-94D1EA77FBB2}"/>
                </a:ext>
              </a:extLst>
            </p:cNvPr>
            <p:cNvGrpSpPr/>
            <p:nvPr/>
          </p:nvGrpSpPr>
          <p:grpSpPr>
            <a:xfrm>
              <a:off x="1303492" y="4249870"/>
              <a:ext cx="998262" cy="927460"/>
              <a:chOff x="2888921" y="5774290"/>
              <a:chExt cx="1144597" cy="1063417"/>
            </a:xfrm>
          </p:grpSpPr>
          <p:sp>
            <p:nvSpPr>
              <p:cNvPr id="25" name="타원 24">
                <a:extLst>
                  <a:ext uri="{FF2B5EF4-FFF2-40B4-BE49-F238E27FC236}">
                    <a16:creationId xmlns:a16="http://schemas.microsoft.com/office/drawing/2014/main" id="{B5F75A2A-4E2A-CFEB-E701-EAFBF86727BC}"/>
                  </a:ext>
                </a:extLst>
              </p:cNvPr>
              <p:cNvSpPr/>
              <p:nvPr/>
            </p:nvSpPr>
            <p:spPr>
              <a:xfrm>
                <a:off x="2953350" y="5842311"/>
                <a:ext cx="995398" cy="995396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latinLnBrk="0">
                  <a:lnSpc>
                    <a:spcPct val="110000"/>
                  </a:lnSpc>
                  <a:spcBef>
                    <a:spcPts val="100"/>
                  </a:spcBef>
                </a:pPr>
                <a:endPara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grpSp>
            <p:nvGrpSpPr>
              <p:cNvPr id="26" name="그룹 53">
                <a:extLst>
                  <a:ext uri="{FF2B5EF4-FFF2-40B4-BE49-F238E27FC236}">
                    <a16:creationId xmlns:a16="http://schemas.microsoft.com/office/drawing/2014/main" id="{F475F579-D7DF-84A4-78B7-C5FE9C503B7D}"/>
                  </a:ext>
                </a:extLst>
              </p:cNvPr>
              <p:cNvGrpSpPr/>
              <p:nvPr/>
            </p:nvGrpSpPr>
            <p:grpSpPr>
              <a:xfrm>
                <a:off x="2888921" y="5774290"/>
                <a:ext cx="1144597" cy="1058882"/>
                <a:chOff x="4241793" y="3290880"/>
                <a:chExt cx="1144597" cy="1058882"/>
              </a:xfrm>
            </p:grpSpPr>
            <p:sp>
              <p:nvSpPr>
                <p:cNvPr id="27" name="타원 26">
                  <a:extLst>
                    <a:ext uri="{FF2B5EF4-FFF2-40B4-BE49-F238E27FC236}">
                      <a16:creationId xmlns:a16="http://schemas.microsoft.com/office/drawing/2014/main" id="{3471F853-1D93-E88A-D4AA-7762546D123A}"/>
                    </a:ext>
                  </a:extLst>
                </p:cNvPr>
                <p:cNvSpPr/>
                <p:nvPr/>
              </p:nvSpPr>
              <p:spPr>
                <a:xfrm>
                  <a:off x="4473565" y="3333741"/>
                  <a:ext cx="912825" cy="912825"/>
                </a:xfrm>
                <a:prstGeom prst="ellipse">
                  <a:avLst/>
                </a:prstGeom>
                <a:solidFill>
                  <a:srgbClr val="3CAAAA">
                    <a:alpha val="30000"/>
                  </a:srgbClr>
                </a:soli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200" b="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effectLst>
                      <a:outerShdw blurRad="127000" algn="ctr" rotWithShape="0">
                        <a:prstClr val="black">
                          <a:alpha val="21000"/>
                        </a:prstClr>
                      </a:outerShdw>
                    </a:effectLst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28" name="타원 27">
                  <a:extLst>
                    <a:ext uri="{FF2B5EF4-FFF2-40B4-BE49-F238E27FC236}">
                      <a16:creationId xmlns:a16="http://schemas.microsoft.com/office/drawing/2014/main" id="{014D0FAB-59A7-35EC-6914-63ED8E63A056}"/>
                    </a:ext>
                  </a:extLst>
                </p:cNvPr>
                <p:cNvSpPr/>
                <p:nvPr/>
              </p:nvSpPr>
              <p:spPr>
                <a:xfrm>
                  <a:off x="4241793" y="3290880"/>
                  <a:ext cx="912825" cy="912825"/>
                </a:xfrm>
                <a:prstGeom prst="ellipse">
                  <a:avLst/>
                </a:prstGeom>
                <a:solidFill>
                  <a:srgbClr val="3CAAAA">
                    <a:alpha val="38000"/>
                  </a:srgbClr>
                </a:soli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200" b="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effectLst>
                      <a:outerShdw blurRad="127000" algn="ctr" rotWithShape="0">
                        <a:prstClr val="black">
                          <a:alpha val="21000"/>
                        </a:prstClr>
                      </a:outerShdw>
                    </a:effectLst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29" name="타원 28">
                  <a:extLst>
                    <a:ext uri="{FF2B5EF4-FFF2-40B4-BE49-F238E27FC236}">
                      <a16:creationId xmlns:a16="http://schemas.microsoft.com/office/drawing/2014/main" id="{9DB49EEA-EF1F-572D-3051-8BD0BCAA5B62}"/>
                    </a:ext>
                  </a:extLst>
                </p:cNvPr>
                <p:cNvSpPr/>
                <p:nvPr/>
              </p:nvSpPr>
              <p:spPr>
                <a:xfrm>
                  <a:off x="4310028" y="3354366"/>
                  <a:ext cx="995398" cy="995396"/>
                </a:xfrm>
                <a:prstGeom prst="ellipse">
                  <a:avLst/>
                </a:prstGeom>
                <a:solidFill>
                  <a:srgbClr val="3CAAAA">
                    <a:alpha val="50000"/>
                  </a:srgbClr>
                </a:soli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 latinLnBrk="0">
                    <a:lnSpc>
                      <a:spcPct val="110000"/>
                    </a:lnSpc>
                    <a:spcBef>
                      <a:spcPts val="100"/>
                    </a:spcBef>
                  </a:pPr>
                  <a:r>
                    <a:rPr lang="ko-KR" altLang="en-US" sz="1200" b="1" spc="-70" dirty="0">
                      <a:gradFill>
                        <a:gsLst>
                          <a:gs pos="0">
                            <a:schemeClr val="bg1"/>
                          </a:gs>
                          <a:gs pos="100000">
                            <a:schemeClr val="bg1"/>
                          </a:gs>
                        </a:gsLst>
                        <a:lin ang="5400000" scaled="0"/>
                      </a:gra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선제적</a:t>
                  </a:r>
                  <a:endParaRPr lang="en-US" altLang="ko-KR" sz="1200" b="1" spc="-7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  <a:p>
                  <a:pPr algn="ctr" latinLnBrk="0">
                    <a:lnSpc>
                      <a:spcPct val="110000"/>
                    </a:lnSpc>
                    <a:spcBef>
                      <a:spcPts val="100"/>
                    </a:spcBef>
                  </a:pPr>
                  <a:r>
                    <a:rPr lang="ko-KR" altLang="en-US" sz="1200" b="1" spc="-70" dirty="0">
                      <a:gradFill>
                        <a:gsLst>
                          <a:gs pos="0">
                            <a:schemeClr val="bg1"/>
                          </a:gs>
                          <a:gs pos="100000">
                            <a:schemeClr val="bg1"/>
                          </a:gs>
                        </a:gsLst>
                        <a:lin ang="5400000" scaled="0"/>
                      </a:gra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장애 예방</a:t>
                  </a:r>
                  <a:endParaRPr lang="en-US" altLang="ko-KR" sz="1200" b="1" spc="-7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</p:grpSp>
        <p:grpSp>
          <p:nvGrpSpPr>
            <p:cNvPr id="19" name="그룹 18">
              <a:extLst>
                <a:ext uri="{FF2B5EF4-FFF2-40B4-BE49-F238E27FC236}">
                  <a16:creationId xmlns:a16="http://schemas.microsoft.com/office/drawing/2014/main" id="{A28C2F8B-72DD-B239-A100-F6C8582CFDCF}"/>
                </a:ext>
              </a:extLst>
            </p:cNvPr>
            <p:cNvGrpSpPr/>
            <p:nvPr/>
          </p:nvGrpSpPr>
          <p:grpSpPr>
            <a:xfrm>
              <a:off x="5742272" y="4249870"/>
              <a:ext cx="998262" cy="927460"/>
              <a:chOff x="2888921" y="5774290"/>
              <a:chExt cx="1144597" cy="1063417"/>
            </a:xfrm>
          </p:grpSpPr>
          <p:sp>
            <p:nvSpPr>
              <p:cNvPr id="20" name="타원 19">
                <a:extLst>
                  <a:ext uri="{FF2B5EF4-FFF2-40B4-BE49-F238E27FC236}">
                    <a16:creationId xmlns:a16="http://schemas.microsoft.com/office/drawing/2014/main" id="{B0F28D3B-D102-E3EA-2B85-69FFB6D693BC}"/>
                  </a:ext>
                </a:extLst>
              </p:cNvPr>
              <p:cNvSpPr/>
              <p:nvPr/>
            </p:nvSpPr>
            <p:spPr>
              <a:xfrm>
                <a:off x="2953350" y="5842311"/>
                <a:ext cx="995398" cy="995396"/>
              </a:xfrm>
              <a:prstGeom prst="ellipse">
                <a:avLst/>
              </a:prstGeom>
              <a:solidFill>
                <a:schemeClr val="bg1"/>
              </a:solidFill>
              <a:ln w="19050"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 latinLnBrk="0">
                  <a:lnSpc>
                    <a:spcPct val="110000"/>
                  </a:lnSpc>
                  <a:spcBef>
                    <a:spcPts val="100"/>
                  </a:spcBef>
                </a:pPr>
                <a:endParaRPr lang="ko-KR" altLang="en-US" sz="1200" dirty="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grpSp>
            <p:nvGrpSpPr>
              <p:cNvPr id="21" name="그룹 20">
                <a:extLst>
                  <a:ext uri="{FF2B5EF4-FFF2-40B4-BE49-F238E27FC236}">
                    <a16:creationId xmlns:a16="http://schemas.microsoft.com/office/drawing/2014/main" id="{44FA1E9C-6735-2E84-F013-52AF21F8F7E2}"/>
                  </a:ext>
                </a:extLst>
              </p:cNvPr>
              <p:cNvGrpSpPr/>
              <p:nvPr/>
            </p:nvGrpSpPr>
            <p:grpSpPr>
              <a:xfrm>
                <a:off x="2888921" y="5774290"/>
                <a:ext cx="1144597" cy="1058882"/>
                <a:chOff x="4241793" y="3290880"/>
                <a:chExt cx="1144597" cy="1058882"/>
              </a:xfrm>
            </p:grpSpPr>
            <p:sp>
              <p:nvSpPr>
                <p:cNvPr id="22" name="타원 21">
                  <a:extLst>
                    <a:ext uri="{FF2B5EF4-FFF2-40B4-BE49-F238E27FC236}">
                      <a16:creationId xmlns:a16="http://schemas.microsoft.com/office/drawing/2014/main" id="{887EFEF2-F199-DEA8-8163-84D66936E405}"/>
                    </a:ext>
                  </a:extLst>
                </p:cNvPr>
                <p:cNvSpPr/>
                <p:nvPr/>
              </p:nvSpPr>
              <p:spPr>
                <a:xfrm>
                  <a:off x="4473565" y="3333741"/>
                  <a:ext cx="912825" cy="912825"/>
                </a:xfrm>
                <a:prstGeom prst="ellipse">
                  <a:avLst/>
                </a:prstGeom>
                <a:solidFill>
                  <a:srgbClr val="3CAAAA">
                    <a:alpha val="30000"/>
                  </a:srgbClr>
                </a:soli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200" b="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effectLst>
                      <a:outerShdw blurRad="127000" algn="ctr" rotWithShape="0">
                        <a:prstClr val="black">
                          <a:alpha val="21000"/>
                        </a:prstClr>
                      </a:outerShdw>
                    </a:effectLst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23" name="타원 22">
                  <a:extLst>
                    <a:ext uri="{FF2B5EF4-FFF2-40B4-BE49-F238E27FC236}">
                      <a16:creationId xmlns:a16="http://schemas.microsoft.com/office/drawing/2014/main" id="{FA657B2B-E596-5722-43CE-4F42FEA5A549}"/>
                    </a:ext>
                  </a:extLst>
                </p:cNvPr>
                <p:cNvSpPr/>
                <p:nvPr/>
              </p:nvSpPr>
              <p:spPr>
                <a:xfrm>
                  <a:off x="4241793" y="3290880"/>
                  <a:ext cx="912825" cy="912825"/>
                </a:xfrm>
                <a:prstGeom prst="ellipse">
                  <a:avLst/>
                </a:prstGeom>
                <a:solidFill>
                  <a:srgbClr val="3CAAAA">
                    <a:alpha val="38000"/>
                  </a:srgbClr>
                </a:soli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200" b="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effectLst>
                      <a:outerShdw blurRad="127000" algn="ctr" rotWithShape="0">
                        <a:prstClr val="black">
                          <a:alpha val="21000"/>
                        </a:prstClr>
                      </a:outerShdw>
                    </a:effectLst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24" name="타원 23">
                  <a:extLst>
                    <a:ext uri="{FF2B5EF4-FFF2-40B4-BE49-F238E27FC236}">
                      <a16:creationId xmlns:a16="http://schemas.microsoft.com/office/drawing/2014/main" id="{81215EBD-CAC9-D544-BBBC-FE9652F82CA7}"/>
                    </a:ext>
                  </a:extLst>
                </p:cNvPr>
                <p:cNvSpPr/>
                <p:nvPr/>
              </p:nvSpPr>
              <p:spPr>
                <a:xfrm>
                  <a:off x="4310028" y="3354366"/>
                  <a:ext cx="995398" cy="995396"/>
                </a:xfrm>
                <a:prstGeom prst="ellipse">
                  <a:avLst/>
                </a:prstGeom>
                <a:solidFill>
                  <a:srgbClr val="3CAAAA">
                    <a:alpha val="50000"/>
                  </a:srgbClr>
                </a:solidFill>
                <a:ln w="190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none" rtlCol="0" anchor="ctr"/>
                <a:lstStyle/>
                <a:p>
                  <a:pPr algn="ctr" latinLnBrk="0">
                    <a:lnSpc>
                      <a:spcPct val="110000"/>
                    </a:lnSpc>
                    <a:spcBef>
                      <a:spcPts val="100"/>
                    </a:spcBef>
                  </a:pPr>
                  <a:r>
                    <a:rPr lang="ko-KR" altLang="en-US" sz="1200" b="1" spc="-70" dirty="0">
                      <a:gradFill>
                        <a:gsLst>
                          <a:gs pos="0">
                            <a:schemeClr val="bg1"/>
                          </a:gs>
                          <a:gs pos="100000">
                            <a:schemeClr val="bg1"/>
                          </a:gs>
                        </a:gsLst>
                        <a:lin ang="5400000" scaled="0"/>
                      </a:gra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정보체계</a:t>
                  </a:r>
                  <a:endParaRPr lang="en-US" altLang="ko-KR" sz="1200" b="1" spc="-7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  <a:p>
                  <a:pPr algn="ctr" latinLnBrk="0">
                    <a:lnSpc>
                      <a:spcPct val="110000"/>
                    </a:lnSpc>
                    <a:spcBef>
                      <a:spcPts val="100"/>
                    </a:spcBef>
                  </a:pPr>
                  <a:r>
                    <a:rPr lang="ko-KR" altLang="en-US" sz="1200" b="1" spc="-70" dirty="0">
                      <a:gradFill>
                        <a:gsLst>
                          <a:gs pos="0">
                            <a:schemeClr val="bg1"/>
                          </a:gs>
                          <a:gs pos="100000">
                            <a:schemeClr val="bg1"/>
                          </a:gs>
                        </a:gsLst>
                        <a:lin ang="5400000" scaled="0"/>
                      </a:gradFill>
                      <a:latin typeface="KoPub돋움체 Bold" panose="00000800000000000000" pitchFamily="2" charset="-127"/>
                      <a:ea typeface="KoPub돋움체 Bold" panose="00000800000000000000" pitchFamily="2" charset="-127"/>
                    </a:rPr>
                    <a:t>품질 향상</a:t>
                  </a:r>
                  <a:endParaRPr lang="en-US" altLang="ko-KR" sz="1200" b="1" spc="-70" dirty="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</p:grpSp>
      </p:grpSp>
      <p:pic>
        <p:nvPicPr>
          <p:cNvPr id="40" name="그림 39">
            <a:extLst>
              <a:ext uri="{FF2B5EF4-FFF2-40B4-BE49-F238E27FC236}">
                <a16:creationId xmlns:a16="http://schemas.microsoft.com/office/drawing/2014/main" id="{8540C490-27BF-36ED-C845-05D4954354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6737" y="3758222"/>
            <a:ext cx="2155566" cy="541375"/>
          </a:xfrm>
          <a:prstGeom prst="rect">
            <a:avLst/>
          </a:prstGeom>
        </p:spPr>
      </p:pic>
      <p:grpSp>
        <p:nvGrpSpPr>
          <p:cNvPr id="41" name="그룹 40">
            <a:extLst>
              <a:ext uri="{FF2B5EF4-FFF2-40B4-BE49-F238E27FC236}">
                <a16:creationId xmlns:a16="http://schemas.microsoft.com/office/drawing/2014/main" id="{6761A3E7-8B00-CC22-310C-26397803036B}"/>
              </a:ext>
            </a:extLst>
          </p:cNvPr>
          <p:cNvGrpSpPr/>
          <p:nvPr/>
        </p:nvGrpSpPr>
        <p:grpSpPr>
          <a:xfrm>
            <a:off x="599678" y="5507889"/>
            <a:ext cx="6601222" cy="2992102"/>
            <a:chOff x="684213" y="7429450"/>
            <a:chExt cx="6475190" cy="2683144"/>
          </a:xfrm>
        </p:grpSpPr>
        <p:grpSp>
          <p:nvGrpSpPr>
            <p:cNvPr id="42" name="그룹 41">
              <a:extLst>
                <a:ext uri="{FF2B5EF4-FFF2-40B4-BE49-F238E27FC236}">
                  <a16:creationId xmlns:a16="http://schemas.microsoft.com/office/drawing/2014/main" id="{3A85F6E9-FD5A-509F-1E79-7EEB1B9E9BB1}"/>
                </a:ext>
              </a:extLst>
            </p:cNvPr>
            <p:cNvGrpSpPr/>
            <p:nvPr/>
          </p:nvGrpSpPr>
          <p:grpSpPr>
            <a:xfrm>
              <a:off x="684213" y="7925763"/>
              <a:ext cx="6475190" cy="2186831"/>
              <a:chOff x="347836" y="7499258"/>
              <a:chExt cx="6725313" cy="2186831"/>
            </a:xfrm>
          </p:grpSpPr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26860A7E-7944-0AD0-1B78-34D05A6F0FEE}"/>
                  </a:ext>
                </a:extLst>
              </p:cNvPr>
              <p:cNvGrpSpPr/>
              <p:nvPr/>
            </p:nvGrpSpPr>
            <p:grpSpPr>
              <a:xfrm>
                <a:off x="349512" y="7499258"/>
                <a:ext cx="1646097" cy="322364"/>
                <a:chOff x="840243" y="5187096"/>
                <a:chExt cx="1909053" cy="252140"/>
              </a:xfrm>
            </p:grpSpPr>
            <p:sp>
              <p:nvSpPr>
                <p:cNvPr id="85" name="AutoShape 99">
                  <a:extLst>
                    <a:ext uri="{FF2B5EF4-FFF2-40B4-BE49-F238E27FC236}">
                      <a16:creationId xmlns:a16="http://schemas.microsoft.com/office/drawing/2014/main" id="{0CFD18B2-1889-FB10-A7E5-5DA2594C8D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243" y="5187100"/>
                  <a:ext cx="1741488" cy="252136"/>
                </a:xfrm>
                <a:prstGeom prst="roundRect">
                  <a:avLst>
                    <a:gd name="adj" fmla="val 24701"/>
                  </a:avLst>
                </a:prstGeom>
                <a:solidFill>
                  <a:srgbClr val="3491C9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86" name="AutoShape 99">
                  <a:extLst>
                    <a:ext uri="{FF2B5EF4-FFF2-40B4-BE49-F238E27FC236}">
                      <a16:creationId xmlns:a16="http://schemas.microsoft.com/office/drawing/2014/main" id="{01042073-C932-61C9-3457-8BBD28A5BE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 flipV="1">
                  <a:off x="1253478" y="5187096"/>
                  <a:ext cx="1495818" cy="252138"/>
                </a:xfrm>
                <a:prstGeom prst="round2DiagRect">
                  <a:avLst>
                    <a:gd name="adj1" fmla="val 29666"/>
                    <a:gd name="adj2" fmla="val 0"/>
                  </a:avLst>
                </a:prstGeom>
                <a:solidFill>
                  <a:srgbClr val="3491C9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56" name="그룹 55">
                <a:extLst>
                  <a:ext uri="{FF2B5EF4-FFF2-40B4-BE49-F238E27FC236}">
                    <a16:creationId xmlns:a16="http://schemas.microsoft.com/office/drawing/2014/main" id="{DCB348D4-ED2F-858E-84AE-F2F33B76B07F}"/>
                  </a:ext>
                </a:extLst>
              </p:cNvPr>
              <p:cNvGrpSpPr/>
              <p:nvPr/>
            </p:nvGrpSpPr>
            <p:grpSpPr>
              <a:xfrm>
                <a:off x="406494" y="7690618"/>
                <a:ext cx="1510700" cy="1994508"/>
                <a:chOff x="712794" y="8554697"/>
                <a:chExt cx="1947026" cy="2400608"/>
              </a:xfrm>
            </p:grpSpPr>
            <p:sp>
              <p:nvSpPr>
                <p:cNvPr id="83" name="Freeform 75">
                  <a:extLst>
                    <a:ext uri="{FF2B5EF4-FFF2-40B4-BE49-F238E27FC236}">
                      <a16:creationId xmlns:a16="http://schemas.microsoft.com/office/drawing/2014/main" id="{10E040A5-68EA-BC55-6240-82E58B4BF13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2794" y="8679837"/>
                  <a:ext cx="1947026" cy="2275468"/>
                </a:xfrm>
                <a:custGeom>
                  <a:avLst/>
                  <a:gdLst>
                    <a:gd name="T0" fmla="*/ 0 w 1164"/>
                    <a:gd name="T1" fmla="*/ 0 h 942"/>
                    <a:gd name="T2" fmla="*/ 0 w 1164"/>
                    <a:gd name="T3" fmla="*/ 942 h 942"/>
                    <a:gd name="T4" fmla="*/ 1164 w 1164"/>
                    <a:gd name="T5" fmla="*/ 942 h 9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64" h="942">
                      <a:moveTo>
                        <a:pt x="0" y="0"/>
                      </a:moveTo>
                      <a:lnTo>
                        <a:pt x="0" y="942"/>
                      </a:lnTo>
                      <a:lnTo>
                        <a:pt x="1164" y="942"/>
                      </a:lnTo>
                    </a:path>
                  </a:pathLst>
                </a:custGeom>
                <a:noFill/>
                <a:ln w="14351" cap="flat">
                  <a:solidFill>
                    <a:srgbClr val="B3B3B3"/>
                  </a:solidFill>
                  <a:prstDash val="sysDot"/>
                  <a:miter lim="800000"/>
                  <a:headEnd/>
                  <a:tailEnd type="oval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latinLnBrk="0"/>
                  <a:endParaRPr lang="ko-KR" altLang="en-US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</a:endParaRPr>
                </a:p>
              </p:txBody>
            </p:sp>
            <p:sp>
              <p:nvSpPr>
                <p:cNvPr id="84" name="Line 100">
                  <a:extLst>
                    <a:ext uri="{FF2B5EF4-FFF2-40B4-BE49-F238E27FC236}">
                      <a16:creationId xmlns:a16="http://schemas.microsoft.com/office/drawing/2014/main" id="{FF2B1049-DA27-9A41-52D4-E553C03D81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12794" y="8554697"/>
                  <a:ext cx="0" cy="139693"/>
                </a:xfrm>
                <a:prstGeom prst="line">
                  <a:avLst/>
                </a:prstGeom>
                <a:noFill/>
                <a:ln w="14351">
                  <a:solidFill>
                    <a:schemeClr val="bg1"/>
                  </a:solidFill>
                  <a:prstDash val="sysDot"/>
                  <a:round/>
                  <a:headEnd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latinLnBrk="0"/>
                  <a:endParaRPr lang="ko-KR" altLang="en-US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</a:endParaRPr>
                </a:p>
              </p:txBody>
            </p:sp>
          </p:grpSp>
          <p:sp>
            <p:nvSpPr>
              <p:cNvPr id="57" name="Rectangle 84">
                <a:extLst>
                  <a:ext uri="{FF2B5EF4-FFF2-40B4-BE49-F238E27FC236}">
                    <a16:creationId xmlns:a16="http://schemas.microsoft.com/office/drawing/2014/main" id="{AE09FAC2-BA45-5A7F-8771-1EB8D2A0CF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7836" y="7590749"/>
                <a:ext cx="1647773" cy="1517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algn="ctr" latinLnBrk="0">
                  <a:buClr>
                    <a:srgbClr val="3271AA"/>
                  </a:buClr>
                  <a:buSzPct val="140000"/>
                  <a:tabLst>
                    <a:tab pos="5780001" algn="l"/>
                  </a:tabLst>
                </a:pPr>
                <a:r>
                  <a:rPr lang="ko-KR" altLang="en-US" sz="11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굴림" pitchFamily="50" charset="-127"/>
                    <a:sym typeface="KoPub돋움체 Medium"/>
                  </a:rPr>
                  <a:t>안정적인 운영체계 확립</a:t>
                </a:r>
              </a:p>
            </p:txBody>
          </p:sp>
          <p:sp>
            <p:nvSpPr>
              <p:cNvPr id="58" name="제목 3">
                <a:extLst>
                  <a:ext uri="{FF2B5EF4-FFF2-40B4-BE49-F238E27FC236}">
                    <a16:creationId xmlns:a16="http://schemas.microsoft.com/office/drawing/2014/main" id="{448C1FAA-4A86-FD5D-B518-0B6608958D5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57982" y="7890803"/>
                <a:ext cx="1464783" cy="1383719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1pPr>
                <a:lvl2pPr marL="497612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2pPr>
                <a:lvl3pPr marL="995225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3pPr>
                <a:lvl4pPr marL="1492836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4pPr>
                <a:lvl5pPr marL="1990447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5pPr>
                <a:lvl6pPr marL="2488060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6pPr>
                <a:lvl7pPr marL="2985671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7pPr>
                <a:lvl8pPr marL="3483286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8pPr>
                <a:lvl9pPr marL="3980897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9pPr>
              </a:lstStyle>
              <a:p>
                <a:pPr marL="84138" indent="-84138" latinLnBrk="0">
                  <a:lnSpc>
                    <a:spcPct val="120000"/>
                  </a:lnSpc>
                  <a:spcAft>
                    <a:spcPts val="3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기계실 내 정보 자원의 안정적인 운영을 위하여 사전 예방 점검 체계의 확립</a:t>
                </a:r>
                <a:endParaRPr lang="en-US" altLang="ko-KR" sz="100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endParaRPr>
              </a:p>
              <a:p>
                <a:pPr marL="84138" indent="-84138" latinLnBrk="0">
                  <a:lnSpc>
                    <a:spcPct val="120000"/>
                  </a:lnSpc>
                  <a:spcAft>
                    <a:spcPts val="3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장애 대비 필요한 업무 및 기술지원 확보</a:t>
                </a:r>
                <a:endParaRPr lang="en-US" altLang="ko-KR" sz="100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endParaRPr>
              </a:p>
              <a:p>
                <a:pPr marL="84138" indent="-84138" latinLnBrk="0">
                  <a:lnSpc>
                    <a:spcPct val="120000"/>
                  </a:lnSpc>
                  <a:spcAft>
                    <a:spcPts val="3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체계적이고 전사적인 차원의 통합 관리 필요</a:t>
                </a:r>
              </a:p>
            </p:txBody>
          </p:sp>
          <p:grpSp>
            <p:nvGrpSpPr>
              <p:cNvPr id="59" name="그룹 58">
                <a:extLst>
                  <a:ext uri="{FF2B5EF4-FFF2-40B4-BE49-F238E27FC236}">
                    <a16:creationId xmlns:a16="http://schemas.microsoft.com/office/drawing/2014/main" id="{394A99F5-0182-164A-717C-3388D144D39A}"/>
                  </a:ext>
                </a:extLst>
              </p:cNvPr>
              <p:cNvGrpSpPr/>
              <p:nvPr/>
            </p:nvGrpSpPr>
            <p:grpSpPr>
              <a:xfrm>
                <a:off x="2042025" y="7499258"/>
                <a:ext cx="1646097" cy="322364"/>
                <a:chOff x="840243" y="5187096"/>
                <a:chExt cx="1909053" cy="252140"/>
              </a:xfrm>
            </p:grpSpPr>
            <p:sp>
              <p:nvSpPr>
                <p:cNvPr id="81" name="AutoShape 99">
                  <a:extLst>
                    <a:ext uri="{FF2B5EF4-FFF2-40B4-BE49-F238E27FC236}">
                      <a16:creationId xmlns:a16="http://schemas.microsoft.com/office/drawing/2014/main" id="{4264A290-2066-B79E-65D2-FA8922DFE09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243" y="5187100"/>
                  <a:ext cx="1741488" cy="252136"/>
                </a:xfrm>
                <a:prstGeom prst="roundRect">
                  <a:avLst>
                    <a:gd name="adj" fmla="val 24701"/>
                  </a:avLst>
                </a:prstGeom>
                <a:solidFill>
                  <a:srgbClr val="3491C9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82" name="AutoShape 99">
                  <a:extLst>
                    <a:ext uri="{FF2B5EF4-FFF2-40B4-BE49-F238E27FC236}">
                      <a16:creationId xmlns:a16="http://schemas.microsoft.com/office/drawing/2014/main" id="{33046C63-85DB-9B7A-DE1E-BD2A5F80BC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 flipV="1">
                  <a:off x="1253478" y="5187096"/>
                  <a:ext cx="1495818" cy="252138"/>
                </a:xfrm>
                <a:prstGeom prst="round2DiagRect">
                  <a:avLst>
                    <a:gd name="adj1" fmla="val 29666"/>
                    <a:gd name="adj2" fmla="val 0"/>
                  </a:avLst>
                </a:prstGeom>
                <a:solidFill>
                  <a:srgbClr val="3491C9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60" name="그룹 59">
                <a:extLst>
                  <a:ext uri="{FF2B5EF4-FFF2-40B4-BE49-F238E27FC236}">
                    <a16:creationId xmlns:a16="http://schemas.microsoft.com/office/drawing/2014/main" id="{6269840B-F3BC-457A-09D8-31AB4809053C}"/>
                  </a:ext>
                </a:extLst>
              </p:cNvPr>
              <p:cNvGrpSpPr/>
              <p:nvPr/>
            </p:nvGrpSpPr>
            <p:grpSpPr>
              <a:xfrm>
                <a:off x="2099007" y="7690618"/>
                <a:ext cx="1510700" cy="1995471"/>
                <a:chOff x="712794" y="8554697"/>
                <a:chExt cx="1947026" cy="1995471"/>
              </a:xfrm>
            </p:grpSpPr>
            <p:sp>
              <p:nvSpPr>
                <p:cNvPr id="79" name="Freeform 75">
                  <a:extLst>
                    <a:ext uri="{FF2B5EF4-FFF2-40B4-BE49-F238E27FC236}">
                      <a16:creationId xmlns:a16="http://schemas.microsoft.com/office/drawing/2014/main" id="{831FF26F-C4FB-76F0-1287-312F278EA9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2794" y="8679838"/>
                  <a:ext cx="1947026" cy="1870330"/>
                </a:xfrm>
                <a:custGeom>
                  <a:avLst/>
                  <a:gdLst>
                    <a:gd name="T0" fmla="*/ 0 w 1164"/>
                    <a:gd name="T1" fmla="*/ 0 h 942"/>
                    <a:gd name="T2" fmla="*/ 0 w 1164"/>
                    <a:gd name="T3" fmla="*/ 942 h 942"/>
                    <a:gd name="T4" fmla="*/ 1164 w 1164"/>
                    <a:gd name="T5" fmla="*/ 942 h 9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64" h="942">
                      <a:moveTo>
                        <a:pt x="0" y="0"/>
                      </a:moveTo>
                      <a:lnTo>
                        <a:pt x="0" y="942"/>
                      </a:lnTo>
                      <a:lnTo>
                        <a:pt x="1164" y="942"/>
                      </a:lnTo>
                    </a:path>
                  </a:pathLst>
                </a:custGeom>
                <a:noFill/>
                <a:ln w="14351" cap="flat">
                  <a:solidFill>
                    <a:srgbClr val="B3B3B3"/>
                  </a:solidFill>
                  <a:prstDash val="sysDot"/>
                  <a:miter lim="800000"/>
                  <a:headEnd/>
                  <a:tailEnd type="oval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latinLnBrk="0"/>
                  <a:endParaRPr lang="ko-KR" altLang="en-US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</a:endParaRPr>
                </a:p>
              </p:txBody>
            </p:sp>
            <p:sp>
              <p:nvSpPr>
                <p:cNvPr id="80" name="Line 100">
                  <a:extLst>
                    <a:ext uri="{FF2B5EF4-FFF2-40B4-BE49-F238E27FC236}">
                      <a16:creationId xmlns:a16="http://schemas.microsoft.com/office/drawing/2014/main" id="{8FD62E7C-2E1A-09BA-9157-52A3F33B92C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12794" y="8554697"/>
                  <a:ext cx="0" cy="139693"/>
                </a:xfrm>
                <a:prstGeom prst="line">
                  <a:avLst/>
                </a:prstGeom>
                <a:noFill/>
                <a:ln w="14351">
                  <a:solidFill>
                    <a:schemeClr val="bg1"/>
                  </a:solidFill>
                  <a:prstDash val="sysDot"/>
                  <a:round/>
                  <a:headEnd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latinLnBrk="0"/>
                  <a:endParaRPr lang="ko-KR" altLang="en-US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</a:endParaRPr>
                </a:p>
              </p:txBody>
            </p:sp>
          </p:grpSp>
          <p:sp>
            <p:nvSpPr>
              <p:cNvPr id="61" name="Rectangle 84">
                <a:extLst>
                  <a:ext uri="{FF2B5EF4-FFF2-40B4-BE49-F238E27FC236}">
                    <a16:creationId xmlns:a16="http://schemas.microsoft.com/office/drawing/2014/main" id="{32576611-6072-0D94-2716-D961E4770B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40349" y="7590749"/>
                <a:ext cx="1647773" cy="1517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algn="ctr" latinLnBrk="0">
                  <a:buClr>
                    <a:srgbClr val="3271AA"/>
                  </a:buClr>
                  <a:buSzPct val="140000"/>
                  <a:tabLst>
                    <a:tab pos="5780001" algn="l"/>
                  </a:tabLst>
                </a:pPr>
                <a:r>
                  <a:rPr lang="ko-KR" altLang="en-US" sz="11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굴림" pitchFamily="50" charset="-127"/>
                    <a:sym typeface="KoPub돋움체 Medium"/>
                  </a:rPr>
                  <a:t>유지관리 지속성 준수</a:t>
                </a:r>
              </a:p>
            </p:txBody>
          </p:sp>
          <p:sp>
            <p:nvSpPr>
              <p:cNvPr id="62" name="제목 3">
                <a:extLst>
                  <a:ext uri="{FF2B5EF4-FFF2-40B4-BE49-F238E27FC236}">
                    <a16:creationId xmlns:a16="http://schemas.microsoft.com/office/drawing/2014/main" id="{F3020502-27D2-4BA5-B09F-71805E6338B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2150496" y="7890803"/>
                <a:ext cx="1464783" cy="1549316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1pPr>
                <a:lvl2pPr marL="497612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2pPr>
                <a:lvl3pPr marL="995225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3pPr>
                <a:lvl4pPr marL="1492836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4pPr>
                <a:lvl5pPr marL="1990447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5pPr>
                <a:lvl6pPr marL="2488060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6pPr>
                <a:lvl7pPr marL="2985671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7pPr>
                <a:lvl8pPr marL="3483286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8pPr>
                <a:lvl9pPr marL="3980897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9pPr>
              </a:lstStyle>
              <a:p>
                <a:pPr marL="84138" indent="-84138" latinLnBrk="0">
                  <a:lnSpc>
                    <a:spcPct val="120000"/>
                  </a:lnSpc>
                  <a:spcAft>
                    <a:spcPts val="3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서비스 및 업무관리 시스템에 대한 지속적인 유지 관리</a:t>
                </a:r>
                <a:endParaRPr lang="en-US" altLang="ko-KR" sz="100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endParaRPr>
              </a:p>
              <a:p>
                <a:pPr marL="84138" indent="-84138" latinLnBrk="0">
                  <a:lnSpc>
                    <a:spcPct val="120000"/>
                  </a:lnSpc>
                  <a:spcAft>
                    <a:spcPts val="3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업무담당자와 용역업체 및 사업관리 담당의 유기적인 협조체계 수립</a:t>
                </a:r>
                <a:endParaRPr lang="en-US" altLang="ko-KR" sz="100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endParaRPr>
              </a:p>
              <a:p>
                <a:pPr marL="84138" indent="-84138" latinLnBrk="0">
                  <a:lnSpc>
                    <a:spcPct val="120000"/>
                  </a:lnSpc>
                  <a:spcAft>
                    <a:spcPts val="3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국방전산정보원 및 업무부서와의 실무 협의 체계 구축</a:t>
                </a:r>
              </a:p>
            </p:txBody>
          </p:sp>
          <p:grpSp>
            <p:nvGrpSpPr>
              <p:cNvPr id="63" name="그룹 62">
                <a:extLst>
                  <a:ext uri="{FF2B5EF4-FFF2-40B4-BE49-F238E27FC236}">
                    <a16:creationId xmlns:a16="http://schemas.microsoft.com/office/drawing/2014/main" id="{D15A1B84-A2FD-18D6-AD76-D48CBB3E8592}"/>
                  </a:ext>
                </a:extLst>
              </p:cNvPr>
              <p:cNvGrpSpPr/>
              <p:nvPr/>
            </p:nvGrpSpPr>
            <p:grpSpPr>
              <a:xfrm>
                <a:off x="3734538" y="7499258"/>
                <a:ext cx="1646097" cy="322364"/>
                <a:chOff x="840243" y="5187096"/>
                <a:chExt cx="1909053" cy="252140"/>
              </a:xfrm>
            </p:grpSpPr>
            <p:sp>
              <p:nvSpPr>
                <p:cNvPr id="77" name="AutoShape 99">
                  <a:extLst>
                    <a:ext uri="{FF2B5EF4-FFF2-40B4-BE49-F238E27FC236}">
                      <a16:creationId xmlns:a16="http://schemas.microsoft.com/office/drawing/2014/main" id="{6F5E1670-8DB7-19F2-7840-6FE4868D68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243" y="5187100"/>
                  <a:ext cx="1741488" cy="252136"/>
                </a:xfrm>
                <a:prstGeom prst="roundRect">
                  <a:avLst>
                    <a:gd name="adj" fmla="val 24701"/>
                  </a:avLst>
                </a:prstGeom>
                <a:solidFill>
                  <a:srgbClr val="3491C9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78" name="AutoShape 99">
                  <a:extLst>
                    <a:ext uri="{FF2B5EF4-FFF2-40B4-BE49-F238E27FC236}">
                      <a16:creationId xmlns:a16="http://schemas.microsoft.com/office/drawing/2014/main" id="{25A8996B-F208-F784-0902-2429BDB20C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 flipV="1">
                  <a:off x="1253478" y="5187096"/>
                  <a:ext cx="1495818" cy="252138"/>
                </a:xfrm>
                <a:prstGeom prst="round2DiagRect">
                  <a:avLst>
                    <a:gd name="adj1" fmla="val 29666"/>
                    <a:gd name="adj2" fmla="val 0"/>
                  </a:avLst>
                </a:prstGeom>
                <a:solidFill>
                  <a:srgbClr val="3491C9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64" name="그룹 63">
                <a:extLst>
                  <a:ext uri="{FF2B5EF4-FFF2-40B4-BE49-F238E27FC236}">
                    <a16:creationId xmlns:a16="http://schemas.microsoft.com/office/drawing/2014/main" id="{3C306274-11B3-0B8D-F1AC-D7C2DE5B3AC8}"/>
                  </a:ext>
                </a:extLst>
              </p:cNvPr>
              <p:cNvGrpSpPr/>
              <p:nvPr/>
            </p:nvGrpSpPr>
            <p:grpSpPr>
              <a:xfrm>
                <a:off x="3791520" y="7690618"/>
                <a:ext cx="1510700" cy="1995471"/>
                <a:chOff x="712794" y="8554697"/>
                <a:chExt cx="1947026" cy="1995471"/>
              </a:xfrm>
            </p:grpSpPr>
            <p:sp>
              <p:nvSpPr>
                <p:cNvPr id="75" name="Freeform 75">
                  <a:extLst>
                    <a:ext uri="{FF2B5EF4-FFF2-40B4-BE49-F238E27FC236}">
                      <a16:creationId xmlns:a16="http://schemas.microsoft.com/office/drawing/2014/main" id="{8639E5DB-0E00-B185-0BD2-F6664487856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2794" y="8679838"/>
                  <a:ext cx="1947026" cy="1870330"/>
                </a:xfrm>
                <a:custGeom>
                  <a:avLst/>
                  <a:gdLst>
                    <a:gd name="T0" fmla="*/ 0 w 1164"/>
                    <a:gd name="T1" fmla="*/ 0 h 942"/>
                    <a:gd name="T2" fmla="*/ 0 w 1164"/>
                    <a:gd name="T3" fmla="*/ 942 h 942"/>
                    <a:gd name="T4" fmla="*/ 1164 w 1164"/>
                    <a:gd name="T5" fmla="*/ 942 h 9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64" h="942">
                      <a:moveTo>
                        <a:pt x="0" y="0"/>
                      </a:moveTo>
                      <a:lnTo>
                        <a:pt x="0" y="942"/>
                      </a:lnTo>
                      <a:lnTo>
                        <a:pt x="1164" y="942"/>
                      </a:lnTo>
                    </a:path>
                  </a:pathLst>
                </a:custGeom>
                <a:noFill/>
                <a:ln w="14351" cap="flat">
                  <a:solidFill>
                    <a:srgbClr val="B3B3B3"/>
                  </a:solidFill>
                  <a:prstDash val="sysDot"/>
                  <a:miter lim="800000"/>
                  <a:headEnd/>
                  <a:tailEnd type="oval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latinLnBrk="0"/>
                  <a:endParaRPr lang="ko-KR" altLang="en-US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</a:endParaRPr>
                </a:p>
              </p:txBody>
            </p:sp>
            <p:sp>
              <p:nvSpPr>
                <p:cNvPr id="76" name="Line 100">
                  <a:extLst>
                    <a:ext uri="{FF2B5EF4-FFF2-40B4-BE49-F238E27FC236}">
                      <a16:creationId xmlns:a16="http://schemas.microsoft.com/office/drawing/2014/main" id="{67729428-8903-5B46-F0E2-600A7968EC1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12794" y="8554697"/>
                  <a:ext cx="0" cy="139693"/>
                </a:xfrm>
                <a:prstGeom prst="line">
                  <a:avLst/>
                </a:prstGeom>
                <a:noFill/>
                <a:ln w="14351">
                  <a:solidFill>
                    <a:schemeClr val="bg1"/>
                  </a:solidFill>
                  <a:prstDash val="sysDot"/>
                  <a:round/>
                  <a:headEnd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latinLnBrk="0"/>
                  <a:endParaRPr lang="ko-KR" altLang="en-US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</a:endParaRPr>
                </a:p>
              </p:txBody>
            </p:sp>
          </p:grpSp>
          <p:sp>
            <p:nvSpPr>
              <p:cNvPr id="65" name="Rectangle 84">
                <a:extLst>
                  <a:ext uri="{FF2B5EF4-FFF2-40B4-BE49-F238E27FC236}">
                    <a16:creationId xmlns:a16="http://schemas.microsoft.com/office/drawing/2014/main" id="{953E0FE3-BBB9-BBB6-6E02-9BC6C796DF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2862" y="7590749"/>
                <a:ext cx="1647773" cy="1517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algn="ctr" latinLnBrk="0">
                  <a:buClr>
                    <a:srgbClr val="3271AA"/>
                  </a:buClr>
                  <a:buSzPct val="140000"/>
                  <a:tabLst>
                    <a:tab pos="5780001" algn="l"/>
                  </a:tabLst>
                </a:pPr>
                <a:r>
                  <a:rPr lang="ko-KR" altLang="en-US" sz="11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굴림" pitchFamily="50" charset="-127"/>
                    <a:sym typeface="KoPub돋움체 Medium"/>
                  </a:rPr>
                  <a:t>서비스 수준 제고</a:t>
                </a:r>
              </a:p>
            </p:txBody>
          </p:sp>
          <p:sp>
            <p:nvSpPr>
              <p:cNvPr id="66" name="제목 3">
                <a:extLst>
                  <a:ext uri="{FF2B5EF4-FFF2-40B4-BE49-F238E27FC236}">
                    <a16:creationId xmlns:a16="http://schemas.microsoft.com/office/drawing/2014/main" id="{331C7C22-4DDF-235D-0465-A185B60CDFE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843009" y="7890803"/>
                <a:ext cx="1464783" cy="1052523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1pPr>
                <a:lvl2pPr marL="497612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2pPr>
                <a:lvl3pPr marL="995225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3pPr>
                <a:lvl4pPr marL="1492836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4pPr>
                <a:lvl5pPr marL="1990447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5pPr>
                <a:lvl6pPr marL="2488060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6pPr>
                <a:lvl7pPr marL="2985671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7pPr>
                <a:lvl8pPr marL="3483286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8pPr>
                <a:lvl9pPr marL="3980897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9pPr>
              </a:lstStyle>
              <a:p>
                <a:pPr marL="84138" indent="-84138" latinLnBrk="0">
                  <a:lnSpc>
                    <a:spcPct val="120000"/>
                  </a:lnSpc>
                  <a:spcAft>
                    <a:spcPts val="3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전문적인 인력을 통한 기술지원</a:t>
                </a:r>
                <a:endParaRPr lang="en-US" altLang="ko-KR" sz="100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endParaRPr>
              </a:p>
              <a:p>
                <a:pPr marL="84138" indent="-84138" latinLnBrk="0">
                  <a:lnSpc>
                    <a:spcPct val="120000"/>
                  </a:lnSpc>
                  <a:spcAft>
                    <a:spcPts val="3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en-US" altLang="ko-KR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SLA</a:t>
                </a: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기반의 운영체계 확립 및 운영 수준의 고도화</a:t>
                </a:r>
                <a:endParaRPr lang="en-US" altLang="ko-KR" sz="100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endParaRPr>
              </a:p>
              <a:p>
                <a:pPr marL="84138" indent="-84138" latinLnBrk="0">
                  <a:lnSpc>
                    <a:spcPct val="120000"/>
                  </a:lnSpc>
                  <a:spcAft>
                    <a:spcPts val="3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비상상황 대비 </a:t>
                </a:r>
                <a:r>
                  <a:rPr lang="en-US" altLang="ko-KR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24</a:t>
                </a: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시간 지원 인력 대기 </a:t>
                </a:r>
              </a:p>
            </p:txBody>
          </p:sp>
          <p:grpSp>
            <p:nvGrpSpPr>
              <p:cNvPr id="67" name="그룹 66">
                <a:extLst>
                  <a:ext uri="{FF2B5EF4-FFF2-40B4-BE49-F238E27FC236}">
                    <a16:creationId xmlns:a16="http://schemas.microsoft.com/office/drawing/2014/main" id="{A76CEE65-676D-7B8F-C4C5-0682BEBDEC91}"/>
                  </a:ext>
                </a:extLst>
              </p:cNvPr>
              <p:cNvGrpSpPr/>
              <p:nvPr/>
            </p:nvGrpSpPr>
            <p:grpSpPr>
              <a:xfrm>
                <a:off x="5427052" y="7499258"/>
                <a:ext cx="1646097" cy="322364"/>
                <a:chOff x="840243" y="5187096"/>
                <a:chExt cx="1909053" cy="252140"/>
              </a:xfrm>
            </p:grpSpPr>
            <p:sp>
              <p:nvSpPr>
                <p:cNvPr id="73" name="AutoShape 99">
                  <a:extLst>
                    <a:ext uri="{FF2B5EF4-FFF2-40B4-BE49-F238E27FC236}">
                      <a16:creationId xmlns:a16="http://schemas.microsoft.com/office/drawing/2014/main" id="{046742C8-07AF-BDBE-CBD6-64F4E019D5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840243" y="5187100"/>
                  <a:ext cx="1741488" cy="252136"/>
                </a:xfrm>
                <a:prstGeom prst="roundRect">
                  <a:avLst>
                    <a:gd name="adj" fmla="val 24701"/>
                  </a:avLst>
                </a:prstGeom>
                <a:solidFill>
                  <a:srgbClr val="3491C9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74" name="AutoShape 99">
                  <a:extLst>
                    <a:ext uri="{FF2B5EF4-FFF2-40B4-BE49-F238E27FC236}">
                      <a16:creationId xmlns:a16="http://schemas.microsoft.com/office/drawing/2014/main" id="{98EB3CE3-6A9E-1200-C945-243C2646D2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 flipV="1">
                  <a:off x="1253478" y="5187096"/>
                  <a:ext cx="1495818" cy="252138"/>
                </a:xfrm>
                <a:prstGeom prst="round2DiagRect">
                  <a:avLst>
                    <a:gd name="adj1" fmla="val 29666"/>
                    <a:gd name="adj2" fmla="val 0"/>
                  </a:avLst>
                </a:prstGeom>
                <a:solidFill>
                  <a:srgbClr val="3491C9"/>
                </a:solidFill>
                <a:ln w="12700"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68" name="그룹 67">
                <a:extLst>
                  <a:ext uri="{FF2B5EF4-FFF2-40B4-BE49-F238E27FC236}">
                    <a16:creationId xmlns:a16="http://schemas.microsoft.com/office/drawing/2014/main" id="{05903017-321E-B8F5-7F25-6E742E763A05}"/>
                  </a:ext>
                </a:extLst>
              </p:cNvPr>
              <p:cNvGrpSpPr/>
              <p:nvPr/>
            </p:nvGrpSpPr>
            <p:grpSpPr>
              <a:xfrm>
                <a:off x="5484034" y="7690618"/>
                <a:ext cx="1510700" cy="1995470"/>
                <a:chOff x="712794" y="8554697"/>
                <a:chExt cx="1947026" cy="1995470"/>
              </a:xfrm>
            </p:grpSpPr>
            <p:sp>
              <p:nvSpPr>
                <p:cNvPr id="71" name="Freeform 75">
                  <a:extLst>
                    <a:ext uri="{FF2B5EF4-FFF2-40B4-BE49-F238E27FC236}">
                      <a16:creationId xmlns:a16="http://schemas.microsoft.com/office/drawing/2014/main" id="{C2670734-9E0C-FB94-6656-8A71EC4026F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712794" y="8679838"/>
                  <a:ext cx="1947026" cy="1870329"/>
                </a:xfrm>
                <a:custGeom>
                  <a:avLst/>
                  <a:gdLst>
                    <a:gd name="T0" fmla="*/ 0 w 1164"/>
                    <a:gd name="T1" fmla="*/ 0 h 942"/>
                    <a:gd name="T2" fmla="*/ 0 w 1164"/>
                    <a:gd name="T3" fmla="*/ 942 h 942"/>
                    <a:gd name="T4" fmla="*/ 1164 w 1164"/>
                    <a:gd name="T5" fmla="*/ 942 h 94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</a:cxnLst>
                  <a:rect l="0" t="0" r="r" b="b"/>
                  <a:pathLst>
                    <a:path w="1164" h="942">
                      <a:moveTo>
                        <a:pt x="0" y="0"/>
                      </a:moveTo>
                      <a:lnTo>
                        <a:pt x="0" y="942"/>
                      </a:lnTo>
                      <a:lnTo>
                        <a:pt x="1164" y="942"/>
                      </a:lnTo>
                    </a:path>
                  </a:pathLst>
                </a:custGeom>
                <a:noFill/>
                <a:ln w="14351" cap="flat">
                  <a:solidFill>
                    <a:srgbClr val="B3B3B3"/>
                  </a:solidFill>
                  <a:prstDash val="sysDot"/>
                  <a:miter lim="800000"/>
                  <a:headEnd/>
                  <a:tailEnd type="oval" w="sm" len="sm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latinLnBrk="0"/>
                  <a:endParaRPr lang="ko-KR" altLang="en-US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</a:endParaRPr>
                </a:p>
              </p:txBody>
            </p:sp>
            <p:sp>
              <p:nvSpPr>
                <p:cNvPr id="72" name="Line 100">
                  <a:extLst>
                    <a:ext uri="{FF2B5EF4-FFF2-40B4-BE49-F238E27FC236}">
                      <a16:creationId xmlns:a16="http://schemas.microsoft.com/office/drawing/2014/main" id="{83CC2738-8DFD-E621-B699-166E8EB6DE2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712794" y="8554697"/>
                  <a:ext cx="0" cy="139693"/>
                </a:xfrm>
                <a:prstGeom prst="line">
                  <a:avLst/>
                </a:prstGeom>
                <a:noFill/>
                <a:ln w="14351">
                  <a:solidFill>
                    <a:schemeClr val="bg1"/>
                  </a:solidFill>
                  <a:prstDash val="sysDot"/>
                  <a:round/>
                  <a:headEnd/>
                  <a:tailEnd type="oval" w="sm" len="sm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latinLnBrk="0"/>
                  <a:endParaRPr lang="ko-KR" altLang="en-US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</a:endParaRPr>
                </a:p>
              </p:txBody>
            </p:sp>
          </p:grpSp>
          <p:sp>
            <p:nvSpPr>
              <p:cNvPr id="69" name="Rectangle 84">
                <a:extLst>
                  <a:ext uri="{FF2B5EF4-FFF2-40B4-BE49-F238E27FC236}">
                    <a16:creationId xmlns:a16="http://schemas.microsoft.com/office/drawing/2014/main" id="{A62EA9F2-FEF2-F9DF-0531-8D3A72A625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5376" y="7590749"/>
                <a:ext cx="1647773" cy="15179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algn="ctr" latinLnBrk="0">
                  <a:buClr>
                    <a:srgbClr val="3271AA"/>
                  </a:buClr>
                  <a:buSzPct val="140000"/>
                  <a:tabLst>
                    <a:tab pos="5780001" algn="l"/>
                  </a:tabLst>
                </a:pPr>
                <a:r>
                  <a:rPr lang="ko-KR" altLang="en-US" sz="11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굴림" pitchFamily="50" charset="-127"/>
                    <a:sym typeface="KoPub돋움체 Medium"/>
                  </a:rPr>
                  <a:t>안전 점검 강화</a:t>
                </a:r>
              </a:p>
            </p:txBody>
          </p:sp>
          <p:sp>
            <p:nvSpPr>
              <p:cNvPr id="70" name="제목 3">
                <a:extLst>
                  <a:ext uri="{FF2B5EF4-FFF2-40B4-BE49-F238E27FC236}">
                    <a16:creationId xmlns:a16="http://schemas.microsoft.com/office/drawing/2014/main" id="{09004569-D558-839A-BCCB-6F984F8D70A6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535523" y="7890803"/>
                <a:ext cx="1464783" cy="1418218"/>
              </a:xfrm>
              <a:prstGeom prst="rect">
                <a:avLst/>
              </a:prstGeom>
              <a:ln>
                <a:noFill/>
              </a:ln>
            </p:spPr>
            <p:txBody>
              <a:bodyPr wrap="square" lIns="0" tIns="0" rIns="0" bIns="0" anchor="t" anchorCtr="0">
                <a:spAutoFit/>
              </a:bodyPr>
              <a:lstStyle>
                <a:defPPr>
                  <a:defRPr lang="ko-KR"/>
                </a:defPPr>
                <a:lvl1pPr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1pPr>
                <a:lvl2pPr marL="497612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2pPr>
                <a:lvl3pPr marL="995225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3pPr>
                <a:lvl4pPr marL="1492836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4pPr>
                <a:lvl5pPr marL="1990447" algn="l" rtl="0" fontAlgn="base" latinLnBrk="1">
                  <a:spcBef>
                    <a:spcPct val="0"/>
                  </a:spcBef>
                  <a:spcAft>
                    <a:spcPct val="0"/>
                  </a:spcAft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5pPr>
                <a:lvl6pPr marL="2488060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6pPr>
                <a:lvl7pPr marL="2985671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7pPr>
                <a:lvl8pPr marL="3483286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8pPr>
                <a:lvl9pPr marL="3980897" algn="l" defTabSz="995225" rtl="0" eaLnBrk="1" latinLnBrk="1" hangingPunct="1">
                  <a:defRPr kumimoji="1" kern="1200">
                    <a:solidFill>
                      <a:schemeClr val="tx1"/>
                    </a:solidFill>
                    <a:latin typeface="굴림" charset="-127"/>
                    <a:ea typeface="굴림" charset="-127"/>
                    <a:cs typeface="+mn-cs"/>
                  </a:defRPr>
                </a:lvl9pPr>
              </a:lstStyle>
              <a:p>
                <a:pPr marL="84138" indent="-84138" latinLnBrk="0">
                  <a:lnSpc>
                    <a:spcPct val="120000"/>
                  </a:lnSpc>
                  <a:spcAft>
                    <a:spcPts val="3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성능 관리 및 정밀진단을 통한 예방 점검</a:t>
                </a:r>
                <a:endParaRPr lang="en-US" altLang="ko-KR" sz="100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endParaRPr>
              </a:p>
              <a:p>
                <a:pPr marL="84138" indent="-84138" latinLnBrk="0">
                  <a:lnSpc>
                    <a:spcPct val="120000"/>
                  </a:lnSpc>
                  <a:spcAft>
                    <a:spcPts val="3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보안 취약점 분석 및 보완을 통한 보안사고 예방</a:t>
                </a:r>
                <a:endParaRPr lang="en-US" altLang="ko-KR" sz="100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endParaRPr>
              </a:p>
              <a:p>
                <a:pPr marL="84138" indent="-84138" latinLnBrk="0">
                  <a:lnSpc>
                    <a:spcPct val="120000"/>
                  </a:lnSpc>
                  <a:spcAft>
                    <a:spcPts val="3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시스템 </a:t>
                </a:r>
                <a:r>
                  <a:rPr lang="en-US" altLang="ko-KR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/ </a:t>
                </a: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데이터의 보안 유지 및 보안 활동 실시</a:t>
                </a:r>
                <a:endParaRPr lang="en-US" altLang="ko-KR" sz="100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endParaRPr>
              </a:p>
              <a:p>
                <a:pPr marL="84138" indent="-84138" latinLnBrk="0">
                  <a:lnSpc>
                    <a:spcPct val="120000"/>
                  </a:lnSpc>
                  <a:spcAft>
                    <a:spcPts val="3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defRPr/>
                </a:pPr>
                <a:r>
                  <a:rPr lang="ko-KR" altLang="en-US" sz="1000" dirty="0">
                    <a:ln>
                      <a:solidFill>
                        <a:srgbClr val="969696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보안정책 및 보안시스템 운영에 대한 개선 </a:t>
                </a:r>
              </a:p>
            </p:txBody>
          </p:sp>
        </p:grpSp>
        <p:grpSp>
          <p:nvGrpSpPr>
            <p:cNvPr id="43" name="그룹 109">
              <a:extLst>
                <a:ext uri="{FF2B5EF4-FFF2-40B4-BE49-F238E27FC236}">
                  <a16:creationId xmlns:a16="http://schemas.microsoft.com/office/drawing/2014/main" id="{E0FE3B4F-6D60-0035-EF65-452F59AFF9A9}"/>
                </a:ext>
              </a:extLst>
            </p:cNvPr>
            <p:cNvGrpSpPr>
              <a:grpSpLocks/>
            </p:cNvGrpSpPr>
            <p:nvPr/>
          </p:nvGrpSpPr>
          <p:grpSpPr bwMode="auto">
            <a:xfrm rot="16200000" flipH="1" flipV="1">
              <a:off x="3732250" y="4499465"/>
              <a:ext cx="435590" cy="6418714"/>
              <a:chOff x="3279625" y="2856576"/>
              <a:chExt cx="765117" cy="12191554"/>
            </a:xfrm>
          </p:grpSpPr>
          <p:pic>
            <p:nvPicPr>
              <p:cNvPr id="52" name="Picture 12" descr="방향-07">
                <a:extLst>
                  <a:ext uri="{FF2B5EF4-FFF2-40B4-BE49-F238E27FC236}">
                    <a16:creationId xmlns:a16="http://schemas.microsoft.com/office/drawing/2014/main" id="{0AC44663-567E-B4C1-FAAE-E0406F31CEB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lum bright="8000"/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79625" y="2856576"/>
                <a:ext cx="765117" cy="336884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3" name="Picture 12" descr="방향-07">
                <a:extLst>
                  <a:ext uri="{FF2B5EF4-FFF2-40B4-BE49-F238E27FC236}">
                    <a16:creationId xmlns:a16="http://schemas.microsoft.com/office/drawing/2014/main" id="{FAA1586B-05B7-2B50-19A1-99291CE723A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lum bright="8000"/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79625" y="11679288"/>
                <a:ext cx="765117" cy="336884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54" name="Picture 12" descr="방향-07">
                <a:extLst>
                  <a:ext uri="{FF2B5EF4-FFF2-40B4-BE49-F238E27FC236}">
                    <a16:creationId xmlns:a16="http://schemas.microsoft.com/office/drawing/2014/main" id="{D6BEB4A7-2CCF-A53E-FCBF-114CB9DAA31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lum bright="8000"/>
                <a:grayscl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1783" b="21783"/>
              <a:stretch>
                <a:fillRect/>
              </a:stretch>
            </p:blipFill>
            <p:spPr bwMode="auto">
              <a:xfrm>
                <a:off x="3279625" y="5454874"/>
                <a:ext cx="765117" cy="74983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4A517856-7748-8E8B-4127-E8D531C52F11}"/>
                </a:ext>
              </a:extLst>
            </p:cNvPr>
            <p:cNvGrpSpPr/>
            <p:nvPr/>
          </p:nvGrpSpPr>
          <p:grpSpPr>
            <a:xfrm>
              <a:off x="2409485" y="7429450"/>
              <a:ext cx="2947319" cy="344234"/>
              <a:chOff x="2373944" y="7655100"/>
              <a:chExt cx="3061168" cy="278383"/>
            </a:xfrm>
          </p:grpSpPr>
          <p:grpSp>
            <p:nvGrpSpPr>
              <p:cNvPr id="47" name="그룹 240">
                <a:extLst>
                  <a:ext uri="{FF2B5EF4-FFF2-40B4-BE49-F238E27FC236}">
                    <a16:creationId xmlns:a16="http://schemas.microsoft.com/office/drawing/2014/main" id="{09205937-3CF0-D61A-9279-5B590F68AB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73944" y="7655100"/>
                <a:ext cx="3061168" cy="278383"/>
                <a:chOff x="3599694" y="1313945"/>
                <a:chExt cx="6991350" cy="506412"/>
              </a:xfrm>
            </p:grpSpPr>
            <p:sp>
              <p:nvSpPr>
                <p:cNvPr id="49" name="AutoShape 149">
                  <a:extLst>
                    <a:ext uri="{FF2B5EF4-FFF2-40B4-BE49-F238E27FC236}">
                      <a16:creationId xmlns:a16="http://schemas.microsoft.com/office/drawing/2014/main" id="{B366E5FF-6B89-F0CA-B383-1FF31D8DB1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599694" y="1313945"/>
                  <a:ext cx="6991350" cy="50641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3491C9"/>
                </a:solidFill>
                <a:ln w="25400" algn="ctr">
                  <a:solidFill>
                    <a:srgbClr val="D2D2D2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pPr latinLnBrk="0"/>
                  <a:endParaRPr lang="ko-KR" altLang="ko-KR" sz="1100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333333"/>
                    </a:solidFill>
                    <a:latin typeface="굴림" charset="-127"/>
                  </a:endParaRPr>
                </a:p>
              </p:txBody>
            </p:sp>
            <p:sp>
              <p:nvSpPr>
                <p:cNvPr id="50" name="Line 177">
                  <a:extLst>
                    <a:ext uri="{FF2B5EF4-FFF2-40B4-BE49-F238E27FC236}">
                      <a16:creationId xmlns:a16="http://schemas.microsoft.com/office/drawing/2014/main" id="{E409C8FD-0703-F8DD-4E35-C374A0A2294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18744" y="1560007"/>
                  <a:ext cx="287337" cy="0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latinLnBrk="0"/>
                  <a:endParaRPr lang="ko-KR" altLang="en-US" sz="1100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prstClr val="black"/>
                    </a:solidFill>
                  </a:endParaRPr>
                </a:p>
              </p:txBody>
            </p:sp>
            <p:sp>
              <p:nvSpPr>
                <p:cNvPr id="51" name="Line 178">
                  <a:extLst>
                    <a:ext uri="{FF2B5EF4-FFF2-40B4-BE49-F238E27FC236}">
                      <a16:creationId xmlns:a16="http://schemas.microsoft.com/office/drawing/2014/main" id="{E3E18D10-4737-46F8-FF34-B1A06A5C2F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0302119" y="1560007"/>
                  <a:ext cx="287337" cy="0"/>
                </a:xfrm>
                <a:prstGeom prst="line">
                  <a:avLst/>
                </a:prstGeom>
                <a:noFill/>
                <a:ln w="25400">
                  <a:solidFill>
                    <a:schemeClr val="bg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pPr latinLnBrk="0"/>
                  <a:endParaRPr lang="ko-KR" altLang="en-US" sz="1100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prstClr val="black"/>
                    </a:solidFill>
                  </a:endParaRPr>
                </a:p>
              </p:txBody>
            </p:sp>
          </p:grp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9D2CB31-DF28-1A5C-32CD-4952C154C78B}"/>
                  </a:ext>
                </a:extLst>
              </p:cNvPr>
              <p:cNvSpPr txBox="1"/>
              <p:nvPr/>
            </p:nvSpPr>
            <p:spPr>
              <a:xfrm flipH="1">
                <a:off x="3217569" y="7698193"/>
                <a:ext cx="1334796" cy="185836"/>
              </a:xfrm>
              <a:prstGeom prst="rect">
                <a:avLst/>
              </a:prstGeom>
              <a:noFill/>
            </p:spPr>
            <p:txBody>
              <a:bodyPr wrap="none" lIns="70898" tIns="35449" rIns="70898" bIns="35449" rtlCol="0" anchor="ctr" anchorCtr="0">
                <a:spAutoFit/>
              </a:bodyPr>
              <a:lstStyle/>
              <a:p>
                <a:pPr algn="ctr" latinLnBrk="0">
                  <a:spcBef>
                    <a:spcPts val="0"/>
                  </a:spcBef>
                </a:pPr>
                <a:r>
                  <a:rPr lang="ko-KR" altLang="en-US" sz="1200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유지보수 업무 수행</a:t>
                </a:r>
              </a:p>
            </p:txBody>
          </p:sp>
        </p:grpSp>
        <p:cxnSp>
          <p:nvCxnSpPr>
            <p:cNvPr id="45" name="직선 연결선 44">
              <a:extLst>
                <a:ext uri="{FF2B5EF4-FFF2-40B4-BE49-F238E27FC236}">
                  <a16:creationId xmlns:a16="http://schemas.microsoft.com/office/drawing/2014/main" id="{E7059F50-6249-1BC4-422B-770B39D4A89F}"/>
                </a:ext>
              </a:extLst>
            </p:cNvPr>
            <p:cNvCxnSpPr/>
            <p:nvPr/>
          </p:nvCxnSpPr>
          <p:spPr>
            <a:xfrm>
              <a:off x="1052199" y="7599187"/>
              <a:ext cx="1360218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직선 연결선 45">
              <a:extLst>
                <a:ext uri="{FF2B5EF4-FFF2-40B4-BE49-F238E27FC236}">
                  <a16:creationId xmlns:a16="http://schemas.microsoft.com/office/drawing/2014/main" id="{B2EB9BAD-4557-9265-61EB-AF8D1E9AA5AD}"/>
                </a:ext>
              </a:extLst>
            </p:cNvPr>
            <p:cNvCxnSpPr/>
            <p:nvPr/>
          </p:nvCxnSpPr>
          <p:spPr>
            <a:xfrm>
              <a:off x="5385746" y="7596711"/>
              <a:ext cx="1448187" cy="247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B0E5D5BD-75A3-BEB0-3E37-84547D35C224}"/>
              </a:ext>
            </a:extLst>
          </p:cNvPr>
          <p:cNvGrpSpPr/>
          <p:nvPr/>
        </p:nvGrpSpPr>
        <p:grpSpPr>
          <a:xfrm>
            <a:off x="599678" y="8678278"/>
            <a:ext cx="6599834" cy="1531396"/>
            <a:chOff x="684213" y="4974987"/>
            <a:chExt cx="6444728" cy="3084461"/>
          </a:xfrm>
        </p:grpSpPr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99EF4047-2B2B-274F-6480-7DD726F14DD9}"/>
                </a:ext>
              </a:extLst>
            </p:cNvPr>
            <p:cNvCxnSpPr/>
            <p:nvPr/>
          </p:nvCxnSpPr>
          <p:spPr>
            <a:xfrm>
              <a:off x="687440" y="5632225"/>
              <a:ext cx="6422037" cy="0"/>
            </a:xfrm>
            <a:prstGeom prst="line">
              <a:avLst/>
            </a:prstGeom>
            <a:ln w="19050">
              <a:solidFill>
                <a:schemeClr val="bg1">
                  <a:lumMod val="85000"/>
                </a:schemeClr>
              </a:solidFill>
              <a:prstDash val="soli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9" name="그룹 88">
              <a:extLst>
                <a:ext uri="{FF2B5EF4-FFF2-40B4-BE49-F238E27FC236}">
                  <a16:creationId xmlns:a16="http://schemas.microsoft.com/office/drawing/2014/main" id="{71035459-DEB9-3CAA-6269-8426CF8BFF72}"/>
                </a:ext>
              </a:extLst>
            </p:cNvPr>
            <p:cNvGrpSpPr/>
            <p:nvPr/>
          </p:nvGrpSpPr>
          <p:grpSpPr>
            <a:xfrm>
              <a:off x="687851" y="4974987"/>
              <a:ext cx="3142285" cy="2448841"/>
              <a:chOff x="687852" y="4974987"/>
              <a:chExt cx="3060559" cy="2448841"/>
            </a:xfrm>
          </p:grpSpPr>
          <p:sp>
            <p:nvSpPr>
              <p:cNvPr id="96" name="Rectangle 20">
                <a:extLst>
                  <a:ext uri="{FF2B5EF4-FFF2-40B4-BE49-F238E27FC236}">
                    <a16:creationId xmlns:a16="http://schemas.microsoft.com/office/drawing/2014/main" id="{D0942275-61B2-2EA6-876C-61E26DEDCE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97022" y="5698417"/>
                <a:ext cx="2746587" cy="1725411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>
                <a:spAutoFit/>
              </a:bodyPr>
              <a:lstStyle/>
              <a:p>
                <a:pPr marL="85725" indent="-85725" defTabSz="877888" fontAlgn="ctr" latinLnBrk="0">
                  <a:lnSpc>
                    <a:spcPct val="150000"/>
                  </a:lnSpc>
                  <a:spcAft>
                    <a:spcPts val="1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ko-KR" altLang="en-US" sz="900" kern="0" spc="-4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"/>
                  </a:rPr>
                  <a:t>고품질의 전산장비에 대한 유지보수 및 품질관리 필요성 증가</a:t>
                </a:r>
              </a:p>
              <a:p>
                <a:pPr marL="85725" indent="-85725" defTabSz="877888" fontAlgn="ctr" latinLnBrk="0">
                  <a:lnSpc>
                    <a:spcPct val="150000"/>
                  </a:lnSpc>
                  <a:spcAft>
                    <a:spcPts val="1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ko-KR" altLang="en-US" sz="900" kern="0" spc="-4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"/>
                  </a:rPr>
                  <a:t>기반시설 및 출입통제에 대한 종합적인 관리 요구 증대</a:t>
                </a:r>
              </a:p>
              <a:p>
                <a:pPr marL="85725" indent="-85725" defTabSz="877888" fontAlgn="ctr" latinLnBrk="0">
                  <a:lnSpc>
                    <a:spcPct val="150000"/>
                  </a:lnSpc>
                  <a:spcAft>
                    <a:spcPts val="1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ko-KR" altLang="en-US" sz="900" kern="0" spc="-4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"/>
                  </a:rPr>
                  <a:t>국방통합데이터센터 유지관리 사업자 및 응용업무 유지보수 사업자 등 협업체계 필요</a:t>
                </a:r>
              </a:p>
            </p:txBody>
          </p:sp>
          <p:sp>
            <p:nvSpPr>
              <p:cNvPr id="97" name="양쪽 모서리가 둥근 사각형 206">
                <a:extLst>
                  <a:ext uri="{FF2B5EF4-FFF2-40B4-BE49-F238E27FC236}">
                    <a16:creationId xmlns:a16="http://schemas.microsoft.com/office/drawing/2014/main" id="{B49D3D07-7147-54DD-B853-E800E1CAF9BE}"/>
                  </a:ext>
                </a:extLst>
              </p:cNvPr>
              <p:cNvSpPr/>
              <p:nvPr/>
            </p:nvSpPr>
            <p:spPr bwMode="auto">
              <a:xfrm>
                <a:off x="687852" y="4974987"/>
                <a:ext cx="3060559" cy="655653"/>
              </a:xfrm>
              <a:prstGeom prst="round2SameRect">
                <a:avLst/>
              </a:prstGeom>
              <a:solidFill>
                <a:srgbClr val="DDDDDD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3491C9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98" name="Text Box 30">
                <a:extLst>
                  <a:ext uri="{FF2B5EF4-FFF2-40B4-BE49-F238E27FC236}">
                    <a16:creationId xmlns:a16="http://schemas.microsoft.com/office/drawing/2014/main" id="{9A5BCD2B-C252-867D-0ACA-20A886C9D8C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830325" y="5176525"/>
                <a:ext cx="2762395" cy="3099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175" cap="rnd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latinLnBrk="0">
                  <a:buClr>
                    <a:srgbClr val="3271AA"/>
                  </a:buClr>
                  <a:buSzPct val="140000"/>
                  <a:tabLst>
                    <a:tab pos="6442389" algn="l"/>
                  </a:tabLst>
                </a:pPr>
                <a:r>
                  <a:rPr lang="ko-KR" altLang="en-US" sz="1000" dirty="0">
                    <a:ln>
                      <a:solidFill>
                        <a:srgbClr val="3491C9">
                          <a:alpha val="0"/>
                        </a:srgbClr>
                      </a:solidFill>
                    </a:ln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내부 업무환경 필요성</a:t>
                </a:r>
              </a:p>
            </p:txBody>
          </p:sp>
        </p:grpSp>
        <p:grpSp>
          <p:nvGrpSpPr>
            <p:cNvPr id="90" name="그룹 89">
              <a:extLst>
                <a:ext uri="{FF2B5EF4-FFF2-40B4-BE49-F238E27FC236}">
                  <a16:creationId xmlns:a16="http://schemas.microsoft.com/office/drawing/2014/main" id="{45AEFCE4-51A4-A0E3-0263-ED14CEF1C4EA}"/>
                </a:ext>
              </a:extLst>
            </p:cNvPr>
            <p:cNvGrpSpPr/>
            <p:nvPr/>
          </p:nvGrpSpPr>
          <p:grpSpPr>
            <a:xfrm>
              <a:off x="3962849" y="4974987"/>
              <a:ext cx="3130100" cy="3025847"/>
              <a:chOff x="4032031" y="4974987"/>
              <a:chExt cx="3060918" cy="3025847"/>
            </a:xfrm>
          </p:grpSpPr>
          <p:sp>
            <p:nvSpPr>
              <p:cNvPr id="92" name="직사각형 91">
                <a:extLst>
                  <a:ext uri="{FF2B5EF4-FFF2-40B4-BE49-F238E27FC236}">
                    <a16:creationId xmlns:a16="http://schemas.microsoft.com/office/drawing/2014/main" id="{07ED069F-DA2A-D63F-F25E-B82C67ED9B17}"/>
                  </a:ext>
                </a:extLst>
              </p:cNvPr>
              <p:cNvSpPr/>
              <p:nvPr/>
            </p:nvSpPr>
            <p:spPr>
              <a:xfrm>
                <a:off x="4032031" y="5632221"/>
                <a:ext cx="3060918" cy="2368613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algn="ctr" latinLnBrk="0"/>
                <a:endParaRPr lang="ko-KR" altLang="en-US" sz="1100" dirty="0">
                  <a:ln>
                    <a:solidFill>
                      <a:srgbClr val="3491C9">
                        <a:alpha val="0"/>
                      </a:srgbClr>
                    </a:solidFill>
                  </a:ln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93" name="양쪽 모서리가 둥근 사각형 207">
                <a:extLst>
                  <a:ext uri="{FF2B5EF4-FFF2-40B4-BE49-F238E27FC236}">
                    <a16:creationId xmlns:a16="http://schemas.microsoft.com/office/drawing/2014/main" id="{A8F5CD9C-3B65-EFC8-7B9F-C124E2AE5674}"/>
                  </a:ext>
                </a:extLst>
              </p:cNvPr>
              <p:cNvSpPr/>
              <p:nvPr/>
            </p:nvSpPr>
            <p:spPr bwMode="auto">
              <a:xfrm>
                <a:off x="4032032" y="4974987"/>
                <a:ext cx="3054141" cy="655653"/>
              </a:xfrm>
              <a:prstGeom prst="round2SameRect">
                <a:avLst/>
              </a:prstGeom>
              <a:solidFill>
                <a:srgbClr val="B2B2B2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lIns="82031" tIns="41015" rIns="82031" bIns="41015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3491C9">
                        <a:alpha val="0"/>
                      </a:srgbClr>
                    </a:solidFill>
                  </a:ln>
                  <a:solidFill>
                    <a:schemeClr val="lt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94" name="Text Box 30">
                <a:extLst>
                  <a:ext uri="{FF2B5EF4-FFF2-40B4-BE49-F238E27FC236}">
                    <a16:creationId xmlns:a16="http://schemas.microsoft.com/office/drawing/2014/main" id="{87B33E57-EEE1-4DC9-5421-09F70E678BF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181300" y="5176523"/>
                <a:ext cx="2762395" cy="309953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3175" cap="rnd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0" tIns="0" rIns="0" bIns="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algn="ctr" latinLnBrk="0">
                  <a:buClr>
                    <a:srgbClr val="3271AA"/>
                  </a:buClr>
                  <a:buSzPct val="140000"/>
                  <a:tabLst>
                    <a:tab pos="6442389" algn="l"/>
                  </a:tabLst>
                </a:pPr>
                <a:r>
                  <a:rPr lang="ko-KR" altLang="en-US" sz="1000" dirty="0">
                    <a:ln>
                      <a:solidFill>
                        <a:srgbClr val="3491C9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외부 환경 필요성</a:t>
                </a:r>
              </a:p>
            </p:txBody>
          </p:sp>
          <p:sp>
            <p:nvSpPr>
              <p:cNvPr id="95" name="Rectangle 20">
                <a:extLst>
                  <a:ext uri="{FF2B5EF4-FFF2-40B4-BE49-F238E27FC236}">
                    <a16:creationId xmlns:a16="http://schemas.microsoft.com/office/drawing/2014/main" id="{8DB620E1-72CF-60AF-E9C7-598C37D95C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71314" y="5698415"/>
                <a:ext cx="2809189" cy="1306974"/>
              </a:xfrm>
              <a:prstGeom prst="rect">
                <a:avLst/>
              </a:prstGeom>
              <a:noFill/>
              <a:ln w="9525" algn="ctr">
                <a:noFill/>
                <a:miter lim="800000"/>
                <a:headEnd/>
                <a:tailEnd/>
              </a:ln>
              <a:effectLst/>
            </p:spPr>
            <p:txBody>
              <a:bodyPr wrap="square" lIns="0" tIns="0" rIns="0" bIns="0">
                <a:spAutoFit/>
              </a:bodyPr>
              <a:lstStyle/>
              <a:p>
                <a:pPr marL="85725" indent="-85725" defTabSz="877888" fontAlgn="ctr" latinLnBrk="0">
                  <a:lnSpc>
                    <a:spcPct val="150000"/>
                  </a:lnSpc>
                  <a:spcAft>
                    <a:spcPts val="1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ko-KR" altLang="en-US" sz="900" kern="0" spc="-4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"/>
                  </a:rPr>
                  <a:t>대내외 환경변화에 대한 신속한 대응</a:t>
                </a:r>
              </a:p>
              <a:p>
                <a:pPr marL="85725" indent="-85725" defTabSz="877888" fontAlgn="ctr" latinLnBrk="0">
                  <a:lnSpc>
                    <a:spcPct val="150000"/>
                  </a:lnSpc>
                  <a:spcAft>
                    <a:spcPts val="1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ko-KR" altLang="en-US" sz="900" kern="0" spc="-4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"/>
                  </a:rPr>
                  <a:t>내부 정보에 대한 기밀보안 요구 증대</a:t>
                </a:r>
              </a:p>
              <a:p>
                <a:pPr marL="85725" indent="-85725" defTabSz="877888" fontAlgn="ctr" latinLnBrk="0">
                  <a:lnSpc>
                    <a:spcPct val="150000"/>
                  </a:lnSpc>
                  <a:spcAft>
                    <a:spcPts val="100"/>
                  </a:spcAft>
                  <a:buClr>
                    <a:srgbClr val="969696"/>
                  </a:buClr>
                  <a:buSzPct val="100000"/>
                  <a:buFont typeface="Arial" panose="020B0604020202020204" pitchFamily="34" charset="0"/>
                  <a:buChar char="•"/>
                  <a:tabLst>
                    <a:tab pos="0" algn="l"/>
                  </a:tabLst>
                  <a:defRPr/>
                </a:pPr>
                <a:r>
                  <a:rPr lang="ko-KR" altLang="en-US" sz="900" kern="0" spc="-4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"/>
                  </a:rPr>
                  <a:t>국민참여</a:t>
                </a:r>
                <a:r>
                  <a:rPr lang="en-US" altLang="ko-KR" sz="900" kern="0" spc="-4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"/>
                  </a:rPr>
                  <a:t>, </a:t>
                </a:r>
                <a:r>
                  <a:rPr lang="ko-KR" altLang="en-US" sz="900" kern="0" spc="-4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"/>
                  </a:rPr>
                  <a:t>정보요구 등 대국민 서비스 요청 증가</a:t>
                </a:r>
              </a:p>
            </p:txBody>
          </p:sp>
        </p:grpSp>
        <p:cxnSp>
          <p:nvCxnSpPr>
            <p:cNvPr id="91" name="직선 연결선 90">
              <a:extLst>
                <a:ext uri="{FF2B5EF4-FFF2-40B4-BE49-F238E27FC236}">
                  <a16:creationId xmlns:a16="http://schemas.microsoft.com/office/drawing/2014/main" id="{FC548776-0A76-9F18-5C51-CFF7EEAFE1B0}"/>
                </a:ext>
              </a:extLst>
            </p:cNvPr>
            <p:cNvCxnSpPr/>
            <p:nvPr/>
          </p:nvCxnSpPr>
          <p:spPr bwMode="auto">
            <a:xfrm>
              <a:off x="684213" y="8059448"/>
              <a:ext cx="6444728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9" name="그룹 98">
            <a:extLst>
              <a:ext uri="{FF2B5EF4-FFF2-40B4-BE49-F238E27FC236}">
                <a16:creationId xmlns:a16="http://schemas.microsoft.com/office/drawing/2014/main" id="{314C4DF2-D6F1-83F4-C277-DC9BA9728FB8}"/>
              </a:ext>
            </a:extLst>
          </p:cNvPr>
          <p:cNvGrpSpPr/>
          <p:nvPr/>
        </p:nvGrpSpPr>
        <p:grpSpPr>
          <a:xfrm>
            <a:off x="637088" y="3137711"/>
            <a:ext cx="6562424" cy="499176"/>
            <a:chOff x="676616" y="3565032"/>
            <a:chExt cx="6264696" cy="479512"/>
          </a:xfrm>
        </p:grpSpPr>
        <p:sp>
          <p:nvSpPr>
            <p:cNvPr id="100" name="직사각형 99">
              <a:extLst>
                <a:ext uri="{FF2B5EF4-FFF2-40B4-BE49-F238E27FC236}">
                  <a16:creationId xmlns:a16="http://schemas.microsoft.com/office/drawing/2014/main" id="{CA91CC3A-296A-57EB-C875-4DC5B7410ED3}"/>
                </a:ext>
              </a:extLst>
            </p:cNvPr>
            <p:cNvSpPr/>
            <p:nvPr/>
          </p:nvSpPr>
          <p:spPr>
            <a:xfrm>
              <a:off x="1811002" y="3565032"/>
              <a:ext cx="3997084" cy="479512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</a:bodyPr>
            <a:lstStyle/>
            <a:p>
              <a:pPr algn="ctr" defTabSz="1067428" latinLnBrk="0">
                <a:lnSpc>
                  <a:spcPct val="120000"/>
                </a:lnSpc>
                <a:defRPr/>
              </a:pPr>
              <a:r>
                <a:rPr lang="ko-KR" altLang="en-US" sz="12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77777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굴림" pitchFamily="50" charset="-127"/>
                </a:rPr>
                <a:t>정보체계의 안정성을 극대화하고</a:t>
              </a:r>
              <a:r>
                <a:rPr lang="en-US" altLang="ko-KR" sz="12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77777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굴림" pitchFamily="50" charset="-127"/>
                </a:rPr>
                <a:t>, </a:t>
              </a:r>
              <a:r>
                <a:rPr lang="ko-KR" altLang="en-US" sz="12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777777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굴림" pitchFamily="50" charset="-127"/>
                </a:rPr>
                <a:t>새로운 패러다임 기반 마련을 위한 </a:t>
              </a:r>
              <a:endParaRPr lang="en-US" altLang="ko-KR" sz="1200" kern="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rgbClr val="777777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endParaRPr>
            </a:p>
            <a:p>
              <a:pPr algn="ctr" defTabSz="1067428" latinLnBrk="0">
                <a:lnSpc>
                  <a:spcPct val="120000"/>
                </a:lnSpc>
                <a:defRPr/>
              </a:pPr>
              <a:r>
                <a:rPr lang="ko-KR" altLang="en-US" sz="16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solidFill>
                    <a:srgbClr val="003366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굴림" pitchFamily="50" charset="-127"/>
                </a:rPr>
                <a:t>고효율의 전산장비 유지보수 서비스 제공</a:t>
              </a:r>
            </a:p>
          </p:txBody>
        </p:sp>
        <p:grpSp>
          <p:nvGrpSpPr>
            <p:cNvPr id="101" name="그룹 100">
              <a:extLst>
                <a:ext uri="{FF2B5EF4-FFF2-40B4-BE49-F238E27FC236}">
                  <a16:creationId xmlns:a16="http://schemas.microsoft.com/office/drawing/2014/main" id="{F555FC1A-76B7-E69E-5863-4C2E599C4603}"/>
                </a:ext>
              </a:extLst>
            </p:cNvPr>
            <p:cNvGrpSpPr/>
            <p:nvPr/>
          </p:nvGrpSpPr>
          <p:grpSpPr>
            <a:xfrm>
              <a:off x="676616" y="3713454"/>
              <a:ext cx="689858" cy="139895"/>
              <a:chOff x="676616" y="3713454"/>
              <a:chExt cx="689858" cy="139895"/>
            </a:xfrm>
          </p:grpSpPr>
          <p:sp>
            <p:nvSpPr>
              <p:cNvPr id="105" name="Freeform 34">
                <a:extLst>
                  <a:ext uri="{FF2B5EF4-FFF2-40B4-BE49-F238E27FC236}">
                    <a16:creationId xmlns:a16="http://schemas.microsoft.com/office/drawing/2014/main" id="{3B948C90-67E8-B286-57C0-AD1C3F1726B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191224" y="3713454"/>
                <a:ext cx="175250" cy="139895"/>
              </a:xfrm>
              <a:custGeom>
                <a:avLst/>
                <a:gdLst>
                  <a:gd name="T0" fmla="*/ 43 w 141"/>
                  <a:gd name="T1" fmla="*/ 0 h 124"/>
                  <a:gd name="T2" fmla="*/ 11 w 141"/>
                  <a:gd name="T3" fmla="*/ 26 h 124"/>
                  <a:gd name="T4" fmla="*/ 0 w 141"/>
                  <a:gd name="T5" fmla="*/ 81 h 124"/>
                  <a:gd name="T6" fmla="*/ 0 w 141"/>
                  <a:gd name="T7" fmla="*/ 124 h 124"/>
                  <a:gd name="T8" fmla="*/ 59 w 141"/>
                  <a:gd name="T9" fmla="*/ 124 h 124"/>
                  <a:gd name="T10" fmla="*/ 59 w 141"/>
                  <a:gd name="T11" fmla="*/ 66 h 124"/>
                  <a:gd name="T12" fmla="*/ 28 w 141"/>
                  <a:gd name="T13" fmla="*/ 66 h 124"/>
                  <a:gd name="T14" fmla="*/ 36 w 141"/>
                  <a:gd name="T15" fmla="*/ 35 h 124"/>
                  <a:gd name="T16" fmla="*/ 59 w 141"/>
                  <a:gd name="T17" fmla="*/ 20 h 124"/>
                  <a:gd name="T18" fmla="*/ 43 w 141"/>
                  <a:gd name="T19" fmla="*/ 0 h 124"/>
                  <a:gd name="T20" fmla="*/ 125 w 141"/>
                  <a:gd name="T21" fmla="*/ 0 h 124"/>
                  <a:gd name="T22" fmla="*/ 94 w 141"/>
                  <a:gd name="T23" fmla="*/ 26 h 124"/>
                  <a:gd name="T24" fmla="*/ 83 w 141"/>
                  <a:gd name="T25" fmla="*/ 81 h 124"/>
                  <a:gd name="T26" fmla="*/ 83 w 141"/>
                  <a:gd name="T27" fmla="*/ 124 h 124"/>
                  <a:gd name="T28" fmla="*/ 141 w 141"/>
                  <a:gd name="T29" fmla="*/ 124 h 124"/>
                  <a:gd name="T30" fmla="*/ 141 w 141"/>
                  <a:gd name="T31" fmla="*/ 66 h 124"/>
                  <a:gd name="T32" fmla="*/ 111 w 141"/>
                  <a:gd name="T33" fmla="*/ 66 h 124"/>
                  <a:gd name="T34" fmla="*/ 119 w 141"/>
                  <a:gd name="T35" fmla="*/ 36 h 124"/>
                  <a:gd name="T36" fmla="*/ 141 w 141"/>
                  <a:gd name="T37" fmla="*/ 20 h 124"/>
                  <a:gd name="T38" fmla="*/ 125 w 141"/>
                  <a:gd name="T3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1" h="124">
                    <a:moveTo>
                      <a:pt x="43" y="0"/>
                    </a:moveTo>
                    <a:cubicBezTo>
                      <a:pt x="33" y="3"/>
                      <a:pt x="20" y="12"/>
                      <a:pt x="11" y="26"/>
                    </a:cubicBezTo>
                    <a:cubicBezTo>
                      <a:pt x="2" y="40"/>
                      <a:pt x="0" y="58"/>
                      <a:pt x="0" y="81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9" y="124"/>
                      <a:pt x="59" y="124"/>
                      <a:pt x="59" y="124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28" y="66"/>
                      <a:pt x="28" y="66"/>
                      <a:pt x="28" y="66"/>
                    </a:cubicBezTo>
                    <a:cubicBezTo>
                      <a:pt x="28" y="58"/>
                      <a:pt x="28" y="44"/>
                      <a:pt x="36" y="35"/>
                    </a:cubicBezTo>
                    <a:cubicBezTo>
                      <a:pt x="43" y="28"/>
                      <a:pt x="52" y="22"/>
                      <a:pt x="59" y="20"/>
                    </a:cubicBezTo>
                    <a:cubicBezTo>
                      <a:pt x="43" y="0"/>
                      <a:pt x="43" y="0"/>
                      <a:pt x="43" y="0"/>
                    </a:cubicBezTo>
                    <a:moveTo>
                      <a:pt x="125" y="0"/>
                    </a:moveTo>
                    <a:cubicBezTo>
                      <a:pt x="116" y="3"/>
                      <a:pt x="103" y="12"/>
                      <a:pt x="94" y="26"/>
                    </a:cubicBezTo>
                    <a:cubicBezTo>
                      <a:pt x="84" y="40"/>
                      <a:pt x="83" y="58"/>
                      <a:pt x="83" y="81"/>
                    </a:cubicBezTo>
                    <a:cubicBezTo>
                      <a:pt x="83" y="124"/>
                      <a:pt x="83" y="124"/>
                      <a:pt x="83" y="124"/>
                    </a:cubicBezTo>
                    <a:cubicBezTo>
                      <a:pt x="141" y="124"/>
                      <a:pt x="141" y="124"/>
                      <a:pt x="141" y="124"/>
                    </a:cubicBezTo>
                    <a:cubicBezTo>
                      <a:pt x="141" y="66"/>
                      <a:pt x="141" y="66"/>
                      <a:pt x="141" y="66"/>
                    </a:cubicBezTo>
                    <a:cubicBezTo>
                      <a:pt x="111" y="66"/>
                      <a:pt x="111" y="66"/>
                      <a:pt x="111" y="66"/>
                    </a:cubicBezTo>
                    <a:cubicBezTo>
                      <a:pt x="111" y="58"/>
                      <a:pt x="111" y="45"/>
                      <a:pt x="119" y="36"/>
                    </a:cubicBezTo>
                    <a:cubicBezTo>
                      <a:pt x="126" y="28"/>
                      <a:pt x="134" y="22"/>
                      <a:pt x="141" y="20"/>
                    </a:cubicBezTo>
                    <a:cubicBezTo>
                      <a:pt x="125" y="0"/>
                      <a:pt x="125" y="0"/>
                      <a:pt x="125" y="0"/>
                    </a:cubicBezTo>
                  </a:path>
                </a:pathLst>
              </a:custGeom>
              <a:solidFill>
                <a:srgbClr val="3D9CD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cxnSp>
            <p:nvCxnSpPr>
              <p:cNvPr id="106" name="직선 연결선 105">
                <a:extLst>
                  <a:ext uri="{FF2B5EF4-FFF2-40B4-BE49-F238E27FC236}">
                    <a16:creationId xmlns:a16="http://schemas.microsoft.com/office/drawing/2014/main" id="{2027CC54-9815-9B55-A4B6-21555C6D7CFE}"/>
                  </a:ext>
                </a:extLst>
              </p:cNvPr>
              <p:cNvCxnSpPr/>
              <p:nvPr/>
            </p:nvCxnSpPr>
            <p:spPr>
              <a:xfrm>
                <a:off x="676616" y="3802549"/>
                <a:ext cx="400306" cy="0"/>
              </a:xfrm>
              <a:prstGeom prst="line">
                <a:avLst/>
              </a:prstGeom>
              <a:ln w="63500" cap="rnd">
                <a:solidFill>
                  <a:schemeClr val="bg1">
                    <a:lumMod val="8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2" name="그룹 101">
              <a:extLst>
                <a:ext uri="{FF2B5EF4-FFF2-40B4-BE49-F238E27FC236}">
                  <a16:creationId xmlns:a16="http://schemas.microsoft.com/office/drawing/2014/main" id="{0C590CE8-E128-814B-B08B-8F760CD33BC5}"/>
                </a:ext>
              </a:extLst>
            </p:cNvPr>
            <p:cNvGrpSpPr/>
            <p:nvPr/>
          </p:nvGrpSpPr>
          <p:grpSpPr>
            <a:xfrm>
              <a:off x="6251454" y="3723614"/>
              <a:ext cx="689858" cy="139895"/>
              <a:chOff x="6251454" y="3723614"/>
              <a:chExt cx="689858" cy="139895"/>
            </a:xfrm>
          </p:grpSpPr>
          <p:sp>
            <p:nvSpPr>
              <p:cNvPr id="103" name="Freeform 34">
                <a:extLst>
                  <a:ext uri="{FF2B5EF4-FFF2-40B4-BE49-F238E27FC236}">
                    <a16:creationId xmlns:a16="http://schemas.microsoft.com/office/drawing/2014/main" id="{6D7F7C33-5674-4B94-F8FE-20F437EBEC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 flipH="1" flipV="1">
                <a:off x="6251454" y="3723614"/>
                <a:ext cx="175250" cy="139895"/>
              </a:xfrm>
              <a:custGeom>
                <a:avLst/>
                <a:gdLst>
                  <a:gd name="T0" fmla="*/ 43 w 141"/>
                  <a:gd name="T1" fmla="*/ 0 h 124"/>
                  <a:gd name="T2" fmla="*/ 11 w 141"/>
                  <a:gd name="T3" fmla="*/ 26 h 124"/>
                  <a:gd name="T4" fmla="*/ 0 w 141"/>
                  <a:gd name="T5" fmla="*/ 81 h 124"/>
                  <a:gd name="T6" fmla="*/ 0 w 141"/>
                  <a:gd name="T7" fmla="*/ 124 h 124"/>
                  <a:gd name="T8" fmla="*/ 59 w 141"/>
                  <a:gd name="T9" fmla="*/ 124 h 124"/>
                  <a:gd name="T10" fmla="*/ 59 w 141"/>
                  <a:gd name="T11" fmla="*/ 66 h 124"/>
                  <a:gd name="T12" fmla="*/ 28 w 141"/>
                  <a:gd name="T13" fmla="*/ 66 h 124"/>
                  <a:gd name="T14" fmla="*/ 36 w 141"/>
                  <a:gd name="T15" fmla="*/ 35 h 124"/>
                  <a:gd name="T16" fmla="*/ 59 w 141"/>
                  <a:gd name="T17" fmla="*/ 20 h 124"/>
                  <a:gd name="T18" fmla="*/ 43 w 141"/>
                  <a:gd name="T19" fmla="*/ 0 h 124"/>
                  <a:gd name="T20" fmla="*/ 125 w 141"/>
                  <a:gd name="T21" fmla="*/ 0 h 124"/>
                  <a:gd name="T22" fmla="*/ 94 w 141"/>
                  <a:gd name="T23" fmla="*/ 26 h 124"/>
                  <a:gd name="T24" fmla="*/ 83 w 141"/>
                  <a:gd name="T25" fmla="*/ 81 h 124"/>
                  <a:gd name="T26" fmla="*/ 83 w 141"/>
                  <a:gd name="T27" fmla="*/ 124 h 124"/>
                  <a:gd name="T28" fmla="*/ 141 w 141"/>
                  <a:gd name="T29" fmla="*/ 124 h 124"/>
                  <a:gd name="T30" fmla="*/ 141 w 141"/>
                  <a:gd name="T31" fmla="*/ 66 h 124"/>
                  <a:gd name="T32" fmla="*/ 111 w 141"/>
                  <a:gd name="T33" fmla="*/ 66 h 124"/>
                  <a:gd name="T34" fmla="*/ 119 w 141"/>
                  <a:gd name="T35" fmla="*/ 36 h 124"/>
                  <a:gd name="T36" fmla="*/ 141 w 141"/>
                  <a:gd name="T37" fmla="*/ 20 h 124"/>
                  <a:gd name="T38" fmla="*/ 125 w 141"/>
                  <a:gd name="T39" fmla="*/ 0 h 1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41" h="124">
                    <a:moveTo>
                      <a:pt x="43" y="0"/>
                    </a:moveTo>
                    <a:cubicBezTo>
                      <a:pt x="33" y="3"/>
                      <a:pt x="20" y="12"/>
                      <a:pt x="11" y="26"/>
                    </a:cubicBezTo>
                    <a:cubicBezTo>
                      <a:pt x="2" y="40"/>
                      <a:pt x="0" y="58"/>
                      <a:pt x="0" y="81"/>
                    </a:cubicBezTo>
                    <a:cubicBezTo>
                      <a:pt x="0" y="124"/>
                      <a:pt x="0" y="124"/>
                      <a:pt x="0" y="124"/>
                    </a:cubicBezTo>
                    <a:cubicBezTo>
                      <a:pt x="59" y="124"/>
                      <a:pt x="59" y="124"/>
                      <a:pt x="59" y="124"/>
                    </a:cubicBezTo>
                    <a:cubicBezTo>
                      <a:pt x="59" y="66"/>
                      <a:pt x="59" y="66"/>
                      <a:pt x="59" y="66"/>
                    </a:cubicBezTo>
                    <a:cubicBezTo>
                      <a:pt x="28" y="66"/>
                      <a:pt x="28" y="66"/>
                      <a:pt x="28" y="66"/>
                    </a:cubicBezTo>
                    <a:cubicBezTo>
                      <a:pt x="28" y="58"/>
                      <a:pt x="28" y="44"/>
                      <a:pt x="36" y="35"/>
                    </a:cubicBezTo>
                    <a:cubicBezTo>
                      <a:pt x="43" y="28"/>
                      <a:pt x="52" y="22"/>
                      <a:pt x="59" y="20"/>
                    </a:cubicBezTo>
                    <a:cubicBezTo>
                      <a:pt x="43" y="0"/>
                      <a:pt x="43" y="0"/>
                      <a:pt x="43" y="0"/>
                    </a:cubicBezTo>
                    <a:moveTo>
                      <a:pt x="125" y="0"/>
                    </a:moveTo>
                    <a:cubicBezTo>
                      <a:pt x="116" y="3"/>
                      <a:pt x="103" y="12"/>
                      <a:pt x="94" y="26"/>
                    </a:cubicBezTo>
                    <a:cubicBezTo>
                      <a:pt x="84" y="40"/>
                      <a:pt x="83" y="58"/>
                      <a:pt x="83" y="81"/>
                    </a:cubicBezTo>
                    <a:cubicBezTo>
                      <a:pt x="83" y="124"/>
                      <a:pt x="83" y="124"/>
                      <a:pt x="83" y="124"/>
                    </a:cubicBezTo>
                    <a:cubicBezTo>
                      <a:pt x="141" y="124"/>
                      <a:pt x="141" y="124"/>
                      <a:pt x="141" y="124"/>
                    </a:cubicBezTo>
                    <a:cubicBezTo>
                      <a:pt x="141" y="66"/>
                      <a:pt x="141" y="66"/>
                      <a:pt x="141" y="66"/>
                    </a:cubicBezTo>
                    <a:cubicBezTo>
                      <a:pt x="111" y="66"/>
                      <a:pt x="111" y="66"/>
                      <a:pt x="111" y="66"/>
                    </a:cubicBezTo>
                    <a:cubicBezTo>
                      <a:pt x="111" y="58"/>
                      <a:pt x="111" y="45"/>
                      <a:pt x="119" y="36"/>
                    </a:cubicBezTo>
                    <a:cubicBezTo>
                      <a:pt x="126" y="28"/>
                      <a:pt x="134" y="22"/>
                      <a:pt x="141" y="20"/>
                    </a:cubicBezTo>
                    <a:cubicBezTo>
                      <a:pt x="125" y="0"/>
                      <a:pt x="125" y="0"/>
                      <a:pt x="125" y="0"/>
                    </a:cubicBezTo>
                  </a:path>
                </a:pathLst>
              </a:custGeom>
              <a:solidFill>
                <a:srgbClr val="3D9CD6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00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cxnSp>
            <p:nvCxnSpPr>
              <p:cNvPr id="104" name="직선 연결선 103">
                <a:extLst>
                  <a:ext uri="{FF2B5EF4-FFF2-40B4-BE49-F238E27FC236}">
                    <a16:creationId xmlns:a16="http://schemas.microsoft.com/office/drawing/2014/main" id="{C7DEEBFB-14D2-4BFA-4B8E-64CD95345872}"/>
                  </a:ext>
                </a:extLst>
              </p:cNvPr>
              <p:cNvCxnSpPr/>
              <p:nvPr/>
            </p:nvCxnSpPr>
            <p:spPr>
              <a:xfrm flipH="1" flipV="1">
                <a:off x="6541006" y="3802549"/>
                <a:ext cx="400306" cy="0"/>
              </a:xfrm>
              <a:prstGeom prst="line">
                <a:avLst/>
              </a:prstGeom>
              <a:ln w="63500" cap="rnd">
                <a:solidFill>
                  <a:schemeClr val="bg1">
                    <a:lumMod val="85000"/>
                  </a:schemeClr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7" name="제목 1">
            <a:extLst>
              <a:ext uri="{FF2B5EF4-FFF2-40B4-BE49-F238E27FC236}">
                <a16:creationId xmlns:a16="http://schemas.microsoft.com/office/drawing/2014/main" id="{B200D8DB-75AB-DC3D-1B32-539CC26912B7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109" name="제목 1">
            <a:extLst>
              <a:ext uri="{FF2B5EF4-FFF2-40B4-BE49-F238E27FC236}">
                <a16:creationId xmlns:a16="http://schemas.microsoft.com/office/drawing/2014/main" id="{09EB6A0F-9F5F-B194-D668-4BBD59D29058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다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목표</a:t>
            </a:r>
          </a:p>
        </p:txBody>
      </p:sp>
    </p:spTree>
    <p:extLst>
      <p:ext uri="{BB962C8B-B14F-4D97-AF65-F5344CB8AC3E}">
        <p14:creationId xmlns:p14="http://schemas.microsoft.com/office/powerpoint/2010/main" val="56979696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5EB94BF4-269D-4ADE-8025-A904DB6FAF1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D15C4-AF98-EFE3-EB7A-8C48293D6D4B}"/>
              </a:ext>
            </a:extLst>
          </p:cNvPr>
          <p:cNvSpPr txBox="1"/>
          <p:nvPr/>
        </p:nvSpPr>
        <p:spPr>
          <a:xfrm>
            <a:off x="934361" y="2524932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효율적인 운영을 통한 안정적인 유지관리 서비스 제공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F03E0E-F6C0-91ED-93A3-245C8135B495}"/>
              </a:ext>
            </a:extLst>
          </p:cNvPr>
          <p:cNvSpPr/>
          <p:nvPr/>
        </p:nvSpPr>
        <p:spPr>
          <a:xfrm>
            <a:off x="1381398" y="1696926"/>
            <a:ext cx="5849058" cy="56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>
                <a:srgbClr val="0061EB"/>
              </a:buClr>
              <a:buSzPct val="80000"/>
              <a:buFont typeface="KoPub돋움체 Bold" panose="02020603020101020101" pitchFamily="18" charset="-127"/>
              <a:buChar char="▶"/>
            </a:pP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제안사는 국방전산정보원 국방정보체계의 중요성 및 환경적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조직적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기술적 특성을 충분히 인식하고 있으며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각 분야별 유지보수 전문인력과 유사 사업 수행 경험을 보유한 전문 인력을 투입하여 적극적인 장애예방 체계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수립과 신속한 장애 대응 체계를 구축합니다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8FA33E-FCA6-5565-BB5E-627D28B7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7" name="제목 1">
            <a:extLst>
              <a:ext uri="{FF2B5EF4-FFF2-40B4-BE49-F238E27FC236}">
                <a16:creationId xmlns:a16="http://schemas.microsoft.com/office/drawing/2014/main" id="{B200D8DB-75AB-DC3D-1B32-539CC26912B7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109" name="제목 1">
            <a:extLst>
              <a:ext uri="{FF2B5EF4-FFF2-40B4-BE49-F238E27FC236}">
                <a16:creationId xmlns:a16="http://schemas.microsoft.com/office/drawing/2014/main" id="{09EB6A0F-9F5F-B194-D668-4BBD59D29058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라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목적</a:t>
            </a:r>
          </a:p>
        </p:txBody>
      </p:sp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DC54812C-AA46-A7A7-303E-26B1AF30B330}"/>
              </a:ext>
            </a:extLst>
          </p:cNvPr>
          <p:cNvGrpSpPr/>
          <p:nvPr/>
        </p:nvGrpSpPr>
        <p:grpSpPr>
          <a:xfrm>
            <a:off x="574675" y="2947148"/>
            <a:ext cx="6581646" cy="1245262"/>
            <a:chOff x="649664" y="2942735"/>
            <a:chExt cx="6301525" cy="1192263"/>
          </a:xfrm>
        </p:grpSpPr>
        <p:grpSp>
          <p:nvGrpSpPr>
            <p:cNvPr id="110" name="그룹 109">
              <a:extLst>
                <a:ext uri="{FF2B5EF4-FFF2-40B4-BE49-F238E27FC236}">
                  <a16:creationId xmlns:a16="http://schemas.microsoft.com/office/drawing/2014/main" id="{C86D157F-9DDE-0AF0-A5CC-E09CB1CF3EC8}"/>
                </a:ext>
              </a:extLst>
            </p:cNvPr>
            <p:cNvGrpSpPr/>
            <p:nvPr/>
          </p:nvGrpSpPr>
          <p:grpSpPr>
            <a:xfrm>
              <a:off x="649664" y="2942735"/>
              <a:ext cx="6301525" cy="1192263"/>
              <a:chOff x="437284" y="2598273"/>
              <a:chExt cx="6215932" cy="1290350"/>
            </a:xfrm>
          </p:grpSpPr>
          <p:pic>
            <p:nvPicPr>
              <p:cNvPr id="112" name="그림 111">
                <a:extLst>
                  <a:ext uri="{FF2B5EF4-FFF2-40B4-BE49-F238E27FC236}">
                    <a16:creationId xmlns:a16="http://schemas.microsoft.com/office/drawing/2014/main" id="{8E8669E2-5BFC-2838-5BF8-3ED5A9B102B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925" b="8005"/>
              <a:stretch/>
            </p:blipFill>
            <p:spPr bwMode="gray">
              <a:xfrm flipH="1">
                <a:off x="5037958" y="2599004"/>
                <a:ext cx="1615258" cy="737508"/>
              </a:xfrm>
              <a:prstGeom prst="rect">
                <a:avLst/>
              </a:prstGeom>
            </p:spPr>
          </p:pic>
          <p:grpSp>
            <p:nvGrpSpPr>
              <p:cNvPr id="113" name="그룹 112">
                <a:extLst>
                  <a:ext uri="{FF2B5EF4-FFF2-40B4-BE49-F238E27FC236}">
                    <a16:creationId xmlns:a16="http://schemas.microsoft.com/office/drawing/2014/main" id="{665AFA4E-2BD8-A35C-30B0-D64785097F98}"/>
                  </a:ext>
                </a:extLst>
              </p:cNvPr>
              <p:cNvGrpSpPr/>
              <p:nvPr/>
            </p:nvGrpSpPr>
            <p:grpSpPr bwMode="gray">
              <a:xfrm flipH="1">
                <a:off x="437284" y="2598273"/>
                <a:ext cx="5424632" cy="1290350"/>
                <a:chOff x="1244825" y="3261061"/>
                <a:chExt cx="5833294" cy="1387558"/>
              </a:xfrm>
            </p:grpSpPr>
            <p:pic>
              <p:nvPicPr>
                <p:cNvPr id="114" name="Picture 5">
                  <a:extLst>
                    <a:ext uri="{FF2B5EF4-FFF2-40B4-BE49-F238E27FC236}">
                      <a16:creationId xmlns:a16="http://schemas.microsoft.com/office/drawing/2014/main" id="{68BA218E-B814-8E58-DDA9-D003C36329F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1904335" y="3261298"/>
                  <a:ext cx="5173784" cy="138732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15" name="직사각형 114">
                  <a:extLst>
                    <a:ext uri="{FF2B5EF4-FFF2-40B4-BE49-F238E27FC236}">
                      <a16:creationId xmlns:a16="http://schemas.microsoft.com/office/drawing/2014/main" id="{2A3A531A-0832-AAA0-EC1F-B040AEE2BBA3}"/>
                    </a:ext>
                  </a:extLst>
                </p:cNvPr>
                <p:cNvSpPr/>
                <p:nvPr/>
              </p:nvSpPr>
              <p:spPr bwMode="gray">
                <a:xfrm>
                  <a:off x="2068367" y="3261061"/>
                  <a:ext cx="1568821" cy="1295765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/>
                </a:p>
              </p:txBody>
            </p:sp>
            <p:sp>
              <p:nvSpPr>
                <p:cNvPr id="116" name="직사각형 115">
                  <a:extLst>
                    <a:ext uri="{FF2B5EF4-FFF2-40B4-BE49-F238E27FC236}">
                      <a16:creationId xmlns:a16="http://schemas.microsoft.com/office/drawing/2014/main" id="{EE0D1E3E-DD98-7CCD-47B4-EBC5D5427C76}"/>
                    </a:ext>
                  </a:extLst>
                </p:cNvPr>
                <p:cNvSpPr/>
                <p:nvPr/>
              </p:nvSpPr>
              <p:spPr bwMode="gray">
                <a:xfrm flipH="1">
                  <a:off x="1244825" y="3277691"/>
                  <a:ext cx="1002085" cy="1295764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/>
                </a:p>
              </p:txBody>
            </p:sp>
          </p:grpSp>
        </p:grpSp>
        <p:sp>
          <p:nvSpPr>
            <p:cNvPr id="111" name="직사각형 110">
              <a:extLst>
                <a:ext uri="{FF2B5EF4-FFF2-40B4-BE49-F238E27FC236}">
                  <a16:creationId xmlns:a16="http://schemas.microsoft.com/office/drawing/2014/main" id="{BF9428A9-8C87-3102-6045-339A34AFB2AC}"/>
                </a:ext>
              </a:extLst>
            </p:cNvPr>
            <p:cNvSpPr/>
            <p:nvPr/>
          </p:nvSpPr>
          <p:spPr>
            <a:xfrm>
              <a:off x="1815829" y="3145840"/>
              <a:ext cx="4007305" cy="486217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</a:bodyPr>
            <a:lstStyle/>
            <a:p>
              <a:pPr algn="ctr" fontAlgn="ctr" latinLnBrk="0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ko-KR" altLang="en-US" sz="1200" kern="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전산장비의 </a:t>
              </a:r>
              <a:r>
                <a:rPr lang="en-US" altLang="ko-KR" sz="1200" kern="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24</a:t>
              </a:r>
              <a:r>
                <a:rPr lang="ko-KR" altLang="en-US" sz="1200" kern="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시간 </a:t>
              </a:r>
              <a:r>
                <a:rPr lang="en-US" altLang="ko-KR" sz="1200" kern="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365</a:t>
              </a:r>
              <a:r>
                <a:rPr lang="ko-KR" altLang="en-US" sz="1200" kern="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일</a:t>
              </a:r>
              <a:r>
                <a:rPr lang="en-US" altLang="ko-KR" sz="1200" kern="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 </a:t>
              </a:r>
              <a:r>
                <a:rPr lang="ko-KR" altLang="en-US" sz="1200" kern="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안정적 유지관리를 통해 </a:t>
              </a:r>
              <a:endParaRPr lang="en-US" altLang="ko-KR" sz="1200" kern="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</a:endParaRPr>
            </a:p>
            <a:p>
              <a:pPr marL="0" marR="0" lvl="0" indent="0" algn="ctr" defTabSz="914400" eaLnBrk="1" fontAlgn="ctr" latinLnBrk="0" hangingPunct="1"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kern="0" dirty="0">
                  <a:solidFill>
                    <a:schemeClr val="accent6">
                      <a:lumMod val="7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지속 가능한 전산장비 운영 및 정보서비스 향상 지원</a:t>
              </a:r>
            </a:p>
          </p:txBody>
        </p:sp>
      </p:grpSp>
      <p:grpSp>
        <p:nvGrpSpPr>
          <p:cNvPr id="126" name="그룹 125">
            <a:extLst>
              <a:ext uri="{FF2B5EF4-FFF2-40B4-BE49-F238E27FC236}">
                <a16:creationId xmlns:a16="http://schemas.microsoft.com/office/drawing/2014/main" id="{AE3B3EC6-3C2A-C944-CB29-239EA0A064AF}"/>
              </a:ext>
            </a:extLst>
          </p:cNvPr>
          <p:cNvGrpSpPr/>
          <p:nvPr/>
        </p:nvGrpSpPr>
        <p:grpSpPr>
          <a:xfrm>
            <a:off x="596811" y="5106340"/>
            <a:ext cx="6604089" cy="2071921"/>
            <a:chOff x="332596" y="7539489"/>
            <a:chExt cx="6760339" cy="1861313"/>
          </a:xfrm>
        </p:grpSpPr>
        <p:grpSp>
          <p:nvGrpSpPr>
            <p:cNvPr id="127" name="그룹 126">
              <a:extLst>
                <a:ext uri="{FF2B5EF4-FFF2-40B4-BE49-F238E27FC236}">
                  <a16:creationId xmlns:a16="http://schemas.microsoft.com/office/drawing/2014/main" id="{1CB9EF36-0F1C-6B5E-2A47-9AB398BABEA5}"/>
                </a:ext>
              </a:extLst>
            </p:cNvPr>
            <p:cNvGrpSpPr/>
            <p:nvPr/>
          </p:nvGrpSpPr>
          <p:grpSpPr>
            <a:xfrm>
              <a:off x="332596" y="7539489"/>
              <a:ext cx="6760339" cy="1861313"/>
              <a:chOff x="646817" y="7451165"/>
              <a:chExt cx="6267718" cy="1861313"/>
            </a:xfrm>
          </p:grpSpPr>
          <p:grpSp>
            <p:nvGrpSpPr>
              <p:cNvPr id="131" name="그룹 130">
                <a:extLst>
                  <a:ext uri="{FF2B5EF4-FFF2-40B4-BE49-F238E27FC236}">
                    <a16:creationId xmlns:a16="http://schemas.microsoft.com/office/drawing/2014/main" id="{8360F5E6-974C-C199-9C11-818681220CAA}"/>
                  </a:ext>
                </a:extLst>
              </p:cNvPr>
              <p:cNvGrpSpPr/>
              <p:nvPr/>
            </p:nvGrpSpPr>
            <p:grpSpPr>
              <a:xfrm>
                <a:off x="646817" y="7451165"/>
                <a:ext cx="2028119" cy="1861313"/>
                <a:chOff x="644296" y="7514665"/>
                <a:chExt cx="2048400" cy="1861313"/>
              </a:xfrm>
            </p:grpSpPr>
            <p:grpSp>
              <p:nvGrpSpPr>
                <p:cNvPr id="144" name="그룹 143">
                  <a:extLst>
                    <a:ext uri="{FF2B5EF4-FFF2-40B4-BE49-F238E27FC236}">
                      <a16:creationId xmlns:a16="http://schemas.microsoft.com/office/drawing/2014/main" id="{9C09E36D-E5D8-64A9-4A50-4000F39EA3F6}"/>
                    </a:ext>
                  </a:extLst>
                </p:cNvPr>
                <p:cNvGrpSpPr/>
                <p:nvPr/>
              </p:nvGrpSpPr>
              <p:grpSpPr>
                <a:xfrm>
                  <a:off x="644297" y="7514665"/>
                  <a:ext cx="2048335" cy="258394"/>
                  <a:chOff x="2423673" y="7628153"/>
                  <a:chExt cx="2652156" cy="258394"/>
                </a:xfrm>
              </p:grpSpPr>
              <p:sp>
                <p:nvSpPr>
                  <p:cNvPr id="146" name="직사각형 145">
                    <a:extLst>
                      <a:ext uri="{FF2B5EF4-FFF2-40B4-BE49-F238E27FC236}">
                        <a16:creationId xmlns:a16="http://schemas.microsoft.com/office/drawing/2014/main" id="{096C48A0-40DA-E28E-1D0D-7009D342C0B9}"/>
                      </a:ext>
                    </a:extLst>
                  </p:cNvPr>
                  <p:cNvSpPr/>
                  <p:nvPr/>
                </p:nvSpPr>
                <p:spPr>
                  <a:xfrm>
                    <a:off x="2431532" y="7681316"/>
                    <a:ext cx="2636438" cy="15207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 lIns="0" tIns="0" rIns="0" bIns="0" anchor="ctr" anchorCtr="0">
                    <a:spAutoFit/>
                  </a:bodyPr>
                  <a:lstStyle/>
                  <a:p>
                    <a:pPr marL="0" lvl="1" algn="ctr" latinLnBrk="0">
                      <a:buClr>
                        <a:schemeClr val="tx1">
                          <a:lumMod val="75000"/>
                          <a:lumOff val="25000"/>
                        </a:schemeClr>
                      </a:buClr>
                      <a:buSzPct val="100000"/>
                      <a:tabLst>
                        <a:tab pos="450785" algn="l"/>
                        <a:tab pos="901571" algn="l"/>
                        <a:tab pos="1355156" algn="l"/>
                        <a:tab pos="1805941" algn="l"/>
                        <a:tab pos="2256727" algn="l"/>
                        <a:tab pos="2708913" algn="l"/>
                        <a:tab pos="3159697" algn="l"/>
                        <a:tab pos="3611882" algn="l"/>
                        <a:tab pos="4064068" algn="l"/>
                        <a:tab pos="4514853" algn="l"/>
                        <a:tab pos="4967037" algn="l"/>
                        <a:tab pos="5870009" algn="l"/>
                        <a:tab pos="6322194" algn="l"/>
                        <a:tab pos="6772979" algn="l"/>
                        <a:tab pos="7223764" algn="l"/>
                        <a:tab pos="7675950" algn="l"/>
                        <a:tab pos="8128134" algn="l"/>
                        <a:tab pos="8578920" algn="l"/>
                        <a:tab pos="9031106" algn="l"/>
                        <a:tab pos="9481891" algn="l"/>
                        <a:tab pos="9934076" algn="l"/>
                        <a:tab pos="10386262" algn="l"/>
                        <a:tab pos="10837047" algn="l"/>
                        <a:tab pos="11289231" algn="l"/>
                        <a:tab pos="11740017" algn="l"/>
                        <a:tab pos="12190802" algn="l"/>
                        <a:tab pos="12644388" algn="l"/>
                        <a:tab pos="13095172" algn="l"/>
                        <a:tab pos="13545959" algn="l"/>
                        <a:tab pos="13998144" algn="l"/>
                        <a:tab pos="14448929" algn="l"/>
                      </a:tabLst>
                    </a:pPr>
                    <a:r>
                      <a:rPr lang="ko-KR" altLang="en-US" sz="11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rgbClr val="292929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</a:rPr>
                      <a:t>신뢰성 강화 및 서비스 연속성 확보</a:t>
                    </a:r>
                  </a:p>
                </p:txBody>
              </p:sp>
              <p:cxnSp>
                <p:nvCxnSpPr>
                  <p:cNvPr id="147" name="직선 연결선 146">
                    <a:extLst>
                      <a:ext uri="{FF2B5EF4-FFF2-40B4-BE49-F238E27FC236}">
                        <a16:creationId xmlns:a16="http://schemas.microsoft.com/office/drawing/2014/main" id="{3BF51B57-498B-2689-C120-08A7CAF0D997}"/>
                      </a:ext>
                    </a:extLst>
                  </p:cNvPr>
                  <p:cNvCxnSpPr/>
                  <p:nvPr/>
                </p:nvCxnSpPr>
                <p:spPr>
                  <a:xfrm>
                    <a:off x="2424105" y="7628153"/>
                    <a:ext cx="2651297" cy="0"/>
                  </a:xfrm>
                  <a:prstGeom prst="line">
                    <a:avLst/>
                  </a:prstGeom>
                  <a:ln w="15875">
                    <a:solidFill>
                      <a:srgbClr val="3491C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8" name="직선 연결선 147">
                    <a:extLst>
                      <a:ext uri="{FF2B5EF4-FFF2-40B4-BE49-F238E27FC236}">
                        <a16:creationId xmlns:a16="http://schemas.microsoft.com/office/drawing/2014/main" id="{7EFC9DB4-A821-BF8E-9FB6-153FC0077B3F}"/>
                      </a:ext>
                    </a:extLst>
                  </p:cNvPr>
                  <p:cNvCxnSpPr/>
                  <p:nvPr/>
                </p:nvCxnSpPr>
                <p:spPr>
                  <a:xfrm>
                    <a:off x="2423673" y="7886547"/>
                    <a:ext cx="2652156" cy="0"/>
                  </a:xfrm>
                  <a:prstGeom prst="line">
                    <a:avLst/>
                  </a:prstGeom>
                  <a:ln w="15875">
                    <a:solidFill>
                      <a:srgbClr val="3491C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5" name="Rectangle 309">
                  <a:extLst>
                    <a:ext uri="{FF2B5EF4-FFF2-40B4-BE49-F238E27FC236}">
                      <a16:creationId xmlns:a16="http://schemas.microsoft.com/office/drawing/2014/main" id="{B287FE75-C946-E4C5-15DF-D5ED0E3658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644296" y="7801706"/>
                  <a:ext cx="2048400" cy="1574272"/>
                </a:xfrm>
                <a:prstGeom prst="rect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</a:ln>
                <a:effectLst>
                  <a:outerShdw dist="12700" dir="5400000" algn="t" rotWithShape="0">
                    <a:schemeClr val="tx1">
                      <a:lumMod val="75000"/>
                      <a:lumOff val="25000"/>
                      <a:alpha val="20000"/>
                    </a:schemeClr>
                  </a:outerShdw>
                </a:effectLst>
              </p:spPr>
              <p:txBody>
                <a:bodyPr lIns="0" tIns="0" rIns="0" bIns="0" rtlCol="0" anchor="ctr" anchorCtr="0"/>
                <a:lstStyle/>
                <a:p>
                  <a:pPr algn="ctr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969696"/>
                    </a:buClr>
                    <a:buSzPts val="800"/>
                  </a:pPr>
                  <a:endParaRPr kumimoji="1" lang="ko-KR" altLang="en-US" sz="1000" dirty="0">
                    <a:ln>
                      <a:solidFill>
                        <a:schemeClr val="bg1">
                          <a:lumMod val="85000"/>
                          <a:alpha val="0"/>
                        </a:scheme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endParaRPr>
                </a:p>
              </p:txBody>
            </p:sp>
          </p:grpSp>
          <p:grpSp>
            <p:nvGrpSpPr>
              <p:cNvPr id="132" name="그룹 131">
                <a:extLst>
                  <a:ext uri="{FF2B5EF4-FFF2-40B4-BE49-F238E27FC236}">
                    <a16:creationId xmlns:a16="http://schemas.microsoft.com/office/drawing/2014/main" id="{A01E1B1D-8D47-013A-24B4-9E27639120F0}"/>
                  </a:ext>
                </a:extLst>
              </p:cNvPr>
              <p:cNvGrpSpPr/>
              <p:nvPr/>
            </p:nvGrpSpPr>
            <p:grpSpPr>
              <a:xfrm>
                <a:off x="4886415" y="7451165"/>
                <a:ext cx="2028120" cy="1861313"/>
                <a:chOff x="4876274" y="7514665"/>
                <a:chExt cx="2048401" cy="1861313"/>
              </a:xfrm>
            </p:grpSpPr>
            <p:grpSp>
              <p:nvGrpSpPr>
                <p:cNvPr id="139" name="그룹 138">
                  <a:extLst>
                    <a:ext uri="{FF2B5EF4-FFF2-40B4-BE49-F238E27FC236}">
                      <a16:creationId xmlns:a16="http://schemas.microsoft.com/office/drawing/2014/main" id="{613A46A9-E08A-6308-B708-F7C58E60B064}"/>
                    </a:ext>
                  </a:extLst>
                </p:cNvPr>
                <p:cNvGrpSpPr/>
                <p:nvPr/>
              </p:nvGrpSpPr>
              <p:grpSpPr>
                <a:xfrm>
                  <a:off x="4876340" y="7514665"/>
                  <a:ext cx="2048335" cy="258394"/>
                  <a:chOff x="2423673" y="7628153"/>
                  <a:chExt cx="2652156" cy="258394"/>
                </a:xfrm>
              </p:grpSpPr>
              <p:sp>
                <p:nvSpPr>
                  <p:cNvPr id="141" name="직사각형 140">
                    <a:extLst>
                      <a:ext uri="{FF2B5EF4-FFF2-40B4-BE49-F238E27FC236}">
                        <a16:creationId xmlns:a16="http://schemas.microsoft.com/office/drawing/2014/main" id="{A8DD216B-5917-11B2-96E7-2CE027CDF528}"/>
                      </a:ext>
                    </a:extLst>
                  </p:cNvPr>
                  <p:cNvSpPr/>
                  <p:nvPr/>
                </p:nvSpPr>
                <p:spPr>
                  <a:xfrm>
                    <a:off x="2431532" y="7681316"/>
                    <a:ext cx="2636438" cy="15207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 lIns="0" tIns="0" rIns="0" bIns="0" anchor="ctr" anchorCtr="0">
                    <a:spAutoFit/>
                  </a:bodyPr>
                  <a:lstStyle/>
                  <a:p>
                    <a:pPr marL="0" lvl="1" algn="ctr" latinLnBrk="0">
                      <a:buClr>
                        <a:schemeClr val="tx1">
                          <a:lumMod val="75000"/>
                          <a:lumOff val="25000"/>
                        </a:schemeClr>
                      </a:buClr>
                      <a:buSzPct val="100000"/>
                      <a:tabLst>
                        <a:tab pos="450785" algn="l"/>
                        <a:tab pos="901571" algn="l"/>
                        <a:tab pos="1355156" algn="l"/>
                        <a:tab pos="1805941" algn="l"/>
                        <a:tab pos="2256727" algn="l"/>
                        <a:tab pos="2708913" algn="l"/>
                        <a:tab pos="3159697" algn="l"/>
                        <a:tab pos="3611882" algn="l"/>
                        <a:tab pos="4064068" algn="l"/>
                        <a:tab pos="4514853" algn="l"/>
                        <a:tab pos="4967037" algn="l"/>
                        <a:tab pos="5870009" algn="l"/>
                        <a:tab pos="6322194" algn="l"/>
                        <a:tab pos="6772979" algn="l"/>
                        <a:tab pos="7223764" algn="l"/>
                        <a:tab pos="7675950" algn="l"/>
                        <a:tab pos="8128134" algn="l"/>
                        <a:tab pos="8578920" algn="l"/>
                        <a:tab pos="9031106" algn="l"/>
                        <a:tab pos="9481891" algn="l"/>
                        <a:tab pos="9934076" algn="l"/>
                        <a:tab pos="10386262" algn="l"/>
                        <a:tab pos="10837047" algn="l"/>
                        <a:tab pos="11289231" algn="l"/>
                        <a:tab pos="11740017" algn="l"/>
                        <a:tab pos="12190802" algn="l"/>
                        <a:tab pos="12644388" algn="l"/>
                        <a:tab pos="13095172" algn="l"/>
                        <a:tab pos="13545959" algn="l"/>
                        <a:tab pos="13998144" algn="l"/>
                        <a:tab pos="14448929" algn="l"/>
                      </a:tabLst>
                    </a:pPr>
                    <a:r>
                      <a:rPr lang="ko-KR" altLang="en-US" sz="11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rgbClr val="292929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</a:rPr>
                      <a:t>고품질 서비스 제공</a:t>
                    </a:r>
                  </a:p>
                </p:txBody>
              </p:sp>
              <p:cxnSp>
                <p:nvCxnSpPr>
                  <p:cNvPr id="142" name="직선 연결선 141">
                    <a:extLst>
                      <a:ext uri="{FF2B5EF4-FFF2-40B4-BE49-F238E27FC236}">
                        <a16:creationId xmlns:a16="http://schemas.microsoft.com/office/drawing/2014/main" id="{29E4F135-CE24-65B2-ED5C-D2AB614512FD}"/>
                      </a:ext>
                    </a:extLst>
                  </p:cNvPr>
                  <p:cNvCxnSpPr/>
                  <p:nvPr/>
                </p:nvCxnSpPr>
                <p:spPr>
                  <a:xfrm>
                    <a:off x="2424105" y="7628153"/>
                    <a:ext cx="2651297" cy="0"/>
                  </a:xfrm>
                  <a:prstGeom prst="line">
                    <a:avLst/>
                  </a:prstGeom>
                  <a:ln w="15875">
                    <a:solidFill>
                      <a:srgbClr val="3491C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43" name="직선 연결선 142">
                    <a:extLst>
                      <a:ext uri="{FF2B5EF4-FFF2-40B4-BE49-F238E27FC236}">
                        <a16:creationId xmlns:a16="http://schemas.microsoft.com/office/drawing/2014/main" id="{A759706E-F803-42D5-5615-4091DCFE1E0B}"/>
                      </a:ext>
                    </a:extLst>
                  </p:cNvPr>
                  <p:cNvCxnSpPr/>
                  <p:nvPr/>
                </p:nvCxnSpPr>
                <p:spPr>
                  <a:xfrm>
                    <a:off x="2423673" y="7886547"/>
                    <a:ext cx="2652156" cy="0"/>
                  </a:xfrm>
                  <a:prstGeom prst="line">
                    <a:avLst/>
                  </a:prstGeom>
                  <a:ln w="15875">
                    <a:solidFill>
                      <a:srgbClr val="3491C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40" name="Rectangle 309">
                  <a:extLst>
                    <a:ext uri="{FF2B5EF4-FFF2-40B4-BE49-F238E27FC236}">
                      <a16:creationId xmlns:a16="http://schemas.microsoft.com/office/drawing/2014/main" id="{A1C865BD-A646-9BB1-BF1A-F8BF7DB20F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4876274" y="7801706"/>
                  <a:ext cx="2048400" cy="1574272"/>
                </a:xfrm>
                <a:prstGeom prst="rect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</a:ln>
                <a:effectLst>
                  <a:outerShdw dist="12700" dir="5400000" algn="t" rotWithShape="0">
                    <a:schemeClr val="tx1">
                      <a:lumMod val="75000"/>
                      <a:lumOff val="25000"/>
                      <a:alpha val="20000"/>
                    </a:schemeClr>
                  </a:outerShdw>
                </a:effectLst>
              </p:spPr>
              <p:txBody>
                <a:bodyPr lIns="0" tIns="0" rIns="0" bIns="0" rtlCol="0" anchor="ctr" anchorCtr="0"/>
                <a:lstStyle/>
                <a:p>
                  <a:pPr algn="ctr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969696"/>
                    </a:buClr>
                    <a:buSzPts val="800"/>
                  </a:pPr>
                  <a:endParaRPr kumimoji="1" lang="ko-KR" altLang="en-US" sz="1000" dirty="0">
                    <a:ln>
                      <a:solidFill>
                        <a:schemeClr val="bg1">
                          <a:lumMod val="85000"/>
                          <a:alpha val="0"/>
                        </a:scheme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endParaRPr>
                </a:p>
              </p:txBody>
            </p:sp>
          </p:grpSp>
          <p:grpSp>
            <p:nvGrpSpPr>
              <p:cNvPr id="133" name="그룹 132">
                <a:extLst>
                  <a:ext uri="{FF2B5EF4-FFF2-40B4-BE49-F238E27FC236}">
                    <a16:creationId xmlns:a16="http://schemas.microsoft.com/office/drawing/2014/main" id="{139742C8-E20A-8A9F-4EFA-0B137DA15D0B}"/>
                  </a:ext>
                </a:extLst>
              </p:cNvPr>
              <p:cNvGrpSpPr/>
              <p:nvPr/>
            </p:nvGrpSpPr>
            <p:grpSpPr>
              <a:xfrm>
                <a:off x="2766616" y="7451165"/>
                <a:ext cx="2028119" cy="1861313"/>
                <a:chOff x="2760285" y="7514665"/>
                <a:chExt cx="2048400" cy="1861313"/>
              </a:xfrm>
            </p:grpSpPr>
            <p:grpSp>
              <p:nvGrpSpPr>
                <p:cNvPr id="134" name="그룹 133">
                  <a:extLst>
                    <a:ext uri="{FF2B5EF4-FFF2-40B4-BE49-F238E27FC236}">
                      <a16:creationId xmlns:a16="http://schemas.microsoft.com/office/drawing/2014/main" id="{B3AEEECC-3F19-ADEF-840D-1F39FDE33873}"/>
                    </a:ext>
                  </a:extLst>
                </p:cNvPr>
                <p:cNvGrpSpPr/>
                <p:nvPr/>
              </p:nvGrpSpPr>
              <p:grpSpPr>
                <a:xfrm>
                  <a:off x="2760319" y="7514665"/>
                  <a:ext cx="2048335" cy="258394"/>
                  <a:chOff x="2423673" y="7628153"/>
                  <a:chExt cx="2652156" cy="258394"/>
                </a:xfrm>
              </p:grpSpPr>
              <p:sp>
                <p:nvSpPr>
                  <p:cNvPr id="136" name="직사각형 135">
                    <a:extLst>
                      <a:ext uri="{FF2B5EF4-FFF2-40B4-BE49-F238E27FC236}">
                        <a16:creationId xmlns:a16="http://schemas.microsoft.com/office/drawing/2014/main" id="{E566BB63-4217-F5CA-885C-0665A4EE94F2}"/>
                      </a:ext>
                    </a:extLst>
                  </p:cNvPr>
                  <p:cNvSpPr/>
                  <p:nvPr/>
                </p:nvSpPr>
                <p:spPr>
                  <a:xfrm>
                    <a:off x="2431532" y="7681316"/>
                    <a:ext cx="2636438" cy="152070"/>
                  </a:xfrm>
                  <a:prstGeom prst="rect">
                    <a:avLst/>
                  </a:prstGeom>
                  <a:noFill/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square" lIns="0" tIns="0" rIns="0" bIns="0" anchor="ctr" anchorCtr="0">
                    <a:spAutoFit/>
                  </a:bodyPr>
                  <a:lstStyle/>
                  <a:p>
                    <a:pPr marL="0" lvl="1" algn="ctr" latinLnBrk="0">
                      <a:buClr>
                        <a:schemeClr val="tx1">
                          <a:lumMod val="75000"/>
                          <a:lumOff val="25000"/>
                        </a:schemeClr>
                      </a:buClr>
                      <a:buSzPct val="100000"/>
                      <a:tabLst>
                        <a:tab pos="450785" algn="l"/>
                        <a:tab pos="901571" algn="l"/>
                        <a:tab pos="1355156" algn="l"/>
                        <a:tab pos="1805941" algn="l"/>
                        <a:tab pos="2256727" algn="l"/>
                        <a:tab pos="2708913" algn="l"/>
                        <a:tab pos="3159697" algn="l"/>
                        <a:tab pos="3611882" algn="l"/>
                        <a:tab pos="4064068" algn="l"/>
                        <a:tab pos="4514853" algn="l"/>
                        <a:tab pos="4967037" algn="l"/>
                        <a:tab pos="5870009" algn="l"/>
                        <a:tab pos="6322194" algn="l"/>
                        <a:tab pos="6772979" algn="l"/>
                        <a:tab pos="7223764" algn="l"/>
                        <a:tab pos="7675950" algn="l"/>
                        <a:tab pos="8128134" algn="l"/>
                        <a:tab pos="8578920" algn="l"/>
                        <a:tab pos="9031106" algn="l"/>
                        <a:tab pos="9481891" algn="l"/>
                        <a:tab pos="9934076" algn="l"/>
                        <a:tab pos="10386262" algn="l"/>
                        <a:tab pos="10837047" algn="l"/>
                        <a:tab pos="11289231" algn="l"/>
                        <a:tab pos="11740017" algn="l"/>
                        <a:tab pos="12190802" algn="l"/>
                        <a:tab pos="12644388" algn="l"/>
                        <a:tab pos="13095172" algn="l"/>
                        <a:tab pos="13545959" algn="l"/>
                        <a:tab pos="13998144" algn="l"/>
                        <a:tab pos="14448929" algn="l"/>
                      </a:tabLst>
                    </a:pPr>
                    <a:r>
                      <a:rPr lang="ko-KR" altLang="en-US" sz="1100" dirty="0">
                        <a:ln>
                          <a:solidFill>
                            <a:schemeClr val="bg1">
                              <a:lumMod val="85000"/>
                              <a:alpha val="0"/>
                            </a:schemeClr>
                          </a:solidFill>
                        </a:ln>
                        <a:solidFill>
                          <a:srgbClr val="292929"/>
                        </a:soli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</a:rPr>
                      <a:t>선진 운영체계 수립 및 내재화</a:t>
                    </a:r>
                  </a:p>
                </p:txBody>
              </p:sp>
              <p:cxnSp>
                <p:nvCxnSpPr>
                  <p:cNvPr id="137" name="직선 연결선 136">
                    <a:extLst>
                      <a:ext uri="{FF2B5EF4-FFF2-40B4-BE49-F238E27FC236}">
                        <a16:creationId xmlns:a16="http://schemas.microsoft.com/office/drawing/2014/main" id="{358D32F3-F9B1-2279-5829-4FAB80C4CA61}"/>
                      </a:ext>
                    </a:extLst>
                  </p:cNvPr>
                  <p:cNvCxnSpPr/>
                  <p:nvPr/>
                </p:nvCxnSpPr>
                <p:spPr>
                  <a:xfrm>
                    <a:off x="2424105" y="7628153"/>
                    <a:ext cx="2651297" cy="0"/>
                  </a:xfrm>
                  <a:prstGeom prst="line">
                    <a:avLst/>
                  </a:prstGeom>
                  <a:ln w="15875">
                    <a:solidFill>
                      <a:srgbClr val="3491C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38" name="직선 연결선 137">
                    <a:extLst>
                      <a:ext uri="{FF2B5EF4-FFF2-40B4-BE49-F238E27FC236}">
                        <a16:creationId xmlns:a16="http://schemas.microsoft.com/office/drawing/2014/main" id="{5F9F591F-A1DF-298C-FA3A-54D6B2563007}"/>
                      </a:ext>
                    </a:extLst>
                  </p:cNvPr>
                  <p:cNvCxnSpPr/>
                  <p:nvPr/>
                </p:nvCxnSpPr>
                <p:spPr>
                  <a:xfrm>
                    <a:off x="2423673" y="7886547"/>
                    <a:ext cx="2652156" cy="0"/>
                  </a:xfrm>
                  <a:prstGeom prst="line">
                    <a:avLst/>
                  </a:prstGeom>
                  <a:ln w="15875">
                    <a:solidFill>
                      <a:srgbClr val="3491C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35" name="Rectangle 309">
                  <a:extLst>
                    <a:ext uri="{FF2B5EF4-FFF2-40B4-BE49-F238E27FC236}">
                      <a16:creationId xmlns:a16="http://schemas.microsoft.com/office/drawing/2014/main" id="{7C91C763-A74A-5F57-F09E-E7A71E15B3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H="1">
                  <a:off x="2760285" y="7801706"/>
                  <a:ext cx="2048400" cy="1574272"/>
                </a:xfrm>
                <a:prstGeom prst="rect">
                  <a:avLst/>
                </a:prstGeom>
                <a:solidFill>
                  <a:schemeClr val="bg1"/>
                </a:solidFill>
                <a:ln w="6350" cap="flat" cmpd="sng" algn="ctr">
                  <a:solidFill>
                    <a:schemeClr val="bg1">
                      <a:lumMod val="85000"/>
                    </a:schemeClr>
                  </a:solidFill>
                  <a:prstDash val="solid"/>
                </a:ln>
                <a:effectLst>
                  <a:outerShdw dist="12700" dir="5400000" algn="t" rotWithShape="0">
                    <a:schemeClr val="tx1">
                      <a:lumMod val="75000"/>
                      <a:lumOff val="25000"/>
                      <a:alpha val="20000"/>
                    </a:schemeClr>
                  </a:outerShdw>
                </a:effectLst>
              </p:spPr>
              <p:txBody>
                <a:bodyPr lIns="0" tIns="0" rIns="0" bIns="0" rtlCol="0" anchor="ctr" anchorCtr="0"/>
                <a:lstStyle/>
                <a:p>
                  <a:pPr algn="ctr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969696"/>
                    </a:buClr>
                    <a:buSzPts val="800"/>
                  </a:pPr>
                  <a:endParaRPr kumimoji="1" lang="ko-KR" altLang="en-US" sz="1000" dirty="0">
                    <a:ln>
                      <a:solidFill>
                        <a:schemeClr val="bg1">
                          <a:lumMod val="85000"/>
                          <a:alpha val="0"/>
                        </a:scheme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endParaRPr>
                </a:p>
              </p:txBody>
            </p:sp>
          </p:grpSp>
        </p:grpSp>
        <p:sp>
          <p:nvSpPr>
            <p:cNvPr id="128" name="제목 3">
              <a:extLst>
                <a:ext uri="{FF2B5EF4-FFF2-40B4-BE49-F238E27FC236}">
                  <a16:creationId xmlns:a16="http://schemas.microsoft.com/office/drawing/2014/main" id="{91D6E82B-70FD-2AA5-C1CA-3776B3BC707F}"/>
                </a:ext>
              </a:extLst>
            </p:cNvPr>
            <p:cNvSpPr txBox="1">
              <a:spLocks/>
            </p:cNvSpPr>
            <p:nvPr/>
          </p:nvSpPr>
          <p:spPr>
            <a:xfrm>
              <a:off x="454464" y="7918286"/>
              <a:ext cx="1993957" cy="1069158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9761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952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49283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990447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488060" algn="l" defTabSz="995225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985671" algn="l" defTabSz="995225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483286" algn="l" defTabSz="995225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980897" algn="l" defTabSz="995225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marL="84138" indent="-84138" latinLnBrk="0">
                <a:lnSpc>
                  <a:spcPct val="120000"/>
                </a:lnSpc>
                <a:spcAft>
                  <a:spcPts val="300"/>
                </a:spcAft>
                <a:buClr>
                  <a:srgbClr val="969696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ko-KR" altLang="en-US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선제적 장애예방관리를 통한 전산자원의 안정적 관리</a:t>
              </a:r>
              <a:endParaRPr lang="en-US" altLang="ko-KR" sz="1050" dirty="0">
                <a:ln>
                  <a:solidFill>
                    <a:srgbClr val="969696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endParaRPr>
            </a:p>
            <a:p>
              <a:pPr marL="84138" indent="-84138" latinLnBrk="0">
                <a:lnSpc>
                  <a:spcPct val="120000"/>
                </a:lnSpc>
                <a:spcAft>
                  <a:spcPts val="300"/>
                </a:spcAft>
                <a:buClr>
                  <a:srgbClr val="969696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ko-KR" altLang="en-US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국방 및</a:t>
              </a:r>
              <a:r>
                <a:rPr lang="en-US" altLang="ko-KR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 </a:t>
              </a:r>
              <a:r>
                <a:rPr lang="ko-KR" altLang="en-US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유사 사업 수행 경험 보유 전문인력의 투입을 통한 사업의 이해를 바탕으로 서비스 연속성 확보</a:t>
              </a:r>
            </a:p>
          </p:txBody>
        </p:sp>
        <p:sp>
          <p:nvSpPr>
            <p:cNvPr id="129" name="제목 3">
              <a:extLst>
                <a:ext uri="{FF2B5EF4-FFF2-40B4-BE49-F238E27FC236}">
                  <a16:creationId xmlns:a16="http://schemas.microsoft.com/office/drawing/2014/main" id="{1D42DD69-6FB7-8817-CE41-5EF7DF3BEDCD}"/>
                </a:ext>
              </a:extLst>
            </p:cNvPr>
            <p:cNvSpPr txBox="1">
              <a:spLocks/>
            </p:cNvSpPr>
            <p:nvPr/>
          </p:nvSpPr>
          <p:spPr>
            <a:xfrm>
              <a:off x="2712993" y="7918286"/>
              <a:ext cx="1993957" cy="1069158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9761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952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49283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990447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488060" algn="l" defTabSz="995225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985671" algn="l" defTabSz="995225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483286" algn="l" defTabSz="995225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980897" algn="l" defTabSz="995225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marL="84138" indent="-84138" latinLnBrk="0">
                <a:lnSpc>
                  <a:spcPct val="120000"/>
                </a:lnSpc>
                <a:spcAft>
                  <a:spcPts val="300"/>
                </a:spcAft>
                <a:buClr>
                  <a:srgbClr val="969696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ko-KR" altLang="en-US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단순 장애 처리 개념이 아닌 예방 및 개선에 초점을 맞춘 서비스 운영 체계 도입</a:t>
              </a:r>
              <a:endParaRPr lang="en-US" altLang="ko-KR" sz="1050" dirty="0">
                <a:ln>
                  <a:solidFill>
                    <a:srgbClr val="969696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endParaRPr>
            </a:p>
            <a:p>
              <a:pPr marL="84138" indent="-84138" latinLnBrk="0">
                <a:lnSpc>
                  <a:spcPct val="120000"/>
                </a:lnSpc>
                <a:spcAft>
                  <a:spcPts val="300"/>
                </a:spcAft>
                <a:buClr>
                  <a:srgbClr val="969696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ko-KR" altLang="en-US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최신 </a:t>
              </a:r>
              <a:r>
                <a:rPr lang="en-US" altLang="ko-KR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IT Trend </a:t>
              </a:r>
              <a:r>
                <a:rPr lang="ko-KR" altLang="en-US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적용 및 타 사업 기술지원 등의 유지관리 포인트 증가에 따른 강화된 관리체계 확립</a:t>
              </a:r>
              <a:endParaRPr lang="en-US" altLang="ko-KR" sz="1050" dirty="0">
                <a:ln>
                  <a:solidFill>
                    <a:srgbClr val="969696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endParaRPr>
            </a:p>
          </p:txBody>
        </p:sp>
        <p:sp>
          <p:nvSpPr>
            <p:cNvPr id="130" name="제목 3">
              <a:extLst>
                <a:ext uri="{FF2B5EF4-FFF2-40B4-BE49-F238E27FC236}">
                  <a16:creationId xmlns:a16="http://schemas.microsoft.com/office/drawing/2014/main" id="{820C4D9C-0A2E-C62D-FC6B-894E4F41829C}"/>
                </a:ext>
              </a:extLst>
            </p:cNvPr>
            <p:cNvSpPr txBox="1">
              <a:spLocks/>
            </p:cNvSpPr>
            <p:nvPr/>
          </p:nvSpPr>
          <p:spPr>
            <a:xfrm>
              <a:off x="5002194" y="7918286"/>
              <a:ext cx="1993957" cy="1277909"/>
            </a:xfrm>
            <a:prstGeom prst="rect">
              <a:avLst/>
            </a:prstGeom>
            <a:ln>
              <a:noFill/>
            </a:ln>
          </p:spPr>
          <p:txBody>
            <a:bodyPr wrap="square" lIns="0" tIns="0" rIns="0" bIns="0" anchor="t" anchorCtr="0">
              <a:spAutoFit/>
            </a:bodyPr>
            <a:lstStyle>
              <a:defPPr>
                <a:defRPr lang="ko-KR"/>
              </a:defPPr>
              <a:lvl1pPr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1pPr>
              <a:lvl2pPr marL="497612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2pPr>
              <a:lvl3pPr marL="995225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3pPr>
              <a:lvl4pPr marL="1492836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4pPr>
              <a:lvl5pPr marL="1990447" algn="l" rtl="0" fontAlgn="base" latinLnBrk="1">
                <a:spcBef>
                  <a:spcPct val="0"/>
                </a:spcBef>
                <a:spcAft>
                  <a:spcPct val="0"/>
                </a:spcAft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5pPr>
              <a:lvl6pPr marL="2488060" algn="l" defTabSz="995225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6pPr>
              <a:lvl7pPr marL="2985671" algn="l" defTabSz="995225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7pPr>
              <a:lvl8pPr marL="3483286" algn="l" defTabSz="995225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8pPr>
              <a:lvl9pPr marL="3980897" algn="l" defTabSz="995225" rtl="0" eaLnBrk="1" latinLnBrk="1" hangingPunct="1">
                <a:defRPr kumimoji="1" kern="1200">
                  <a:solidFill>
                    <a:schemeClr val="tx1"/>
                  </a:solidFill>
                  <a:latin typeface="굴림" charset="-127"/>
                  <a:ea typeface="굴림" charset="-127"/>
                  <a:cs typeface="+mn-cs"/>
                </a:defRPr>
              </a:lvl9pPr>
            </a:lstStyle>
            <a:p>
              <a:pPr marL="84138" indent="-84138" latinLnBrk="0">
                <a:lnSpc>
                  <a:spcPct val="120000"/>
                </a:lnSpc>
                <a:spcAft>
                  <a:spcPts val="300"/>
                </a:spcAft>
                <a:buClr>
                  <a:srgbClr val="969696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en-US" altLang="ko-KR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SLA</a:t>
              </a:r>
              <a:r>
                <a:rPr lang="ko-KR" altLang="en-US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서비스 적용을 통해 서비스 수준 관리 강화</a:t>
              </a:r>
              <a:endParaRPr lang="en-US" altLang="ko-KR" sz="1050" dirty="0">
                <a:ln>
                  <a:solidFill>
                    <a:srgbClr val="969696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endParaRPr>
            </a:p>
            <a:p>
              <a:pPr marL="84138" indent="-84138" latinLnBrk="0">
                <a:lnSpc>
                  <a:spcPct val="120000"/>
                </a:lnSpc>
                <a:spcAft>
                  <a:spcPts val="300"/>
                </a:spcAft>
                <a:buClr>
                  <a:srgbClr val="969696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ko-KR" altLang="en-US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품질</a:t>
              </a:r>
              <a:r>
                <a:rPr lang="en-US" altLang="ko-KR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 </a:t>
              </a:r>
              <a:r>
                <a:rPr lang="ko-KR" altLang="en-US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및 보안 관리자 지정을 통한 품질 수준 제고</a:t>
              </a:r>
              <a:endParaRPr lang="en-US" altLang="ko-KR" sz="1050" dirty="0">
                <a:ln>
                  <a:solidFill>
                    <a:srgbClr val="969696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endParaRPr>
            </a:p>
            <a:p>
              <a:pPr marL="84138" indent="-84138" latinLnBrk="0">
                <a:lnSpc>
                  <a:spcPct val="120000"/>
                </a:lnSpc>
                <a:spcAft>
                  <a:spcPts val="300"/>
                </a:spcAft>
                <a:buClr>
                  <a:srgbClr val="969696"/>
                </a:buClr>
                <a:buSzPct val="100000"/>
                <a:buFont typeface="Arial" panose="020B0604020202020204" pitchFamily="34" charset="0"/>
                <a:buChar char="•"/>
                <a:defRPr/>
              </a:pPr>
              <a:r>
                <a:rPr lang="ko-KR" altLang="en-US" sz="1050" dirty="0">
                  <a:ln>
                    <a:solidFill>
                      <a:srgbClr val="969696">
                        <a:alpha val="0"/>
                      </a:srgb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전산자원의 체계적인 보호 관리 및 보안 취약점 점검을 통한 정보체계 보안 강화</a:t>
              </a:r>
              <a:endParaRPr lang="en-US" altLang="ko-KR" sz="1050" dirty="0">
                <a:ln>
                  <a:solidFill>
                    <a:srgbClr val="969696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endParaRPr>
            </a:p>
          </p:txBody>
        </p:sp>
      </p:grpSp>
      <p:grpSp>
        <p:nvGrpSpPr>
          <p:cNvPr id="149" name="그룹 148">
            <a:extLst>
              <a:ext uri="{FF2B5EF4-FFF2-40B4-BE49-F238E27FC236}">
                <a16:creationId xmlns:a16="http://schemas.microsoft.com/office/drawing/2014/main" id="{E9E4A0C0-C477-F224-94FC-FC4A1E6D0ADD}"/>
              </a:ext>
            </a:extLst>
          </p:cNvPr>
          <p:cNvGrpSpPr/>
          <p:nvPr/>
        </p:nvGrpSpPr>
        <p:grpSpPr>
          <a:xfrm>
            <a:off x="636605" y="3741298"/>
            <a:ext cx="6554171" cy="1299182"/>
            <a:chOff x="475629" y="5695046"/>
            <a:chExt cx="6480490" cy="1290290"/>
          </a:xfrm>
        </p:grpSpPr>
        <p:cxnSp>
          <p:nvCxnSpPr>
            <p:cNvPr id="150" name="직선 연결선 149">
              <a:extLst>
                <a:ext uri="{FF2B5EF4-FFF2-40B4-BE49-F238E27FC236}">
                  <a16:creationId xmlns:a16="http://schemas.microsoft.com/office/drawing/2014/main" id="{FFEB17D1-1F2B-EC6D-F68E-0079E5F3214C}"/>
                </a:ext>
              </a:extLst>
            </p:cNvPr>
            <p:cNvCxnSpPr/>
            <p:nvPr/>
          </p:nvCxnSpPr>
          <p:spPr bwMode="auto">
            <a:xfrm>
              <a:off x="475629" y="6340190"/>
              <a:ext cx="6480490" cy="0"/>
            </a:xfrm>
            <a:prstGeom prst="line">
              <a:avLst/>
            </a:prstGeom>
            <a:noFill/>
            <a:ln w="15875">
              <a:solidFill>
                <a:schemeClr val="accent1">
                  <a:lumMod val="75000"/>
                </a:schemeClr>
              </a:solidFill>
              <a:prstDash val="sysDot"/>
              <a:round/>
              <a:headEnd type="oval" w="sm" len="sm"/>
              <a:tailEnd type="oval" w="sm" len="sm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cxnSp>
        <p:grpSp>
          <p:nvGrpSpPr>
            <p:cNvPr id="151" name="그룹 150">
              <a:extLst>
                <a:ext uri="{FF2B5EF4-FFF2-40B4-BE49-F238E27FC236}">
                  <a16:creationId xmlns:a16="http://schemas.microsoft.com/office/drawing/2014/main" id="{1D7C54B9-56E5-C4CD-DB5F-3FFAAB5D3CB3}"/>
                </a:ext>
              </a:extLst>
            </p:cNvPr>
            <p:cNvGrpSpPr/>
            <p:nvPr/>
          </p:nvGrpSpPr>
          <p:grpSpPr>
            <a:xfrm>
              <a:off x="697908" y="5695046"/>
              <a:ext cx="1289069" cy="1290290"/>
              <a:chOff x="959746" y="2911197"/>
              <a:chExt cx="395893" cy="395893"/>
            </a:xfrm>
          </p:grpSpPr>
          <p:sp>
            <p:nvSpPr>
              <p:cNvPr id="162" name="타원 161">
                <a:extLst>
                  <a:ext uri="{FF2B5EF4-FFF2-40B4-BE49-F238E27FC236}">
                    <a16:creationId xmlns:a16="http://schemas.microsoft.com/office/drawing/2014/main" id="{B50FEF16-14C7-18FD-455B-D7EABD634884}"/>
                  </a:ext>
                </a:extLst>
              </p:cNvPr>
              <p:cNvSpPr/>
              <p:nvPr/>
            </p:nvSpPr>
            <p:spPr>
              <a:xfrm>
                <a:off x="959746" y="2911197"/>
                <a:ext cx="395893" cy="395893"/>
              </a:xfrm>
              <a:prstGeom prst="ellipse">
                <a:avLst/>
              </a:prstGeom>
              <a:solidFill>
                <a:schemeClr val="bg1"/>
              </a:solidFill>
              <a:ln w="31750">
                <a:gradFill>
                  <a:gsLst>
                    <a:gs pos="50000">
                      <a:srgbClr val="C1ECF5"/>
                    </a:gs>
                    <a:gs pos="50000">
                      <a:srgbClr val="007BC0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solidFill>
                    <a:schemeClr val="lt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63" name="Text Box 432">
                <a:extLst>
                  <a:ext uri="{FF2B5EF4-FFF2-40B4-BE49-F238E27FC236}">
                    <a16:creationId xmlns:a16="http://schemas.microsoft.com/office/drawing/2014/main" id="{B04A5856-A6A6-E7C0-55A3-EA11884E2DC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06585" y="3038919"/>
                <a:ext cx="302188" cy="1404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marL="0" algn="ctr" defTabSz="914400" eaLnBrk="1" latinLnBrk="0" hangingPunct="1">
                  <a:lnSpc>
                    <a:spcPct val="90000"/>
                  </a:lnSpc>
                  <a:buClr>
                    <a:srgbClr val="CC0000"/>
                  </a:buClr>
                  <a:buSzPct val="70000"/>
                  <a:defRPr sz="1050" spc="-8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10800000" scaled="1"/>
                    </a:gradFill>
                    <a:latin typeface="Rix고딕 B" pitchFamily="18" charset="-127"/>
                    <a:ea typeface="Rix고딕 B" pitchFamily="18" charset="-127"/>
                  </a:defRPr>
                </a:lvl1pPr>
                <a:lvl2pPr marL="457200" defTabSz="914400" eaLnBrk="1" hangingPunct="1">
                  <a:defRPr sz="1800">
                    <a:latin typeface="+mn-lt"/>
                    <a:ea typeface="+mn-ea"/>
                  </a:defRPr>
                </a:lvl2pPr>
                <a:lvl3pPr marL="914400" defTabSz="914400" eaLnBrk="1" hangingPunct="1">
                  <a:defRPr sz="1800">
                    <a:latin typeface="+mn-lt"/>
                    <a:ea typeface="+mn-ea"/>
                  </a:defRPr>
                </a:lvl3pPr>
                <a:lvl4pPr marL="1371600" defTabSz="914400" eaLnBrk="1" hangingPunct="1">
                  <a:defRPr sz="1800">
                    <a:latin typeface="+mn-lt"/>
                    <a:ea typeface="+mn-ea"/>
                  </a:defRPr>
                </a:lvl4pPr>
                <a:lvl5pPr marL="1828800" defTabSz="914400" eaLnBrk="1" hangingPunct="1">
                  <a:defRPr sz="1800">
                    <a:latin typeface="+mn-lt"/>
                    <a:ea typeface="+mn-ea"/>
                  </a:defRPr>
                </a:lvl5pPr>
                <a:lvl6pPr marL="2286000" defTabSz="914400">
                  <a:defRPr sz="1800">
                    <a:latin typeface="+mn-lt"/>
                    <a:ea typeface="+mn-ea"/>
                  </a:defRPr>
                </a:lvl6pPr>
                <a:lvl7pPr marL="2743200" defTabSz="914400">
                  <a:defRPr sz="1800">
                    <a:latin typeface="+mn-lt"/>
                    <a:ea typeface="+mn-ea"/>
                  </a:defRPr>
                </a:lvl7pPr>
                <a:lvl8pPr marL="3200400" defTabSz="914400">
                  <a:defRPr sz="1800">
                    <a:latin typeface="+mn-lt"/>
                    <a:ea typeface="+mn-ea"/>
                  </a:defRPr>
                </a:lvl8pPr>
                <a:lvl9pPr marL="3657600" defTabSz="914400">
                  <a:defRPr sz="1800">
                    <a:latin typeface="+mn-lt"/>
                    <a:ea typeface="+mn-ea"/>
                  </a:defRPr>
                </a:lvl9pPr>
              </a:lstStyle>
              <a:p>
                <a:pPr defTabSz="1500188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808080"/>
                  </a:buClr>
                  <a:buSzPct val="100000"/>
                  <a:defRPr/>
                </a:pPr>
                <a:r>
                  <a:rPr lang="ko-KR" altLang="en-US" b="1" spc="-4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선제적 장애 관리 및</a:t>
                </a:r>
                <a:endParaRPr lang="en-US" altLang="ko-KR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pPr defTabSz="1500188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808080"/>
                  </a:buClr>
                  <a:buSzPct val="100000"/>
                  <a:defRPr/>
                </a:pPr>
                <a:r>
                  <a:rPr lang="ko-KR" altLang="en-US" b="1" spc="-4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신속한 장애 처리</a:t>
                </a:r>
              </a:p>
            </p:txBody>
          </p:sp>
        </p:grpSp>
        <p:grpSp>
          <p:nvGrpSpPr>
            <p:cNvPr id="152" name="그룹 151">
              <a:extLst>
                <a:ext uri="{FF2B5EF4-FFF2-40B4-BE49-F238E27FC236}">
                  <a16:creationId xmlns:a16="http://schemas.microsoft.com/office/drawing/2014/main" id="{699C2690-D5F6-E9C5-6B31-3BF4400C9C96}"/>
                </a:ext>
              </a:extLst>
            </p:cNvPr>
            <p:cNvGrpSpPr/>
            <p:nvPr/>
          </p:nvGrpSpPr>
          <p:grpSpPr>
            <a:xfrm>
              <a:off x="2295860" y="5695046"/>
              <a:ext cx="1289066" cy="1290290"/>
              <a:chOff x="1026610" y="2911197"/>
              <a:chExt cx="395893" cy="395893"/>
            </a:xfrm>
          </p:grpSpPr>
          <p:sp>
            <p:nvSpPr>
              <p:cNvPr id="159" name="타원 158">
                <a:extLst>
                  <a:ext uri="{FF2B5EF4-FFF2-40B4-BE49-F238E27FC236}">
                    <a16:creationId xmlns:a16="http://schemas.microsoft.com/office/drawing/2014/main" id="{DAE67BC9-E0A1-72ED-B238-07A66586C60B}"/>
                  </a:ext>
                </a:extLst>
              </p:cNvPr>
              <p:cNvSpPr/>
              <p:nvPr/>
            </p:nvSpPr>
            <p:spPr>
              <a:xfrm>
                <a:off x="1026610" y="2911197"/>
                <a:ext cx="395893" cy="395893"/>
              </a:xfrm>
              <a:prstGeom prst="ellipse">
                <a:avLst/>
              </a:prstGeom>
              <a:solidFill>
                <a:schemeClr val="bg1"/>
              </a:solidFill>
              <a:ln w="31750">
                <a:gradFill>
                  <a:gsLst>
                    <a:gs pos="50000">
                      <a:srgbClr val="C1ECF5"/>
                    </a:gs>
                    <a:gs pos="50000">
                      <a:srgbClr val="007BC0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solidFill>
                    <a:schemeClr val="lt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60" name="Text Box 432">
                <a:extLst>
                  <a:ext uri="{FF2B5EF4-FFF2-40B4-BE49-F238E27FC236}">
                    <a16:creationId xmlns:a16="http://schemas.microsoft.com/office/drawing/2014/main" id="{5A7B14CC-670B-E722-0498-5D0A9DC0179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74200" y="3038919"/>
                <a:ext cx="300729" cy="1404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marL="0" algn="ctr" defTabSz="914400" eaLnBrk="1" latinLnBrk="0" hangingPunct="1">
                  <a:lnSpc>
                    <a:spcPct val="90000"/>
                  </a:lnSpc>
                  <a:buClr>
                    <a:srgbClr val="CC0000"/>
                  </a:buClr>
                  <a:buSzPct val="70000"/>
                  <a:defRPr sz="1050" spc="-8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10800000" scaled="1"/>
                    </a:gradFill>
                    <a:latin typeface="Rix고딕 B" pitchFamily="18" charset="-127"/>
                    <a:ea typeface="Rix고딕 B" pitchFamily="18" charset="-127"/>
                  </a:defRPr>
                </a:lvl1pPr>
                <a:lvl2pPr marL="457200" defTabSz="914400" eaLnBrk="1" hangingPunct="1">
                  <a:defRPr sz="1800">
                    <a:latin typeface="+mn-lt"/>
                    <a:ea typeface="+mn-ea"/>
                  </a:defRPr>
                </a:lvl2pPr>
                <a:lvl3pPr marL="914400" defTabSz="914400" eaLnBrk="1" hangingPunct="1">
                  <a:defRPr sz="1800">
                    <a:latin typeface="+mn-lt"/>
                    <a:ea typeface="+mn-ea"/>
                  </a:defRPr>
                </a:lvl3pPr>
                <a:lvl4pPr marL="1371600" defTabSz="914400" eaLnBrk="1" hangingPunct="1">
                  <a:defRPr sz="1800">
                    <a:latin typeface="+mn-lt"/>
                    <a:ea typeface="+mn-ea"/>
                  </a:defRPr>
                </a:lvl4pPr>
                <a:lvl5pPr marL="1828800" defTabSz="914400" eaLnBrk="1" hangingPunct="1">
                  <a:defRPr sz="1800">
                    <a:latin typeface="+mn-lt"/>
                    <a:ea typeface="+mn-ea"/>
                  </a:defRPr>
                </a:lvl5pPr>
                <a:lvl6pPr marL="2286000" defTabSz="914400">
                  <a:defRPr sz="1800">
                    <a:latin typeface="+mn-lt"/>
                    <a:ea typeface="+mn-ea"/>
                  </a:defRPr>
                </a:lvl6pPr>
                <a:lvl7pPr marL="2743200" defTabSz="914400">
                  <a:defRPr sz="1800">
                    <a:latin typeface="+mn-lt"/>
                    <a:ea typeface="+mn-ea"/>
                  </a:defRPr>
                </a:lvl7pPr>
                <a:lvl8pPr marL="3200400" defTabSz="914400">
                  <a:defRPr sz="1800">
                    <a:latin typeface="+mn-lt"/>
                    <a:ea typeface="+mn-ea"/>
                  </a:defRPr>
                </a:lvl8pPr>
                <a:lvl9pPr marL="3657600" defTabSz="914400">
                  <a:defRPr sz="1800">
                    <a:latin typeface="+mn-lt"/>
                    <a:ea typeface="+mn-ea"/>
                  </a:defRPr>
                </a:lvl9pPr>
              </a:lstStyle>
              <a:p>
                <a:pPr defTabSz="1500188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808080"/>
                  </a:buClr>
                  <a:buSzPct val="100000"/>
                  <a:defRPr/>
                </a:pPr>
                <a:r>
                  <a:rPr lang="en-US" altLang="ko-KR" b="1" spc="-4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SLA</a:t>
                </a:r>
                <a:r>
                  <a:rPr lang="ko-KR" altLang="en-US" b="1" spc="-4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기반 운영 체계</a:t>
                </a:r>
                <a:endParaRPr lang="en-US" altLang="ko-KR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pPr defTabSz="1500188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808080"/>
                  </a:buClr>
                  <a:buSzPct val="100000"/>
                  <a:defRPr/>
                </a:pPr>
                <a:r>
                  <a:rPr lang="ko-KR" altLang="en-US" b="1" spc="-4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마련 및 적용</a:t>
                </a:r>
                <a:endParaRPr lang="en-US" altLang="ko-KR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153" name="그룹 152">
              <a:extLst>
                <a:ext uri="{FF2B5EF4-FFF2-40B4-BE49-F238E27FC236}">
                  <a16:creationId xmlns:a16="http://schemas.microsoft.com/office/drawing/2014/main" id="{C4FC4BD6-6C6B-B6CA-414F-A1A7E0178CD5}"/>
                </a:ext>
              </a:extLst>
            </p:cNvPr>
            <p:cNvGrpSpPr/>
            <p:nvPr/>
          </p:nvGrpSpPr>
          <p:grpSpPr>
            <a:xfrm>
              <a:off x="3893809" y="5695046"/>
              <a:ext cx="1289068" cy="1290290"/>
              <a:chOff x="1026610" y="2911197"/>
              <a:chExt cx="395893" cy="395893"/>
            </a:xfrm>
          </p:grpSpPr>
          <p:sp>
            <p:nvSpPr>
              <p:cNvPr id="157" name="타원 156">
                <a:extLst>
                  <a:ext uri="{FF2B5EF4-FFF2-40B4-BE49-F238E27FC236}">
                    <a16:creationId xmlns:a16="http://schemas.microsoft.com/office/drawing/2014/main" id="{F0531DD5-583D-4F69-A56F-91F1DB156D97}"/>
                  </a:ext>
                </a:extLst>
              </p:cNvPr>
              <p:cNvSpPr/>
              <p:nvPr/>
            </p:nvSpPr>
            <p:spPr>
              <a:xfrm>
                <a:off x="1026610" y="2911197"/>
                <a:ext cx="395893" cy="395893"/>
              </a:xfrm>
              <a:prstGeom prst="ellipse">
                <a:avLst/>
              </a:prstGeom>
              <a:solidFill>
                <a:schemeClr val="bg1"/>
              </a:solidFill>
              <a:ln w="31750">
                <a:gradFill>
                  <a:gsLst>
                    <a:gs pos="50000">
                      <a:srgbClr val="C1ECF5"/>
                    </a:gs>
                    <a:gs pos="50000">
                      <a:srgbClr val="007BC0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solidFill>
                    <a:schemeClr val="lt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58" name="Text Box 432">
                <a:extLst>
                  <a:ext uri="{FF2B5EF4-FFF2-40B4-BE49-F238E27FC236}">
                    <a16:creationId xmlns:a16="http://schemas.microsoft.com/office/drawing/2014/main" id="{0FF375AF-946B-6336-2952-70D9BB6D99D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91372" y="3038918"/>
                <a:ext cx="266362" cy="1404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marL="0" algn="ctr" defTabSz="914400" eaLnBrk="1" latinLnBrk="0" hangingPunct="1">
                  <a:lnSpc>
                    <a:spcPct val="90000"/>
                  </a:lnSpc>
                  <a:buClr>
                    <a:srgbClr val="CC0000"/>
                  </a:buClr>
                  <a:buSzPct val="70000"/>
                  <a:defRPr sz="1050" spc="-8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10800000" scaled="1"/>
                    </a:gradFill>
                    <a:latin typeface="Rix고딕 B" pitchFamily="18" charset="-127"/>
                    <a:ea typeface="Rix고딕 B" pitchFamily="18" charset="-127"/>
                  </a:defRPr>
                </a:lvl1pPr>
                <a:lvl2pPr marL="457200" defTabSz="914400" eaLnBrk="1" hangingPunct="1">
                  <a:defRPr sz="1800">
                    <a:latin typeface="+mn-lt"/>
                    <a:ea typeface="+mn-ea"/>
                  </a:defRPr>
                </a:lvl2pPr>
                <a:lvl3pPr marL="914400" defTabSz="914400" eaLnBrk="1" hangingPunct="1">
                  <a:defRPr sz="1800">
                    <a:latin typeface="+mn-lt"/>
                    <a:ea typeface="+mn-ea"/>
                  </a:defRPr>
                </a:lvl3pPr>
                <a:lvl4pPr marL="1371600" defTabSz="914400" eaLnBrk="1" hangingPunct="1">
                  <a:defRPr sz="1800">
                    <a:latin typeface="+mn-lt"/>
                    <a:ea typeface="+mn-ea"/>
                  </a:defRPr>
                </a:lvl4pPr>
                <a:lvl5pPr marL="1828800" defTabSz="914400" eaLnBrk="1" hangingPunct="1">
                  <a:defRPr sz="1800">
                    <a:latin typeface="+mn-lt"/>
                    <a:ea typeface="+mn-ea"/>
                  </a:defRPr>
                </a:lvl5pPr>
                <a:lvl6pPr marL="2286000" defTabSz="914400">
                  <a:defRPr sz="1800">
                    <a:latin typeface="+mn-lt"/>
                    <a:ea typeface="+mn-ea"/>
                  </a:defRPr>
                </a:lvl6pPr>
                <a:lvl7pPr marL="2743200" defTabSz="914400">
                  <a:defRPr sz="1800">
                    <a:latin typeface="+mn-lt"/>
                    <a:ea typeface="+mn-ea"/>
                  </a:defRPr>
                </a:lvl7pPr>
                <a:lvl8pPr marL="3200400" defTabSz="914400">
                  <a:defRPr sz="1800">
                    <a:latin typeface="+mn-lt"/>
                    <a:ea typeface="+mn-ea"/>
                  </a:defRPr>
                </a:lvl8pPr>
                <a:lvl9pPr marL="3657600" defTabSz="914400">
                  <a:defRPr sz="1800">
                    <a:latin typeface="+mn-lt"/>
                    <a:ea typeface="+mn-ea"/>
                  </a:defRPr>
                </a:lvl9pPr>
              </a:lstStyle>
              <a:p>
                <a:pPr defTabSz="1500188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808080"/>
                  </a:buClr>
                  <a:buSzPct val="100000"/>
                  <a:defRPr/>
                </a:pPr>
                <a:r>
                  <a:rPr lang="ko-KR" altLang="en-US" b="1" spc="-4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업무 정보체계</a:t>
                </a:r>
                <a:endParaRPr lang="en-US" altLang="ko-KR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pPr defTabSz="1500188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808080"/>
                  </a:buClr>
                  <a:buSzPct val="100000"/>
                  <a:defRPr/>
                </a:pPr>
                <a:r>
                  <a:rPr lang="ko-KR" altLang="en-US" b="1" spc="-4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체계적 유지 관리</a:t>
                </a:r>
              </a:p>
            </p:txBody>
          </p:sp>
        </p:grpSp>
        <p:grpSp>
          <p:nvGrpSpPr>
            <p:cNvPr id="154" name="그룹 153">
              <a:extLst>
                <a:ext uri="{FF2B5EF4-FFF2-40B4-BE49-F238E27FC236}">
                  <a16:creationId xmlns:a16="http://schemas.microsoft.com/office/drawing/2014/main" id="{502F2E5A-0B0A-F142-204C-DBBA2958A421}"/>
                </a:ext>
              </a:extLst>
            </p:cNvPr>
            <p:cNvGrpSpPr/>
            <p:nvPr/>
          </p:nvGrpSpPr>
          <p:grpSpPr>
            <a:xfrm>
              <a:off x="5491760" y="5695046"/>
              <a:ext cx="1289068" cy="1290290"/>
              <a:chOff x="1026610" y="2911197"/>
              <a:chExt cx="395893" cy="395893"/>
            </a:xfrm>
          </p:grpSpPr>
          <p:sp>
            <p:nvSpPr>
              <p:cNvPr id="155" name="타원 154">
                <a:extLst>
                  <a:ext uri="{FF2B5EF4-FFF2-40B4-BE49-F238E27FC236}">
                    <a16:creationId xmlns:a16="http://schemas.microsoft.com/office/drawing/2014/main" id="{04F34EFE-C52D-8628-BFD0-025522788FCE}"/>
                  </a:ext>
                </a:extLst>
              </p:cNvPr>
              <p:cNvSpPr/>
              <p:nvPr/>
            </p:nvSpPr>
            <p:spPr>
              <a:xfrm>
                <a:off x="1026610" y="2911197"/>
                <a:ext cx="395893" cy="395893"/>
              </a:xfrm>
              <a:prstGeom prst="ellipse">
                <a:avLst/>
              </a:prstGeom>
              <a:solidFill>
                <a:schemeClr val="bg1"/>
              </a:solidFill>
              <a:ln w="31750">
                <a:gradFill>
                  <a:gsLst>
                    <a:gs pos="50000">
                      <a:srgbClr val="C1ECF5"/>
                    </a:gs>
                    <a:gs pos="50000">
                      <a:srgbClr val="007BC0"/>
                    </a:gs>
                  </a:gsLst>
                  <a:lin ang="5400000" scaled="1"/>
                </a:gra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dirty="0">
                  <a:solidFill>
                    <a:schemeClr val="lt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56" name="Text Box 432">
                <a:extLst>
                  <a:ext uri="{FF2B5EF4-FFF2-40B4-BE49-F238E27FC236}">
                    <a16:creationId xmlns:a16="http://schemas.microsoft.com/office/drawing/2014/main" id="{7C90EF51-45EE-780B-6105-4F4C0E93D8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66595" y="3038918"/>
                <a:ext cx="315916" cy="1404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lIns="0" tIns="0" rIns="0" bIns="0" anchor="ctr">
                <a:spAutoFit/>
              </a:bodyPr>
              <a:lstStyle>
                <a:defPPr>
                  <a:defRPr lang="ko-KR"/>
                </a:defPPr>
                <a:lvl1pPr marL="0" algn="ctr" defTabSz="914400" eaLnBrk="1" latinLnBrk="0" hangingPunct="1">
                  <a:lnSpc>
                    <a:spcPct val="90000"/>
                  </a:lnSpc>
                  <a:buClr>
                    <a:srgbClr val="CC0000"/>
                  </a:buClr>
                  <a:buSzPct val="70000"/>
                  <a:defRPr sz="1050" spc="-80">
                    <a:gradFill>
                      <a:gsLst>
                        <a:gs pos="0">
                          <a:schemeClr val="bg1"/>
                        </a:gs>
                        <a:gs pos="100000">
                          <a:schemeClr val="bg1"/>
                        </a:gs>
                      </a:gsLst>
                      <a:lin ang="10800000" scaled="1"/>
                    </a:gradFill>
                    <a:latin typeface="Rix고딕 B" pitchFamily="18" charset="-127"/>
                    <a:ea typeface="Rix고딕 B" pitchFamily="18" charset="-127"/>
                  </a:defRPr>
                </a:lvl1pPr>
                <a:lvl2pPr marL="457200" defTabSz="914400" eaLnBrk="1" hangingPunct="1">
                  <a:defRPr sz="1800">
                    <a:latin typeface="+mn-lt"/>
                    <a:ea typeface="+mn-ea"/>
                  </a:defRPr>
                </a:lvl2pPr>
                <a:lvl3pPr marL="914400" defTabSz="914400" eaLnBrk="1" hangingPunct="1">
                  <a:defRPr sz="1800">
                    <a:latin typeface="+mn-lt"/>
                    <a:ea typeface="+mn-ea"/>
                  </a:defRPr>
                </a:lvl3pPr>
                <a:lvl4pPr marL="1371600" defTabSz="914400" eaLnBrk="1" hangingPunct="1">
                  <a:defRPr sz="1800">
                    <a:latin typeface="+mn-lt"/>
                    <a:ea typeface="+mn-ea"/>
                  </a:defRPr>
                </a:lvl4pPr>
                <a:lvl5pPr marL="1828800" defTabSz="914400" eaLnBrk="1" hangingPunct="1">
                  <a:defRPr sz="1800">
                    <a:latin typeface="+mn-lt"/>
                    <a:ea typeface="+mn-ea"/>
                  </a:defRPr>
                </a:lvl5pPr>
                <a:lvl6pPr marL="2286000" defTabSz="914400">
                  <a:defRPr sz="1800">
                    <a:latin typeface="+mn-lt"/>
                    <a:ea typeface="+mn-ea"/>
                  </a:defRPr>
                </a:lvl6pPr>
                <a:lvl7pPr marL="2743200" defTabSz="914400">
                  <a:defRPr sz="1800">
                    <a:latin typeface="+mn-lt"/>
                    <a:ea typeface="+mn-ea"/>
                  </a:defRPr>
                </a:lvl7pPr>
                <a:lvl8pPr marL="3200400" defTabSz="914400">
                  <a:defRPr sz="1800">
                    <a:latin typeface="+mn-lt"/>
                    <a:ea typeface="+mn-ea"/>
                  </a:defRPr>
                </a:lvl8pPr>
                <a:lvl9pPr marL="3657600" defTabSz="914400">
                  <a:defRPr sz="1800">
                    <a:latin typeface="+mn-lt"/>
                    <a:ea typeface="+mn-ea"/>
                  </a:defRPr>
                </a:lvl9pPr>
              </a:lstStyle>
              <a:p>
                <a:pPr defTabSz="1500188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808080"/>
                  </a:buClr>
                  <a:buSzPct val="100000"/>
                  <a:defRPr/>
                </a:pPr>
                <a:r>
                  <a:rPr lang="ko-KR" altLang="en-US" b="1" spc="-4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선진운영체계 도입을</a:t>
                </a:r>
                <a:endParaRPr lang="en-US" altLang="ko-KR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pPr defTabSz="1500188" fontAlgn="base">
                  <a:lnSpc>
                    <a:spcPct val="15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808080"/>
                  </a:buClr>
                  <a:buSzPct val="100000"/>
                  <a:defRPr/>
                </a:pPr>
                <a:r>
                  <a:rPr lang="ko-KR" altLang="en-US" b="1" spc="-4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5400000" scaled="0"/>
                    </a:gra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통한 관리 고도화</a:t>
                </a:r>
              </a:p>
            </p:txBody>
          </p:sp>
        </p:grpSp>
      </p:grpSp>
      <p:grpSp>
        <p:nvGrpSpPr>
          <p:cNvPr id="164" name="그룹 163">
            <a:extLst>
              <a:ext uri="{FF2B5EF4-FFF2-40B4-BE49-F238E27FC236}">
                <a16:creationId xmlns:a16="http://schemas.microsoft.com/office/drawing/2014/main" id="{745D20E6-A4B7-358F-66DA-9CBE0F2364EC}"/>
              </a:ext>
            </a:extLst>
          </p:cNvPr>
          <p:cNvGrpSpPr/>
          <p:nvPr/>
        </p:nvGrpSpPr>
        <p:grpSpPr>
          <a:xfrm>
            <a:off x="586084" y="7915962"/>
            <a:ext cx="6614472" cy="1210301"/>
            <a:chOff x="649684" y="5222941"/>
            <a:chExt cx="6479779" cy="1044298"/>
          </a:xfrm>
        </p:grpSpPr>
        <p:sp>
          <p:nvSpPr>
            <p:cNvPr id="165" name="직사각형 164">
              <a:extLst>
                <a:ext uri="{FF2B5EF4-FFF2-40B4-BE49-F238E27FC236}">
                  <a16:creationId xmlns:a16="http://schemas.microsoft.com/office/drawing/2014/main" id="{29DEA947-3D18-9AF1-340A-5BAD2D504F49}"/>
                </a:ext>
              </a:extLst>
            </p:cNvPr>
            <p:cNvSpPr/>
            <p:nvPr/>
          </p:nvSpPr>
          <p:spPr>
            <a:xfrm>
              <a:off x="649684" y="5222941"/>
              <a:ext cx="6479779" cy="960979"/>
            </a:xfrm>
            <a:prstGeom prst="rect">
              <a:avLst/>
            </a:prstGeom>
            <a:solidFill>
              <a:srgbClr val="F8F8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35980" latinLnBrk="0"/>
              <a:endParaRPr lang="ko-KR" altLang="en-US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</a:endParaRPr>
            </a:p>
          </p:txBody>
        </p:sp>
        <p:cxnSp>
          <p:nvCxnSpPr>
            <p:cNvPr id="166" name="직선 연결선 165">
              <a:extLst>
                <a:ext uri="{FF2B5EF4-FFF2-40B4-BE49-F238E27FC236}">
                  <a16:creationId xmlns:a16="http://schemas.microsoft.com/office/drawing/2014/main" id="{19255565-4EFE-1FBF-B5B9-F3E1E89AFE36}"/>
                </a:ext>
              </a:extLst>
            </p:cNvPr>
            <p:cNvCxnSpPr/>
            <p:nvPr/>
          </p:nvCxnSpPr>
          <p:spPr>
            <a:xfrm>
              <a:off x="664182" y="6267239"/>
              <a:ext cx="6450099" cy="0"/>
            </a:xfrm>
            <a:prstGeom prst="line">
              <a:avLst/>
            </a:prstGeom>
            <a:noFill/>
            <a:ln w="19050" cap="flat" cmpd="sng" algn="ctr">
              <a:solidFill>
                <a:srgbClr val="2780B7">
                  <a:alpha val="80000"/>
                </a:srgbClr>
              </a:solidFill>
              <a:prstDash val="solid"/>
            </a:ln>
            <a:effectLst/>
          </p:spPr>
        </p:cxnSp>
      </p:grpSp>
      <p:grpSp>
        <p:nvGrpSpPr>
          <p:cNvPr id="167" name="그룹 166">
            <a:extLst>
              <a:ext uri="{FF2B5EF4-FFF2-40B4-BE49-F238E27FC236}">
                <a16:creationId xmlns:a16="http://schemas.microsoft.com/office/drawing/2014/main" id="{720DCF44-9ACA-75D4-7C40-A25EAB639107}"/>
              </a:ext>
            </a:extLst>
          </p:cNvPr>
          <p:cNvGrpSpPr/>
          <p:nvPr/>
        </p:nvGrpSpPr>
        <p:grpSpPr>
          <a:xfrm>
            <a:off x="706612" y="7326064"/>
            <a:ext cx="6482880" cy="1056447"/>
            <a:chOff x="738541" y="6606778"/>
            <a:chExt cx="6295088" cy="1011484"/>
          </a:xfrm>
        </p:grpSpPr>
        <p:sp>
          <p:nvSpPr>
            <p:cNvPr id="168" name="Rectangle 224" descr="밝은 수평선">
              <a:extLst>
                <a:ext uri="{FF2B5EF4-FFF2-40B4-BE49-F238E27FC236}">
                  <a16:creationId xmlns:a16="http://schemas.microsoft.com/office/drawing/2014/main" id="{AA50301C-638F-3260-E0ED-BD611D3B20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24285" y="6885779"/>
              <a:ext cx="5112568" cy="453484"/>
            </a:xfrm>
            <a:prstGeom prst="rect">
              <a:avLst/>
            </a:prstGeom>
            <a:pattFill prst="ltHorz">
              <a:fgClr>
                <a:srgbClr val="EAEAEA"/>
              </a:fgClr>
              <a:bgClr>
                <a:sysClr val="window" lastClr="FFFFFF"/>
              </a:bgClr>
            </a:pattFill>
            <a:ln>
              <a:noFill/>
            </a:ln>
            <a:effectLst/>
          </p:spPr>
          <p:txBody>
            <a:bodyPr wrap="none" anchor="ctr">
              <a:noAutofit/>
            </a:bodyPr>
            <a:lstStyle>
              <a:lvl1pPr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marL="742950" indent="-28575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marL="11430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marL="16002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marL="2057400" indent="-228600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latinLnBrk="0">
                <a:defRPr/>
              </a:pPr>
              <a:endParaRPr lang="ko-KR" altLang="ko-KR" sz="600" kern="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169" name="그룹 168">
              <a:extLst>
                <a:ext uri="{FF2B5EF4-FFF2-40B4-BE49-F238E27FC236}">
                  <a16:creationId xmlns:a16="http://schemas.microsoft.com/office/drawing/2014/main" id="{C7D1D5B4-D592-1161-144C-9049FAC5B8B9}"/>
                </a:ext>
              </a:extLst>
            </p:cNvPr>
            <p:cNvGrpSpPr/>
            <p:nvPr/>
          </p:nvGrpSpPr>
          <p:grpSpPr>
            <a:xfrm>
              <a:off x="738541" y="7066301"/>
              <a:ext cx="6295088" cy="92439"/>
              <a:chOff x="605052" y="2120991"/>
              <a:chExt cx="5682040" cy="83437"/>
            </a:xfrm>
          </p:grpSpPr>
          <p:sp>
            <p:nvSpPr>
              <p:cNvPr id="211" name="타원 210">
                <a:extLst>
                  <a:ext uri="{FF2B5EF4-FFF2-40B4-BE49-F238E27FC236}">
                    <a16:creationId xmlns:a16="http://schemas.microsoft.com/office/drawing/2014/main" id="{4055D8A8-37C3-86D3-95AE-91DB046575F2}"/>
                  </a:ext>
                </a:extLst>
              </p:cNvPr>
              <p:cNvSpPr/>
              <p:nvPr/>
            </p:nvSpPr>
            <p:spPr>
              <a:xfrm>
                <a:off x="6089147" y="2120991"/>
                <a:ext cx="83437" cy="83437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60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12" name="타원 211">
                <a:extLst>
                  <a:ext uri="{FF2B5EF4-FFF2-40B4-BE49-F238E27FC236}">
                    <a16:creationId xmlns:a16="http://schemas.microsoft.com/office/drawing/2014/main" id="{56B5059C-5B62-7D5F-318E-B992A87E24F6}"/>
                  </a:ext>
                </a:extLst>
              </p:cNvPr>
              <p:cNvSpPr/>
              <p:nvPr/>
            </p:nvSpPr>
            <p:spPr>
              <a:xfrm>
                <a:off x="6203655" y="2120991"/>
                <a:ext cx="83437" cy="83437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60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13" name="타원 212">
                <a:extLst>
                  <a:ext uri="{FF2B5EF4-FFF2-40B4-BE49-F238E27FC236}">
                    <a16:creationId xmlns:a16="http://schemas.microsoft.com/office/drawing/2014/main" id="{DC50CE9B-4531-29EC-46F9-1514EDCDE2CF}"/>
                  </a:ext>
                </a:extLst>
              </p:cNvPr>
              <p:cNvSpPr/>
              <p:nvPr/>
            </p:nvSpPr>
            <p:spPr>
              <a:xfrm>
                <a:off x="605052" y="2120991"/>
                <a:ext cx="83437" cy="83437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60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14" name="타원 213">
                <a:extLst>
                  <a:ext uri="{FF2B5EF4-FFF2-40B4-BE49-F238E27FC236}">
                    <a16:creationId xmlns:a16="http://schemas.microsoft.com/office/drawing/2014/main" id="{5DBED3EC-E181-6037-13B9-BC627ADB6097}"/>
                  </a:ext>
                </a:extLst>
              </p:cNvPr>
              <p:cNvSpPr/>
              <p:nvPr/>
            </p:nvSpPr>
            <p:spPr>
              <a:xfrm>
                <a:off x="719560" y="2120991"/>
                <a:ext cx="83437" cy="83437"/>
              </a:xfrm>
              <a:prstGeom prst="ellipse">
                <a:avLst/>
              </a:prstGeom>
              <a:solidFill>
                <a:schemeClr val="bg1">
                  <a:lumMod val="65000"/>
                </a:schemeClr>
              </a:solidFill>
              <a:ln w="28575">
                <a:solidFill>
                  <a:schemeClr val="bg1"/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60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E4C78F10-F74C-62BD-CD51-8E3A17742876}"/>
                </a:ext>
              </a:extLst>
            </p:cNvPr>
            <p:cNvGrpSpPr/>
            <p:nvPr/>
          </p:nvGrpSpPr>
          <p:grpSpPr>
            <a:xfrm>
              <a:off x="936253" y="6606778"/>
              <a:ext cx="1010570" cy="1011484"/>
              <a:chOff x="989480" y="4122719"/>
              <a:chExt cx="1062034" cy="1062995"/>
            </a:xfrm>
          </p:grpSpPr>
          <p:sp>
            <p:nvSpPr>
              <p:cNvPr id="208" name="타원 4">
                <a:extLst>
                  <a:ext uri="{FF2B5EF4-FFF2-40B4-BE49-F238E27FC236}">
                    <a16:creationId xmlns:a16="http://schemas.microsoft.com/office/drawing/2014/main" id="{2D4EA290-2261-2BAF-1EC1-82E6898A86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9480" y="4122719"/>
                <a:ext cx="1062034" cy="106299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36112" latinLnBrk="0"/>
                <a:endParaRPr lang="ko-KR" altLang="en-US" sz="11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209" name="타원 4">
                <a:extLst>
                  <a:ext uri="{FF2B5EF4-FFF2-40B4-BE49-F238E27FC236}">
                    <a16:creationId xmlns:a16="http://schemas.microsoft.com/office/drawing/2014/main" id="{7A8DA744-6A4A-0176-1254-2B2BF84F87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017" y="4194825"/>
                <a:ext cx="917966" cy="918792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3491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419919" rIns="0" bIns="0" rtlCol="0" anchor="ctr"/>
              <a:lstStyle/>
              <a:p>
                <a:pPr latinLnBrk="0"/>
                <a:endParaRPr lang="ko-KR" altLang="en-US" sz="11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210" name="TextBox 209">
                <a:extLst>
                  <a:ext uri="{FF2B5EF4-FFF2-40B4-BE49-F238E27FC236}">
                    <a16:creationId xmlns:a16="http://schemas.microsoft.com/office/drawing/2014/main" id="{2CF5CC3F-B1A9-3C15-5CD7-F70F241070A3}"/>
                  </a:ext>
                </a:extLst>
              </p:cNvPr>
              <p:cNvSpPr txBox="1"/>
              <p:nvPr/>
            </p:nvSpPr>
            <p:spPr>
              <a:xfrm flipH="1">
                <a:off x="1253378" y="4565186"/>
                <a:ext cx="535246" cy="17806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>
                <a:defPPr>
                  <a:defRPr lang="ko-KR"/>
                </a:defPPr>
                <a:lvl1pPr marL="11113" algn="ctr" defTabSz="1084263" latinLnBrk="0">
                  <a:defRPr kumimoji="1" sz="1100">
                    <a:ln>
                      <a:solidFill>
                        <a:srgbClr val="2FA8E5">
                          <a:alpha val="0"/>
                        </a:srgbClr>
                      </a:solidFill>
                    </a:ln>
                    <a:solidFill>
                      <a:srgbClr val="333333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defRPr>
                </a:lvl1pPr>
              </a:lstStyle>
              <a:p>
                <a:r>
                  <a:rPr lang="ko-KR" altLang="en-US" sz="1150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6699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인수인계</a:t>
                </a:r>
                <a:endParaRPr lang="en-US" altLang="ko-KR" sz="11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6699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grpSp>
          <p:nvGrpSpPr>
            <p:cNvPr id="171" name="그룹 170">
              <a:extLst>
                <a:ext uri="{FF2B5EF4-FFF2-40B4-BE49-F238E27FC236}">
                  <a16:creationId xmlns:a16="http://schemas.microsoft.com/office/drawing/2014/main" id="{9427285F-05FD-0F11-9115-2BC636ED2151}"/>
                </a:ext>
              </a:extLst>
            </p:cNvPr>
            <p:cNvGrpSpPr/>
            <p:nvPr/>
          </p:nvGrpSpPr>
          <p:grpSpPr>
            <a:xfrm>
              <a:off x="3383297" y="6606778"/>
              <a:ext cx="1010570" cy="1011484"/>
              <a:chOff x="989480" y="4122719"/>
              <a:chExt cx="1062034" cy="1062995"/>
            </a:xfrm>
          </p:grpSpPr>
          <p:sp>
            <p:nvSpPr>
              <p:cNvPr id="205" name="타원 4">
                <a:extLst>
                  <a:ext uri="{FF2B5EF4-FFF2-40B4-BE49-F238E27FC236}">
                    <a16:creationId xmlns:a16="http://schemas.microsoft.com/office/drawing/2014/main" id="{67509FFE-95FD-3F3F-40D4-311014871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9480" y="4122719"/>
                <a:ext cx="1062034" cy="106299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36112" latinLnBrk="0"/>
                <a:endParaRPr lang="ko-KR" altLang="en-US" sz="11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206" name="타원 4">
                <a:extLst>
                  <a:ext uri="{FF2B5EF4-FFF2-40B4-BE49-F238E27FC236}">
                    <a16:creationId xmlns:a16="http://schemas.microsoft.com/office/drawing/2014/main" id="{07AC3849-6A29-C6EC-9428-058C51D18A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017" y="4194825"/>
                <a:ext cx="917966" cy="918792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0568B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419919" rIns="0" bIns="0" rtlCol="0" anchor="ctr"/>
              <a:lstStyle/>
              <a:p>
                <a:pPr latinLnBrk="0"/>
                <a:endParaRPr lang="ko-KR" altLang="en-US" sz="11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207" name="TextBox 206">
                <a:extLst>
                  <a:ext uri="{FF2B5EF4-FFF2-40B4-BE49-F238E27FC236}">
                    <a16:creationId xmlns:a16="http://schemas.microsoft.com/office/drawing/2014/main" id="{5A318EAA-1EAB-045B-E1FD-199BF274549B}"/>
                  </a:ext>
                </a:extLst>
              </p:cNvPr>
              <p:cNvSpPr txBox="1"/>
              <p:nvPr/>
            </p:nvSpPr>
            <p:spPr>
              <a:xfrm flipH="1">
                <a:off x="1253377" y="4476153"/>
                <a:ext cx="535246" cy="35613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>
                <a:defPPr>
                  <a:defRPr lang="ko-KR"/>
                </a:defPPr>
                <a:lvl1pPr marL="11113" algn="ctr" defTabSz="1084263" latinLnBrk="0">
                  <a:defRPr kumimoji="1" sz="1100">
                    <a:ln>
                      <a:solidFill>
                        <a:srgbClr val="2FA8E5">
                          <a:alpha val="0"/>
                        </a:srgbClr>
                      </a:solidFill>
                    </a:ln>
                    <a:solidFill>
                      <a:srgbClr val="333333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defRPr>
                </a:lvl1pPr>
              </a:lstStyle>
              <a:p>
                <a:r>
                  <a:rPr lang="ko-KR" altLang="en-US" sz="1150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6699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비상대응</a:t>
                </a:r>
                <a:endParaRPr lang="en-US" altLang="ko-KR" sz="11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6699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r>
                  <a:rPr lang="ko-KR" altLang="en-US" sz="1150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6699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체계</a:t>
                </a:r>
              </a:p>
            </p:txBody>
          </p:sp>
        </p:grpSp>
        <p:grpSp>
          <p:nvGrpSpPr>
            <p:cNvPr id="172" name="그룹 171">
              <a:extLst>
                <a:ext uri="{FF2B5EF4-FFF2-40B4-BE49-F238E27FC236}">
                  <a16:creationId xmlns:a16="http://schemas.microsoft.com/office/drawing/2014/main" id="{F45DFD4C-676A-3CFC-5B53-624CDACF61FD}"/>
                </a:ext>
              </a:extLst>
            </p:cNvPr>
            <p:cNvGrpSpPr/>
            <p:nvPr/>
          </p:nvGrpSpPr>
          <p:grpSpPr>
            <a:xfrm>
              <a:off x="5830339" y="6606778"/>
              <a:ext cx="1010570" cy="1011484"/>
              <a:chOff x="989480" y="4122719"/>
              <a:chExt cx="1062034" cy="1062995"/>
            </a:xfrm>
          </p:grpSpPr>
          <p:sp>
            <p:nvSpPr>
              <p:cNvPr id="202" name="타원 4">
                <a:extLst>
                  <a:ext uri="{FF2B5EF4-FFF2-40B4-BE49-F238E27FC236}">
                    <a16:creationId xmlns:a16="http://schemas.microsoft.com/office/drawing/2014/main" id="{3694B099-2C90-B0B1-A7AE-FFDCFF9B6D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9480" y="4122719"/>
                <a:ext cx="1062034" cy="106299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36112" latinLnBrk="0"/>
                <a:endParaRPr lang="ko-KR" altLang="en-US" sz="11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203" name="타원 4">
                <a:extLst>
                  <a:ext uri="{FF2B5EF4-FFF2-40B4-BE49-F238E27FC236}">
                    <a16:creationId xmlns:a16="http://schemas.microsoft.com/office/drawing/2014/main" id="{5C60D272-2B60-43C5-C3F9-96D076971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017" y="4194825"/>
                <a:ext cx="917966" cy="918792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3491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419919" rIns="0" bIns="0" rtlCol="0" anchor="ctr"/>
              <a:lstStyle/>
              <a:p>
                <a:pPr latinLnBrk="0"/>
                <a:endParaRPr lang="ko-KR" altLang="en-US" sz="11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204" name="TextBox 203">
                <a:extLst>
                  <a:ext uri="{FF2B5EF4-FFF2-40B4-BE49-F238E27FC236}">
                    <a16:creationId xmlns:a16="http://schemas.microsoft.com/office/drawing/2014/main" id="{135CEB33-99F3-8452-DB17-61D25EC7D0DD}"/>
                  </a:ext>
                </a:extLst>
              </p:cNvPr>
              <p:cNvSpPr txBox="1"/>
              <p:nvPr/>
            </p:nvSpPr>
            <p:spPr>
              <a:xfrm flipH="1">
                <a:off x="1165860" y="4565186"/>
                <a:ext cx="710281" cy="17806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marL="11113" algn="ctr" defTabSz="1084263" latinLnBrk="0"/>
                <a:r>
                  <a:rPr lang="ko-KR" altLang="en-US" sz="1150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6699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노하우 적용</a:t>
                </a:r>
              </a:p>
            </p:txBody>
          </p:sp>
        </p:grpSp>
        <p:grpSp>
          <p:nvGrpSpPr>
            <p:cNvPr id="173" name="그룹 172">
              <a:extLst>
                <a:ext uri="{FF2B5EF4-FFF2-40B4-BE49-F238E27FC236}">
                  <a16:creationId xmlns:a16="http://schemas.microsoft.com/office/drawing/2014/main" id="{AFEDC8FF-682E-DDE6-EAD7-DAA5FD3E6C1C}"/>
                </a:ext>
              </a:extLst>
            </p:cNvPr>
            <p:cNvGrpSpPr/>
            <p:nvPr/>
          </p:nvGrpSpPr>
          <p:grpSpPr>
            <a:xfrm>
              <a:off x="2159775" y="6606778"/>
              <a:ext cx="1010570" cy="1011484"/>
              <a:chOff x="989480" y="4122719"/>
              <a:chExt cx="1062034" cy="1062995"/>
            </a:xfrm>
          </p:grpSpPr>
          <p:sp>
            <p:nvSpPr>
              <p:cNvPr id="199" name="타원 4">
                <a:extLst>
                  <a:ext uri="{FF2B5EF4-FFF2-40B4-BE49-F238E27FC236}">
                    <a16:creationId xmlns:a16="http://schemas.microsoft.com/office/drawing/2014/main" id="{4715EF7E-1D3A-ABFA-D0CD-30AE2848E5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9480" y="4122719"/>
                <a:ext cx="1062034" cy="106299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36112" latinLnBrk="0"/>
                <a:endParaRPr lang="ko-KR" altLang="en-US" sz="11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200" name="타원 4">
                <a:extLst>
                  <a:ext uri="{FF2B5EF4-FFF2-40B4-BE49-F238E27FC236}">
                    <a16:creationId xmlns:a16="http://schemas.microsoft.com/office/drawing/2014/main" id="{F93F72D0-EB89-CA69-6F2A-986DE233B2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017" y="4194825"/>
                <a:ext cx="917966" cy="918792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3491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419919" rIns="0" bIns="0" rtlCol="0" anchor="ctr"/>
              <a:lstStyle/>
              <a:p>
                <a:pPr latinLnBrk="0"/>
                <a:endParaRPr lang="ko-KR" altLang="en-US" sz="11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201" name="TextBox 200">
                <a:extLst>
                  <a:ext uri="{FF2B5EF4-FFF2-40B4-BE49-F238E27FC236}">
                    <a16:creationId xmlns:a16="http://schemas.microsoft.com/office/drawing/2014/main" id="{BAF8D14F-2B7F-0FCA-D60C-3A74F8551BFE}"/>
                  </a:ext>
                </a:extLst>
              </p:cNvPr>
              <p:cNvSpPr txBox="1"/>
              <p:nvPr/>
            </p:nvSpPr>
            <p:spPr>
              <a:xfrm flipH="1">
                <a:off x="1253377" y="4476153"/>
                <a:ext cx="535246" cy="356137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>
                <a:defPPr>
                  <a:defRPr lang="ko-KR"/>
                </a:defPPr>
                <a:lvl1pPr marL="11113" algn="ctr" defTabSz="1084263" latinLnBrk="0">
                  <a:defRPr kumimoji="1" sz="1100">
                    <a:ln>
                      <a:solidFill>
                        <a:srgbClr val="2FA8E5">
                          <a:alpha val="0"/>
                        </a:srgbClr>
                      </a:solidFill>
                    </a:ln>
                    <a:solidFill>
                      <a:srgbClr val="333333"/>
                    </a:solidFill>
                    <a:latin typeface="Rix모던고딕 B" panose="02020603020101020101" pitchFamily="18" charset="-127"/>
                    <a:ea typeface="Rix모던고딕 B" panose="02020603020101020101" pitchFamily="18" charset="-127"/>
                  </a:defRPr>
                </a:lvl1pPr>
              </a:lstStyle>
              <a:p>
                <a:r>
                  <a:rPr lang="ko-KR" altLang="en-US" sz="1150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6699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전문인력</a:t>
                </a:r>
                <a:endParaRPr lang="en-US" altLang="ko-KR" sz="11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006699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  <a:p>
                <a:r>
                  <a:rPr lang="ko-KR" altLang="en-US" sz="1150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6699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투입</a:t>
                </a:r>
              </a:p>
            </p:txBody>
          </p:sp>
        </p:grpSp>
        <p:grpSp>
          <p:nvGrpSpPr>
            <p:cNvPr id="174" name="그룹 173">
              <a:extLst>
                <a:ext uri="{FF2B5EF4-FFF2-40B4-BE49-F238E27FC236}">
                  <a16:creationId xmlns:a16="http://schemas.microsoft.com/office/drawing/2014/main" id="{0D2D04E7-21CB-2519-E3E0-24E24898151C}"/>
                </a:ext>
              </a:extLst>
            </p:cNvPr>
            <p:cNvGrpSpPr/>
            <p:nvPr/>
          </p:nvGrpSpPr>
          <p:grpSpPr>
            <a:xfrm>
              <a:off x="4606819" y="6606778"/>
              <a:ext cx="1010570" cy="1011484"/>
              <a:chOff x="989480" y="4122719"/>
              <a:chExt cx="1062034" cy="1062995"/>
            </a:xfrm>
          </p:grpSpPr>
          <p:sp>
            <p:nvSpPr>
              <p:cNvPr id="196" name="타원 4">
                <a:extLst>
                  <a:ext uri="{FF2B5EF4-FFF2-40B4-BE49-F238E27FC236}">
                    <a16:creationId xmlns:a16="http://schemas.microsoft.com/office/drawing/2014/main" id="{14D7EEEC-6B4D-A7EE-ADBC-D4D5C63450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89480" y="4122719"/>
                <a:ext cx="1062034" cy="1062995"/>
              </a:xfrm>
              <a:prstGeom prst="ellipse">
                <a:avLst/>
              </a:prstGeom>
              <a:solidFill>
                <a:schemeClr val="bg1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defTabSz="936112" latinLnBrk="0"/>
                <a:endParaRPr lang="ko-KR" altLang="en-US" sz="11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chemeClr val="tx1"/>
                  </a:solidFill>
                </a:endParaRPr>
              </a:p>
            </p:txBody>
          </p:sp>
          <p:sp>
            <p:nvSpPr>
              <p:cNvPr id="197" name="타원 4">
                <a:extLst>
                  <a:ext uri="{FF2B5EF4-FFF2-40B4-BE49-F238E27FC236}">
                    <a16:creationId xmlns:a16="http://schemas.microsoft.com/office/drawing/2014/main" id="{D22C2F35-9851-0F8E-146F-9C5A3B39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62017" y="4194825"/>
                <a:ext cx="917966" cy="918792"/>
              </a:xfrm>
              <a:prstGeom prst="ellipse">
                <a:avLst/>
              </a:prstGeom>
              <a:solidFill>
                <a:schemeClr val="bg1"/>
              </a:solidFill>
              <a:ln w="50800">
                <a:solidFill>
                  <a:srgbClr val="3491C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tIns="419919" rIns="0" bIns="0" rtlCol="0" anchor="ctr"/>
              <a:lstStyle/>
              <a:p>
                <a:pPr latinLnBrk="0"/>
                <a:endParaRPr lang="ko-KR" altLang="en-US" sz="115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</a:endParaRPr>
              </a:p>
            </p:txBody>
          </p:sp>
          <p:sp>
            <p:nvSpPr>
              <p:cNvPr id="198" name="TextBox 197">
                <a:extLst>
                  <a:ext uri="{FF2B5EF4-FFF2-40B4-BE49-F238E27FC236}">
                    <a16:creationId xmlns:a16="http://schemas.microsoft.com/office/drawing/2014/main" id="{F19F8B80-31C0-4B9E-D62C-377A2E5C6FAF}"/>
                  </a:ext>
                </a:extLst>
              </p:cNvPr>
              <p:cNvSpPr txBox="1"/>
              <p:nvPr/>
            </p:nvSpPr>
            <p:spPr>
              <a:xfrm flipH="1">
                <a:off x="1253377" y="4565186"/>
                <a:ext cx="535246" cy="17806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marL="11113" algn="ctr" defTabSz="1084263" latinLnBrk="0"/>
                <a:r>
                  <a:rPr lang="ko-KR" altLang="en-US" sz="1150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srgbClr val="006699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정보보안</a:t>
                </a:r>
              </a:p>
            </p:txBody>
          </p:sp>
        </p:grpSp>
        <p:grpSp>
          <p:nvGrpSpPr>
            <p:cNvPr id="175" name="그룹 174">
              <a:extLst>
                <a:ext uri="{FF2B5EF4-FFF2-40B4-BE49-F238E27FC236}">
                  <a16:creationId xmlns:a16="http://schemas.microsoft.com/office/drawing/2014/main" id="{58F6E537-6970-4021-8B61-8BF7A42C6714}"/>
                </a:ext>
              </a:extLst>
            </p:cNvPr>
            <p:cNvGrpSpPr/>
            <p:nvPr/>
          </p:nvGrpSpPr>
          <p:grpSpPr>
            <a:xfrm>
              <a:off x="1951621" y="7006479"/>
              <a:ext cx="207401" cy="207401"/>
              <a:chOff x="2369360" y="4971556"/>
              <a:chExt cx="250914" cy="250914"/>
            </a:xfrm>
          </p:grpSpPr>
          <p:sp>
            <p:nvSpPr>
              <p:cNvPr id="192" name="타원 191">
                <a:extLst>
                  <a:ext uri="{FF2B5EF4-FFF2-40B4-BE49-F238E27FC236}">
                    <a16:creationId xmlns:a16="http://schemas.microsoft.com/office/drawing/2014/main" id="{EF94131B-3390-6D74-8A94-B84E9AF7AE5B}"/>
                  </a:ext>
                </a:extLst>
              </p:cNvPr>
              <p:cNvSpPr/>
              <p:nvPr/>
            </p:nvSpPr>
            <p:spPr>
              <a:xfrm>
                <a:off x="2369360" y="4971556"/>
                <a:ext cx="250914" cy="25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60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193" name="그룹 192">
                <a:extLst>
                  <a:ext uri="{FF2B5EF4-FFF2-40B4-BE49-F238E27FC236}">
                    <a16:creationId xmlns:a16="http://schemas.microsoft.com/office/drawing/2014/main" id="{4E7B4DAA-ACBB-EB6B-03FF-1159EAFA4B03}"/>
                  </a:ext>
                </a:extLst>
              </p:cNvPr>
              <p:cNvGrpSpPr/>
              <p:nvPr/>
            </p:nvGrpSpPr>
            <p:grpSpPr>
              <a:xfrm>
                <a:off x="2420848" y="5023679"/>
                <a:ext cx="147938" cy="146668"/>
                <a:chOff x="4741226" y="5267778"/>
                <a:chExt cx="289609" cy="287123"/>
              </a:xfrm>
            </p:grpSpPr>
            <p:sp>
              <p:nvSpPr>
                <p:cNvPr id="194" name="모서리가 둥근 직사각형 170">
                  <a:extLst>
                    <a:ext uri="{FF2B5EF4-FFF2-40B4-BE49-F238E27FC236}">
                      <a16:creationId xmlns:a16="http://schemas.microsoft.com/office/drawing/2014/main" id="{F9998337-B3D5-E290-341D-0ADB1E29276B}"/>
                    </a:ext>
                  </a:extLst>
                </p:cNvPr>
                <p:cNvSpPr/>
                <p:nvPr/>
              </p:nvSpPr>
              <p:spPr bwMode="auto">
                <a:xfrm>
                  <a:off x="4843148" y="5267778"/>
                  <a:ext cx="85764" cy="28712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  <a:alpha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5" name="모서리가 둥근 직사각형 171">
                  <a:extLst>
                    <a:ext uri="{FF2B5EF4-FFF2-40B4-BE49-F238E27FC236}">
                      <a16:creationId xmlns:a16="http://schemas.microsoft.com/office/drawing/2014/main" id="{79AB1CA2-7456-A0F8-07DB-3E3E2A904164}"/>
                    </a:ext>
                  </a:extLst>
                </p:cNvPr>
                <p:cNvSpPr/>
                <p:nvPr/>
              </p:nvSpPr>
              <p:spPr bwMode="auto">
                <a:xfrm rot="5400000">
                  <a:off x="4844392" y="5266535"/>
                  <a:ext cx="83277" cy="28960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  <a:alpha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/>
                  <a:endParaRPr lang="ko-KR" altLang="en-US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176" name="그룹 175">
              <a:extLst>
                <a:ext uri="{FF2B5EF4-FFF2-40B4-BE49-F238E27FC236}">
                  <a16:creationId xmlns:a16="http://schemas.microsoft.com/office/drawing/2014/main" id="{39651D2B-50FD-7A02-8476-EEE7D2B0D9D9}"/>
                </a:ext>
              </a:extLst>
            </p:cNvPr>
            <p:cNvGrpSpPr/>
            <p:nvPr/>
          </p:nvGrpSpPr>
          <p:grpSpPr>
            <a:xfrm>
              <a:off x="3178789" y="7006479"/>
              <a:ext cx="207401" cy="207401"/>
              <a:chOff x="2369360" y="4971556"/>
              <a:chExt cx="250914" cy="250914"/>
            </a:xfrm>
          </p:grpSpPr>
          <p:sp>
            <p:nvSpPr>
              <p:cNvPr id="188" name="타원 187">
                <a:extLst>
                  <a:ext uri="{FF2B5EF4-FFF2-40B4-BE49-F238E27FC236}">
                    <a16:creationId xmlns:a16="http://schemas.microsoft.com/office/drawing/2014/main" id="{5D79B252-D5AC-CD8E-0D54-6E42E151E535}"/>
                  </a:ext>
                </a:extLst>
              </p:cNvPr>
              <p:cNvSpPr/>
              <p:nvPr/>
            </p:nvSpPr>
            <p:spPr>
              <a:xfrm>
                <a:off x="2369360" y="4971556"/>
                <a:ext cx="250914" cy="25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60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189" name="그룹 188">
                <a:extLst>
                  <a:ext uri="{FF2B5EF4-FFF2-40B4-BE49-F238E27FC236}">
                    <a16:creationId xmlns:a16="http://schemas.microsoft.com/office/drawing/2014/main" id="{FDE968BB-A5C4-33DE-7198-F0D71E6496DC}"/>
                  </a:ext>
                </a:extLst>
              </p:cNvPr>
              <p:cNvGrpSpPr/>
              <p:nvPr/>
            </p:nvGrpSpPr>
            <p:grpSpPr>
              <a:xfrm>
                <a:off x="2420848" y="5023679"/>
                <a:ext cx="147938" cy="146668"/>
                <a:chOff x="4741226" y="5267778"/>
                <a:chExt cx="289609" cy="287123"/>
              </a:xfrm>
            </p:grpSpPr>
            <p:sp>
              <p:nvSpPr>
                <p:cNvPr id="190" name="모서리가 둥근 직사각형 170">
                  <a:extLst>
                    <a:ext uri="{FF2B5EF4-FFF2-40B4-BE49-F238E27FC236}">
                      <a16:creationId xmlns:a16="http://schemas.microsoft.com/office/drawing/2014/main" id="{1740BC10-9FCC-ED16-7BB5-CA787E8D0396}"/>
                    </a:ext>
                  </a:extLst>
                </p:cNvPr>
                <p:cNvSpPr/>
                <p:nvPr/>
              </p:nvSpPr>
              <p:spPr bwMode="auto">
                <a:xfrm>
                  <a:off x="4843148" y="5267778"/>
                  <a:ext cx="85764" cy="28712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  <a:alpha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91" name="모서리가 둥근 직사각형 171">
                  <a:extLst>
                    <a:ext uri="{FF2B5EF4-FFF2-40B4-BE49-F238E27FC236}">
                      <a16:creationId xmlns:a16="http://schemas.microsoft.com/office/drawing/2014/main" id="{101C4435-C04C-8807-EB63-40A44D610FE7}"/>
                    </a:ext>
                  </a:extLst>
                </p:cNvPr>
                <p:cNvSpPr/>
                <p:nvPr/>
              </p:nvSpPr>
              <p:spPr bwMode="auto">
                <a:xfrm rot="5400000">
                  <a:off x="4844392" y="5266535"/>
                  <a:ext cx="83277" cy="28960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  <a:alpha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/>
                  <a:endParaRPr lang="ko-KR" altLang="en-US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93F758D8-2D92-03E5-9AF9-09475E9BB328}"/>
                </a:ext>
              </a:extLst>
            </p:cNvPr>
            <p:cNvGrpSpPr/>
            <p:nvPr/>
          </p:nvGrpSpPr>
          <p:grpSpPr>
            <a:xfrm>
              <a:off x="4399401" y="7006479"/>
              <a:ext cx="207401" cy="207401"/>
              <a:chOff x="2369360" y="4971556"/>
              <a:chExt cx="250914" cy="250914"/>
            </a:xfrm>
          </p:grpSpPr>
          <p:sp>
            <p:nvSpPr>
              <p:cNvPr id="184" name="타원 183">
                <a:extLst>
                  <a:ext uri="{FF2B5EF4-FFF2-40B4-BE49-F238E27FC236}">
                    <a16:creationId xmlns:a16="http://schemas.microsoft.com/office/drawing/2014/main" id="{AFE5A82F-F64F-3D99-FC34-46D142C5D4B9}"/>
                  </a:ext>
                </a:extLst>
              </p:cNvPr>
              <p:cNvSpPr/>
              <p:nvPr/>
            </p:nvSpPr>
            <p:spPr>
              <a:xfrm>
                <a:off x="2369360" y="4971556"/>
                <a:ext cx="250914" cy="25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60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185" name="그룹 184">
                <a:extLst>
                  <a:ext uri="{FF2B5EF4-FFF2-40B4-BE49-F238E27FC236}">
                    <a16:creationId xmlns:a16="http://schemas.microsoft.com/office/drawing/2014/main" id="{8739C884-9DBA-53FC-742A-D32D494133A7}"/>
                  </a:ext>
                </a:extLst>
              </p:cNvPr>
              <p:cNvGrpSpPr/>
              <p:nvPr/>
            </p:nvGrpSpPr>
            <p:grpSpPr>
              <a:xfrm>
                <a:off x="2420848" y="5023679"/>
                <a:ext cx="147938" cy="146668"/>
                <a:chOff x="4741226" y="5267778"/>
                <a:chExt cx="289609" cy="287123"/>
              </a:xfrm>
            </p:grpSpPr>
            <p:sp>
              <p:nvSpPr>
                <p:cNvPr id="186" name="모서리가 둥근 직사각형 170">
                  <a:extLst>
                    <a:ext uri="{FF2B5EF4-FFF2-40B4-BE49-F238E27FC236}">
                      <a16:creationId xmlns:a16="http://schemas.microsoft.com/office/drawing/2014/main" id="{DD835420-4768-0B2E-2EF6-708682F3BC82}"/>
                    </a:ext>
                  </a:extLst>
                </p:cNvPr>
                <p:cNvSpPr/>
                <p:nvPr/>
              </p:nvSpPr>
              <p:spPr bwMode="auto">
                <a:xfrm>
                  <a:off x="4843148" y="5267778"/>
                  <a:ext cx="85764" cy="28712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  <a:alpha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7" name="모서리가 둥근 직사각형 171">
                  <a:extLst>
                    <a:ext uri="{FF2B5EF4-FFF2-40B4-BE49-F238E27FC236}">
                      <a16:creationId xmlns:a16="http://schemas.microsoft.com/office/drawing/2014/main" id="{7F08BF70-585B-C0E2-B616-A882481B00AA}"/>
                    </a:ext>
                  </a:extLst>
                </p:cNvPr>
                <p:cNvSpPr/>
                <p:nvPr/>
              </p:nvSpPr>
              <p:spPr bwMode="auto">
                <a:xfrm rot="5400000">
                  <a:off x="4844392" y="5266535"/>
                  <a:ext cx="83277" cy="28960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  <a:alpha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/>
                  <a:endParaRPr lang="ko-KR" altLang="en-US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prstClr val="white"/>
                    </a:solidFill>
                  </a:endParaRPr>
                </a:p>
              </p:txBody>
            </p:sp>
          </p:grpSp>
        </p:grpSp>
        <p:grpSp>
          <p:nvGrpSpPr>
            <p:cNvPr id="178" name="그룹 177">
              <a:extLst>
                <a:ext uri="{FF2B5EF4-FFF2-40B4-BE49-F238E27FC236}">
                  <a16:creationId xmlns:a16="http://schemas.microsoft.com/office/drawing/2014/main" id="{4EAB788D-567A-EA38-5BF1-E5482DC4381D}"/>
                </a:ext>
              </a:extLst>
            </p:cNvPr>
            <p:cNvGrpSpPr/>
            <p:nvPr/>
          </p:nvGrpSpPr>
          <p:grpSpPr>
            <a:xfrm>
              <a:off x="5622454" y="7006479"/>
              <a:ext cx="207401" cy="207401"/>
              <a:chOff x="2369360" y="4971556"/>
              <a:chExt cx="250914" cy="250914"/>
            </a:xfrm>
          </p:grpSpPr>
          <p:sp>
            <p:nvSpPr>
              <p:cNvPr id="180" name="타원 179">
                <a:extLst>
                  <a:ext uri="{FF2B5EF4-FFF2-40B4-BE49-F238E27FC236}">
                    <a16:creationId xmlns:a16="http://schemas.microsoft.com/office/drawing/2014/main" id="{9037BC4A-5F30-0ACF-EC1D-9B46AB11C4E3}"/>
                  </a:ext>
                </a:extLst>
              </p:cNvPr>
              <p:cNvSpPr/>
              <p:nvPr/>
            </p:nvSpPr>
            <p:spPr>
              <a:xfrm>
                <a:off x="2369360" y="4971556"/>
                <a:ext cx="250914" cy="250914"/>
              </a:xfrm>
              <a:prstGeom prst="ellipse">
                <a:avLst/>
              </a:prstGeom>
              <a:solidFill>
                <a:schemeClr val="bg1"/>
              </a:solidFill>
              <a:ln w="19050">
                <a:solidFill>
                  <a:schemeClr val="bg1">
                    <a:lumMod val="75000"/>
                  </a:schemeClr>
                </a:solidFill>
                <a:prstDash val="soli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60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grpSp>
            <p:nvGrpSpPr>
              <p:cNvPr id="181" name="그룹 180">
                <a:extLst>
                  <a:ext uri="{FF2B5EF4-FFF2-40B4-BE49-F238E27FC236}">
                    <a16:creationId xmlns:a16="http://schemas.microsoft.com/office/drawing/2014/main" id="{A959BF98-72AB-E29E-396F-BEA0F2CA57C2}"/>
                  </a:ext>
                </a:extLst>
              </p:cNvPr>
              <p:cNvGrpSpPr/>
              <p:nvPr/>
            </p:nvGrpSpPr>
            <p:grpSpPr>
              <a:xfrm>
                <a:off x="2420848" y="5023679"/>
                <a:ext cx="147938" cy="146668"/>
                <a:chOff x="4741226" y="5267778"/>
                <a:chExt cx="289609" cy="287123"/>
              </a:xfrm>
            </p:grpSpPr>
            <p:sp>
              <p:nvSpPr>
                <p:cNvPr id="182" name="모서리가 둥근 직사각형 170">
                  <a:extLst>
                    <a:ext uri="{FF2B5EF4-FFF2-40B4-BE49-F238E27FC236}">
                      <a16:creationId xmlns:a16="http://schemas.microsoft.com/office/drawing/2014/main" id="{BAD17C54-96B7-A834-1A43-11960B35A1B7}"/>
                    </a:ext>
                  </a:extLst>
                </p:cNvPr>
                <p:cNvSpPr/>
                <p:nvPr/>
              </p:nvSpPr>
              <p:spPr bwMode="auto">
                <a:xfrm>
                  <a:off x="4843148" y="5267778"/>
                  <a:ext cx="85764" cy="28712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  <a:alpha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>
                    <a:defRPr/>
                  </a:pPr>
                  <a:endParaRPr lang="ko-KR" altLang="en-US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prstClr val="white"/>
                    </a:solidFill>
                  </a:endParaRPr>
                </a:p>
              </p:txBody>
            </p:sp>
            <p:sp>
              <p:nvSpPr>
                <p:cNvPr id="183" name="모서리가 둥근 직사각형 171">
                  <a:extLst>
                    <a:ext uri="{FF2B5EF4-FFF2-40B4-BE49-F238E27FC236}">
                      <a16:creationId xmlns:a16="http://schemas.microsoft.com/office/drawing/2014/main" id="{BC02367B-4212-E89E-C20B-C59D8D685AB0}"/>
                    </a:ext>
                  </a:extLst>
                </p:cNvPr>
                <p:cNvSpPr/>
                <p:nvPr/>
              </p:nvSpPr>
              <p:spPr bwMode="auto">
                <a:xfrm rot="5400000">
                  <a:off x="4844392" y="5266535"/>
                  <a:ext cx="83277" cy="28960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65000"/>
                    <a:alpha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latinLnBrk="0"/>
                  <a:endParaRPr lang="ko-KR" altLang="en-US" dirty="0">
                    <a:ln>
                      <a:solidFill>
                        <a:schemeClr val="bg1">
                          <a:lumMod val="65000"/>
                          <a:alpha val="0"/>
                        </a:schemeClr>
                      </a:solidFill>
                    </a:ln>
                    <a:solidFill>
                      <a:prstClr val="white"/>
                    </a:solidFill>
                  </a:endParaRPr>
                </a:p>
              </p:txBody>
            </p:sp>
          </p:grpSp>
        </p:grpSp>
        <p:sp>
          <p:nvSpPr>
            <p:cNvPr id="179" name="Rectangle 38">
              <a:extLst>
                <a:ext uri="{FF2B5EF4-FFF2-40B4-BE49-F238E27FC236}">
                  <a16:creationId xmlns:a16="http://schemas.microsoft.com/office/drawing/2014/main" id="{CB64E4CB-544A-7C15-3D18-C94B45F7DE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8423" y="6698640"/>
              <a:ext cx="175413" cy="1320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defTabSz="820738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1pPr>
              <a:lvl2pPr defTabSz="820738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2pPr>
              <a:lvl3pPr defTabSz="820738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3pPr>
              <a:lvl4pPr defTabSz="820738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4pPr>
              <a:lvl5pPr defTabSz="820738"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5pPr>
              <a:lvl6pPr defTabSz="8207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6pPr>
              <a:lvl7pPr defTabSz="8207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7pPr>
              <a:lvl8pPr defTabSz="8207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8pPr>
              <a:lvl9pPr defTabSz="820738" fontAlgn="base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굴림" pitchFamily="50" charset="-127"/>
                  <a:ea typeface="굴림" pitchFamily="50" charset="-127"/>
                </a:defRPr>
              </a:lvl9pPr>
            </a:lstStyle>
            <a:p>
              <a:pPr algn="ctr" latinLnBrk="0"/>
              <a:endParaRPr lang="en-US" altLang="ko-KR" sz="11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333333"/>
                </a:solidFill>
                <a:latin typeface="KoPub돋움체 Medium" panose="020B0602020204020303" pitchFamily="34" charset="0"/>
                <a:ea typeface="KT&amp;G 상상제목 B" panose="02000300000000000000" pitchFamily="2" charset="-127"/>
              </a:endParaRPr>
            </a:p>
          </p:txBody>
        </p:sp>
      </p:grpSp>
      <p:sp>
        <p:nvSpPr>
          <p:cNvPr id="215" name="TextBox 214">
            <a:extLst>
              <a:ext uri="{FF2B5EF4-FFF2-40B4-BE49-F238E27FC236}">
                <a16:creationId xmlns:a16="http://schemas.microsoft.com/office/drawing/2014/main" id="{7DA1CE18-3BC9-F5F5-3FD7-6925A6DDE642}"/>
              </a:ext>
            </a:extLst>
          </p:cNvPr>
          <p:cNvSpPr txBox="1"/>
          <p:nvPr/>
        </p:nvSpPr>
        <p:spPr>
          <a:xfrm>
            <a:off x="774606" y="8531219"/>
            <a:ext cx="1130582" cy="276999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142875" indent="-142875" defTabSz="1001713" latinLnBrk="0">
              <a:spcBef>
                <a:spcPts val="0"/>
              </a:spcBef>
              <a:buClr>
                <a:srgbClr val="7F7F7F"/>
              </a:buClr>
              <a:buSzPct val="110000"/>
              <a:buBlip>
                <a:blip r:embed="rId4"/>
              </a:buBlip>
              <a:tabLst>
                <a:tab pos="628650" algn="l"/>
              </a:tabLst>
              <a:defRPr sz="1200" b="0" spc="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pPr marL="92075" lvl="1" indent="-92075" latinLnBrk="0">
              <a:spcAft>
                <a:spcPts val="300"/>
              </a:spcAft>
              <a:buClr>
                <a:srgbClr val="969696"/>
              </a:buClr>
              <a:buSzPct val="100000"/>
              <a:buFont typeface="Arial" panose="020B0604020202020204" pitchFamily="34" charset="0"/>
              <a:buChar char="•"/>
              <a:tabLst>
                <a:tab pos="2692400" algn="l"/>
                <a:tab pos="5648325" algn="l"/>
              </a:tabLst>
              <a:defRPr/>
            </a:pP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rPr>
              <a:t>인수인계 전문조직을 통한 업무연속성 확보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FB1FB11E-1C3F-8C05-BD27-64B9A692CF54}"/>
              </a:ext>
            </a:extLst>
          </p:cNvPr>
          <p:cNvSpPr txBox="1"/>
          <p:nvPr/>
        </p:nvSpPr>
        <p:spPr>
          <a:xfrm>
            <a:off x="2134812" y="8531219"/>
            <a:ext cx="1130582" cy="276999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142875" indent="-142875" defTabSz="1001713" latinLnBrk="0">
              <a:spcBef>
                <a:spcPts val="0"/>
              </a:spcBef>
              <a:buClr>
                <a:srgbClr val="7F7F7F"/>
              </a:buClr>
              <a:buSzPct val="110000"/>
              <a:buBlip>
                <a:blip r:embed="rId4"/>
              </a:buBlip>
              <a:tabLst>
                <a:tab pos="628650" algn="l"/>
              </a:tabLst>
              <a:defRPr sz="1200" b="0" spc="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pPr marL="92075" lvl="1" indent="-92075" latinLnBrk="0">
              <a:spcAft>
                <a:spcPts val="300"/>
              </a:spcAft>
              <a:buClr>
                <a:srgbClr val="969696"/>
              </a:buClr>
              <a:buSzPct val="100000"/>
              <a:buFont typeface="Arial" panose="020B0604020202020204" pitchFamily="34" charset="0"/>
              <a:buChar char="•"/>
              <a:tabLst>
                <a:tab pos="2692400" algn="l"/>
                <a:tab pos="5648325" algn="l"/>
              </a:tabLst>
              <a:defRPr/>
            </a:pP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rPr>
              <a:t>전문인력에 의한 유지관리 사업 수행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5C6699DC-8750-E3AA-07EF-3313AFEBDABF}"/>
              </a:ext>
            </a:extLst>
          </p:cNvPr>
          <p:cNvSpPr txBox="1"/>
          <p:nvPr/>
        </p:nvSpPr>
        <p:spPr>
          <a:xfrm>
            <a:off x="3428615" y="8531219"/>
            <a:ext cx="1130582" cy="4154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142875" indent="-142875" defTabSz="1001713" latinLnBrk="0">
              <a:spcBef>
                <a:spcPts val="0"/>
              </a:spcBef>
              <a:buClr>
                <a:srgbClr val="7F7F7F"/>
              </a:buClr>
              <a:buSzPct val="110000"/>
              <a:buBlip>
                <a:blip r:embed="rId4"/>
              </a:buBlip>
              <a:tabLst>
                <a:tab pos="628650" algn="l"/>
              </a:tabLst>
              <a:defRPr sz="1200" b="0" spc="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pPr marL="92075" lvl="1" indent="-92075" latinLnBrk="0">
              <a:spcAft>
                <a:spcPts val="300"/>
              </a:spcAft>
              <a:buClr>
                <a:srgbClr val="969696"/>
              </a:buClr>
              <a:buSzPct val="100000"/>
              <a:buFont typeface="Arial" panose="020B0604020202020204" pitchFamily="34" charset="0"/>
              <a:buChar char="•"/>
              <a:tabLst>
                <a:tab pos="2692400" algn="l"/>
                <a:tab pos="5648325" algn="l"/>
              </a:tabLst>
              <a:defRPr/>
            </a:pP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rPr>
              <a:t>부품수급</a:t>
            </a:r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rPr>
              <a:t>, 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rPr>
              <a:t>비상 대응체계 수립을 통한 장애 복구</a:t>
            </a:r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09FBBBB6-E443-9A37-5D57-787DEE25C654}"/>
              </a:ext>
            </a:extLst>
          </p:cNvPr>
          <p:cNvSpPr txBox="1"/>
          <p:nvPr/>
        </p:nvSpPr>
        <p:spPr>
          <a:xfrm>
            <a:off x="4727859" y="8531219"/>
            <a:ext cx="1130582" cy="276999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142875" indent="-142875" defTabSz="1001713" latinLnBrk="0">
              <a:spcBef>
                <a:spcPts val="0"/>
              </a:spcBef>
              <a:buClr>
                <a:srgbClr val="7F7F7F"/>
              </a:buClr>
              <a:buSzPct val="110000"/>
              <a:buBlip>
                <a:blip r:embed="rId4"/>
              </a:buBlip>
              <a:tabLst>
                <a:tab pos="628650" algn="l"/>
              </a:tabLst>
              <a:defRPr sz="1200" b="0" spc="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pPr marL="92075" lvl="1" indent="-92075" latinLnBrk="0">
              <a:spcAft>
                <a:spcPts val="300"/>
              </a:spcAft>
              <a:buClr>
                <a:srgbClr val="969696"/>
              </a:buClr>
              <a:buSzPct val="100000"/>
              <a:buFont typeface="Arial" panose="020B0604020202020204" pitchFamily="34" charset="0"/>
              <a:buChar char="•"/>
              <a:tabLst>
                <a:tab pos="2692400" algn="l"/>
                <a:tab pos="5648325" algn="l"/>
              </a:tabLst>
              <a:defRPr/>
            </a:pP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rPr>
              <a:t>보안관리</a:t>
            </a:r>
            <a:r>
              <a:rPr lang="en-US" altLang="ko-KR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rPr>
              <a:t>, </a:t>
            </a: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rPr>
              <a:t>보안취약점 점검</a:t>
            </a:r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67FCAFC9-0477-1682-F7E6-69066A7D856D}"/>
              </a:ext>
            </a:extLst>
          </p:cNvPr>
          <p:cNvSpPr txBox="1"/>
          <p:nvPr/>
        </p:nvSpPr>
        <p:spPr>
          <a:xfrm>
            <a:off x="6030842" y="8531219"/>
            <a:ext cx="1130582" cy="415498"/>
          </a:xfrm>
          <a:prstGeom prst="rect">
            <a:avLst/>
          </a:prstGeom>
          <a:noFill/>
        </p:spPr>
        <p:txBody>
          <a:bodyPr wrap="square" lIns="0" tIns="0" rIns="0" bIns="0" anchor="t" anchorCtr="0">
            <a:spAutoFit/>
          </a:bodyPr>
          <a:lstStyle>
            <a:defPPr>
              <a:defRPr lang="ko-KR"/>
            </a:defPPr>
            <a:lvl1pPr marL="142875" indent="-142875" defTabSz="1001713" latinLnBrk="0">
              <a:spcBef>
                <a:spcPts val="0"/>
              </a:spcBef>
              <a:buClr>
                <a:srgbClr val="7F7F7F"/>
              </a:buClr>
              <a:buSzPct val="110000"/>
              <a:buBlip>
                <a:blip r:embed="rId4"/>
              </a:buBlip>
              <a:tabLst>
                <a:tab pos="628650" algn="l"/>
              </a:tabLst>
              <a:defRPr sz="1200" b="0" spc="0">
                <a:latin typeface="Rix모던고딕 B" panose="02020603020101020101" pitchFamily="18" charset="-127"/>
                <a:ea typeface="Rix모던고딕 B" panose="02020603020101020101" pitchFamily="18" charset="-127"/>
              </a:defRPr>
            </a:lvl1pPr>
          </a:lstStyle>
          <a:p>
            <a:pPr marL="92075" lvl="1" indent="-92075" latinLnBrk="0">
              <a:spcAft>
                <a:spcPts val="300"/>
              </a:spcAft>
              <a:buClr>
                <a:srgbClr val="969696"/>
              </a:buClr>
              <a:buSzPct val="100000"/>
              <a:buFont typeface="Arial" panose="020B0604020202020204" pitchFamily="34" charset="0"/>
              <a:buChar char="•"/>
              <a:tabLst>
                <a:tab pos="2692400" algn="l"/>
                <a:tab pos="5648325" algn="l"/>
              </a:tabLst>
              <a:defRPr/>
            </a:pPr>
            <a:r>
              <a:rPr lang="ko-KR" altLang="en-US" sz="9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  <a:cs typeface="굴림" pitchFamily="50" charset="-127"/>
              </a:rPr>
              <a:t>다수의 유사사업 경험을 바탕으로 한 노하우 적용</a:t>
            </a:r>
          </a:p>
        </p:txBody>
      </p:sp>
      <p:grpSp>
        <p:nvGrpSpPr>
          <p:cNvPr id="221" name="그룹 220">
            <a:extLst>
              <a:ext uri="{FF2B5EF4-FFF2-40B4-BE49-F238E27FC236}">
                <a16:creationId xmlns:a16="http://schemas.microsoft.com/office/drawing/2014/main" id="{6A4F7C12-6C48-ED05-5A57-E84DC95195AA}"/>
              </a:ext>
            </a:extLst>
          </p:cNvPr>
          <p:cNvGrpSpPr/>
          <p:nvPr/>
        </p:nvGrpSpPr>
        <p:grpSpPr>
          <a:xfrm>
            <a:off x="596811" y="9309871"/>
            <a:ext cx="6592682" cy="887853"/>
            <a:chOff x="684212" y="7509222"/>
            <a:chExt cx="6408737" cy="850065"/>
          </a:xfrm>
        </p:grpSpPr>
        <p:grpSp>
          <p:nvGrpSpPr>
            <p:cNvPr id="222" name="그룹 221">
              <a:extLst>
                <a:ext uri="{FF2B5EF4-FFF2-40B4-BE49-F238E27FC236}">
                  <a16:creationId xmlns:a16="http://schemas.microsoft.com/office/drawing/2014/main" id="{C6EFDC6C-680A-B90E-4ACC-06A55D5E2876}"/>
                </a:ext>
              </a:extLst>
            </p:cNvPr>
            <p:cNvGrpSpPr/>
            <p:nvPr/>
          </p:nvGrpSpPr>
          <p:grpSpPr>
            <a:xfrm>
              <a:off x="684212" y="7509222"/>
              <a:ext cx="6408737" cy="850065"/>
              <a:chOff x="625066" y="6593753"/>
              <a:chExt cx="6281702" cy="1029163"/>
            </a:xfrm>
          </p:grpSpPr>
          <p:grpSp>
            <p:nvGrpSpPr>
              <p:cNvPr id="224" name="그룹 223">
                <a:extLst>
                  <a:ext uri="{FF2B5EF4-FFF2-40B4-BE49-F238E27FC236}">
                    <a16:creationId xmlns:a16="http://schemas.microsoft.com/office/drawing/2014/main" id="{D33F9095-57E5-43E8-74F8-B46B7A0806A3}"/>
                  </a:ext>
                </a:extLst>
              </p:cNvPr>
              <p:cNvGrpSpPr/>
              <p:nvPr/>
            </p:nvGrpSpPr>
            <p:grpSpPr>
              <a:xfrm>
                <a:off x="625066" y="6593753"/>
                <a:ext cx="6281702" cy="1029162"/>
                <a:chOff x="699245" y="3380438"/>
                <a:chExt cx="6381511" cy="1071673"/>
              </a:xfrm>
            </p:grpSpPr>
            <p:grpSp>
              <p:nvGrpSpPr>
                <p:cNvPr id="229" name="그룹 228">
                  <a:extLst>
                    <a:ext uri="{FF2B5EF4-FFF2-40B4-BE49-F238E27FC236}">
                      <a16:creationId xmlns:a16="http://schemas.microsoft.com/office/drawing/2014/main" id="{63DB81D6-8C1B-BE53-F783-E8F49A42684E}"/>
                    </a:ext>
                  </a:extLst>
                </p:cNvPr>
                <p:cNvGrpSpPr/>
                <p:nvPr/>
              </p:nvGrpSpPr>
              <p:grpSpPr>
                <a:xfrm>
                  <a:off x="699245" y="3380438"/>
                  <a:ext cx="1533414" cy="181236"/>
                  <a:chOff x="716757" y="3133784"/>
                  <a:chExt cx="1632081" cy="190046"/>
                </a:xfrm>
              </p:grpSpPr>
              <p:grpSp>
                <p:nvGrpSpPr>
                  <p:cNvPr id="235" name="그룹 234">
                    <a:extLst>
                      <a:ext uri="{FF2B5EF4-FFF2-40B4-BE49-F238E27FC236}">
                        <a16:creationId xmlns:a16="http://schemas.microsoft.com/office/drawing/2014/main" id="{1276B489-3201-B694-B408-B78891021B15}"/>
                      </a:ext>
                    </a:extLst>
                  </p:cNvPr>
                  <p:cNvGrpSpPr/>
                  <p:nvPr/>
                </p:nvGrpSpPr>
                <p:grpSpPr>
                  <a:xfrm>
                    <a:off x="719138" y="3133784"/>
                    <a:ext cx="1629700" cy="190046"/>
                    <a:chOff x="719138" y="3133784"/>
                    <a:chExt cx="1629700" cy="190046"/>
                  </a:xfrm>
                </p:grpSpPr>
                <p:cxnSp>
                  <p:nvCxnSpPr>
                    <p:cNvPr id="237" name="직선 연결선 236">
                      <a:extLst>
                        <a:ext uri="{FF2B5EF4-FFF2-40B4-BE49-F238E27FC236}">
                          <a16:creationId xmlns:a16="http://schemas.microsoft.com/office/drawing/2014/main" id="{A74B5F47-BD34-5C90-34D8-E4889F696E9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14388" y="3133784"/>
                      <a:ext cx="1534450" cy="0"/>
                    </a:xfrm>
                    <a:prstGeom prst="line">
                      <a:avLst/>
                    </a:prstGeom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238" name="원호 237">
                      <a:extLst>
                        <a:ext uri="{FF2B5EF4-FFF2-40B4-BE49-F238E27FC236}">
                          <a16:creationId xmlns:a16="http://schemas.microsoft.com/office/drawing/2014/main" id="{B4CE8E93-E054-17A5-F04F-E2415208A9CA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719138" y="3133784"/>
                      <a:ext cx="190046" cy="190046"/>
                    </a:xfrm>
                    <a:prstGeom prst="arc">
                      <a:avLst/>
                    </a:prstGeom>
                    <a:ln w="6350">
                      <a:solidFill>
                        <a:schemeClr val="bg1">
                          <a:lumMod val="85000"/>
                        </a:schemeClr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 latinLnBrk="0"/>
                      <a:endParaRPr lang="ko-KR" altLang="en-US" dirty="0">
                        <a:ln>
                          <a:solidFill>
                            <a:srgbClr val="3491C9">
                              <a:alpha val="0"/>
                            </a:srgbClr>
                          </a:solidFill>
                        </a:ln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p:txBody>
                </p:sp>
              </p:grpSp>
              <p:sp>
                <p:nvSpPr>
                  <p:cNvPr id="236" name="자유형 308">
                    <a:extLst>
                      <a:ext uri="{FF2B5EF4-FFF2-40B4-BE49-F238E27FC236}">
                        <a16:creationId xmlns:a16="http://schemas.microsoft.com/office/drawing/2014/main" id="{18A04029-E3AA-A311-D575-92E1E6610ABE}"/>
                      </a:ext>
                    </a:extLst>
                  </p:cNvPr>
                  <p:cNvSpPr/>
                  <p:nvPr/>
                </p:nvSpPr>
                <p:spPr>
                  <a:xfrm>
                    <a:off x="716757" y="3184301"/>
                    <a:ext cx="173831" cy="45244"/>
                  </a:xfrm>
                  <a:custGeom>
                    <a:avLst/>
                    <a:gdLst>
                      <a:gd name="connsiteX0" fmla="*/ 0 w 173831"/>
                      <a:gd name="connsiteY0" fmla="*/ 45244 h 45244"/>
                      <a:gd name="connsiteX1" fmla="*/ 173831 w 173831"/>
                      <a:gd name="connsiteY1" fmla="*/ 45244 h 45244"/>
                      <a:gd name="connsiteX2" fmla="*/ 128587 w 173831"/>
                      <a:gd name="connsiteY2" fmla="*/ 0 h 4524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173831" h="45244">
                        <a:moveTo>
                          <a:pt x="0" y="45244"/>
                        </a:moveTo>
                        <a:lnTo>
                          <a:pt x="173831" y="45244"/>
                        </a:lnTo>
                        <a:lnTo>
                          <a:pt x="128587" y="0"/>
                        </a:lnTo>
                      </a:path>
                    </a:pathLst>
                  </a:custGeom>
                  <a:ln w="19050">
                    <a:solidFill>
                      <a:srgbClr val="3491C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 latinLnBrk="0"/>
                    <a:endParaRPr lang="ko-KR" altLang="en-US" dirty="0">
                      <a:ln>
                        <a:solidFill>
                          <a:srgbClr val="3491C9">
                            <a:alpha val="0"/>
                          </a:srgbClr>
                        </a:solidFill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</p:grpSp>
            <p:cxnSp>
              <p:nvCxnSpPr>
                <p:cNvPr id="230" name="직선 연결선 229">
                  <a:extLst>
                    <a:ext uri="{FF2B5EF4-FFF2-40B4-BE49-F238E27FC236}">
                      <a16:creationId xmlns:a16="http://schemas.microsoft.com/office/drawing/2014/main" id="{72443B86-9244-2780-F776-82B642DBE659}"/>
                    </a:ext>
                  </a:extLst>
                </p:cNvPr>
                <p:cNvCxnSpPr/>
                <p:nvPr/>
              </p:nvCxnSpPr>
              <p:spPr>
                <a:xfrm>
                  <a:off x="2286000" y="3380438"/>
                  <a:ext cx="4723268" cy="0"/>
                </a:xfrm>
                <a:prstGeom prst="line">
                  <a:avLst/>
                </a:prstGeom>
                <a:ln w="6350">
                  <a:solidFill>
                    <a:srgbClr val="3491C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231" name="그룹 230">
                  <a:extLst>
                    <a:ext uri="{FF2B5EF4-FFF2-40B4-BE49-F238E27FC236}">
                      <a16:creationId xmlns:a16="http://schemas.microsoft.com/office/drawing/2014/main" id="{F3E8D089-EB0E-D505-E8ED-3C582D1568D3}"/>
                    </a:ext>
                  </a:extLst>
                </p:cNvPr>
                <p:cNvGrpSpPr/>
                <p:nvPr/>
              </p:nvGrpSpPr>
              <p:grpSpPr>
                <a:xfrm>
                  <a:off x="6902200" y="3380442"/>
                  <a:ext cx="178556" cy="1071667"/>
                  <a:chOff x="5777216" y="1779495"/>
                  <a:chExt cx="192761" cy="1123949"/>
                </a:xfrm>
              </p:grpSpPr>
              <p:sp>
                <p:nvSpPr>
                  <p:cNvPr id="233" name="원호 232">
                    <a:extLst>
                      <a:ext uri="{FF2B5EF4-FFF2-40B4-BE49-F238E27FC236}">
                        <a16:creationId xmlns:a16="http://schemas.microsoft.com/office/drawing/2014/main" id="{01F0F179-1F24-32E8-D04A-71D6DEE852C2}"/>
                      </a:ext>
                    </a:extLst>
                  </p:cNvPr>
                  <p:cNvSpPr/>
                  <p:nvPr/>
                </p:nvSpPr>
                <p:spPr>
                  <a:xfrm>
                    <a:off x="5777216" y="1779495"/>
                    <a:ext cx="192761" cy="190077"/>
                  </a:xfrm>
                  <a:prstGeom prst="arc">
                    <a:avLst/>
                  </a:prstGeom>
                  <a:ln w="6350">
                    <a:solidFill>
                      <a:srgbClr val="3491C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 latinLnBrk="0"/>
                    <a:endParaRPr lang="ko-KR" altLang="en-US" dirty="0">
                      <a:ln>
                        <a:solidFill>
                          <a:srgbClr val="3491C9">
                            <a:alpha val="0"/>
                          </a:srgbClr>
                        </a:solidFill>
                      </a:ln>
                      <a:latin typeface="KoPub돋움체 Bold" panose="00000800000000000000" pitchFamily="2" charset="-127"/>
                      <a:ea typeface="KoPub돋움체 Bold" panose="00000800000000000000" pitchFamily="2" charset="-127"/>
                    </a:endParaRPr>
                  </a:p>
                </p:txBody>
              </p:sp>
              <p:cxnSp>
                <p:nvCxnSpPr>
                  <p:cNvPr id="234" name="직선 연결선 233">
                    <a:extLst>
                      <a:ext uri="{FF2B5EF4-FFF2-40B4-BE49-F238E27FC236}">
                        <a16:creationId xmlns:a16="http://schemas.microsoft.com/office/drawing/2014/main" id="{5460404D-6DA2-14CD-E568-EC773C181E7A}"/>
                      </a:ext>
                    </a:extLst>
                  </p:cNvPr>
                  <p:cNvCxnSpPr/>
                  <p:nvPr/>
                </p:nvCxnSpPr>
                <p:spPr>
                  <a:xfrm flipH="1">
                    <a:off x="5959201" y="1872896"/>
                    <a:ext cx="10776" cy="1030548"/>
                  </a:xfrm>
                  <a:prstGeom prst="line">
                    <a:avLst/>
                  </a:prstGeom>
                  <a:ln w="6350">
                    <a:solidFill>
                      <a:srgbClr val="3491C9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cxnSp>
              <p:nvCxnSpPr>
                <p:cNvPr id="232" name="직선 연결선 231">
                  <a:extLst>
                    <a:ext uri="{FF2B5EF4-FFF2-40B4-BE49-F238E27FC236}">
                      <a16:creationId xmlns:a16="http://schemas.microsoft.com/office/drawing/2014/main" id="{A9FC6D9C-C096-FFBE-91EF-7A0CEA3ED43E}"/>
                    </a:ext>
                  </a:extLst>
                </p:cNvPr>
                <p:cNvCxnSpPr/>
                <p:nvPr/>
              </p:nvCxnSpPr>
              <p:spPr>
                <a:xfrm>
                  <a:off x="2045962" y="4452111"/>
                  <a:ext cx="5028601" cy="0"/>
                </a:xfrm>
                <a:prstGeom prst="line">
                  <a:avLst/>
                </a:prstGeom>
                <a:ln w="6350">
                  <a:solidFill>
                    <a:srgbClr val="3491C9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5" name="직사각형 224">
                <a:extLst>
                  <a:ext uri="{FF2B5EF4-FFF2-40B4-BE49-F238E27FC236}">
                    <a16:creationId xmlns:a16="http://schemas.microsoft.com/office/drawing/2014/main" id="{5A27BC73-FAD0-9137-529E-A5C942EA4E71}"/>
                  </a:ext>
                </a:extLst>
              </p:cNvPr>
              <p:cNvSpPr/>
              <p:nvPr/>
            </p:nvSpPr>
            <p:spPr>
              <a:xfrm>
                <a:off x="1610422" y="6745717"/>
                <a:ext cx="5286520" cy="877198"/>
              </a:xfrm>
              <a:prstGeom prst="rect">
                <a:avLst/>
              </a:prstGeom>
              <a:solidFill>
                <a:srgbClr val="F8F8F8"/>
              </a:solidFill>
              <a:ln w="9525">
                <a:noFill/>
                <a:miter lim="800000"/>
                <a:headEnd/>
                <a:tailEnd/>
              </a:ln>
              <a:effectLst/>
            </p:spPr>
            <p:txBody>
              <a:bodyPr wrap="square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3491C9">
                        <a:alpha val="0"/>
                      </a:srgbClr>
                    </a:solidFill>
                  </a:ln>
                  <a:solidFill>
                    <a:srgbClr val="4D4D4D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D6FB674E-2ED6-DCE1-72C3-154FEA86465C}"/>
                  </a:ext>
                </a:extLst>
              </p:cNvPr>
              <p:cNvSpPr txBox="1"/>
              <p:nvPr/>
            </p:nvSpPr>
            <p:spPr>
              <a:xfrm>
                <a:off x="1685209" y="6849666"/>
                <a:ext cx="5178247" cy="669301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0" tIns="0" rIns="0" bIns="0" anchor="ctr">
                <a:spAutoFit/>
              </a:bodyPr>
              <a:lstStyle/>
              <a:p>
                <a:pPr marL="122238" lvl="4" indent="-122238" latinLnBrk="0">
                  <a:lnSpc>
                    <a:spcPct val="110000"/>
                  </a:lnSpc>
                  <a:spcAft>
                    <a:spcPts val="300"/>
                  </a:spcAft>
                  <a:buClr>
                    <a:srgbClr val="CC0000"/>
                  </a:buClr>
                  <a:buSzPct val="100000"/>
                  <a:buFont typeface="Wingdings" panose="05000000000000000000" pitchFamily="2" charset="2"/>
                  <a:buChar char="ü"/>
                  <a:tabLst>
                    <a:tab pos="450826" algn="l"/>
                    <a:tab pos="901654" algn="l"/>
                    <a:tab pos="1355281" algn="l"/>
                    <a:tab pos="1806108" algn="l"/>
                    <a:tab pos="2256935" algn="l"/>
                    <a:tab pos="2709163" algn="l"/>
                    <a:tab pos="3159989" algn="l"/>
                    <a:tab pos="3612215" algn="l"/>
                    <a:tab pos="4064443" algn="l"/>
                    <a:tab pos="4515270" algn="l"/>
                    <a:tab pos="4967496" algn="l"/>
                    <a:tab pos="5870551" algn="l"/>
                    <a:tab pos="6322778" algn="l"/>
                    <a:tab pos="6773604" algn="l"/>
                    <a:tab pos="7224431" algn="l"/>
                    <a:tab pos="7676659" algn="l"/>
                    <a:tab pos="8128885" algn="l"/>
                    <a:tab pos="8579712" algn="l"/>
                    <a:tab pos="9031940" algn="l"/>
                    <a:tab pos="9482767" algn="l"/>
                    <a:tab pos="9934994" algn="l"/>
                    <a:tab pos="10387221" algn="l"/>
                    <a:tab pos="10838048" algn="l"/>
                    <a:tab pos="11290274" algn="l"/>
                    <a:tab pos="11741101" algn="l"/>
                    <a:tab pos="12191928" algn="l"/>
                    <a:tab pos="12645555" algn="l"/>
                    <a:tab pos="13096382" algn="l"/>
                    <a:tab pos="13547210" algn="l"/>
                    <a:tab pos="13999437" algn="l"/>
                    <a:tab pos="14450264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3491C9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국방전산정보원 전산장비의 </a:t>
                </a:r>
                <a:r>
                  <a:rPr lang="en-US" altLang="ko-KR" sz="1000" dirty="0">
                    <a:ln>
                      <a:solidFill>
                        <a:srgbClr val="3491C9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24</a:t>
                </a:r>
                <a:r>
                  <a:rPr lang="ko-KR" altLang="en-US" sz="1000" dirty="0">
                    <a:ln>
                      <a:solidFill>
                        <a:srgbClr val="3491C9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시간 </a:t>
                </a:r>
                <a:r>
                  <a:rPr lang="en-US" altLang="ko-KR" sz="1000" dirty="0">
                    <a:ln>
                      <a:solidFill>
                        <a:srgbClr val="3491C9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365</a:t>
                </a:r>
                <a:r>
                  <a:rPr lang="ko-KR" altLang="en-US" sz="1000" dirty="0">
                    <a:ln>
                      <a:solidFill>
                        <a:srgbClr val="3491C9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일 </a:t>
                </a:r>
                <a:r>
                  <a:rPr lang="ko-KR" altLang="en-US" sz="1000" dirty="0" err="1">
                    <a:ln>
                      <a:solidFill>
                        <a:srgbClr val="3491C9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무중단</a:t>
                </a:r>
                <a:r>
                  <a:rPr lang="ko-KR" altLang="en-US" sz="1000" dirty="0">
                    <a:ln>
                      <a:solidFill>
                        <a:srgbClr val="3491C9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 운영을 통한 안정적인 국방업무환경 제공</a:t>
                </a:r>
              </a:p>
              <a:p>
                <a:pPr marL="122238" lvl="4" indent="-122238" latinLnBrk="0">
                  <a:lnSpc>
                    <a:spcPct val="110000"/>
                  </a:lnSpc>
                  <a:spcAft>
                    <a:spcPts val="300"/>
                  </a:spcAft>
                  <a:buClr>
                    <a:srgbClr val="CC0000"/>
                  </a:buClr>
                  <a:buSzPct val="100000"/>
                  <a:buFont typeface="Wingdings" panose="05000000000000000000" pitchFamily="2" charset="2"/>
                  <a:buChar char="ü"/>
                  <a:tabLst>
                    <a:tab pos="450826" algn="l"/>
                    <a:tab pos="901654" algn="l"/>
                    <a:tab pos="1355281" algn="l"/>
                    <a:tab pos="1806108" algn="l"/>
                    <a:tab pos="2256935" algn="l"/>
                    <a:tab pos="2709163" algn="l"/>
                    <a:tab pos="3159989" algn="l"/>
                    <a:tab pos="3612215" algn="l"/>
                    <a:tab pos="4064443" algn="l"/>
                    <a:tab pos="4515270" algn="l"/>
                    <a:tab pos="4967496" algn="l"/>
                    <a:tab pos="5870551" algn="l"/>
                    <a:tab pos="6322778" algn="l"/>
                    <a:tab pos="6773604" algn="l"/>
                    <a:tab pos="7224431" algn="l"/>
                    <a:tab pos="7676659" algn="l"/>
                    <a:tab pos="8128885" algn="l"/>
                    <a:tab pos="8579712" algn="l"/>
                    <a:tab pos="9031940" algn="l"/>
                    <a:tab pos="9482767" algn="l"/>
                    <a:tab pos="9934994" algn="l"/>
                    <a:tab pos="10387221" algn="l"/>
                    <a:tab pos="10838048" algn="l"/>
                    <a:tab pos="11290274" algn="l"/>
                    <a:tab pos="11741101" algn="l"/>
                    <a:tab pos="12191928" algn="l"/>
                    <a:tab pos="12645555" algn="l"/>
                    <a:tab pos="13096382" algn="l"/>
                    <a:tab pos="13547210" algn="l"/>
                    <a:tab pos="13999437" algn="l"/>
                    <a:tab pos="14450264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3491C9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체계적인 유지관리와 신속한 장애 대응으로 서비스 중단 최소화</a:t>
                </a:r>
              </a:p>
              <a:p>
                <a:pPr marL="122238" lvl="4" indent="-122238" latinLnBrk="0">
                  <a:lnSpc>
                    <a:spcPct val="110000"/>
                  </a:lnSpc>
                  <a:spcAft>
                    <a:spcPts val="300"/>
                  </a:spcAft>
                  <a:buClr>
                    <a:srgbClr val="CC0000"/>
                  </a:buClr>
                  <a:buSzPct val="100000"/>
                  <a:buFont typeface="Wingdings" panose="05000000000000000000" pitchFamily="2" charset="2"/>
                  <a:buChar char="ü"/>
                  <a:tabLst>
                    <a:tab pos="450826" algn="l"/>
                    <a:tab pos="901654" algn="l"/>
                    <a:tab pos="1355281" algn="l"/>
                    <a:tab pos="1806108" algn="l"/>
                    <a:tab pos="2256935" algn="l"/>
                    <a:tab pos="2709163" algn="l"/>
                    <a:tab pos="3159989" algn="l"/>
                    <a:tab pos="3612215" algn="l"/>
                    <a:tab pos="4064443" algn="l"/>
                    <a:tab pos="4515270" algn="l"/>
                    <a:tab pos="4967496" algn="l"/>
                    <a:tab pos="5870551" algn="l"/>
                    <a:tab pos="6322778" algn="l"/>
                    <a:tab pos="6773604" algn="l"/>
                    <a:tab pos="7224431" algn="l"/>
                    <a:tab pos="7676659" algn="l"/>
                    <a:tab pos="8128885" algn="l"/>
                    <a:tab pos="8579712" algn="l"/>
                    <a:tab pos="9031940" algn="l"/>
                    <a:tab pos="9482767" algn="l"/>
                    <a:tab pos="9934994" algn="l"/>
                    <a:tab pos="10387221" algn="l"/>
                    <a:tab pos="10838048" algn="l"/>
                    <a:tab pos="11290274" algn="l"/>
                    <a:tab pos="11741101" algn="l"/>
                    <a:tab pos="12191928" algn="l"/>
                    <a:tab pos="12645555" algn="l"/>
                    <a:tab pos="13096382" algn="l"/>
                    <a:tab pos="13547210" algn="l"/>
                    <a:tab pos="13999437" algn="l"/>
                    <a:tab pos="14450264" algn="l"/>
                  </a:tabLst>
                  <a:defRPr/>
                </a:pPr>
                <a:r>
                  <a:rPr lang="ko-KR" altLang="en-US" sz="1000" dirty="0">
                    <a:ln>
                      <a:solidFill>
                        <a:srgbClr val="3491C9">
                          <a:alpha val="0"/>
                        </a:srgbClr>
                      </a:solidFill>
                    </a:ln>
                    <a:solidFill>
                      <a:srgbClr val="292929"/>
                    </a:solidFill>
                    <a:latin typeface="KoPub돋움체 Medium" panose="00000600000000000000" pitchFamily="2" charset="-127"/>
                    <a:ea typeface="KoPub돋움체 Medium" panose="00000600000000000000" pitchFamily="2" charset="-127"/>
                    <a:cs typeface="굴림" pitchFamily="50" charset="-127"/>
                  </a:rPr>
                  <a:t>분야별 특성에 맞는 전문 인력 배치로 유지보수 운영의 전문성 향상</a:t>
                </a:r>
              </a:p>
            </p:txBody>
          </p:sp>
          <p:sp>
            <p:nvSpPr>
              <p:cNvPr id="227" name="한쪽 모서리가 잘린 사각형 299">
                <a:extLst>
                  <a:ext uri="{FF2B5EF4-FFF2-40B4-BE49-F238E27FC236}">
                    <a16:creationId xmlns:a16="http://schemas.microsoft.com/office/drawing/2014/main" id="{88F52548-9611-985D-6890-E3DFC6372AE6}"/>
                  </a:ext>
                </a:extLst>
              </p:cNvPr>
              <p:cNvSpPr/>
              <p:nvPr/>
            </p:nvSpPr>
            <p:spPr>
              <a:xfrm flipH="1">
                <a:off x="642982" y="6745719"/>
                <a:ext cx="953948" cy="877197"/>
              </a:xfrm>
              <a:prstGeom prst="snip1Rect">
                <a:avLst>
                  <a:gd name="adj" fmla="val 11346"/>
                </a:avLst>
              </a:prstGeom>
              <a:solidFill>
                <a:srgbClr val="3491C9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3491C9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28" name="직각 삼각형 227">
                <a:extLst>
                  <a:ext uri="{FF2B5EF4-FFF2-40B4-BE49-F238E27FC236}">
                    <a16:creationId xmlns:a16="http://schemas.microsoft.com/office/drawing/2014/main" id="{A94F99AB-9C76-26C1-DB8D-20C9C321863E}"/>
                  </a:ext>
                </a:extLst>
              </p:cNvPr>
              <p:cNvSpPr/>
              <p:nvPr/>
            </p:nvSpPr>
            <p:spPr>
              <a:xfrm flipV="1">
                <a:off x="642984" y="6745716"/>
                <a:ext cx="121488" cy="115943"/>
              </a:xfrm>
              <a:prstGeom prst="rtTriangle">
                <a:avLst/>
              </a:prstGeom>
              <a:solidFill>
                <a:srgbClr val="0568B0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3491C9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  <p:sp>
          <p:nvSpPr>
            <p:cNvPr id="223" name="직사각형 222">
              <a:extLst>
                <a:ext uri="{FF2B5EF4-FFF2-40B4-BE49-F238E27FC236}">
                  <a16:creationId xmlns:a16="http://schemas.microsoft.com/office/drawing/2014/main" id="{C75BE5CD-F80F-5464-DA77-D02A07D8E93C}"/>
                </a:ext>
              </a:extLst>
            </p:cNvPr>
            <p:cNvSpPr/>
            <p:nvPr/>
          </p:nvSpPr>
          <p:spPr>
            <a:xfrm>
              <a:off x="776156" y="7804819"/>
              <a:ext cx="811725" cy="36097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 latinLnBrk="0">
                <a:spcAft>
                  <a:spcPts val="300"/>
                </a:spcAft>
              </a:pPr>
              <a:r>
                <a:rPr lang="ko-KR" altLang="en-US" sz="1100" dirty="0">
                  <a:ln>
                    <a:solidFill>
                      <a:srgbClr val="3491C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제안의 </a:t>
              </a:r>
              <a:endParaRPr lang="en-US" altLang="ko-KR" sz="1100" dirty="0">
                <a:ln>
                  <a:solidFill>
                    <a:srgbClr val="3491C9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</a:endParaRPr>
            </a:p>
            <a:p>
              <a:pPr algn="ctr" latinLnBrk="0">
                <a:spcAft>
                  <a:spcPts val="300"/>
                </a:spcAft>
              </a:pPr>
              <a:r>
                <a:rPr lang="ko-KR" altLang="en-US" sz="1100" dirty="0">
                  <a:ln>
                    <a:solidFill>
                      <a:srgbClr val="3491C9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목적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19226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5EB94BF4-269D-4ADE-8025-A904DB6FAF1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D15C4-AF98-EFE3-EB7A-8C48293D6D4B}"/>
              </a:ext>
            </a:extLst>
          </p:cNvPr>
          <p:cNvSpPr txBox="1"/>
          <p:nvPr/>
        </p:nvSpPr>
        <p:spPr>
          <a:xfrm>
            <a:off x="934361" y="2524932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사업범위의 정확한 인식으로 전산장비 유지보수 사업의 성공적인 수행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F03E0E-F6C0-91ED-93A3-245C8135B495}"/>
              </a:ext>
            </a:extLst>
          </p:cNvPr>
          <p:cNvSpPr/>
          <p:nvPr/>
        </p:nvSpPr>
        <p:spPr>
          <a:xfrm>
            <a:off x="1381398" y="1696926"/>
            <a:ext cx="5849058" cy="56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>
                <a:srgbClr val="0061EB"/>
              </a:buClr>
              <a:buSzPct val="80000"/>
              <a:buFont typeface="KoPub돋움체 Bold" panose="02020603020101020101" pitchFamily="18" charset="-127"/>
              <a:buChar char="▶"/>
            </a:pP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본 사업은 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2025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년 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월 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일부터 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2026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년 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12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월 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31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일까지 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24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개월 수행하며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국방전산정보원에서 운용하는 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전산장비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시스템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SW,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응용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SW,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기반설비 및 사무용 전산장비에 대해서 예방점검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장비 등 유지보수 업무를 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수행하며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최적의 전문인력 투입을 통해 본 사업을 성공적으로 완수합니다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8FA33E-FCA6-5565-BB5E-627D28B7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7" name="제목 1">
            <a:extLst>
              <a:ext uri="{FF2B5EF4-FFF2-40B4-BE49-F238E27FC236}">
                <a16:creationId xmlns:a16="http://schemas.microsoft.com/office/drawing/2014/main" id="{B200D8DB-75AB-DC3D-1B32-539CC26912B7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109" name="제목 1">
            <a:extLst>
              <a:ext uri="{FF2B5EF4-FFF2-40B4-BE49-F238E27FC236}">
                <a16:creationId xmlns:a16="http://schemas.microsoft.com/office/drawing/2014/main" id="{09EB6A0F-9F5F-B194-D668-4BBD59D29058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마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범위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(1/5)</a:t>
            </a:r>
          </a:p>
        </p:txBody>
      </p:sp>
      <p:graphicFrame>
        <p:nvGraphicFramePr>
          <p:cNvPr id="14" name="Group 32">
            <a:extLst>
              <a:ext uri="{FF2B5EF4-FFF2-40B4-BE49-F238E27FC236}">
                <a16:creationId xmlns:a16="http://schemas.microsoft.com/office/drawing/2014/main" id="{1D1A03A0-E1B1-929F-C7DE-F7289C1D2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478996"/>
              </p:ext>
            </p:extLst>
          </p:nvPr>
        </p:nvGraphicFramePr>
        <p:xfrm>
          <a:off x="560949" y="5476729"/>
          <a:ext cx="6639952" cy="847871"/>
        </p:xfrm>
        <a:graphic>
          <a:graphicData uri="http://schemas.openxmlformats.org/drawingml/2006/table">
            <a:tbl>
              <a:tblPr/>
              <a:tblGrid>
                <a:gridCol w="603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3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3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36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363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363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363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3632">
                  <a:extLst>
                    <a:ext uri="{9D8B030D-6E8A-4147-A177-3AD203B41FA5}">
                      <a16:colId xmlns:a16="http://schemas.microsoft.com/office/drawing/2014/main" val="1005764493"/>
                    </a:ext>
                  </a:extLst>
                </a:gridCol>
                <a:gridCol w="603632">
                  <a:extLst>
                    <a:ext uri="{9D8B030D-6E8A-4147-A177-3AD203B41FA5}">
                      <a16:colId xmlns:a16="http://schemas.microsoft.com/office/drawing/2014/main" val="144778777"/>
                    </a:ext>
                  </a:extLst>
                </a:gridCol>
              </a:tblGrid>
              <a:tr h="49400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  <a:sym typeface="Rix모던고딕 L" charset="-127"/>
                        </a:rPr>
                        <a:t>계</a:t>
                      </a:r>
                      <a:endParaRPr kumimoji="1" lang="zh-CN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  <a:sym typeface="Rix모던고딕 L" charset="-127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  <a:sym typeface="Rix모던고딕 L" charset="-127"/>
                        </a:rPr>
                        <a:t>PM</a:t>
                      </a:r>
                      <a:endParaRPr kumimoji="1" lang="zh-CN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  <a:sym typeface="Rix모던고딕 L" charset="-127"/>
                      </a:endParaRPr>
                    </a:p>
                  </a:txBody>
                  <a:tcPr marL="36000" marR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  <a:sym typeface="Rix모던고딕 L" charset="-127"/>
                        </a:rPr>
                        <a:t>주전산기</a:t>
                      </a:r>
                      <a:endParaRPr kumimoji="1" lang="zh-CN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  <a:sym typeface="Rix모던고딕 L" charset="-127"/>
                      </a:endParaRPr>
                    </a:p>
                  </a:txBody>
                  <a:tcPr marL="36000" marR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zh-CN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  <a:sym typeface="Rix모던고딕 L" charset="-127"/>
                        </a:rPr>
                        <a:t>DBA</a:t>
                      </a:r>
                      <a:endParaRPr kumimoji="1" lang="zh-CN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  <a:sym typeface="Rix모던고딕 L" charset="-127"/>
                      </a:endParaRPr>
                    </a:p>
                  </a:txBody>
                  <a:tcPr marL="36000" marR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  <a:sym typeface="Rix모던고딕 L" charset="-127"/>
                        </a:rPr>
                        <a:t>네트워크</a:t>
                      </a:r>
                      <a:endParaRPr kumimoji="1" lang="zh-CN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  <a:sym typeface="Rix모던고딕 L" charset="-127"/>
                      </a:endParaRPr>
                    </a:p>
                  </a:txBody>
                  <a:tcPr marL="36000" marR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  <a:sym typeface="Rix모던고딕 L" charset="-127"/>
                        </a:rPr>
                        <a:t>정보보호</a:t>
                      </a:r>
                      <a:endParaRPr kumimoji="1" lang="zh-CN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  <a:sym typeface="Rix모던고딕 L" charset="-127"/>
                      </a:endParaRPr>
                    </a:p>
                  </a:txBody>
                  <a:tcPr marL="36000" marR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  <a:sym typeface="Rix모던고딕 L" charset="-127"/>
                        </a:rPr>
                        <a:t>기반설비</a:t>
                      </a:r>
                      <a:endParaRPr kumimoji="1" lang="zh-CN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  <a:sym typeface="Rix모던고딕 L" charset="-127"/>
                      </a:endParaRPr>
                    </a:p>
                  </a:txBody>
                  <a:tcPr marL="36000" marR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  <a:sym typeface="Rix모던고딕 L" charset="-127"/>
                        </a:rPr>
                        <a:t>사무용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  <a:sym typeface="Rix모던고딕 L" charset="-127"/>
                      </a:endParaRP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  <a:sym typeface="Rix모던고딕 L" charset="-127"/>
                        </a:rPr>
                        <a:t>전산장비</a:t>
                      </a:r>
                      <a:endParaRPr kumimoji="1" lang="zh-CN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  <a:sym typeface="Rix모던고딕 L" charset="-127"/>
                      </a:endParaRPr>
                    </a:p>
                  </a:txBody>
                  <a:tcPr marL="36000" marR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  <a:sym typeface="Rix모던고딕 L" charset="-127"/>
                        </a:rPr>
                        <a:t>콜센터</a:t>
                      </a:r>
                      <a:endParaRPr kumimoji="1" lang="zh-CN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  <a:sym typeface="Rix모던고딕 L" charset="-127"/>
                      </a:endParaRPr>
                    </a:p>
                  </a:txBody>
                  <a:tcPr marL="36000" marR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  <a:sym typeface="Rix모던고딕 L" charset="-127"/>
                        </a:rPr>
                        <a:t>인증체계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  <a:sym typeface="Rix모던고딕 L" charset="-127"/>
                      </a:endParaRPr>
                    </a:p>
                  </a:txBody>
                  <a:tcPr marL="36000" marR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  <a:sym typeface="Rix모던고딕 L" charset="-127"/>
                        </a:rPr>
                        <a:t>출입통제</a:t>
                      </a:r>
                      <a:endParaRPr kumimoji="1" lang="zh-CN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  <a:sym typeface="Rix모던고딕 L" charset="-127"/>
                      </a:endParaRPr>
                    </a:p>
                  </a:txBody>
                  <a:tcPr marL="36000" marR="3600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387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292929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굴림" pitchFamily="50" charset="-127"/>
                        </a:rPr>
                        <a:t>24</a:t>
                      </a: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292929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굴림" pitchFamily="50" charset="-127"/>
                        </a:rPr>
                        <a:t>1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292929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굴림" pitchFamily="50" charset="-127"/>
                        </a:rPr>
                        <a:t>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292929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굴림" pitchFamily="50" charset="-127"/>
                        </a:rPr>
                        <a:t>1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292929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굴림" pitchFamily="50" charset="-127"/>
                        </a:rPr>
                        <a:t>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292929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굴림" pitchFamily="50" charset="-127"/>
                        </a:rPr>
                        <a:t>1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292929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굴림" pitchFamily="50" charset="-127"/>
                        </a:rPr>
                        <a:t>1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292929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굴림" pitchFamily="50" charset="-127"/>
                        </a:rPr>
                        <a:t>9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292929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굴림" pitchFamily="50" charset="-127"/>
                        </a:rPr>
                        <a:t>3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292929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굴림" pitchFamily="50" charset="-127"/>
                        </a:rPr>
                        <a:t>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kern="1200" dirty="0">
                          <a:ln>
                            <a:solidFill>
                              <a:schemeClr val="bg1">
                                <a:lumMod val="65000"/>
                                <a:alpha val="0"/>
                              </a:schemeClr>
                            </a:solidFill>
                          </a:ln>
                          <a:solidFill>
                            <a:srgbClr val="292929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굴림" pitchFamily="50" charset="-127"/>
                        </a:rPr>
                        <a:t>2</a:t>
                      </a:r>
                    </a:p>
                  </a:txBody>
                  <a:tcPr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03395BAE-447C-BE36-03EA-D9AEA19CCF55}"/>
              </a:ext>
            </a:extLst>
          </p:cNvPr>
          <p:cNvGrpSpPr/>
          <p:nvPr/>
        </p:nvGrpSpPr>
        <p:grpSpPr>
          <a:xfrm>
            <a:off x="590882" y="2941331"/>
            <a:ext cx="6614028" cy="614000"/>
            <a:chOff x="652238" y="7218998"/>
            <a:chExt cx="6278941" cy="1100497"/>
          </a:xfrm>
        </p:grpSpPr>
        <p:grpSp>
          <p:nvGrpSpPr>
            <p:cNvPr id="16" name="그룹 15">
              <a:extLst>
                <a:ext uri="{FF2B5EF4-FFF2-40B4-BE49-F238E27FC236}">
                  <a16:creationId xmlns:a16="http://schemas.microsoft.com/office/drawing/2014/main" id="{5226D09F-5AB2-3E86-ADDE-D1BB406494EE}"/>
                </a:ext>
              </a:extLst>
            </p:cNvPr>
            <p:cNvGrpSpPr/>
            <p:nvPr/>
          </p:nvGrpSpPr>
          <p:grpSpPr>
            <a:xfrm>
              <a:off x="652238" y="7219000"/>
              <a:ext cx="1125760" cy="1100495"/>
              <a:chOff x="652238" y="7322133"/>
              <a:chExt cx="695110" cy="1100507"/>
            </a:xfrm>
          </p:grpSpPr>
          <p:sp>
            <p:nvSpPr>
              <p:cNvPr id="19" name="직사각형 18">
                <a:extLst>
                  <a:ext uri="{FF2B5EF4-FFF2-40B4-BE49-F238E27FC236}">
                    <a16:creationId xmlns:a16="http://schemas.microsoft.com/office/drawing/2014/main" id="{6C88AE06-9AFE-40A0-FE38-EABEB657A3DB}"/>
                  </a:ext>
                </a:extLst>
              </p:cNvPr>
              <p:cNvSpPr/>
              <p:nvPr/>
            </p:nvSpPr>
            <p:spPr>
              <a:xfrm flipH="1">
                <a:off x="652238" y="7322133"/>
                <a:ext cx="695110" cy="1100507"/>
              </a:xfrm>
              <a:prstGeom prst="rect">
                <a:avLst/>
              </a:prstGeom>
              <a:solidFill>
                <a:srgbClr val="3491C9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latinLnBrk="0"/>
                <a:endParaRPr lang="ko-KR" altLang="en-US" sz="10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20" name="직사각형 19">
                <a:extLst>
                  <a:ext uri="{FF2B5EF4-FFF2-40B4-BE49-F238E27FC236}">
                    <a16:creationId xmlns:a16="http://schemas.microsoft.com/office/drawing/2014/main" id="{090392D8-A233-D273-69DD-2EC686B66444}"/>
                  </a:ext>
                </a:extLst>
              </p:cNvPr>
              <p:cNvSpPr/>
              <p:nvPr/>
            </p:nvSpPr>
            <p:spPr>
              <a:xfrm>
                <a:off x="707797" y="7546312"/>
                <a:ext cx="614458" cy="652781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spAutoFit/>
              </a:bodyPr>
              <a:lstStyle/>
              <a:p>
                <a:pPr lvl="0" latinLnBrk="0">
                  <a:spcAft>
                    <a:spcPts val="200"/>
                  </a:spcAft>
                </a:pPr>
                <a:r>
                  <a:rPr lang="ko-KR" altLang="en-US" sz="1100" dirty="0" err="1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사업명</a:t>
                </a:r>
                <a:r>
                  <a:rPr lang="en-US" altLang="ko-KR" sz="11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 </a:t>
                </a:r>
                <a:r>
                  <a:rPr lang="ko-KR" altLang="en-US" sz="11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및  </a:t>
                </a:r>
                <a:endParaRPr lang="en-US" altLang="ko-KR" sz="11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endParaRPr>
              </a:p>
              <a:p>
                <a:pPr lvl="0" latinLnBrk="0">
                  <a:spcAft>
                    <a:spcPts val="200"/>
                  </a:spcAft>
                </a:pPr>
                <a:r>
                  <a:rPr lang="ko-KR" altLang="en-US" sz="1100" dirty="0">
                    <a:ln>
                      <a:solidFill>
                        <a:srgbClr val="0568B0">
                          <a:alpha val="0"/>
                        </a:srgbClr>
                      </a:solidFill>
                    </a:ln>
                    <a:solidFill>
                      <a:schemeClr val="bg1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Arial" pitchFamily="34" charset="0"/>
                  </a:rPr>
                  <a:t>사업기간</a:t>
                </a:r>
                <a:endParaRPr lang="en-US" altLang="ko-KR" sz="1100" dirty="0">
                  <a:ln>
                    <a:solidFill>
                      <a:srgbClr val="0568B0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endParaRPr>
              </a:p>
            </p:txBody>
          </p:sp>
        </p:grp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D80707ED-62A4-92AD-C275-9BC8E1F1F204}"/>
                </a:ext>
              </a:extLst>
            </p:cNvPr>
            <p:cNvSpPr/>
            <p:nvPr/>
          </p:nvSpPr>
          <p:spPr>
            <a:xfrm>
              <a:off x="1492290" y="7218998"/>
              <a:ext cx="5438889" cy="1100495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noFill/>
              <a:miter lim="800000"/>
              <a:headEnd/>
              <a:tailEnd/>
            </a:ln>
            <a:effectLst/>
          </p:spPr>
          <p:txBody>
            <a:bodyPr wrap="square" anchor="ctr"/>
            <a:lstStyle/>
            <a:p>
              <a:pPr algn="ctr" latinLnBrk="0"/>
              <a:endParaRPr lang="ko-KR" altLang="en-US" sz="1000" dirty="0">
                <a:ln>
                  <a:solidFill>
                    <a:srgbClr val="0568B0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8" name="자유형 152">
              <a:extLst>
                <a:ext uri="{FF2B5EF4-FFF2-40B4-BE49-F238E27FC236}">
                  <a16:creationId xmlns:a16="http://schemas.microsoft.com/office/drawing/2014/main" id="{81C6C614-F35C-982B-0034-06009038B3EA}"/>
                </a:ext>
              </a:extLst>
            </p:cNvPr>
            <p:cNvSpPr/>
            <p:nvPr/>
          </p:nvSpPr>
          <p:spPr>
            <a:xfrm>
              <a:off x="670616" y="7283651"/>
              <a:ext cx="163322" cy="43147"/>
            </a:xfrm>
            <a:custGeom>
              <a:avLst/>
              <a:gdLst>
                <a:gd name="connsiteX0" fmla="*/ 0 w 173831"/>
                <a:gd name="connsiteY0" fmla="*/ 45244 h 45244"/>
                <a:gd name="connsiteX1" fmla="*/ 173831 w 173831"/>
                <a:gd name="connsiteY1" fmla="*/ 45244 h 45244"/>
                <a:gd name="connsiteX2" fmla="*/ 128587 w 173831"/>
                <a:gd name="connsiteY2" fmla="*/ 0 h 45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73831" h="45244">
                  <a:moveTo>
                    <a:pt x="0" y="45244"/>
                  </a:moveTo>
                  <a:lnTo>
                    <a:pt x="173831" y="45244"/>
                  </a:lnTo>
                  <a:lnTo>
                    <a:pt x="128587" y="0"/>
                  </a:lnTo>
                </a:path>
              </a:pathLst>
            </a:custGeom>
            <a:ln w="19050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 latinLnBrk="0"/>
              <a:endParaRPr lang="ko-KR" altLang="en-US" dirty="0">
                <a:ln>
                  <a:solidFill>
                    <a:srgbClr val="0568B0">
                      <a:alpha val="0"/>
                    </a:srgbClr>
                  </a:solidFill>
                </a:ln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DD1BDD99-E879-EED2-2508-CF316E05D64E}"/>
              </a:ext>
            </a:extLst>
          </p:cNvPr>
          <p:cNvSpPr txBox="1"/>
          <p:nvPr/>
        </p:nvSpPr>
        <p:spPr>
          <a:xfrm>
            <a:off x="1694330" y="2981679"/>
            <a:ext cx="5017857" cy="4956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>
            <a:spAutoFit/>
          </a:bodyPr>
          <a:lstStyle/>
          <a:p>
            <a:pPr marL="122238" lvl="4" indent="-122238" latinLnBrk="0">
              <a:lnSpc>
                <a:spcPct val="150000"/>
              </a:lnSpc>
              <a:spcAft>
                <a:spcPts val="100"/>
              </a:spcAft>
              <a:buClr>
                <a:srgbClr val="CC0000"/>
              </a:buClr>
              <a:buSzPct val="100000"/>
              <a:buFont typeface="Wingdings" panose="05000000000000000000" pitchFamily="2" charset="2"/>
              <a:buChar char="ü"/>
              <a:tabLst>
                <a:tab pos="450826" algn="l"/>
                <a:tab pos="901654" algn="l"/>
                <a:tab pos="1355281" algn="l"/>
                <a:tab pos="1806108" algn="l"/>
                <a:tab pos="2256935" algn="l"/>
                <a:tab pos="2709163" algn="l"/>
                <a:tab pos="3159989" algn="l"/>
                <a:tab pos="3612215" algn="l"/>
                <a:tab pos="4064443" algn="l"/>
                <a:tab pos="4515270" algn="l"/>
                <a:tab pos="4967496" algn="l"/>
                <a:tab pos="5870551" algn="l"/>
                <a:tab pos="6322778" algn="l"/>
                <a:tab pos="6773604" algn="l"/>
                <a:tab pos="7224431" algn="l"/>
                <a:tab pos="7676659" algn="l"/>
                <a:tab pos="8128885" algn="l"/>
                <a:tab pos="8579712" algn="l"/>
                <a:tab pos="9031940" algn="l"/>
                <a:tab pos="9482767" algn="l"/>
                <a:tab pos="9934994" algn="l"/>
                <a:tab pos="10387221" algn="l"/>
                <a:tab pos="10838048" algn="l"/>
                <a:tab pos="11290274" algn="l"/>
                <a:tab pos="11741101" algn="l"/>
                <a:tab pos="12191928" algn="l"/>
                <a:tab pos="12645555" algn="l"/>
                <a:tab pos="13096382" algn="l"/>
                <a:tab pos="13547210" algn="l"/>
                <a:tab pos="13999437" algn="l"/>
                <a:tab pos="14450264" algn="l"/>
              </a:tabLst>
              <a:defRPr/>
            </a:pPr>
            <a:r>
              <a:rPr lang="ko-KR" altLang="en-US" sz="1100" dirty="0">
                <a:ln>
                  <a:solidFill>
                    <a:srgbClr val="3491C9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rPr>
              <a:t> 국방전산정보원 ‘</a:t>
            </a:r>
            <a:r>
              <a:rPr lang="en-US" altLang="ko-KR" sz="1100" dirty="0">
                <a:ln>
                  <a:solidFill>
                    <a:srgbClr val="3491C9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rPr>
              <a:t>25-’26</a:t>
            </a:r>
            <a:r>
              <a:rPr lang="ko-KR" altLang="en-US" sz="1100" dirty="0">
                <a:ln>
                  <a:solidFill>
                    <a:srgbClr val="3491C9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rPr>
              <a:t>년 전산장비 유지보수</a:t>
            </a:r>
            <a:endParaRPr lang="en-US" altLang="ko-KR" sz="1100" dirty="0">
              <a:ln>
                <a:solidFill>
                  <a:srgbClr val="3491C9">
                    <a:alpha val="0"/>
                  </a:srgbClr>
                </a:solidFill>
              </a:ln>
              <a:solidFill>
                <a:srgbClr val="29292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굴림" pitchFamily="50" charset="-127"/>
            </a:endParaRPr>
          </a:p>
          <a:p>
            <a:pPr marL="122238" lvl="4" indent="-122238" latinLnBrk="0">
              <a:lnSpc>
                <a:spcPct val="150000"/>
              </a:lnSpc>
              <a:spcAft>
                <a:spcPts val="100"/>
              </a:spcAft>
              <a:buClr>
                <a:srgbClr val="CC0000"/>
              </a:buClr>
              <a:buSzPct val="100000"/>
              <a:buFont typeface="Wingdings" panose="05000000000000000000" pitchFamily="2" charset="2"/>
              <a:buChar char="ü"/>
              <a:tabLst>
                <a:tab pos="450826" algn="l"/>
                <a:tab pos="901654" algn="l"/>
                <a:tab pos="1355281" algn="l"/>
                <a:tab pos="1806108" algn="l"/>
                <a:tab pos="2256935" algn="l"/>
                <a:tab pos="2709163" algn="l"/>
                <a:tab pos="3159989" algn="l"/>
                <a:tab pos="3612215" algn="l"/>
                <a:tab pos="4064443" algn="l"/>
                <a:tab pos="4515270" algn="l"/>
                <a:tab pos="4967496" algn="l"/>
                <a:tab pos="5870551" algn="l"/>
                <a:tab pos="6322778" algn="l"/>
                <a:tab pos="6773604" algn="l"/>
                <a:tab pos="7224431" algn="l"/>
                <a:tab pos="7676659" algn="l"/>
                <a:tab pos="8128885" algn="l"/>
                <a:tab pos="8579712" algn="l"/>
                <a:tab pos="9031940" algn="l"/>
                <a:tab pos="9482767" algn="l"/>
                <a:tab pos="9934994" algn="l"/>
                <a:tab pos="10387221" algn="l"/>
                <a:tab pos="10838048" algn="l"/>
                <a:tab pos="11290274" algn="l"/>
                <a:tab pos="11741101" algn="l"/>
                <a:tab pos="12191928" algn="l"/>
                <a:tab pos="12645555" algn="l"/>
                <a:tab pos="13096382" algn="l"/>
                <a:tab pos="13547210" algn="l"/>
                <a:tab pos="13999437" algn="l"/>
                <a:tab pos="14450264" algn="l"/>
              </a:tabLst>
              <a:defRPr/>
            </a:pPr>
            <a:r>
              <a:rPr lang="en-US" altLang="ko-KR" sz="1100" dirty="0">
                <a:ln>
                  <a:solidFill>
                    <a:srgbClr val="3491C9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rPr>
              <a:t> 2025. 1. 1 ~ 2026. 12. 31 (2</a:t>
            </a:r>
            <a:r>
              <a:rPr lang="ko-KR" altLang="en-US" sz="1100" dirty="0">
                <a:ln>
                  <a:solidFill>
                    <a:srgbClr val="3491C9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rPr>
              <a:t>년 </a:t>
            </a:r>
            <a:r>
              <a:rPr lang="ko-KR" altLang="en-US" sz="1100" dirty="0" err="1">
                <a:ln>
                  <a:solidFill>
                    <a:srgbClr val="3491C9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rPr>
              <a:t>장기계속계약</a:t>
            </a:r>
            <a:r>
              <a:rPr lang="ko-KR" altLang="en-US" sz="1100" dirty="0">
                <a:ln>
                  <a:solidFill>
                    <a:srgbClr val="3491C9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rPr>
              <a:t> 사업</a:t>
            </a:r>
            <a:r>
              <a:rPr lang="en-US" altLang="ko-KR" sz="1100" dirty="0">
                <a:ln>
                  <a:solidFill>
                    <a:srgbClr val="3491C9">
                      <a:alpha val="0"/>
                    </a:srgb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rPr>
              <a:t>)</a:t>
            </a:r>
            <a:endParaRPr lang="ko-KR" altLang="en-US" sz="1100" dirty="0">
              <a:ln>
                <a:solidFill>
                  <a:srgbClr val="3491C9">
                    <a:alpha val="0"/>
                  </a:srgbClr>
                </a:solidFill>
              </a:ln>
              <a:solidFill>
                <a:srgbClr val="292929"/>
              </a:solidFill>
              <a:latin typeface="KoPub돋움체 Bold" panose="00000800000000000000" pitchFamily="2" charset="-127"/>
              <a:ea typeface="KoPub돋움체 Bold" panose="00000800000000000000" pitchFamily="2" charset="-127"/>
              <a:cs typeface="굴림" pitchFamily="50" charset="-127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B2056423-3C32-4E23-0515-CCDFD0653C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8349845"/>
              </p:ext>
            </p:extLst>
          </p:nvPr>
        </p:nvGraphicFramePr>
        <p:xfrm>
          <a:off x="560949" y="3951518"/>
          <a:ext cx="6633712" cy="1094216"/>
        </p:xfrm>
        <a:graphic>
          <a:graphicData uri="http://schemas.openxmlformats.org/drawingml/2006/table">
            <a:tbl>
              <a:tblPr/>
              <a:tblGrid>
                <a:gridCol w="611272">
                  <a:extLst>
                    <a:ext uri="{9D8B030D-6E8A-4147-A177-3AD203B41FA5}">
                      <a16:colId xmlns:a16="http://schemas.microsoft.com/office/drawing/2014/main" val="3820773960"/>
                    </a:ext>
                  </a:extLst>
                </a:gridCol>
                <a:gridCol w="621224">
                  <a:extLst>
                    <a:ext uri="{9D8B030D-6E8A-4147-A177-3AD203B41FA5}">
                      <a16:colId xmlns:a16="http://schemas.microsoft.com/office/drawing/2014/main" val="1562306520"/>
                    </a:ext>
                  </a:extLst>
                </a:gridCol>
                <a:gridCol w="965314">
                  <a:extLst>
                    <a:ext uri="{9D8B030D-6E8A-4147-A177-3AD203B41FA5}">
                      <a16:colId xmlns:a16="http://schemas.microsoft.com/office/drawing/2014/main" val="3741135729"/>
                    </a:ext>
                  </a:extLst>
                </a:gridCol>
                <a:gridCol w="925412">
                  <a:extLst>
                    <a:ext uri="{9D8B030D-6E8A-4147-A177-3AD203B41FA5}">
                      <a16:colId xmlns:a16="http://schemas.microsoft.com/office/drawing/2014/main" val="3583472167"/>
                    </a:ext>
                  </a:extLst>
                </a:gridCol>
                <a:gridCol w="764432">
                  <a:extLst>
                    <a:ext uri="{9D8B030D-6E8A-4147-A177-3AD203B41FA5}">
                      <a16:colId xmlns:a16="http://schemas.microsoft.com/office/drawing/2014/main" val="2729693738"/>
                    </a:ext>
                  </a:extLst>
                </a:gridCol>
                <a:gridCol w="764432">
                  <a:extLst>
                    <a:ext uri="{9D8B030D-6E8A-4147-A177-3AD203B41FA5}">
                      <a16:colId xmlns:a16="http://schemas.microsoft.com/office/drawing/2014/main" val="1809188695"/>
                    </a:ext>
                  </a:extLst>
                </a:gridCol>
                <a:gridCol w="660542">
                  <a:extLst>
                    <a:ext uri="{9D8B030D-6E8A-4147-A177-3AD203B41FA5}">
                      <a16:colId xmlns:a16="http://schemas.microsoft.com/office/drawing/2014/main" val="2457206821"/>
                    </a:ext>
                  </a:extLst>
                </a:gridCol>
                <a:gridCol w="660542">
                  <a:extLst>
                    <a:ext uri="{9D8B030D-6E8A-4147-A177-3AD203B41FA5}">
                      <a16:colId xmlns:a16="http://schemas.microsoft.com/office/drawing/2014/main" val="3436988152"/>
                    </a:ext>
                  </a:extLst>
                </a:gridCol>
                <a:gridCol w="660542">
                  <a:extLst>
                    <a:ext uri="{9D8B030D-6E8A-4147-A177-3AD203B41FA5}">
                      <a16:colId xmlns:a16="http://schemas.microsoft.com/office/drawing/2014/main" val="1390247395"/>
                    </a:ext>
                  </a:extLst>
                </a:gridCol>
              </a:tblGrid>
              <a:tr h="421612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년도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계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주장비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굴림" pitchFamily="50" charset="-127"/>
                      </a:endParaRP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상용</a:t>
                      </a:r>
                      <a:r>
                        <a:rPr kumimoji="1" 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SW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네트워크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정보보호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사무용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전산장비 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기반설비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굴림" pitchFamily="50" charset="-127"/>
                        </a:rPr>
                        <a:t>기타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246924"/>
                  </a:ext>
                </a:extLst>
              </a:tr>
              <a:tr h="336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2025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48,281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85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7,383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711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12,575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27,437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38571762"/>
                  </a:ext>
                </a:extLst>
              </a:tr>
              <a:tr h="3363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2026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48,353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85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7,462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708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12,571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altLang="ko-KR" sz="1000" kern="1200" dirty="0">
                          <a:solidFill>
                            <a:srgbClr val="000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27,437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8530566"/>
                  </a:ext>
                </a:extLst>
              </a:tr>
            </a:tbl>
          </a:graphicData>
        </a:graphic>
      </p:graphicFrame>
      <p:graphicFrame>
        <p:nvGraphicFramePr>
          <p:cNvPr id="29" name="Group 9">
            <a:extLst>
              <a:ext uri="{FF2B5EF4-FFF2-40B4-BE49-F238E27FC236}">
                <a16:creationId xmlns:a16="http://schemas.microsoft.com/office/drawing/2014/main" id="{805AFA79-FB08-D533-7125-034E30DCFB8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7117855"/>
              </p:ext>
            </p:extLst>
          </p:nvPr>
        </p:nvGraphicFramePr>
        <p:xfrm>
          <a:off x="560949" y="6374777"/>
          <a:ext cx="6643961" cy="3831607"/>
        </p:xfrm>
        <a:graphic>
          <a:graphicData uri="http://schemas.openxmlformats.org/drawingml/2006/table">
            <a:tbl>
              <a:tblPr/>
              <a:tblGrid>
                <a:gridCol w="11306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8875">
                  <a:extLst>
                    <a:ext uri="{9D8B030D-6E8A-4147-A177-3AD203B41FA5}">
                      <a16:colId xmlns:a16="http://schemas.microsoft.com/office/drawing/2014/main" val="2999135996"/>
                    </a:ext>
                  </a:extLst>
                </a:gridCol>
                <a:gridCol w="29244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7378"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baseline="0" dirty="0">
                          <a:solidFill>
                            <a:schemeClr val="bg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유지관리 활동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baseline="0" dirty="0">
                          <a:solidFill>
                            <a:schemeClr val="bg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정의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>
                      <a:lvl1pPr marL="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굴림"/>
                        </a:defRPr>
                      </a:lvl1pPr>
                      <a:lvl2pPr marL="3887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굴림"/>
                        </a:defRPr>
                      </a:lvl2pPr>
                      <a:lvl3pPr marL="777514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굴림"/>
                        </a:defRPr>
                      </a:lvl3pPr>
                      <a:lvl4pPr marL="1166271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굴림"/>
                        </a:defRPr>
                      </a:lvl4pPr>
                      <a:lvl5pPr marL="1555029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굴림"/>
                        </a:defRPr>
                      </a:lvl5pPr>
                      <a:lvl6pPr marL="1943786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굴림"/>
                        </a:defRPr>
                      </a:lvl6pPr>
                      <a:lvl7pPr marL="2332543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굴림"/>
                        </a:defRPr>
                      </a:lvl7pPr>
                      <a:lvl8pPr marL="2721300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굴림"/>
                        </a:defRPr>
                      </a:lvl8pPr>
                      <a:lvl9pPr marL="3110057" algn="l" defTabSz="777514" rtl="0" eaLnBrk="1" latinLnBrk="1" hangingPunct="1">
                        <a:defRPr sz="1531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  <a:cs typeface="굴림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kern="1200" baseline="0" dirty="0">
                          <a:solidFill>
                            <a:schemeClr val="bg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수행 내역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0066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625"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0" marR="0" lvl="0" indent="0" algn="ctr" defTabSz="149979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SW </a:t>
                      </a:r>
                      <a:r>
                        <a:rPr kumimoji="1" lang="ko-KR" altLang="en-US" sz="10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완전 유지관리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9979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유지관리 대상 소프트웨어의 기능을 향상시키는 활동 및 소프트웨어에 대한 신규 기능 추가</a:t>
                      </a:r>
                      <a:r>
                        <a:rPr kumimoji="1" lang="en-US" altLang="ko-KR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기능변경</a:t>
                      </a:r>
                      <a:r>
                        <a:rPr kumimoji="1" lang="en-US" altLang="ko-KR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기능 삭제 등</a:t>
                      </a:r>
                    </a:p>
                  </a:txBody>
                  <a:tcPr marL="90000" marR="55378" marT="15310" marB="1531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ysClr val="window" lastClr="FFFFFF">
                          <a:lumMod val="95000"/>
                        </a:sysClr>
                      </a:fgClr>
                      <a:bgClr>
                        <a:sysClr val="window" lastClr="FFFFFF"/>
                      </a:bgClr>
                    </a:pattFill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성능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기능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데이터 정확도 개선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사용자 인터페이스 개선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평균 응답시간의 개선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6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SW </a:t>
                      </a:r>
                      <a:r>
                        <a:rPr kumimoji="1" lang="ko-KR" altLang="en-US" sz="10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적응 유지관리</a:t>
                      </a:r>
                    </a:p>
                  </a:txBody>
                  <a:tcPr marL="55378" marR="55378" marT="15310" marB="1531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9979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유지관리 대상 소프트웨어가 새로운 환경에 적응하기 위한 활동</a:t>
                      </a:r>
                    </a:p>
                  </a:txBody>
                  <a:tcPr marL="90000" marR="55378" marT="15310" marB="1531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ysClr val="window" lastClr="FFFFFF">
                          <a:lumMod val="95000"/>
                        </a:sysClr>
                      </a:fgClr>
                      <a:bgClr>
                        <a:sysClr val="window" lastClr="FFFFFF"/>
                      </a:bgClr>
                    </a:pattFill>
                  </a:tcPr>
                </a:tc>
                <a:tc>
                  <a:txBody>
                    <a:bodyPr/>
                    <a:lstStyle>
                      <a:lvl1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1pPr>
                      <a:lvl2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2pPr>
                      <a:lvl3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3pPr>
                      <a:lvl4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4pPr>
                      <a:lvl5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5pPr>
                      <a:lvl6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6pPr>
                      <a:lvl7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7pPr>
                      <a:lvl8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8pPr>
                      <a:lvl9pPr>
                        <a:defRPr>
                          <a:solidFill>
                            <a:schemeClr val="tx1"/>
                          </a:solidFill>
                          <a:latin typeface="KoPub바탕체 Light"/>
                          <a:ea typeface="KoPub바탕체 Light"/>
                          <a:cs typeface="굴림"/>
                        </a:defRPr>
                      </a:lvl9pPr>
                    </a:lstStyle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환경변화에 대응한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소프트웨어 변경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데이터 전환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변경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운영환경의 변경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295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altLang="ko-KR" sz="10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SW </a:t>
                      </a:r>
                      <a:r>
                        <a:rPr kumimoji="1" lang="ko-KR" altLang="en-US" sz="10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수리 유지관리</a:t>
                      </a:r>
                    </a:p>
                  </a:txBody>
                  <a:tcPr marL="55378" marR="55378" marT="15310" marB="1531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9979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유지관리 대상 소프트웨어에서 발견되는 결함을 수정하는 활동</a:t>
                      </a:r>
                    </a:p>
                  </a:txBody>
                  <a:tcPr marL="90000" marR="55378" marT="15310" marB="1531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ysClr val="window" lastClr="FFFFFF">
                          <a:lumMod val="95000"/>
                        </a:sysClr>
                      </a:fgClr>
                      <a:bgClr>
                        <a:sysClr val="window" lastClr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프로그램 비정상 종료 수정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 출력 에러 수정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프로그램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표준 기준에 부적합한 사항 보완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652278"/>
                  </a:ext>
                </a:extLst>
              </a:tr>
              <a:tr h="35598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en-US" sz="10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HW </a:t>
                      </a:r>
                      <a:r>
                        <a:rPr kumimoji="1" lang="ko-KR" altLang="en-US" sz="10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유지관리</a:t>
                      </a:r>
                    </a:p>
                  </a:txBody>
                  <a:tcPr marL="55378" marR="55378" marT="15310" marB="1531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9979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유지관리 대상 장비</a:t>
                      </a:r>
                      <a:r>
                        <a:rPr kumimoji="1" lang="en-US" altLang="ko-KR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정보자원</a:t>
                      </a:r>
                      <a:r>
                        <a:rPr kumimoji="1" lang="en-US" altLang="ko-KR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사무자동화기기 등</a:t>
                      </a:r>
                      <a:r>
                        <a:rPr kumimoji="1" lang="en-US" altLang="ko-KR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kumimoji="1" lang="ko-KR" altLang="en-US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에서 발견되는 결함을 수정하는 활동</a:t>
                      </a:r>
                    </a:p>
                  </a:txBody>
                  <a:tcPr marL="90000" marR="55378" marT="15310" marB="1531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ysClr val="window" lastClr="FFFFFF">
                          <a:lumMod val="95000"/>
                        </a:sysClr>
                      </a:fgClr>
                      <a:bgClr>
                        <a:sysClr val="window" lastClr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HW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장애 수정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교체 등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1415750"/>
                  </a:ext>
                </a:extLst>
              </a:tr>
              <a:tr h="58962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0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지원 업무</a:t>
                      </a:r>
                    </a:p>
                  </a:txBody>
                  <a:tcPr marL="55378" marR="55378" marT="15310" marB="1531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9979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대상 정보체계</a:t>
                      </a:r>
                      <a:r>
                        <a:rPr kumimoji="1" lang="en-US" altLang="ko-KR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HW, SW</a:t>
                      </a:r>
                      <a:r>
                        <a:rPr kumimoji="1" lang="ko-KR" altLang="en-US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의 운영에 소요되는 지원활동</a:t>
                      </a:r>
                    </a:p>
                  </a:txBody>
                  <a:tcPr marL="90000" marR="55378" marT="15310" marB="1531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ysClr val="window" lastClr="FFFFFF">
                          <a:lumMod val="95000"/>
                        </a:sysClr>
                      </a:fgClr>
                      <a:bgClr>
                        <a:sysClr val="window" lastClr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서비스 데스크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콜센터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운영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운영과 관련된 보고 및 회의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정기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-5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비정기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업무 협의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운영 품질관리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표준정의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SLA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관리 등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1430005"/>
                  </a:ext>
                </a:extLst>
              </a:tr>
              <a:tr h="90986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0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일상 운영</a:t>
                      </a:r>
                    </a:p>
                  </a:txBody>
                  <a:tcPr marL="55378" marR="55378" marT="15310" marB="1531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BEB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499799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대상 정보체계</a:t>
                      </a:r>
                      <a:r>
                        <a:rPr kumimoji="1" lang="en-US" altLang="ko-KR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HW, SW</a:t>
                      </a:r>
                      <a:r>
                        <a:rPr kumimoji="1" lang="ko-KR" altLang="en-US" sz="900" kern="120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의 정상적인 운영과 관련된 활동</a:t>
                      </a:r>
                    </a:p>
                  </a:txBody>
                  <a:tcPr marL="90000" marR="55378" marT="15310" marB="1531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pattFill prst="dkUpDiag">
                      <a:fgClr>
                        <a:sysClr val="window" lastClr="FFFFFF">
                          <a:lumMod val="95000"/>
                        </a:sysClr>
                      </a:fgClr>
                      <a:bgClr>
                        <a:sysClr val="window" lastClr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운영서비스 계획 수립 및 시행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소프트웨어 이상 유무 점검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모니터링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장애예방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관리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고객 요구에 따른 자료 출력지원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데이터 백업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보관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삭제 등에 관한 계획 수립 및 시행</a:t>
                      </a:r>
                    </a:p>
                    <a:p>
                      <a:pPr marL="171450" marR="0" lvl="0" indent="-17145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1">
                            <a:lumMod val="50000"/>
                            <a:lumOff val="50000"/>
                          </a:schemeClr>
                        </a:buClr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배치작업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정기적 작업 수행</a:t>
                      </a:r>
                      <a:r>
                        <a:rPr kumimoji="1" lang="en-US" altLang="ko-KR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kumimoji="1" lang="ko-KR" altLang="en-US" sz="900" b="0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결과 확인 및 조치</a:t>
                      </a:r>
                    </a:p>
                  </a:txBody>
                  <a:tcPr marL="90000" marR="90000" marT="46800" marB="46800" anchor="ctr" horzOverflow="overflow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94977959"/>
                  </a:ext>
                </a:extLst>
              </a:tr>
            </a:tbl>
          </a:graphicData>
        </a:graphic>
      </p:graphicFrame>
      <p:grpSp>
        <p:nvGrpSpPr>
          <p:cNvPr id="3" name="그룹 2">
            <a:extLst>
              <a:ext uri="{FF2B5EF4-FFF2-40B4-BE49-F238E27FC236}">
                <a16:creationId xmlns:a16="http://schemas.microsoft.com/office/drawing/2014/main" id="{D408A68E-0006-9161-635B-63CCDB5CEA67}"/>
              </a:ext>
            </a:extLst>
          </p:cNvPr>
          <p:cNvGrpSpPr/>
          <p:nvPr/>
        </p:nvGrpSpPr>
        <p:grpSpPr>
          <a:xfrm>
            <a:off x="575419" y="3651286"/>
            <a:ext cx="6123444" cy="199199"/>
            <a:chOff x="354537" y="2859354"/>
            <a:chExt cx="5810766" cy="16579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E6FA95B-CE93-4444-748F-A4A933D49B84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latinLnBrk="0"/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전산장비 유지보수 대상 장비 총괄 현황</a:t>
              </a:r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AFE4898-F7E9-A739-0071-6221ED5958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6" name="그룹 5">
            <a:extLst>
              <a:ext uri="{FF2B5EF4-FFF2-40B4-BE49-F238E27FC236}">
                <a16:creationId xmlns:a16="http://schemas.microsoft.com/office/drawing/2014/main" id="{9A959A66-64A5-B9CC-195A-82DFBF8D5834}"/>
              </a:ext>
            </a:extLst>
          </p:cNvPr>
          <p:cNvGrpSpPr/>
          <p:nvPr/>
        </p:nvGrpSpPr>
        <p:grpSpPr>
          <a:xfrm>
            <a:off x="575419" y="5165824"/>
            <a:ext cx="6123444" cy="199199"/>
            <a:chOff x="354537" y="2859354"/>
            <a:chExt cx="5810766" cy="165794"/>
          </a:xfrm>
        </p:grpSpPr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04CAAFE-53AE-36E9-0E6D-AEE1B2A6C2AE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latinLnBrk="0"/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유지보수 투입인력</a:t>
              </a:r>
            </a:p>
          </p:txBody>
        </p:sp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B4819B69-1D6E-FB0C-8697-517DA9DAF81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55829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5EB94BF4-269D-4ADE-8025-A904DB6FAF1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D15C4-AF98-EFE3-EB7A-8C48293D6D4B}"/>
              </a:ext>
            </a:extLst>
          </p:cNvPr>
          <p:cNvSpPr txBox="1"/>
          <p:nvPr/>
        </p:nvSpPr>
        <p:spPr>
          <a:xfrm>
            <a:off x="934361" y="2524932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성공적인 사업 수행을 위한 운영 및 유지관리 업무 정의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8FA33E-FCA6-5565-BB5E-627D28B7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7" name="제목 1">
            <a:extLst>
              <a:ext uri="{FF2B5EF4-FFF2-40B4-BE49-F238E27FC236}">
                <a16:creationId xmlns:a16="http://schemas.microsoft.com/office/drawing/2014/main" id="{B200D8DB-75AB-DC3D-1B32-539CC26912B7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109" name="제목 1">
            <a:extLst>
              <a:ext uri="{FF2B5EF4-FFF2-40B4-BE49-F238E27FC236}">
                <a16:creationId xmlns:a16="http://schemas.microsoft.com/office/drawing/2014/main" id="{09EB6A0F-9F5F-B194-D668-4BBD59D29058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마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범위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(2/5)</a:t>
            </a:r>
          </a:p>
        </p:txBody>
      </p:sp>
      <p:graphicFrame>
        <p:nvGraphicFramePr>
          <p:cNvPr id="38" name="표 37">
            <a:extLst>
              <a:ext uri="{FF2B5EF4-FFF2-40B4-BE49-F238E27FC236}">
                <a16:creationId xmlns:a16="http://schemas.microsoft.com/office/drawing/2014/main" id="{A4637106-1DA7-65BC-FE4A-1B19F48114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8811067"/>
              </p:ext>
            </p:extLst>
          </p:nvPr>
        </p:nvGraphicFramePr>
        <p:xfrm>
          <a:off x="574674" y="2385907"/>
          <a:ext cx="6626225" cy="3300339"/>
        </p:xfrm>
        <a:graphic>
          <a:graphicData uri="http://schemas.openxmlformats.org/drawingml/2006/table">
            <a:tbl>
              <a:tblPr/>
              <a:tblGrid>
                <a:gridCol w="117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2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8021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kern="1200" spc="0" baseline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구 분</a:t>
                      </a:r>
                    </a:p>
                  </a:txBody>
                  <a:tcPr marL="15030" marR="15030" marT="15030" marB="1503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100" b="0" kern="1200" spc="0" baseline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유지관리 항목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100" b="0" kern="1200" spc="0" baseline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유지관리 내용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800"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제품관련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업그레이드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기존 시스템 성능 향상을 위한 장치 및 부품 교체 지원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502">
                <a:tc row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기술지원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예방보수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장애가능성 사전 예측 및 문제점 보수</a:t>
                      </a:r>
                      <a:r>
                        <a:rPr lang="en-US" altLang="ko-KR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예방 활동</a:t>
                      </a:r>
                      <a:r>
                        <a:rPr lang="en-US" altLang="ko-KR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endParaRPr lang="ko-KR" altLang="en-US" sz="900" kern="0" spc="-6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897059"/>
                  </a:ext>
                </a:extLst>
              </a:tr>
              <a:tr h="2915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긴급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장애 처리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장애 발생 시 신속한 처리 및 근원적 문제 해결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502">
                <a:tc row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교육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운영자 교육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시스템 운영을 위한 운영자 교육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5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기술이전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시스템 운영 기술의 이전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502">
                <a:tc rowSpan="5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관리 및 설치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인력파견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제조사 엔지니어 투입 지원</a:t>
                      </a:r>
                      <a:r>
                        <a:rPr lang="en-US" altLang="ko-KR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·</a:t>
                      </a: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관리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818139"/>
                  </a:ext>
                </a:extLst>
              </a:tr>
              <a:tr h="2915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부품 지원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유지관리 대상 장비의 부품 보유 및 수리 시 부품 제공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06476"/>
                  </a:ext>
                </a:extLst>
              </a:tr>
              <a:tr h="2915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시스템 운영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시스템 점검 및 점검결과 이력 관리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833682"/>
                  </a:ext>
                </a:extLst>
              </a:tr>
              <a:tr h="2915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운영 활동 보고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유지관리 작업보고서 작성</a:t>
                      </a:r>
                      <a:r>
                        <a:rPr lang="en-US" altLang="ko-KR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시스템 운영보고서 작성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552329"/>
                  </a:ext>
                </a:extLst>
              </a:tr>
              <a:tr h="2915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이전 및 증설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시스템의 설치장소 이전</a:t>
                      </a:r>
                      <a:r>
                        <a:rPr lang="en-US" altLang="ko-KR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900" kern="0" spc="-6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새로운 장비 추가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906572"/>
                  </a:ext>
                </a:extLst>
              </a:tr>
            </a:tbl>
          </a:graphicData>
        </a:graphic>
      </p:graphicFrame>
      <p:graphicFrame>
        <p:nvGraphicFramePr>
          <p:cNvPr id="39" name="표 38">
            <a:extLst>
              <a:ext uri="{FF2B5EF4-FFF2-40B4-BE49-F238E27FC236}">
                <a16:creationId xmlns:a16="http://schemas.microsoft.com/office/drawing/2014/main" id="{92922E11-4125-6A40-9377-75B1A4FB94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977118"/>
              </p:ext>
            </p:extLst>
          </p:nvPr>
        </p:nvGraphicFramePr>
        <p:xfrm>
          <a:off x="574674" y="6131758"/>
          <a:ext cx="6626225" cy="4074277"/>
        </p:xfrm>
        <a:graphic>
          <a:graphicData uri="http://schemas.openxmlformats.org/drawingml/2006/table">
            <a:tbl>
              <a:tblPr/>
              <a:tblGrid>
                <a:gridCol w="1171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8272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6393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100" b="0" kern="1200" spc="0" baseline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구 분</a:t>
                      </a:r>
                    </a:p>
                  </a:txBody>
                  <a:tcPr marL="15030" marR="15030" marT="15030" marB="1503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100" b="0" kern="1200" spc="0" baseline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유지관리 항목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kumimoji="1" lang="ko-KR" altLang="en-US" sz="1100" b="0" kern="1200" spc="0" baseline="0" dirty="0">
                          <a:solidFill>
                            <a:schemeClr val="tx1"/>
                          </a:soli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유지관리 내용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183">
                <a:tc rowSpan="3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제품</a:t>
                      </a:r>
                    </a:p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관련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패치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94310" marR="0" indent="-1943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-3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신규 기술적용</a:t>
                      </a:r>
                      <a:r>
                        <a:rPr lang="en-US" altLang="ko-KR" sz="900" kern="0" spc="-3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·</a:t>
                      </a:r>
                      <a:r>
                        <a:rPr lang="ko-KR" altLang="en-US" sz="900" kern="0" spc="-3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운영체제 변화 등으로 발생하는 불일치 조정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  <a:p>
                      <a:pPr marL="194310" marR="0" indent="-1943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-3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보안 취약점</a:t>
                      </a:r>
                      <a:r>
                        <a:rPr lang="en-US" altLang="ko-KR" sz="900" kern="0" spc="-3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900" kern="0" spc="-3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성능 개선을 위한 각종 </a:t>
                      </a:r>
                      <a:r>
                        <a:rPr lang="en-US" altLang="ko-KR" sz="900" kern="0" spc="-3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OS·SW </a:t>
                      </a:r>
                      <a:r>
                        <a:rPr lang="ko-KR" altLang="en-US" sz="900" kern="0" spc="-3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패치 적용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15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업데이트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기존 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SW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제품의 기능 보완을 위해 필요한 업데이트 적용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755418"/>
                  </a:ext>
                </a:extLst>
              </a:tr>
              <a:tr h="2915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업그레이드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-8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기존 </a:t>
                      </a:r>
                      <a:r>
                        <a:rPr lang="en-US" altLang="ko-KR" sz="900" kern="0" spc="-8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SW</a:t>
                      </a:r>
                      <a:r>
                        <a:rPr lang="ko-KR" altLang="en-US" sz="900" kern="0" spc="-8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제품 기능 향상을 위한 새로운 버전으로의 교체 수행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897059"/>
                  </a:ext>
                </a:extLst>
              </a:tr>
              <a:tr h="291502">
                <a:tc rowSpan="3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기술</a:t>
                      </a:r>
                    </a:p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지원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정기점검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/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조율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71450" marR="0" indent="-17145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시스템 리소스 및 특이사항 정기점검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정기 성능 조율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15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 err="1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예방보수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장애가능성 사전 예측 및 문제점 보수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예방 활동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endParaRPr lang="ko-KR" altLang="en-US" sz="900" kern="0" spc="0" dirty="0">
                        <a:solidFill>
                          <a:srgbClr val="000000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15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(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긴급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)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장애 처리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장애 발생 시 신속한 처리 및 근원적 문제 해결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1502">
                <a:tc rowSpan="2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교육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운영자 교육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시스템 운영을 위한 운영자 교육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4818139"/>
                  </a:ext>
                </a:extLst>
              </a:tr>
              <a:tr h="2915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기술이전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시스템 운영 기술의 이전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406476"/>
                  </a:ext>
                </a:extLst>
              </a:tr>
              <a:tr h="291502">
                <a:tc rowSpan="3"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관리 및</a:t>
                      </a:r>
                    </a:p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설치</a:t>
                      </a:r>
                    </a:p>
                  </a:txBody>
                  <a:tcPr marL="17907" marR="17907" marT="17907" marB="17907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인력파견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제조사 엔지니어 투입 지원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·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관리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0833682"/>
                  </a:ext>
                </a:extLst>
              </a:tr>
              <a:tr h="5371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시스템 운영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시스템 점검 및 점검결과 이력 관리</a:t>
                      </a:r>
                    </a:p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사용자 계정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·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권한 관리 등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8552329"/>
                  </a:ext>
                </a:extLst>
              </a:tr>
              <a:tr h="29150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ctr" latinLnBrk="0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운영 활동 보고</a:t>
                      </a:r>
                    </a:p>
                  </a:txBody>
                  <a:tcPr marL="17907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181610" marR="0" indent="-181610" algn="just" fontAlgn="ctr" latinLnBrk="1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유지관리 작업보고서 작성</a:t>
                      </a:r>
                      <a:r>
                        <a:rPr lang="en-US" altLang="ko-KR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, </a:t>
                      </a:r>
                      <a:r>
                        <a:rPr lang="ko-KR" altLang="en-US" sz="900" kern="0" spc="0" dirty="0">
                          <a:solidFill>
                            <a:srgbClr val="000000"/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시스템 운영보고서 작성</a:t>
                      </a:r>
                    </a:p>
                  </a:txBody>
                  <a:tcPr marL="72000" marR="17907" marT="17907" marB="72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60906572"/>
                  </a:ext>
                </a:extLst>
              </a:tr>
            </a:tbl>
          </a:graphicData>
        </a:graphic>
      </p:graphicFrame>
      <p:sp>
        <p:nvSpPr>
          <p:cNvPr id="46" name="TextBox 45">
            <a:extLst>
              <a:ext uri="{FF2B5EF4-FFF2-40B4-BE49-F238E27FC236}">
                <a16:creationId xmlns:a16="http://schemas.microsoft.com/office/drawing/2014/main" id="{7215810F-A947-2972-6C6B-394D13D053E0}"/>
              </a:ext>
            </a:extLst>
          </p:cNvPr>
          <p:cNvSpPr txBox="1"/>
          <p:nvPr/>
        </p:nvSpPr>
        <p:spPr>
          <a:xfrm>
            <a:off x="934361" y="1644256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성공적인 사업 수행을 위한 운영 및 유지관리 업무 정의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E66C95DB-B3DD-5566-4B8D-9E2E4BC92352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C799BF90-A0EA-0880-6219-589210BD023C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하드웨어 분야 주요 유지관리 내용</a:t>
              </a:r>
            </a:p>
          </p:txBody>
        </p:sp>
        <p:pic>
          <p:nvPicPr>
            <p:cNvPr id="10" name="그림 9">
              <a:extLst>
                <a:ext uri="{FF2B5EF4-FFF2-40B4-BE49-F238E27FC236}">
                  <a16:creationId xmlns:a16="http://schemas.microsoft.com/office/drawing/2014/main" id="{CAFAD907-3428-4350-ABF6-884C7805CC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74A77A32-BCF2-80FD-376A-609BBB1E565A}"/>
              </a:ext>
            </a:extLst>
          </p:cNvPr>
          <p:cNvGrpSpPr/>
          <p:nvPr/>
        </p:nvGrpSpPr>
        <p:grpSpPr>
          <a:xfrm>
            <a:off x="575419" y="5813896"/>
            <a:ext cx="6123444" cy="199199"/>
            <a:chOff x="354537" y="2859354"/>
            <a:chExt cx="5810766" cy="165794"/>
          </a:xfrm>
        </p:grpSpPr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1E0F7DD-45FC-AD74-1117-0165DA4C99EF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latinLnBrk="0"/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소프트웨어 분야 주요 유지관리 내용</a:t>
              </a: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7D1C9E71-B61E-7350-3483-C831DBEBA7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5465842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DA657-7BEF-AAB0-3D7B-1E955C848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B3F82ECD-E31B-E6BC-B435-7937F30E6C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2914715"/>
              </p:ext>
            </p:extLst>
          </p:nvPr>
        </p:nvGraphicFramePr>
        <p:xfrm>
          <a:off x="588194" y="4634754"/>
          <a:ext cx="6612702" cy="1010092"/>
        </p:xfrm>
        <a:graphic>
          <a:graphicData uri="http://schemas.openxmlformats.org/drawingml/2006/table">
            <a:tbl>
              <a:tblPr/>
              <a:tblGrid>
                <a:gridCol w="616719">
                  <a:extLst>
                    <a:ext uri="{9D8B030D-6E8A-4147-A177-3AD203B41FA5}">
                      <a16:colId xmlns:a16="http://schemas.microsoft.com/office/drawing/2014/main" val="417629925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733322941"/>
                    </a:ext>
                  </a:extLst>
                </a:gridCol>
                <a:gridCol w="886618">
                  <a:extLst>
                    <a:ext uri="{9D8B030D-6E8A-4147-A177-3AD203B41FA5}">
                      <a16:colId xmlns:a16="http://schemas.microsoft.com/office/drawing/2014/main" val="215476542"/>
                    </a:ext>
                  </a:extLst>
                </a:gridCol>
                <a:gridCol w="886618">
                  <a:extLst>
                    <a:ext uri="{9D8B030D-6E8A-4147-A177-3AD203B41FA5}">
                      <a16:colId xmlns:a16="http://schemas.microsoft.com/office/drawing/2014/main" val="2695603133"/>
                    </a:ext>
                  </a:extLst>
                </a:gridCol>
                <a:gridCol w="886618">
                  <a:extLst>
                    <a:ext uri="{9D8B030D-6E8A-4147-A177-3AD203B41FA5}">
                      <a16:colId xmlns:a16="http://schemas.microsoft.com/office/drawing/2014/main" val="1727023508"/>
                    </a:ext>
                  </a:extLst>
                </a:gridCol>
                <a:gridCol w="886618">
                  <a:extLst>
                    <a:ext uri="{9D8B030D-6E8A-4147-A177-3AD203B41FA5}">
                      <a16:colId xmlns:a16="http://schemas.microsoft.com/office/drawing/2014/main" val="3586217647"/>
                    </a:ext>
                  </a:extLst>
                </a:gridCol>
                <a:gridCol w="886618">
                  <a:extLst>
                    <a:ext uri="{9D8B030D-6E8A-4147-A177-3AD203B41FA5}">
                      <a16:colId xmlns:a16="http://schemas.microsoft.com/office/drawing/2014/main" val="2367340476"/>
                    </a:ext>
                  </a:extLst>
                </a:gridCol>
                <a:gridCol w="886618">
                  <a:extLst>
                    <a:ext uri="{9D8B030D-6E8A-4147-A177-3AD203B41FA5}">
                      <a16:colId xmlns:a16="http://schemas.microsoft.com/office/drawing/2014/main" val="575520354"/>
                    </a:ext>
                  </a:extLst>
                </a:gridCol>
              </a:tblGrid>
              <a:tr h="20044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년도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시스템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SW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90854"/>
                  </a:ext>
                </a:extLst>
              </a:tr>
              <a:tr h="2004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OS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WEB/WAS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DBMS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성능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/</a:t>
                      </a: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모니터링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시스템 보안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기타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025836"/>
                  </a:ext>
                </a:extLst>
              </a:tr>
              <a:tr h="3045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2025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1,402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21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61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23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273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279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745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827630"/>
                  </a:ext>
                </a:extLst>
              </a:tr>
              <a:tr h="3045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2026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1,402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21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61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23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273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279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745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7120674"/>
                  </a:ext>
                </a:extLst>
              </a:tr>
            </a:tbl>
          </a:graphicData>
        </a:graphic>
      </p:graphicFrame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B79BC3DD-3A0E-6F8C-CAAC-1A7CAA0F165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04EB973A-DF05-4049-945B-267EA93B58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735011F3-0F7D-F64D-FEAA-8D35ADE0E2B5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1962D8A8-8A49-DF38-CE2E-0CE6A2324E3A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마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범위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(3/5)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1A453EE-C9A2-C592-B40F-34B453E444A6}"/>
              </a:ext>
            </a:extLst>
          </p:cNvPr>
          <p:cNvSpPr txBox="1"/>
          <p:nvPr/>
        </p:nvSpPr>
        <p:spPr>
          <a:xfrm>
            <a:off x="934361" y="1644256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성공적인 사업 수행을 위한 분야별 장비 현황 수량 도출</a:t>
            </a: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9E90F408-AC97-17F5-6F27-E5F52DCDA057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011F3A09-AAF8-A71D-9BA3-9069C0B29658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분야별 장비 현황</a:t>
              </a:r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C8BAB35B-EFD2-9B05-8ED4-AAC8B3D7A0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611B8D35-1799-C760-6752-74C779EFD66E}"/>
              </a:ext>
            </a:extLst>
          </p:cNvPr>
          <p:cNvGrpSpPr/>
          <p:nvPr/>
        </p:nvGrpSpPr>
        <p:grpSpPr>
          <a:xfrm>
            <a:off x="575419" y="8989523"/>
            <a:ext cx="6123444" cy="199199"/>
            <a:chOff x="354537" y="2859354"/>
            <a:chExt cx="5810766" cy="165794"/>
          </a:xfrm>
        </p:grpSpPr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50645CA2-620F-C82A-85E6-01F321BF8EEF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유지보수사업 수행간 유상 유지보수로 전환되는 사업 내역 분석</a:t>
              </a: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DF022F95-9356-7404-7720-678CD20952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14" name="Group 32">
            <a:extLst>
              <a:ext uri="{FF2B5EF4-FFF2-40B4-BE49-F238E27FC236}">
                <a16:creationId xmlns:a16="http://schemas.microsoft.com/office/drawing/2014/main" id="{473714A4-02B3-4787-2855-D36C5B9DC7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922731"/>
              </p:ext>
            </p:extLst>
          </p:nvPr>
        </p:nvGraphicFramePr>
        <p:xfrm>
          <a:off x="588194" y="9260728"/>
          <a:ext cx="6613627" cy="945656"/>
        </p:xfrm>
        <a:graphic>
          <a:graphicData uri="http://schemas.openxmlformats.org/drawingml/2006/table">
            <a:tbl>
              <a:tblPr/>
              <a:tblGrid>
                <a:gridCol w="105640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30910">
                  <a:extLst>
                    <a:ext uri="{9D8B030D-6E8A-4147-A177-3AD203B41FA5}">
                      <a16:colId xmlns:a16="http://schemas.microsoft.com/office/drawing/2014/main" val="2698414995"/>
                    </a:ext>
                  </a:extLst>
                </a:gridCol>
                <a:gridCol w="1722877">
                  <a:extLst>
                    <a:ext uri="{9D8B030D-6E8A-4147-A177-3AD203B41FA5}">
                      <a16:colId xmlns:a16="http://schemas.microsoft.com/office/drawing/2014/main" val="566705861"/>
                    </a:ext>
                  </a:extLst>
                </a:gridCol>
                <a:gridCol w="902676">
                  <a:extLst>
                    <a:ext uri="{9D8B030D-6E8A-4147-A177-3AD203B41FA5}">
                      <a16:colId xmlns:a16="http://schemas.microsoft.com/office/drawing/2014/main" val="4172435993"/>
                    </a:ext>
                  </a:extLst>
                </a:gridCol>
              </a:tblGrid>
              <a:tr h="390722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구분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1pPr>
                      <a:lvl2pPr marL="52152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2pPr>
                      <a:lvl3pPr marL="104305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3pPr>
                      <a:lvl4pPr marL="156458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4pPr>
                      <a:lvl5pPr marL="2086112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5pPr>
                      <a:lvl6pPr marL="2607640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6pPr>
                      <a:lvl7pPr marL="3129168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7pPr>
                      <a:lvl8pPr marL="3650696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8pPr>
                      <a:lvl9pPr marL="4172224" algn="l" defTabSz="1043056" rtl="0" eaLnBrk="1" latinLnBrk="1" hangingPunct="1">
                        <a:defRPr sz="2100" kern="1200">
                          <a:solidFill>
                            <a:schemeClr val="tx1"/>
                          </a:solidFill>
                          <a:latin typeface="KoPub돋움체 Bold"/>
                          <a:ea typeface="KoPub돋움체 Bold"/>
                        </a:defRPr>
                      </a:lvl9pPr>
                    </a:lstStyle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대상 </a:t>
                      </a:r>
                      <a:r>
                        <a:rPr kumimoji="1" lang="ko-KR" altLang="en-US" sz="10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체계명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(</a:t>
                      </a: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사업명</a:t>
                      </a:r>
                      <a:r>
                        <a:rPr kumimoji="1" lang="en-US" altLang="ko-KR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)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구분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유상 유지보수 기간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  <a:sym typeface="Rix모던고딕 L" charset="-127"/>
                        </a:rPr>
                        <a:t>정비월</a:t>
                      </a:r>
                      <a:endParaRPr kumimoji="1" lang="zh-CN" altLang="en-US" sz="10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Bold" panose="02020603020101020101" pitchFamily="18" charset="-127"/>
                        <a:ea typeface="KoPub돋움체 Bold" panose="02020603020101020101" pitchFamily="18" charset="-127"/>
                        <a:cs typeface="+mn-cs"/>
                        <a:sym typeface="Rix모던고딕 L" charset="-127"/>
                      </a:endParaRPr>
                    </a:p>
                  </a:txBody>
                  <a:tcPr anchor="ctr" horzOverflow="overflow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3CA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467">
                <a:tc rowSpan="2"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2026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전환</a:t>
                      </a:r>
                    </a:p>
                  </a:txBody>
                  <a:tcPr marL="82935" marR="82935" marT="41474" marB="41474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'24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년 노후 네트워크 교체사업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HW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1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‘26.1.1.~‘26.12.31.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12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개월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3234922"/>
                  </a:ext>
                </a:extLst>
              </a:tr>
              <a:tr h="27746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kern="1200" cap="none" normalizeH="0" baseline="0" dirty="0">
                        <a:ln>
                          <a:solidFill>
                            <a:schemeClr val="bg1">
                              <a:lumMod val="65000"/>
                              <a:alpha val="0"/>
                            </a:schemeClr>
                          </a:solidFill>
                        </a:ln>
                        <a:solidFill>
                          <a:srgbClr val="292929"/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굴림" pitchFamily="50" charset="-127"/>
                      </a:endParaRPr>
                    </a:p>
                  </a:txBody>
                  <a:tcPr marL="82935" marR="82935" marT="41474" marB="41474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6969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6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8F8F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차세대 군사법정보시스템 구축사업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상용</a:t>
                      </a:r>
                      <a:r>
                        <a:rPr kumimoji="1" 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SW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‘26.1.1.~‘26.12.31.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12</a:t>
                      </a:r>
                      <a:r>
                        <a:rPr kumimoji="1" lang="ko-KR" altLang="en-US" sz="900" b="1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396CBF"/>
                          </a:solidFill>
                          <a:effectLst/>
                          <a:uLnTx/>
                          <a:uFillTx/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개월 </a:t>
                      </a:r>
                    </a:p>
                  </a:txBody>
                  <a:tcPr marL="64800" marR="64800" marT="18000" marB="18000" anchor="ctr">
                    <a:lnL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44541790"/>
                  </a:ext>
                </a:extLst>
              </a:tr>
            </a:tbl>
          </a:graphicData>
        </a:graphic>
      </p:graphicFrame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DCD71F7A-2ED7-058B-DF60-B348B39B084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672364"/>
              </p:ext>
            </p:extLst>
          </p:nvPr>
        </p:nvGraphicFramePr>
        <p:xfrm>
          <a:off x="588194" y="2395796"/>
          <a:ext cx="6612710" cy="959584"/>
        </p:xfrm>
        <a:graphic>
          <a:graphicData uri="http://schemas.openxmlformats.org/drawingml/2006/table">
            <a:tbl>
              <a:tblPr/>
              <a:tblGrid>
                <a:gridCol w="635297">
                  <a:extLst>
                    <a:ext uri="{9D8B030D-6E8A-4147-A177-3AD203B41FA5}">
                      <a16:colId xmlns:a16="http://schemas.microsoft.com/office/drawing/2014/main" val="4176299257"/>
                    </a:ext>
                  </a:extLst>
                </a:gridCol>
                <a:gridCol w="664157">
                  <a:extLst>
                    <a:ext uri="{9D8B030D-6E8A-4147-A177-3AD203B41FA5}">
                      <a16:colId xmlns:a16="http://schemas.microsoft.com/office/drawing/2014/main" val="2733322941"/>
                    </a:ext>
                  </a:extLst>
                </a:gridCol>
                <a:gridCol w="664157">
                  <a:extLst>
                    <a:ext uri="{9D8B030D-6E8A-4147-A177-3AD203B41FA5}">
                      <a16:colId xmlns:a16="http://schemas.microsoft.com/office/drawing/2014/main" val="215476542"/>
                    </a:ext>
                  </a:extLst>
                </a:gridCol>
                <a:gridCol w="664157">
                  <a:extLst>
                    <a:ext uri="{9D8B030D-6E8A-4147-A177-3AD203B41FA5}">
                      <a16:colId xmlns:a16="http://schemas.microsoft.com/office/drawing/2014/main" val="1727023508"/>
                    </a:ext>
                  </a:extLst>
                </a:gridCol>
                <a:gridCol w="664157">
                  <a:extLst>
                    <a:ext uri="{9D8B030D-6E8A-4147-A177-3AD203B41FA5}">
                      <a16:colId xmlns:a16="http://schemas.microsoft.com/office/drawing/2014/main" val="575520354"/>
                    </a:ext>
                  </a:extLst>
                </a:gridCol>
                <a:gridCol w="664157">
                  <a:extLst>
                    <a:ext uri="{9D8B030D-6E8A-4147-A177-3AD203B41FA5}">
                      <a16:colId xmlns:a16="http://schemas.microsoft.com/office/drawing/2014/main" val="345008064"/>
                    </a:ext>
                  </a:extLst>
                </a:gridCol>
                <a:gridCol w="664157">
                  <a:extLst>
                    <a:ext uri="{9D8B030D-6E8A-4147-A177-3AD203B41FA5}">
                      <a16:colId xmlns:a16="http://schemas.microsoft.com/office/drawing/2014/main" val="1344054121"/>
                    </a:ext>
                  </a:extLst>
                </a:gridCol>
                <a:gridCol w="664157">
                  <a:extLst>
                    <a:ext uri="{9D8B030D-6E8A-4147-A177-3AD203B41FA5}">
                      <a16:colId xmlns:a16="http://schemas.microsoft.com/office/drawing/2014/main" val="2475681308"/>
                    </a:ext>
                  </a:extLst>
                </a:gridCol>
                <a:gridCol w="664157">
                  <a:extLst>
                    <a:ext uri="{9D8B030D-6E8A-4147-A177-3AD203B41FA5}">
                      <a16:colId xmlns:a16="http://schemas.microsoft.com/office/drawing/2014/main" val="1579465194"/>
                    </a:ext>
                  </a:extLst>
                </a:gridCol>
                <a:gridCol w="6641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0424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년도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주 장비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정보보호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12700" cmpd="sng">
                      <a:noFill/>
                      <a:prstDash val="solid"/>
                    </a:ln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25291903"/>
                  </a:ext>
                </a:extLst>
              </a:tr>
              <a:tr h="19042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서버</a:t>
                      </a:r>
                      <a:endParaRPr kumimoji="1" 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저장장치</a:t>
                      </a:r>
                      <a:endParaRPr kumimoji="1" 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방화벽</a:t>
                      </a:r>
                      <a:endParaRPr kumimoji="1" lang="en-US" sz="9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NAC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VPN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DDoS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9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IPS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1281728"/>
                  </a:ext>
                </a:extLst>
              </a:tr>
              <a:tr h="2893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2025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85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78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7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334841385"/>
                  </a:ext>
                </a:extLst>
              </a:tr>
              <a:tr h="2893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2026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85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78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7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1266824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08834987"/>
                  </a:ext>
                </a:extLst>
              </a:tr>
            </a:tbl>
          </a:graphicData>
        </a:graphic>
      </p:graphicFrame>
      <p:graphicFrame>
        <p:nvGraphicFramePr>
          <p:cNvPr id="16" name="표 15">
            <a:extLst>
              <a:ext uri="{FF2B5EF4-FFF2-40B4-BE49-F238E27FC236}">
                <a16:creationId xmlns:a16="http://schemas.microsoft.com/office/drawing/2014/main" id="{7136E6EB-627D-7264-46B5-E91ACAD29F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2326380"/>
              </p:ext>
            </p:extLst>
          </p:nvPr>
        </p:nvGraphicFramePr>
        <p:xfrm>
          <a:off x="588194" y="3490021"/>
          <a:ext cx="6612706" cy="1010092"/>
        </p:xfrm>
        <a:graphic>
          <a:graphicData uri="http://schemas.openxmlformats.org/drawingml/2006/table">
            <a:tbl>
              <a:tblPr/>
              <a:tblGrid>
                <a:gridCol w="635297">
                  <a:extLst>
                    <a:ext uri="{9D8B030D-6E8A-4147-A177-3AD203B41FA5}">
                      <a16:colId xmlns:a16="http://schemas.microsoft.com/office/drawing/2014/main" val="4176299257"/>
                    </a:ext>
                  </a:extLst>
                </a:gridCol>
                <a:gridCol w="668809">
                  <a:extLst>
                    <a:ext uri="{9D8B030D-6E8A-4147-A177-3AD203B41FA5}">
                      <a16:colId xmlns:a16="http://schemas.microsoft.com/office/drawing/2014/main" val="2733322941"/>
                    </a:ext>
                  </a:extLst>
                </a:gridCol>
                <a:gridCol w="1112520">
                  <a:extLst>
                    <a:ext uri="{9D8B030D-6E8A-4147-A177-3AD203B41FA5}">
                      <a16:colId xmlns:a16="http://schemas.microsoft.com/office/drawing/2014/main" val="215476542"/>
                    </a:ext>
                  </a:extLst>
                </a:gridCol>
                <a:gridCol w="1049020">
                  <a:extLst>
                    <a:ext uri="{9D8B030D-6E8A-4147-A177-3AD203B41FA5}">
                      <a16:colId xmlns:a16="http://schemas.microsoft.com/office/drawing/2014/main" val="2695603133"/>
                    </a:ext>
                  </a:extLst>
                </a:gridCol>
                <a:gridCol w="1049020">
                  <a:extLst>
                    <a:ext uri="{9D8B030D-6E8A-4147-A177-3AD203B41FA5}">
                      <a16:colId xmlns:a16="http://schemas.microsoft.com/office/drawing/2014/main" val="1727023508"/>
                    </a:ext>
                  </a:extLst>
                </a:gridCol>
                <a:gridCol w="1049020">
                  <a:extLst>
                    <a:ext uri="{9D8B030D-6E8A-4147-A177-3AD203B41FA5}">
                      <a16:colId xmlns:a16="http://schemas.microsoft.com/office/drawing/2014/main" val="3586217647"/>
                    </a:ext>
                  </a:extLst>
                </a:gridCol>
                <a:gridCol w="1049020">
                  <a:extLst>
                    <a:ext uri="{9D8B030D-6E8A-4147-A177-3AD203B41FA5}">
                      <a16:colId xmlns:a16="http://schemas.microsoft.com/office/drawing/2014/main" val="575520354"/>
                    </a:ext>
                  </a:extLst>
                </a:gridCol>
              </a:tblGrid>
              <a:tr h="20044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년도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네트워크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90854"/>
                  </a:ext>
                </a:extLst>
              </a:tr>
              <a:tr h="2004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라우터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백본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L4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워크그룹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기타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025836"/>
                  </a:ext>
                </a:extLst>
              </a:tr>
              <a:tr h="3045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2025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711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47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14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597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48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827630"/>
                  </a:ext>
                </a:extLst>
              </a:tr>
              <a:tr h="3045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2026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707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47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10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597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48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7120674"/>
                  </a:ext>
                </a:extLst>
              </a:tr>
            </a:tbl>
          </a:graphicData>
        </a:graphic>
      </p:graphicFrame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EA1C2239-E129-1FE0-9DFB-4F89B84EC5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0269788"/>
              </p:ext>
            </p:extLst>
          </p:nvPr>
        </p:nvGraphicFramePr>
        <p:xfrm>
          <a:off x="588194" y="6924220"/>
          <a:ext cx="6612710" cy="833715"/>
        </p:xfrm>
        <a:graphic>
          <a:graphicData uri="http://schemas.openxmlformats.org/drawingml/2006/table">
            <a:tbl>
              <a:tblPr/>
              <a:tblGrid>
                <a:gridCol w="635297">
                  <a:extLst>
                    <a:ext uri="{9D8B030D-6E8A-4147-A177-3AD203B41FA5}">
                      <a16:colId xmlns:a16="http://schemas.microsoft.com/office/drawing/2014/main" val="4176299257"/>
                    </a:ext>
                  </a:extLst>
                </a:gridCol>
                <a:gridCol w="656109">
                  <a:extLst>
                    <a:ext uri="{9D8B030D-6E8A-4147-A177-3AD203B41FA5}">
                      <a16:colId xmlns:a16="http://schemas.microsoft.com/office/drawing/2014/main" val="2733322941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15476542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930041615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3586217647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1269960620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075680259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6516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277905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년도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PC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노트북</a:t>
                      </a:r>
                      <a:endParaRPr kumimoji="1" 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모니터</a:t>
                      </a:r>
                      <a:endParaRPr kumimoji="1" 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프린터</a:t>
                      </a:r>
                      <a:endParaRPr kumimoji="1" 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스캐너</a:t>
                      </a:r>
                      <a:endParaRPr kumimoji="1" 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프로젝터</a:t>
                      </a:r>
                      <a:endParaRPr kumimoji="1" 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플로터</a:t>
                      </a:r>
                      <a:endParaRPr kumimoji="1" 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 err="1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디가우저</a:t>
                      </a:r>
                      <a:endParaRPr kumimoji="1" 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8430180"/>
                  </a:ext>
                </a:extLst>
              </a:tr>
              <a:tr h="277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2025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12,575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5,417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298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5,495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1,228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121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14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6705506"/>
                  </a:ext>
                </a:extLst>
              </a:tr>
              <a:tr h="27790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2026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12,821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5,428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298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5,495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1,213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121</a:t>
                      </a:r>
                      <a:endParaRPr lang="en-US" sz="900" b="0" kern="0" spc="0" dirty="0">
                        <a:solidFill>
                          <a:srgbClr val="000000"/>
                        </a:solidFill>
                        <a:effectLst/>
                        <a:latin typeface="Rix모던고딕 L" panose="02020603020101020101" pitchFamily="18" charset="-127"/>
                        <a:ea typeface="Rix모던고딕 L" panose="02020603020101020101" pitchFamily="18" charset="-127"/>
                        <a:cs typeface="+mn-cs"/>
                      </a:endParaRP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14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D9C9CBDF-D3EC-E25A-6A0D-6E91E7BC19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822554"/>
              </p:ext>
            </p:extLst>
          </p:nvPr>
        </p:nvGraphicFramePr>
        <p:xfrm>
          <a:off x="588194" y="7892576"/>
          <a:ext cx="6612706" cy="945656"/>
        </p:xfrm>
        <a:graphic>
          <a:graphicData uri="http://schemas.openxmlformats.org/drawingml/2006/table">
            <a:tbl>
              <a:tblPr/>
              <a:tblGrid>
                <a:gridCol w="624656">
                  <a:extLst>
                    <a:ext uri="{9D8B030D-6E8A-4147-A177-3AD203B41FA5}">
                      <a16:colId xmlns:a16="http://schemas.microsoft.com/office/drawing/2014/main" val="4176299257"/>
                    </a:ext>
                  </a:extLst>
                </a:gridCol>
                <a:gridCol w="673100">
                  <a:extLst>
                    <a:ext uri="{9D8B030D-6E8A-4147-A177-3AD203B41FA5}">
                      <a16:colId xmlns:a16="http://schemas.microsoft.com/office/drawing/2014/main" val="2733322941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15476542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93004161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3586217647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1269960620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075680259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1991363020"/>
                    </a:ext>
                  </a:extLst>
                </a:gridCol>
              </a:tblGrid>
              <a:tr h="203729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년도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기반 설비</a:t>
                      </a:r>
                      <a:endParaRPr kumimoji="1" 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800" b="0" kern="0" spc="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기타 부수 장비</a:t>
                      </a:r>
                      <a:endParaRPr kumimoji="1" 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025510"/>
                  </a:ext>
                </a:extLst>
              </a:tr>
              <a:tr h="20372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UPS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항온항습기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소방 설비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관제 설비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분전반</a:t>
                      </a:r>
                      <a:endParaRPr kumimoji="1" lang="en-US" altLang="ko-KR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53230"/>
                  </a:ext>
                </a:extLst>
              </a:tr>
              <a:tr h="2690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2025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74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13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16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14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16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15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27,437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8276434"/>
                  </a:ext>
                </a:extLst>
              </a:tr>
              <a:tr h="26909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2026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74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12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17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14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18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15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27,437</a:t>
                      </a:r>
                    </a:p>
                  </a:txBody>
                  <a:tcPr marL="64770" marR="64770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0130441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15A46627-683C-C621-EC70-FB9C01C3B1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713796"/>
              </p:ext>
            </p:extLst>
          </p:nvPr>
        </p:nvGraphicFramePr>
        <p:xfrm>
          <a:off x="588194" y="5779487"/>
          <a:ext cx="6612702" cy="1010092"/>
        </p:xfrm>
        <a:graphic>
          <a:graphicData uri="http://schemas.openxmlformats.org/drawingml/2006/table">
            <a:tbl>
              <a:tblPr/>
              <a:tblGrid>
                <a:gridCol w="616719">
                  <a:extLst>
                    <a:ext uri="{9D8B030D-6E8A-4147-A177-3AD203B41FA5}">
                      <a16:colId xmlns:a16="http://schemas.microsoft.com/office/drawing/2014/main" val="4176299257"/>
                    </a:ext>
                  </a:extLst>
                </a:gridCol>
                <a:gridCol w="676275">
                  <a:extLst>
                    <a:ext uri="{9D8B030D-6E8A-4147-A177-3AD203B41FA5}">
                      <a16:colId xmlns:a16="http://schemas.microsoft.com/office/drawing/2014/main" val="2733322941"/>
                    </a:ext>
                  </a:extLst>
                </a:gridCol>
                <a:gridCol w="886618">
                  <a:extLst>
                    <a:ext uri="{9D8B030D-6E8A-4147-A177-3AD203B41FA5}">
                      <a16:colId xmlns:a16="http://schemas.microsoft.com/office/drawing/2014/main" val="215476542"/>
                    </a:ext>
                  </a:extLst>
                </a:gridCol>
                <a:gridCol w="886618">
                  <a:extLst>
                    <a:ext uri="{9D8B030D-6E8A-4147-A177-3AD203B41FA5}">
                      <a16:colId xmlns:a16="http://schemas.microsoft.com/office/drawing/2014/main" val="2695603133"/>
                    </a:ext>
                  </a:extLst>
                </a:gridCol>
                <a:gridCol w="886618">
                  <a:extLst>
                    <a:ext uri="{9D8B030D-6E8A-4147-A177-3AD203B41FA5}">
                      <a16:colId xmlns:a16="http://schemas.microsoft.com/office/drawing/2014/main" val="1727023508"/>
                    </a:ext>
                  </a:extLst>
                </a:gridCol>
                <a:gridCol w="886618">
                  <a:extLst>
                    <a:ext uri="{9D8B030D-6E8A-4147-A177-3AD203B41FA5}">
                      <a16:colId xmlns:a16="http://schemas.microsoft.com/office/drawing/2014/main" val="3586217647"/>
                    </a:ext>
                  </a:extLst>
                </a:gridCol>
                <a:gridCol w="886618">
                  <a:extLst>
                    <a:ext uri="{9D8B030D-6E8A-4147-A177-3AD203B41FA5}">
                      <a16:colId xmlns:a16="http://schemas.microsoft.com/office/drawing/2014/main" val="2367340476"/>
                    </a:ext>
                  </a:extLst>
                </a:gridCol>
                <a:gridCol w="886618">
                  <a:extLst>
                    <a:ext uri="{9D8B030D-6E8A-4147-A177-3AD203B41FA5}">
                      <a16:colId xmlns:a16="http://schemas.microsoft.com/office/drawing/2014/main" val="575520354"/>
                    </a:ext>
                  </a:extLst>
                </a:gridCol>
              </a:tblGrid>
              <a:tr h="200448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년도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응용 </a:t>
                      </a:r>
                      <a:r>
                        <a:rPr kumimoji="1" lang="en-US" altLang="ko-KR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SW</a:t>
                      </a:r>
                      <a:endParaRPr kumimoji="1" lang="ko-KR" altLang="en-US" sz="1000" b="0" i="0" u="none" strike="noStrike" kern="1200" cap="none" normalizeH="0" baseline="0" dirty="0">
                        <a:ln>
                          <a:solidFill>
                            <a:srgbClr val="C00000">
                              <a:alpha val="0"/>
                            </a:srgbClr>
                          </a:solidFill>
                        </a:ln>
                        <a:solidFill>
                          <a:schemeClr val="tx1"/>
                        </a:solidFill>
                        <a:effectLst/>
                        <a:latin typeface="Rix모던고딕 B" panose="02020603020101020101" pitchFamily="18" charset="-127"/>
                        <a:ea typeface="Rix모던고딕 B" panose="02020603020101020101" pitchFamily="18" charset="-127"/>
                        <a:cs typeface="굴림" pitchFamily="50" charset="-127"/>
                      </a:endParaRP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090854"/>
                  </a:ext>
                </a:extLst>
              </a:tr>
              <a:tr h="20044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L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55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146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연계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관제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UI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보안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업무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kern="1200" cap="none" normalizeH="0" baseline="0" dirty="0">
                          <a:ln>
                            <a:solidFill>
                              <a:srgbClr val="C00000">
                                <a:alpha val="0"/>
                              </a:srgbClr>
                            </a:solidFill>
                          </a:ln>
                          <a:solidFill>
                            <a:schemeClr val="tx1"/>
                          </a:solidFill>
                          <a:effectLst/>
                          <a:latin typeface="Rix모던고딕 B" panose="02020603020101020101" pitchFamily="18" charset="-127"/>
                          <a:ea typeface="Rix모던고딕 B" panose="02020603020101020101" pitchFamily="18" charset="-127"/>
                          <a:cs typeface="굴림" pitchFamily="50" charset="-127"/>
                        </a:rPr>
                        <a:t>기타</a:t>
                      </a:r>
                    </a:p>
                  </a:txBody>
                  <a:tcPr marL="18000" marR="18000" marT="0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8025836"/>
                  </a:ext>
                </a:extLst>
              </a:tr>
              <a:tr h="3045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2025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5,981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80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30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270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1,342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4,120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139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73827630"/>
                  </a:ext>
                </a:extLst>
              </a:tr>
              <a:tr h="30459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1000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75000"/>
                            <a:lumOff val="25000"/>
                          </a:schemeClr>
                        </a:buClr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en-US" sz="1000" kern="1200" dirty="0">
                          <a:solidFill>
                            <a:srgbClr val="000000"/>
                          </a:solidFill>
                          <a:latin typeface="Rix모던고딕 M" panose="02020603020101020101" pitchFamily="18" charset="-127"/>
                          <a:ea typeface="Rix모던고딕 M" panose="02020603020101020101" pitchFamily="18" charset="-127"/>
                          <a:cs typeface="+mn-cs"/>
                        </a:rPr>
                        <a:t>2026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6,060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82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30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276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1,363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4,153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indent="0" algn="ctr" defTabSz="685800" rtl="0" eaLnBrk="1" fontAlgn="base" latinLnBrk="0" hangingPunct="1">
                        <a:lnSpc>
                          <a:spcPct val="16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0" kern="0" spc="0" dirty="0">
                          <a:solidFill>
                            <a:srgbClr val="000000"/>
                          </a:solidFill>
                          <a:effectLst/>
                          <a:latin typeface="Rix모던고딕 L" panose="02020603020101020101" pitchFamily="18" charset="-127"/>
                          <a:ea typeface="Rix모던고딕 L" panose="02020603020101020101" pitchFamily="18" charset="-127"/>
                          <a:cs typeface="+mn-cs"/>
                        </a:rPr>
                        <a:t>156</a:t>
                      </a:r>
                    </a:p>
                  </a:txBody>
                  <a:tcPr marL="17907" marR="17907" marT="17907" marB="17907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5569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171206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382850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D00BB-1709-A6E4-BAD1-C1985FB5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17D8A2F5-4005-AFC2-D229-AF7D499696B2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DE28271-E9FF-8962-5D2A-22F22E475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B51C68EA-050E-2DA1-6D95-114A12A1661B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2240122E-5638-406D-7F6A-3B429D9C7D43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마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범위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(4/5)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0F701D-99C1-B2D9-57F3-4E24C99B95C1}"/>
              </a:ext>
            </a:extLst>
          </p:cNvPr>
          <p:cNvSpPr txBox="1"/>
          <p:nvPr/>
        </p:nvSpPr>
        <p:spPr>
          <a:xfrm>
            <a:off x="934361" y="1644256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성공적인 사업 수행을 위한 필수 예방점검 대상 수량 도출 </a:t>
            </a:r>
            <a:r>
              <a:rPr kumimoji="1" lang="en-US" altLang="ko-KR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(1/2)</a:t>
            </a:r>
            <a:endParaRPr kumimoji="1" lang="ko-KR" altLang="en-US" sz="11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가는각진제목체" pitchFamily="18" charset="-127"/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C510A9D-01E8-2915-2CE1-8C6D74CF7EAE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2C641CE7-E55F-57DA-0C65-718059280F3B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주전산기 필수 예방점검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2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,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65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사전파악 완료</a:t>
              </a:r>
            </a:p>
          </p:txBody>
        </p:sp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09ADE6B3-6661-7F25-24B7-E58AD1D1099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E3961DA1-E82B-1704-CED3-50E5D39515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72380"/>
              </p:ext>
            </p:extLst>
          </p:nvPr>
        </p:nvGraphicFramePr>
        <p:xfrm>
          <a:off x="562719" y="2708027"/>
          <a:ext cx="6616055" cy="4719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68897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5250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9518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17413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35966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IBM / HP 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후지쯔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/ 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DellEMC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/ Lenovo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등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58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노후 및 단종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(EOL)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모델 사전 파악 완료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67574"/>
                  </a:ext>
                </a:extLst>
              </a:tr>
              <a:tr h="23596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저장장치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HP / 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DellEMC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/ Lenovo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노후 및 단종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(EOL)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모델 사전 파악 완료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6903110"/>
                  </a:ext>
                </a:extLst>
              </a:tr>
            </a:tbl>
          </a:graphicData>
        </a:graphic>
      </p:graphicFrame>
      <p:graphicFrame>
        <p:nvGraphicFramePr>
          <p:cNvPr id="14" name="표 13">
            <a:extLst>
              <a:ext uri="{FF2B5EF4-FFF2-40B4-BE49-F238E27FC236}">
                <a16:creationId xmlns:a16="http://schemas.microsoft.com/office/drawing/2014/main" id="{A97CCA02-D292-7CE7-08CF-9275581477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39187778"/>
              </p:ext>
            </p:extLst>
          </p:nvPr>
        </p:nvGraphicFramePr>
        <p:xfrm>
          <a:off x="562719" y="2429520"/>
          <a:ext cx="6626326" cy="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73869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0278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33106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7571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제조사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점검 주기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4253"/>
                  </a:ext>
                </a:extLst>
              </a:tr>
            </a:tbl>
          </a:graphicData>
        </a:graphic>
      </p:graphicFrame>
      <p:grpSp>
        <p:nvGrpSpPr>
          <p:cNvPr id="15" name="그룹 14">
            <a:extLst>
              <a:ext uri="{FF2B5EF4-FFF2-40B4-BE49-F238E27FC236}">
                <a16:creationId xmlns:a16="http://schemas.microsoft.com/office/drawing/2014/main" id="{63BD6B5C-E671-FF49-82E4-8536FECC82F5}"/>
              </a:ext>
            </a:extLst>
          </p:cNvPr>
          <p:cNvGrpSpPr/>
          <p:nvPr/>
        </p:nvGrpSpPr>
        <p:grpSpPr>
          <a:xfrm>
            <a:off x="575419" y="3293616"/>
            <a:ext cx="6123444" cy="199199"/>
            <a:chOff x="354537" y="2859354"/>
            <a:chExt cx="5810766" cy="165794"/>
          </a:xfrm>
        </p:grpSpPr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8ABD6C9-99E5-0A7B-A8ED-C49D9715C67A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네트워크 필수 예방점검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6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 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694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 사전파악 완료</a:t>
              </a:r>
            </a:p>
          </p:txBody>
        </p:sp>
        <p:pic>
          <p:nvPicPr>
            <p:cNvPr id="17" name="그림 16">
              <a:extLst>
                <a:ext uri="{FF2B5EF4-FFF2-40B4-BE49-F238E27FC236}">
                  <a16:creationId xmlns:a16="http://schemas.microsoft.com/office/drawing/2014/main" id="{653562B2-C289-7703-8DCC-C903C825CED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E3A701E8-6543-EEC1-8F2D-0FEE5AD3E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0297573"/>
              </p:ext>
            </p:extLst>
          </p:nvPr>
        </p:nvGraphicFramePr>
        <p:xfrm>
          <a:off x="562719" y="3900927"/>
          <a:ext cx="6616055" cy="174614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68897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5250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22835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9102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라우터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ASR-903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5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단종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(EOL)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라인카드 사전 파악 완료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67574"/>
                  </a:ext>
                </a:extLst>
              </a:tr>
              <a:tr h="29102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백본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NEXUS-9504/9008, C6513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단종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(EOL)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모델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(C6513)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사전 파악 완료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253345"/>
                  </a:ext>
                </a:extLst>
              </a:tr>
              <a:tr h="29102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L4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스위치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파이오링크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펌킨네트웍스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단종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(EOL)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모델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식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제외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020521"/>
                  </a:ext>
                </a:extLst>
              </a:tr>
              <a:tr h="29102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워크그룹 스위치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시스코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코어엣지네트웍스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한드림넷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HP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등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597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노후 및 단종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(EOL)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모델 사전 파악 완료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2313576"/>
                  </a:ext>
                </a:extLst>
              </a:tr>
              <a:tr h="29102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IP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관리체계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지니언스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1405941"/>
                  </a:ext>
                </a:extLst>
              </a:tr>
              <a:tr h="291024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문자전송장치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GMP M-SECUWAY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6316649"/>
                  </a:ext>
                </a:extLst>
              </a:tr>
            </a:tbl>
          </a:graphicData>
        </a:graphic>
      </p:graphicFrame>
      <p:graphicFrame>
        <p:nvGraphicFramePr>
          <p:cNvPr id="21" name="표 20">
            <a:extLst>
              <a:ext uri="{FF2B5EF4-FFF2-40B4-BE49-F238E27FC236}">
                <a16:creationId xmlns:a16="http://schemas.microsoft.com/office/drawing/2014/main" id="{76FE837C-7BF7-83EB-3CF9-24DC24D4F1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4549243"/>
              </p:ext>
            </p:extLst>
          </p:nvPr>
        </p:nvGraphicFramePr>
        <p:xfrm>
          <a:off x="562719" y="3622419"/>
          <a:ext cx="6626326" cy="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73869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0278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33106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7571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제조사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점검 주기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4253"/>
                  </a:ext>
                </a:extLst>
              </a:tr>
            </a:tbl>
          </a:graphicData>
        </a:graphic>
      </p:graphicFrame>
      <p:grpSp>
        <p:nvGrpSpPr>
          <p:cNvPr id="24" name="그룹 23">
            <a:extLst>
              <a:ext uri="{FF2B5EF4-FFF2-40B4-BE49-F238E27FC236}">
                <a16:creationId xmlns:a16="http://schemas.microsoft.com/office/drawing/2014/main" id="{5DB5FF55-CF5A-08EB-2423-92CCE787925D}"/>
              </a:ext>
            </a:extLst>
          </p:cNvPr>
          <p:cNvGrpSpPr/>
          <p:nvPr/>
        </p:nvGrpSpPr>
        <p:grpSpPr>
          <a:xfrm>
            <a:off x="575419" y="5840971"/>
            <a:ext cx="6123444" cy="199199"/>
            <a:chOff x="354537" y="2859354"/>
            <a:chExt cx="5810766" cy="165794"/>
          </a:xfrm>
        </p:grpSpPr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A89D340-F569-01D8-B01E-05DA5D5B2C4B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정보보호 필수 예방점검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6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 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17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 사전파악 완료</a:t>
              </a:r>
            </a:p>
          </p:txBody>
        </p: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CDC27522-90F0-23B5-02DA-5A965D095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74FBC67B-8186-DE7E-E691-8C22EFEA0D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2198225"/>
              </p:ext>
            </p:extLst>
          </p:nvPr>
        </p:nvGraphicFramePr>
        <p:xfrm>
          <a:off x="562719" y="6159686"/>
          <a:ext cx="6626326" cy="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73869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0278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33106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7571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제조사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점검 주기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4253"/>
                  </a:ext>
                </a:extLst>
              </a:tr>
            </a:tbl>
          </a:graphicData>
        </a:graphic>
      </p:graphicFrame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91C471DD-1B83-C239-A0B0-3631C16AE7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6807437"/>
              </p:ext>
            </p:extLst>
          </p:nvPr>
        </p:nvGraphicFramePr>
        <p:xfrm>
          <a:off x="562719" y="6438192"/>
          <a:ext cx="6616055" cy="204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68897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5250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22835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방화벽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안랩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TrusGuard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1000A/80B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6757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IPS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안랩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TrusGuard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IPX 4000A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단종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(EOL)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모델 사전 파악 완료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(25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12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endParaRPr kumimoji="1" lang="ko-KR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4701196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DDoS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안랩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DPX-6000A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06473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VPN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안랩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Ahnlab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TrusGuard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400B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432927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NAC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지니언스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8796488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스마트클린시스템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스마트클린시스템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(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키오스크형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)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반기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020521"/>
                  </a:ext>
                </a:extLst>
              </a:tr>
            </a:tbl>
          </a:graphicData>
        </a:graphic>
      </p:graphicFrame>
      <p:graphicFrame>
        <p:nvGraphicFramePr>
          <p:cNvPr id="29" name="표 28">
            <a:extLst>
              <a:ext uri="{FF2B5EF4-FFF2-40B4-BE49-F238E27FC236}">
                <a16:creationId xmlns:a16="http://schemas.microsoft.com/office/drawing/2014/main" id="{7AB6C72D-CDFC-17E4-7FDE-113A853E2A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69543216"/>
              </p:ext>
            </p:extLst>
          </p:nvPr>
        </p:nvGraphicFramePr>
        <p:xfrm>
          <a:off x="562719" y="8907876"/>
          <a:ext cx="6626326" cy="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73869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0278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33106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7571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제조사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점검 주기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4253"/>
                  </a:ext>
                </a:extLst>
              </a:tr>
            </a:tbl>
          </a:graphicData>
        </a:graphic>
      </p:graphicFrame>
      <p:graphicFrame>
        <p:nvGraphicFramePr>
          <p:cNvPr id="30" name="표 29">
            <a:extLst>
              <a:ext uri="{FF2B5EF4-FFF2-40B4-BE49-F238E27FC236}">
                <a16:creationId xmlns:a16="http://schemas.microsoft.com/office/drawing/2014/main" id="{63E15BD6-FEBB-7133-19FF-A1CCF4EF5A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0792072"/>
              </p:ext>
            </p:extLst>
          </p:nvPr>
        </p:nvGraphicFramePr>
        <p:xfrm>
          <a:off x="562719" y="9186384"/>
          <a:ext cx="6616055" cy="102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68897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5250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22835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340000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UPS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현대파워시스템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그린파워테크놀로지</a:t>
                      </a:r>
                      <a:endParaRPr kumimoji="1" lang="en-US" altLang="ko-KR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13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노후 모델 사전 파악 완료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6757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항온항습기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덕산코트랜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와이엠테크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1006846" rtl="0" eaLnBrk="1" fontAlgn="ctr" latinLnBrk="1" hangingPunct="1"/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노후 모델 사전 파악 완료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064734"/>
                  </a:ext>
                </a:extLst>
              </a:tr>
              <a:tr h="340000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소화설비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삼언전공주식회사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VESDA, HFC-23 50KG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25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/26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년 수량 동일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779217"/>
                  </a:ext>
                </a:extLst>
              </a:tr>
            </a:tbl>
          </a:graphicData>
        </a:graphic>
      </p:graphicFrame>
      <p:grpSp>
        <p:nvGrpSpPr>
          <p:cNvPr id="31" name="그룹 30">
            <a:extLst>
              <a:ext uri="{FF2B5EF4-FFF2-40B4-BE49-F238E27FC236}">
                <a16:creationId xmlns:a16="http://schemas.microsoft.com/office/drawing/2014/main" id="{881B346B-AAD4-99A7-9370-F9AE9B426934}"/>
              </a:ext>
            </a:extLst>
          </p:cNvPr>
          <p:cNvGrpSpPr/>
          <p:nvPr/>
        </p:nvGrpSpPr>
        <p:grpSpPr>
          <a:xfrm>
            <a:off x="575419" y="8581634"/>
            <a:ext cx="6123444" cy="199199"/>
            <a:chOff x="354537" y="2859354"/>
            <a:chExt cx="5810766" cy="165794"/>
          </a:xfrm>
        </p:grpSpPr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C587F02D-0A66-C7BA-C8C5-0BF52B55BCF0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기반 설비 필수 예방점검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3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 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43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 상세내역 분석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[UPS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13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항온항습기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16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/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소화설비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14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]</a:t>
              </a:r>
              <a:endParaRPr lang="ko-KR" altLang="en-US" sz="1000" kern="0" dirty="0">
                <a:ln>
                  <a:solidFill>
                    <a:srgbClr val="4F81BD">
                      <a:alpha val="5000"/>
                    </a:srgbClr>
                  </a:solidFill>
                </a:ln>
                <a:solidFill>
                  <a:prstClr val="black">
                    <a:lumMod val="85000"/>
                    <a:lumOff val="1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pic>
          <p:nvPicPr>
            <p:cNvPr id="33" name="그림 32">
              <a:extLst>
                <a:ext uri="{FF2B5EF4-FFF2-40B4-BE49-F238E27FC236}">
                  <a16:creationId xmlns:a16="http://schemas.microsoft.com/office/drawing/2014/main" id="{3D58670B-34ED-4667-F626-AB05363E0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277851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955D7-1EAB-FD54-CD9F-879389F35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ACFA67E3-EB50-9BF9-6D16-21EB33C97984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815C2A6-2541-C500-1CEA-03CB36638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37" name="제목 1">
            <a:extLst>
              <a:ext uri="{FF2B5EF4-FFF2-40B4-BE49-F238E27FC236}">
                <a16:creationId xmlns:a16="http://schemas.microsoft.com/office/drawing/2014/main" id="{9F68C442-35C7-E0CE-CF7D-D37533455E9A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39" name="제목 1">
            <a:extLst>
              <a:ext uri="{FF2B5EF4-FFF2-40B4-BE49-F238E27FC236}">
                <a16:creationId xmlns:a16="http://schemas.microsoft.com/office/drawing/2014/main" id="{7FC7752F-2A39-4DB7-70A6-1D8426CD9BFA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마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범위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(5/5)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E9CA0BF-FB5D-6C14-707A-3D86262B4BD6}"/>
              </a:ext>
            </a:extLst>
          </p:cNvPr>
          <p:cNvSpPr txBox="1"/>
          <p:nvPr/>
        </p:nvSpPr>
        <p:spPr>
          <a:xfrm>
            <a:off x="934361" y="1644256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성공적인 사업 수행을 위한 필수 예방점검 대상 수량 도출 </a:t>
            </a:r>
            <a:r>
              <a:rPr kumimoji="1" lang="en-US" altLang="ko-KR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(2/2)</a:t>
            </a:r>
            <a:endParaRPr kumimoji="1" lang="ko-KR" altLang="en-US" sz="1100" b="1" dirty="0"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1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가는각진제목체" pitchFamily="18" charset="-127"/>
            </a:endParaRPr>
          </a:p>
        </p:txBody>
      </p:sp>
      <p:grpSp>
        <p:nvGrpSpPr>
          <p:cNvPr id="134" name="그룹 133">
            <a:extLst>
              <a:ext uri="{FF2B5EF4-FFF2-40B4-BE49-F238E27FC236}">
                <a16:creationId xmlns:a16="http://schemas.microsoft.com/office/drawing/2014/main" id="{E97103E1-2E36-4F76-5F3E-B24114C1656D}"/>
              </a:ext>
            </a:extLst>
          </p:cNvPr>
          <p:cNvGrpSpPr/>
          <p:nvPr/>
        </p:nvGrpSpPr>
        <p:grpSpPr>
          <a:xfrm>
            <a:off x="575419" y="2110805"/>
            <a:ext cx="6123444" cy="199199"/>
            <a:chOff x="354537" y="2859354"/>
            <a:chExt cx="5810766" cy="165794"/>
          </a:xfrm>
        </p:grpSpPr>
        <p:sp>
          <p:nvSpPr>
            <p:cNvPr id="135" name="직사각형 134">
              <a:extLst>
                <a:ext uri="{FF2B5EF4-FFF2-40B4-BE49-F238E27FC236}">
                  <a16:creationId xmlns:a16="http://schemas.microsoft.com/office/drawing/2014/main" id="{FF99698B-FA92-2924-3118-F138B940F35C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소프트웨어 필수 예방점검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67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 중 시스템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SW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756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 사전파악 완료</a:t>
              </a:r>
            </a:p>
          </p:txBody>
        </p:sp>
        <p:pic>
          <p:nvPicPr>
            <p:cNvPr id="136" name="그림 135">
              <a:extLst>
                <a:ext uri="{FF2B5EF4-FFF2-40B4-BE49-F238E27FC236}">
                  <a16:creationId xmlns:a16="http://schemas.microsoft.com/office/drawing/2014/main" id="{09021282-DE5B-3F83-D6E3-D6E6EB97F7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EB2F367D-B550-F7B8-143D-D5CE45B8B58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765498"/>
              </p:ext>
            </p:extLst>
          </p:nvPr>
        </p:nvGraphicFramePr>
        <p:xfrm>
          <a:off x="562719" y="2429520"/>
          <a:ext cx="6626326" cy="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73869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0278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33106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7571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제조사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점검 주기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4253"/>
                  </a:ext>
                </a:extLst>
              </a:tr>
            </a:tbl>
          </a:graphicData>
        </a:graphic>
      </p:graphicFrame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9CCDBCD-740F-7024-6875-931D1B7CF8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5037159"/>
              </p:ext>
            </p:extLst>
          </p:nvPr>
        </p:nvGraphicFramePr>
        <p:xfrm>
          <a:off x="562719" y="2708027"/>
          <a:ext cx="6616055" cy="256740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68897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5250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22835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330197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WEB/WAS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티맥스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WebtoB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/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JEUS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WEB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App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67574"/>
                  </a:ext>
                </a:extLst>
              </a:tr>
              <a:tr h="330197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DBMS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오라클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티맥스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Database</a:t>
                      </a:r>
                      <a:endParaRPr kumimoji="1" lang="ko-KR" altLang="en-US" sz="8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432927"/>
                  </a:ext>
                </a:extLst>
              </a:tr>
              <a:tr h="330197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OS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RedHat /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Microsoft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Linux /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Windows Server 2019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4691814"/>
                  </a:ext>
                </a:extLst>
              </a:tr>
              <a:tr h="330197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성능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모니터링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제니퍼소프트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셀파소프트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엑셈</a:t>
                      </a:r>
                      <a:endParaRPr kumimoji="1" lang="en-US" altLang="ko-KR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261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WAS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모니터링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/ </a:t>
                      </a:r>
                      <a:r>
                        <a:rPr kumimoji="1" lang="en-US" altLang="ko-KR" sz="800" b="0" i="0" u="none" strike="noStrike" kern="1200" cap="none" spc="0" normalizeH="0" baseline="0" noProof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Oracle&amp;Tibero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성능 관리</a:t>
                      </a:r>
                    </a:p>
                  </a:txBody>
                  <a:tcPr marL="72000" marR="5443" marT="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924514"/>
                  </a:ext>
                </a:extLst>
              </a:tr>
              <a:tr h="330197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시스템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하우리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시큐브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펜타시큐리티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웨어밸리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서버보안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SW /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데이터 암호화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접근제어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6655197"/>
                  </a:ext>
                </a:extLst>
              </a:tr>
              <a:tr h="330197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Veeam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KUP&amp;Replication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Universal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80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백업 솔루션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8322268"/>
                  </a:ext>
                </a:extLst>
              </a:tr>
              <a:tr h="586219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클립소프트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포시에스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데이터투테크놀로지</a:t>
                      </a:r>
                      <a:endParaRPr kumimoji="1" lang="en-US" altLang="ko-KR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인스웨이브시스템즈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에스제이링크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등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296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리포팅 툴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스케줄러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컴포넌트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형상관리</a:t>
                      </a:r>
                      <a:endParaRPr kumimoji="1" 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295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0B343BAB-C140-7FA3-A609-A302B0F1F110}"/>
              </a:ext>
            </a:extLst>
          </p:cNvPr>
          <p:cNvGrpSpPr/>
          <p:nvPr/>
        </p:nvGrpSpPr>
        <p:grpSpPr>
          <a:xfrm>
            <a:off x="575419" y="5509221"/>
            <a:ext cx="6123444" cy="199199"/>
            <a:chOff x="354537" y="2859354"/>
            <a:chExt cx="5810766" cy="165794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488D3359-414C-9657-EFAA-E69391A18F2C}"/>
                </a:ext>
              </a:extLst>
            </p:cNvPr>
            <p:cNvSpPr/>
            <p:nvPr/>
          </p:nvSpPr>
          <p:spPr>
            <a:xfrm>
              <a:off x="487540" y="2859354"/>
              <a:ext cx="5677763" cy="165794"/>
            </a:xfrm>
            <a:prstGeom prst="rect">
              <a:avLst/>
            </a:prstGeom>
          </p:spPr>
          <p:txBody>
            <a:bodyPr wrap="none" anchor="ctr">
              <a:noAutofit/>
            </a:bodyPr>
            <a:lstStyle/>
            <a:p>
              <a:pPr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소프트웨어 필수 예방점검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67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종 중 응용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SW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및 정보체계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 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총 </a:t>
              </a:r>
              <a:r>
                <a:rPr lang="en-US" altLang="ko-KR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1,478</a:t>
              </a:r>
              <a:r>
                <a:rPr lang="ko-KR" altLang="en-US" sz="1000" kern="0" dirty="0">
                  <a:ln>
                    <a:solidFill>
                      <a:srgbClr val="4F81BD">
                        <a:alpha val="5000"/>
                      </a:srgbClr>
                    </a:solidFill>
                  </a:ln>
                  <a:solidFill>
                    <a:prstClr val="black">
                      <a:lumMod val="85000"/>
                      <a:lumOff val="1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rPr>
                <a:t>식 사전파악 완료</a:t>
              </a:r>
            </a:p>
          </p:txBody>
        </p:sp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06006E6C-C4E5-A675-F88A-01D44B907C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screen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rightnessContrast bright="-2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4537" y="2879429"/>
              <a:ext cx="180206" cy="120136"/>
            </a:xfrm>
            <a:prstGeom prst="rect">
              <a:avLst/>
            </a:prstGeom>
          </p:spPr>
        </p:pic>
      </p:grp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4E8D8FEB-32CC-E01C-1FA2-0C6B5711ED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57158"/>
              </p:ext>
            </p:extLst>
          </p:nvPr>
        </p:nvGraphicFramePr>
        <p:xfrm>
          <a:off x="562719" y="5827936"/>
          <a:ext cx="6626326" cy="2757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73869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0278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33106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275710"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구분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제조사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수량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점검 주기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474788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00"/>
                        </a:spcAft>
                        <a:buClr>
                          <a:srgbClr val="4D4D4D"/>
                        </a:buClr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Bold" panose="02020603020101020101" pitchFamily="18" charset="-127"/>
                          <a:ea typeface="KoPub돋움체 Bold" panose="02020603020101020101" pitchFamily="18" charset="-127"/>
                          <a:cs typeface="+mn-cs"/>
                        </a:rPr>
                        <a:t>비고</a:t>
                      </a:r>
                    </a:p>
                  </a:txBody>
                  <a:tcPr marL="3487" marR="3487" marT="3487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2B54A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EDF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6694253"/>
                  </a:ext>
                </a:extLst>
              </a:tr>
            </a:tbl>
          </a:graphicData>
        </a:graphic>
      </p:graphicFrame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DD8C7042-993D-A3A4-DA77-F90B0DBFB4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1372877"/>
              </p:ext>
            </p:extLst>
          </p:nvPr>
        </p:nvGraphicFramePr>
        <p:xfrm>
          <a:off x="562719" y="6106442"/>
          <a:ext cx="6616055" cy="409959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04977">
                  <a:extLst>
                    <a:ext uri="{9D8B030D-6E8A-4147-A177-3AD203B41FA5}">
                      <a16:colId xmlns:a16="http://schemas.microsoft.com/office/drawing/2014/main" val="2688485589"/>
                    </a:ext>
                  </a:extLst>
                </a:gridCol>
                <a:gridCol w="2268897">
                  <a:extLst>
                    <a:ext uri="{9D8B030D-6E8A-4147-A177-3AD203B41FA5}">
                      <a16:colId xmlns:a16="http://schemas.microsoft.com/office/drawing/2014/main" val="3965161822"/>
                    </a:ext>
                  </a:extLst>
                </a:gridCol>
                <a:gridCol w="655250">
                  <a:extLst>
                    <a:ext uri="{9D8B030D-6E8A-4147-A177-3AD203B41FA5}">
                      <a16:colId xmlns:a16="http://schemas.microsoft.com/office/drawing/2014/main" val="3813231848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285266094"/>
                    </a:ext>
                  </a:extLst>
                </a:gridCol>
                <a:gridCol w="1922835">
                  <a:extLst>
                    <a:ext uri="{9D8B030D-6E8A-4147-A177-3AD203B41FA5}">
                      <a16:colId xmlns:a16="http://schemas.microsoft.com/office/drawing/2014/main" val="2442289968"/>
                    </a:ext>
                  </a:extLst>
                </a:gridCol>
              </a:tblGrid>
              <a:tr h="633315">
                <a:tc>
                  <a:txBody>
                    <a:bodyPr/>
                    <a:lstStyle/>
                    <a:p>
                      <a:pPr marL="0" algn="ctr" defTabSz="685800" rtl="0" eaLnBrk="1" fontAlgn="ctr" latinLnBrk="1" hangingPunct="1"/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연계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메타빌드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지온공작소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한싹시스템즈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endParaRPr kumimoji="1" lang="en-US" altLang="ko-KR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메가투스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씨크랩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쿠콘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77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망연계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망전환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망연동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연계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API</a:t>
                      </a:r>
                      <a:endParaRPr kumimoji="1" 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067574"/>
                  </a:ext>
                </a:extLst>
              </a:tr>
              <a:tr h="3041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와치텍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WatchaII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30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관제솔루션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5274749"/>
                  </a:ext>
                </a:extLst>
              </a:tr>
              <a:tr h="567685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UI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위세아이텍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쉬프트정보통신</a:t>
                      </a:r>
                      <a:endParaRPr kumimoji="1" lang="en-US" altLang="ko-KR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인스웨이브시스템즈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위키랩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91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빅데이터 분석 시각화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UI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개발 및 운영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8639415"/>
                  </a:ext>
                </a:extLst>
              </a:tr>
              <a:tr h="642616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보안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라온시큐어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마크애니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한컴시큐어</a:t>
                      </a:r>
                      <a:endParaRPr kumimoji="1" lang="en-US" altLang="ko-KR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잉카인터넷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/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소프트캠프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지란지교시큐리티</a:t>
                      </a:r>
                      <a:endParaRPr kumimoji="1" lang="en-US" altLang="ko-KR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algn="ctr" fontAlgn="ctr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SGA 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드림시큐리티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파수닷컴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1,224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키보드보안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캡쳐보안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문서보안</a:t>
                      </a:r>
                      <a:endParaRPr kumimoji="1" lang="en-US" altLang="ko-KR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인쇄보안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인증보안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웹보안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SSO</a:t>
                      </a:r>
                    </a:p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외부반입 파일 바이러스 검사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DRM</a:t>
                      </a:r>
                      <a:endParaRPr kumimoji="1" lang="ko-KR" altLang="en-US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55295"/>
                  </a:ext>
                </a:extLst>
              </a:tr>
              <a:tr h="431207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업무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포뎁스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넷앤드휴먼인터페이스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아란타</a:t>
                      </a:r>
                      <a:endParaRPr kumimoji="1" lang="en-US" altLang="ko-KR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이비소프트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이파피루스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10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모바일 전자고지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통합계정관리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원격지원</a:t>
                      </a:r>
                      <a:endParaRPr kumimoji="1" lang="en-US" altLang="ko-KR" sz="8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업무자동화프로세스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OCR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솔루션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9572265"/>
                  </a:ext>
                </a:extLst>
              </a:tr>
              <a:tr h="3041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기타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투비소프트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코난테크놀러지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42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분기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화면개발툴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검색엔진 </a:t>
                      </a:r>
                      <a:r>
                        <a:rPr kumimoji="1" lang="en-US" altLang="ko-KR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/ GIS </a:t>
                      </a:r>
                      <a:r>
                        <a:rPr kumimoji="1" lang="ko-KR" altLang="en-US" sz="8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엔진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8661188"/>
                  </a:ext>
                </a:extLst>
              </a:tr>
              <a:tr h="3041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나루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C&amp;C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상담프로그램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고객지원시스템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02524"/>
                  </a:ext>
                </a:extLst>
              </a:tr>
              <a:tr h="3041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나루</a:t>
                      </a:r>
                      <a:r>
                        <a:rPr kumimoji="1" 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C&amp;C CTI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프로그램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  <a:endParaRPr kumimoji="1" lang="ko-KR" altLang="en-US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고객지원시스템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9260815"/>
                  </a:ext>
                </a:extLst>
              </a:tr>
              <a:tr h="3041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나루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C&amp;C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녹취 및 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ARS(</a:t>
                      </a:r>
                      <a:r>
                        <a:rPr kumimoji="1" lang="en-US" altLang="ko-KR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Tibero</a:t>
                      </a:r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6) 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포함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고객지원시스템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3503634"/>
                  </a:ext>
                </a:extLst>
              </a:tr>
              <a:tr h="3041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온북체계</a:t>
                      </a:r>
                      <a:endParaRPr kumimoji="1" lang="en-US" altLang="ko-KR" sz="900" b="0" i="0" u="none" strike="noStrike" kern="1200" cap="none" spc="0" normalizeH="0" baseline="0" noProof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국방부 </a:t>
                      </a:r>
                      <a:r>
                        <a:rPr kumimoji="1" lang="ko-KR" altLang="en-US" sz="900" b="0" i="0" u="none" strike="noStrike" kern="1200" cap="none" spc="0" normalizeH="0" baseline="0" dirty="0" err="1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온북</a:t>
                      </a:r>
                      <a:r>
                        <a:rPr kumimoji="1" lang="ko-KR" altLang="en-US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 시범적용 사업</a:t>
                      </a:r>
                      <a:endParaRPr kumimoji="1" lang="en-US" sz="900" b="0" i="0" u="none" strike="noStrike" kern="1200" cap="none" spc="0" normalizeH="0" baseline="0" dirty="0">
                        <a:ln w="9525" cap="flat" cmpd="sng" algn="ctr">
                          <a:solidFill>
                            <a:prstClr val="black">
                              <a:alpha val="0"/>
                            </a:prst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>
                        <a:solidFill>
                          <a:srgbClr val="404040"/>
                        </a:solidFill>
                        <a:effectLst/>
                        <a:uLnTx/>
                        <a:uFillTx/>
                        <a:latin typeface="KoPub돋움체 Medium" panose="02020603020101020101" pitchFamily="18" charset="-127"/>
                        <a:ea typeface="KoPub돋움체 Medium" panose="02020603020101020101" pitchFamily="18" charset="-127"/>
                        <a:cs typeface="+mn-cs"/>
                      </a:endParaRP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1006846" rtl="0" eaLnBrk="1" fontAlgn="ctr" latinLnBrk="1" hangingPunct="1"/>
                      <a:r>
                        <a:rPr kumimoji="1" lang="en-US" altLang="ko-KR" sz="900" b="0" i="0" u="none" strike="noStrike" kern="1200" cap="none" spc="0" normalizeH="0" baseline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</a:p>
                  </a:txBody>
                  <a:tcPr marL="5443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월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회</a:t>
                      </a:r>
                    </a:p>
                  </a:txBody>
                  <a:tcPr marL="3070" marR="3070" marT="3070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06846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단말기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100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대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, VDI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시스템 </a:t>
                      </a:r>
                      <a:r>
                        <a:rPr kumimoji="1" lang="en-US" altLang="ko-KR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1</a:t>
                      </a:r>
                      <a:r>
                        <a:rPr kumimoji="1" lang="ko-KR" altLang="en-US" sz="800" b="0" i="0" u="none" strike="noStrike" kern="1200" cap="none" spc="0" normalizeH="0" baseline="0" noProof="0" dirty="0">
                          <a:ln w="9525" cap="flat" cmpd="sng" algn="ctr">
                            <a:solidFill>
                              <a:prstClr val="black">
                                <a:alpha val="0"/>
                              </a:prstClr>
                            </a:solidFill>
                            <a:prstDash val="solid"/>
                            <a:round/>
                            <a:headEnd type="none" w="med" len="med"/>
                            <a:tailEnd type="none" w="med" len="med"/>
                          </a:ln>
                          <a:solidFill>
                            <a:srgbClr val="404040"/>
                          </a:solidFill>
                          <a:effectLst/>
                          <a:uLnTx/>
                          <a:uFillTx/>
                          <a:latin typeface="KoPub돋움체 Medium" panose="02020603020101020101" pitchFamily="18" charset="-127"/>
                          <a:ea typeface="KoPub돋움체 Medium" panose="02020603020101020101" pitchFamily="18" charset="-127"/>
                          <a:cs typeface="+mn-cs"/>
                        </a:rPr>
                        <a:t>식</a:t>
                      </a:r>
                    </a:p>
                  </a:txBody>
                  <a:tcPr marL="72000" marR="5443" marT="5443" marB="0" anchor="ctr">
                    <a:lnL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B7BB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0967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1155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5EB94BF4-269D-4ADE-8025-A904DB6FAF1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D15C4-AF98-EFE3-EB7A-8C48293D6D4B}"/>
              </a:ext>
            </a:extLst>
          </p:cNvPr>
          <p:cNvSpPr txBox="1"/>
          <p:nvPr/>
        </p:nvSpPr>
        <p:spPr>
          <a:xfrm>
            <a:off x="934361" y="2524932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철저한 사전준비와 담당자</a:t>
            </a:r>
            <a:r>
              <a:rPr kumimoji="1" lang="en-US" altLang="ko-KR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 </a:t>
            </a: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인터뷰를 통한 핵심 성공요소 도출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F03E0E-F6C0-91ED-93A3-245C8135B495}"/>
              </a:ext>
            </a:extLst>
          </p:cNvPr>
          <p:cNvSpPr/>
          <p:nvPr/>
        </p:nvSpPr>
        <p:spPr>
          <a:xfrm>
            <a:off x="1381398" y="1696926"/>
            <a:ext cx="5849058" cy="56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>
                <a:srgbClr val="0061EB"/>
              </a:buClr>
              <a:buSzPct val="80000"/>
              <a:buFont typeface="KoPub돋움체 Bold" panose="02020603020101020101" pitchFamily="18" charset="-127"/>
              <a:buChar char="▶"/>
            </a:pP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제안사는 국방전산정보원 ‘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25-’26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년 전산장비 유지보수 사업 범위와 요구사항을 면밀히 분석하여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업무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운영 및 기술지원 측면의 특징을 분석하고 핵심 성공요소를 도출하여 필요한 지원과 개선체계를 수립으로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성공적인 사업 수행을 보장합니다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8FA33E-FCA6-5565-BB5E-627D28B7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7" name="제목 1">
            <a:extLst>
              <a:ext uri="{FF2B5EF4-FFF2-40B4-BE49-F238E27FC236}">
                <a16:creationId xmlns:a16="http://schemas.microsoft.com/office/drawing/2014/main" id="{B200D8DB-75AB-DC3D-1B32-539CC26912B7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109" name="제목 1">
            <a:extLst>
              <a:ext uri="{FF2B5EF4-FFF2-40B4-BE49-F238E27FC236}">
                <a16:creationId xmlns:a16="http://schemas.microsoft.com/office/drawing/2014/main" id="{09EB6A0F-9F5F-B194-D668-4BBD59D29058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바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사업의 특성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C1E10FF1-7E9F-AB39-4561-73F898CF50FF}"/>
              </a:ext>
            </a:extLst>
          </p:cNvPr>
          <p:cNvGrpSpPr/>
          <p:nvPr/>
        </p:nvGrpSpPr>
        <p:grpSpPr>
          <a:xfrm>
            <a:off x="559675" y="2963253"/>
            <a:ext cx="6639767" cy="1321907"/>
            <a:chOff x="649664" y="2942735"/>
            <a:chExt cx="6301525" cy="1192263"/>
          </a:xfrm>
        </p:grpSpPr>
        <p:grpSp>
          <p:nvGrpSpPr>
            <p:cNvPr id="3" name="그룹 2">
              <a:extLst>
                <a:ext uri="{FF2B5EF4-FFF2-40B4-BE49-F238E27FC236}">
                  <a16:creationId xmlns:a16="http://schemas.microsoft.com/office/drawing/2014/main" id="{9DEFD9DC-6A5C-64CE-0251-BB0ECA084513}"/>
                </a:ext>
              </a:extLst>
            </p:cNvPr>
            <p:cNvGrpSpPr/>
            <p:nvPr/>
          </p:nvGrpSpPr>
          <p:grpSpPr>
            <a:xfrm>
              <a:off x="649664" y="2942735"/>
              <a:ext cx="6301525" cy="1192263"/>
              <a:chOff x="437284" y="2598273"/>
              <a:chExt cx="6215932" cy="1290350"/>
            </a:xfrm>
          </p:grpSpPr>
          <p:pic>
            <p:nvPicPr>
              <p:cNvPr id="5" name="그림 4">
                <a:extLst>
                  <a:ext uri="{FF2B5EF4-FFF2-40B4-BE49-F238E27FC236}">
                    <a16:creationId xmlns:a16="http://schemas.microsoft.com/office/drawing/2014/main" id="{6B80DBF0-8498-A536-EBA8-2FB26DE688A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9925" b="8005"/>
              <a:stretch/>
            </p:blipFill>
            <p:spPr bwMode="gray">
              <a:xfrm flipH="1">
                <a:off x="5037958" y="2599004"/>
                <a:ext cx="1615258" cy="737508"/>
              </a:xfrm>
              <a:prstGeom prst="rect">
                <a:avLst/>
              </a:prstGeom>
            </p:spPr>
          </p:pic>
          <p:grpSp>
            <p:nvGrpSpPr>
              <p:cNvPr id="6" name="그룹 5">
                <a:extLst>
                  <a:ext uri="{FF2B5EF4-FFF2-40B4-BE49-F238E27FC236}">
                    <a16:creationId xmlns:a16="http://schemas.microsoft.com/office/drawing/2014/main" id="{B771C93B-AB84-CA9C-E9B9-C2C4002AF86C}"/>
                  </a:ext>
                </a:extLst>
              </p:cNvPr>
              <p:cNvGrpSpPr/>
              <p:nvPr/>
            </p:nvGrpSpPr>
            <p:grpSpPr bwMode="gray">
              <a:xfrm flipH="1">
                <a:off x="437284" y="2598273"/>
                <a:ext cx="5424632" cy="1290350"/>
                <a:chOff x="1244825" y="3261061"/>
                <a:chExt cx="5833294" cy="1387558"/>
              </a:xfrm>
            </p:grpSpPr>
            <p:pic>
              <p:nvPicPr>
                <p:cNvPr id="10" name="Picture 5">
                  <a:extLst>
                    <a:ext uri="{FF2B5EF4-FFF2-40B4-BE49-F238E27FC236}">
                      <a16:creationId xmlns:a16="http://schemas.microsoft.com/office/drawing/2014/main" id="{0728E9BA-BDC2-854E-3EE2-AED622A17A9E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gray">
                <a:xfrm>
                  <a:off x="1904335" y="3261298"/>
                  <a:ext cx="5173784" cy="138732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1" name="직사각형 10">
                  <a:extLst>
                    <a:ext uri="{FF2B5EF4-FFF2-40B4-BE49-F238E27FC236}">
                      <a16:creationId xmlns:a16="http://schemas.microsoft.com/office/drawing/2014/main" id="{B9AFC236-486E-CD6C-3B4C-4C9979867372}"/>
                    </a:ext>
                  </a:extLst>
                </p:cNvPr>
                <p:cNvSpPr/>
                <p:nvPr/>
              </p:nvSpPr>
              <p:spPr bwMode="gray">
                <a:xfrm>
                  <a:off x="2068367" y="3261061"/>
                  <a:ext cx="1568821" cy="1295765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/>
                </a:p>
              </p:txBody>
            </p:sp>
            <p:sp>
              <p:nvSpPr>
                <p:cNvPr id="12" name="직사각형 11">
                  <a:extLst>
                    <a:ext uri="{FF2B5EF4-FFF2-40B4-BE49-F238E27FC236}">
                      <a16:creationId xmlns:a16="http://schemas.microsoft.com/office/drawing/2014/main" id="{45102963-5BBB-6C77-99F6-D32153CCA09A}"/>
                    </a:ext>
                  </a:extLst>
                </p:cNvPr>
                <p:cNvSpPr/>
                <p:nvPr/>
              </p:nvSpPr>
              <p:spPr bwMode="gray">
                <a:xfrm flipH="1">
                  <a:off x="1244825" y="3277691"/>
                  <a:ext cx="1002085" cy="1295764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bg1"/>
                    </a:gs>
                    <a:gs pos="100000">
                      <a:schemeClr val="bg1">
                        <a:alpha val="0"/>
                      </a:schemeClr>
                    </a:gs>
                  </a:gsLst>
                  <a:lin ang="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latinLnBrk="0"/>
                  <a:endParaRPr lang="ko-KR" altLang="en-US"/>
                </a:p>
              </p:txBody>
            </p:sp>
          </p:grpSp>
        </p:grp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A874D3D-0D35-636D-D351-782106446A67}"/>
                </a:ext>
              </a:extLst>
            </p:cNvPr>
            <p:cNvSpPr/>
            <p:nvPr/>
          </p:nvSpPr>
          <p:spPr>
            <a:xfrm>
              <a:off x="2046354" y="3159935"/>
              <a:ext cx="3546251" cy="458026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 anchorCtr="0">
              <a:spAutoFit/>
            </a:bodyPr>
            <a:lstStyle/>
            <a:p>
              <a:pPr algn="ctr" fontAlgn="ctr" latinLnBrk="0">
                <a:spcBef>
                  <a:spcPts val="300"/>
                </a:spcBef>
                <a:spcAft>
                  <a:spcPts val="300"/>
                </a:spcAft>
                <a:defRPr/>
              </a:pPr>
              <a:r>
                <a:rPr lang="ko-KR" altLang="en-US" sz="1200" kern="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철저한 사전준비와 담당자 및 실무자의 </a:t>
              </a:r>
              <a:r>
                <a:rPr lang="en-US" altLang="ko-KR" sz="1200" kern="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Real Voice</a:t>
              </a:r>
              <a:r>
                <a:rPr lang="ko-KR" altLang="en-US" sz="1200" kern="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를 반영한 </a:t>
              </a:r>
              <a:endParaRPr lang="en-US" altLang="ko-KR" sz="1200" kern="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</a:endParaRPr>
            </a:p>
            <a:p>
              <a:pPr marL="0" marR="0" lvl="0" indent="0" algn="ctr" defTabSz="914400" eaLnBrk="1" fontAlgn="ctr" latinLnBrk="0" hangingPunct="1">
                <a:spcBef>
                  <a:spcPts val="30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kern="0" dirty="0">
                  <a:solidFill>
                    <a:schemeClr val="accent6">
                      <a:lumMod val="7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사업의 </a:t>
              </a:r>
              <a:r>
                <a:rPr kumimoji="0" lang="en-US" altLang="ko-KR" sz="1600" kern="0" dirty="0">
                  <a:solidFill>
                    <a:schemeClr val="accent6">
                      <a:lumMod val="7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3</a:t>
              </a:r>
              <a:r>
                <a:rPr kumimoji="0" lang="ko-KR" altLang="en-US" sz="1600" kern="0" dirty="0">
                  <a:solidFill>
                    <a:schemeClr val="accent6">
                      <a:lumMod val="7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  <a:cs typeface="Arial" pitchFamily="34" charset="0"/>
                </a:rPr>
                <a:t>대 핵심성공요소 도출</a:t>
              </a:r>
            </a:p>
          </p:txBody>
        </p:sp>
      </p:grpSp>
      <p:sp>
        <p:nvSpPr>
          <p:cNvPr id="22" name="자유형 254">
            <a:extLst>
              <a:ext uri="{FF2B5EF4-FFF2-40B4-BE49-F238E27FC236}">
                <a16:creationId xmlns:a16="http://schemas.microsoft.com/office/drawing/2014/main" id="{D49AD9AE-2526-2871-EDAF-84E77B52F135}"/>
              </a:ext>
            </a:extLst>
          </p:cNvPr>
          <p:cNvSpPr/>
          <p:nvPr/>
        </p:nvSpPr>
        <p:spPr>
          <a:xfrm>
            <a:off x="2851449" y="4850026"/>
            <a:ext cx="2308315" cy="5356012"/>
          </a:xfrm>
          <a:custGeom>
            <a:avLst/>
            <a:gdLst>
              <a:gd name="connsiteX0" fmla="*/ 0 w 3352800"/>
              <a:gd name="connsiteY0" fmla="*/ 3695700 h 3924300"/>
              <a:gd name="connsiteX1" fmla="*/ 228600 w 3352800"/>
              <a:gd name="connsiteY1" fmla="*/ 3924300 h 3924300"/>
              <a:gd name="connsiteX2" fmla="*/ 3352800 w 3352800"/>
              <a:gd name="connsiteY2" fmla="*/ 3924300 h 3924300"/>
              <a:gd name="connsiteX3" fmla="*/ 3352800 w 3352800"/>
              <a:gd name="connsiteY3" fmla="*/ 285750 h 3924300"/>
              <a:gd name="connsiteX4" fmla="*/ 3067050 w 3352800"/>
              <a:gd name="connsiteY4" fmla="*/ 0 h 3924300"/>
              <a:gd name="connsiteX5" fmla="*/ 0 w 3352800"/>
              <a:gd name="connsiteY5" fmla="*/ 3695700 h 3924300"/>
              <a:gd name="connsiteX0" fmla="*/ 0 w 3362325"/>
              <a:gd name="connsiteY0" fmla="*/ 3653216 h 3924300"/>
              <a:gd name="connsiteX1" fmla="*/ 238125 w 3362325"/>
              <a:gd name="connsiteY1" fmla="*/ 3924300 h 3924300"/>
              <a:gd name="connsiteX2" fmla="*/ 3362325 w 3362325"/>
              <a:gd name="connsiteY2" fmla="*/ 3924300 h 3924300"/>
              <a:gd name="connsiteX3" fmla="*/ 3362325 w 3362325"/>
              <a:gd name="connsiteY3" fmla="*/ 285750 h 3924300"/>
              <a:gd name="connsiteX4" fmla="*/ 3076575 w 3362325"/>
              <a:gd name="connsiteY4" fmla="*/ 0 h 3924300"/>
              <a:gd name="connsiteX5" fmla="*/ 0 w 3362325"/>
              <a:gd name="connsiteY5" fmla="*/ 3653216 h 3924300"/>
              <a:gd name="connsiteX0" fmla="*/ 0 w 3362325"/>
              <a:gd name="connsiteY0" fmla="*/ 3653216 h 3924300"/>
              <a:gd name="connsiteX1" fmla="*/ 238125 w 3362325"/>
              <a:gd name="connsiteY1" fmla="*/ 3924300 h 3924300"/>
              <a:gd name="connsiteX2" fmla="*/ 3362325 w 3362325"/>
              <a:gd name="connsiteY2" fmla="*/ 3924300 h 3924300"/>
              <a:gd name="connsiteX3" fmla="*/ 3362325 w 3362325"/>
              <a:gd name="connsiteY3" fmla="*/ 285750 h 3924300"/>
              <a:gd name="connsiteX4" fmla="*/ 3057686 w 3362325"/>
              <a:gd name="connsiteY4" fmla="*/ 0 h 3924300"/>
              <a:gd name="connsiteX5" fmla="*/ 0 w 3362325"/>
              <a:gd name="connsiteY5" fmla="*/ 3653216 h 392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2325" h="3924300">
                <a:moveTo>
                  <a:pt x="0" y="3653216"/>
                </a:moveTo>
                <a:lnTo>
                  <a:pt x="238125" y="3924300"/>
                </a:lnTo>
                <a:lnTo>
                  <a:pt x="3362325" y="3924300"/>
                </a:lnTo>
                <a:lnTo>
                  <a:pt x="3362325" y="285750"/>
                </a:lnTo>
                <a:lnTo>
                  <a:pt x="3057686" y="0"/>
                </a:lnTo>
                <a:lnTo>
                  <a:pt x="0" y="3653216"/>
                </a:lnTo>
                <a:close/>
              </a:path>
            </a:pathLst>
          </a:custGeom>
          <a:gradFill flip="none" rotWithShape="1">
            <a:gsLst>
              <a:gs pos="57000">
                <a:schemeClr val="bg1">
                  <a:lumMod val="72000"/>
                  <a:alpha val="0"/>
                </a:schemeClr>
              </a:gs>
              <a:gs pos="2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/>
          </a:p>
        </p:txBody>
      </p:sp>
      <p:sp>
        <p:nvSpPr>
          <p:cNvPr id="23" name="자유형 256">
            <a:extLst>
              <a:ext uri="{FF2B5EF4-FFF2-40B4-BE49-F238E27FC236}">
                <a16:creationId xmlns:a16="http://schemas.microsoft.com/office/drawing/2014/main" id="{1209B8DA-D6CD-1C7D-18E6-C0D2ADCED2F5}"/>
              </a:ext>
            </a:extLst>
          </p:cNvPr>
          <p:cNvSpPr/>
          <p:nvPr/>
        </p:nvSpPr>
        <p:spPr>
          <a:xfrm>
            <a:off x="5107863" y="5124669"/>
            <a:ext cx="2308315" cy="4924310"/>
          </a:xfrm>
          <a:custGeom>
            <a:avLst/>
            <a:gdLst>
              <a:gd name="connsiteX0" fmla="*/ 0 w 3352800"/>
              <a:gd name="connsiteY0" fmla="*/ 3695700 h 3924300"/>
              <a:gd name="connsiteX1" fmla="*/ 228600 w 3352800"/>
              <a:gd name="connsiteY1" fmla="*/ 3924300 h 3924300"/>
              <a:gd name="connsiteX2" fmla="*/ 3352800 w 3352800"/>
              <a:gd name="connsiteY2" fmla="*/ 3924300 h 3924300"/>
              <a:gd name="connsiteX3" fmla="*/ 3352800 w 3352800"/>
              <a:gd name="connsiteY3" fmla="*/ 285750 h 3924300"/>
              <a:gd name="connsiteX4" fmla="*/ 3067050 w 3352800"/>
              <a:gd name="connsiteY4" fmla="*/ 0 h 3924300"/>
              <a:gd name="connsiteX5" fmla="*/ 0 w 3352800"/>
              <a:gd name="connsiteY5" fmla="*/ 3695700 h 3924300"/>
              <a:gd name="connsiteX0" fmla="*/ 0 w 3362325"/>
              <a:gd name="connsiteY0" fmla="*/ 3653216 h 3924300"/>
              <a:gd name="connsiteX1" fmla="*/ 238125 w 3362325"/>
              <a:gd name="connsiteY1" fmla="*/ 3924300 h 3924300"/>
              <a:gd name="connsiteX2" fmla="*/ 3362325 w 3362325"/>
              <a:gd name="connsiteY2" fmla="*/ 3924300 h 3924300"/>
              <a:gd name="connsiteX3" fmla="*/ 3362325 w 3362325"/>
              <a:gd name="connsiteY3" fmla="*/ 285750 h 3924300"/>
              <a:gd name="connsiteX4" fmla="*/ 3076575 w 3362325"/>
              <a:gd name="connsiteY4" fmla="*/ 0 h 3924300"/>
              <a:gd name="connsiteX5" fmla="*/ 0 w 3362325"/>
              <a:gd name="connsiteY5" fmla="*/ 3653216 h 3924300"/>
              <a:gd name="connsiteX0" fmla="*/ 0 w 3362325"/>
              <a:gd name="connsiteY0" fmla="*/ 3653216 h 3924300"/>
              <a:gd name="connsiteX1" fmla="*/ 238125 w 3362325"/>
              <a:gd name="connsiteY1" fmla="*/ 3924300 h 3924300"/>
              <a:gd name="connsiteX2" fmla="*/ 3362325 w 3362325"/>
              <a:gd name="connsiteY2" fmla="*/ 3924300 h 3924300"/>
              <a:gd name="connsiteX3" fmla="*/ 3362325 w 3362325"/>
              <a:gd name="connsiteY3" fmla="*/ 285750 h 3924300"/>
              <a:gd name="connsiteX4" fmla="*/ 3057686 w 3362325"/>
              <a:gd name="connsiteY4" fmla="*/ 0 h 3924300"/>
              <a:gd name="connsiteX5" fmla="*/ 0 w 3362325"/>
              <a:gd name="connsiteY5" fmla="*/ 3653216 h 392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2325" h="3924300">
                <a:moveTo>
                  <a:pt x="0" y="3653216"/>
                </a:moveTo>
                <a:lnTo>
                  <a:pt x="238125" y="3924300"/>
                </a:lnTo>
                <a:lnTo>
                  <a:pt x="3362325" y="3924300"/>
                </a:lnTo>
                <a:lnTo>
                  <a:pt x="3362325" y="285750"/>
                </a:lnTo>
                <a:lnTo>
                  <a:pt x="3057686" y="0"/>
                </a:lnTo>
                <a:lnTo>
                  <a:pt x="0" y="3653216"/>
                </a:lnTo>
                <a:close/>
              </a:path>
            </a:pathLst>
          </a:custGeom>
          <a:gradFill flip="none" rotWithShape="1">
            <a:gsLst>
              <a:gs pos="57000">
                <a:schemeClr val="bg1">
                  <a:lumMod val="72000"/>
                  <a:alpha val="0"/>
                </a:schemeClr>
              </a:gs>
              <a:gs pos="2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/>
          </a:p>
        </p:txBody>
      </p:sp>
      <p:sp>
        <p:nvSpPr>
          <p:cNvPr id="24" name="자유형 258">
            <a:extLst>
              <a:ext uri="{FF2B5EF4-FFF2-40B4-BE49-F238E27FC236}">
                <a16:creationId xmlns:a16="http://schemas.microsoft.com/office/drawing/2014/main" id="{7A7C8197-3CBD-1854-07DB-5E1AEADF7387}"/>
              </a:ext>
            </a:extLst>
          </p:cNvPr>
          <p:cNvSpPr/>
          <p:nvPr/>
        </p:nvSpPr>
        <p:spPr>
          <a:xfrm>
            <a:off x="595034" y="4850026"/>
            <a:ext cx="2308315" cy="5356012"/>
          </a:xfrm>
          <a:custGeom>
            <a:avLst/>
            <a:gdLst>
              <a:gd name="connsiteX0" fmla="*/ 0 w 3352800"/>
              <a:gd name="connsiteY0" fmla="*/ 3695700 h 3924300"/>
              <a:gd name="connsiteX1" fmla="*/ 228600 w 3352800"/>
              <a:gd name="connsiteY1" fmla="*/ 3924300 h 3924300"/>
              <a:gd name="connsiteX2" fmla="*/ 3352800 w 3352800"/>
              <a:gd name="connsiteY2" fmla="*/ 3924300 h 3924300"/>
              <a:gd name="connsiteX3" fmla="*/ 3352800 w 3352800"/>
              <a:gd name="connsiteY3" fmla="*/ 285750 h 3924300"/>
              <a:gd name="connsiteX4" fmla="*/ 3067050 w 3352800"/>
              <a:gd name="connsiteY4" fmla="*/ 0 h 3924300"/>
              <a:gd name="connsiteX5" fmla="*/ 0 w 3352800"/>
              <a:gd name="connsiteY5" fmla="*/ 3695700 h 3924300"/>
              <a:gd name="connsiteX0" fmla="*/ 0 w 3362325"/>
              <a:gd name="connsiteY0" fmla="*/ 3653216 h 3924300"/>
              <a:gd name="connsiteX1" fmla="*/ 238125 w 3362325"/>
              <a:gd name="connsiteY1" fmla="*/ 3924300 h 3924300"/>
              <a:gd name="connsiteX2" fmla="*/ 3362325 w 3362325"/>
              <a:gd name="connsiteY2" fmla="*/ 3924300 h 3924300"/>
              <a:gd name="connsiteX3" fmla="*/ 3362325 w 3362325"/>
              <a:gd name="connsiteY3" fmla="*/ 285750 h 3924300"/>
              <a:gd name="connsiteX4" fmla="*/ 3076575 w 3362325"/>
              <a:gd name="connsiteY4" fmla="*/ 0 h 3924300"/>
              <a:gd name="connsiteX5" fmla="*/ 0 w 3362325"/>
              <a:gd name="connsiteY5" fmla="*/ 3653216 h 3924300"/>
              <a:gd name="connsiteX0" fmla="*/ 0 w 3362325"/>
              <a:gd name="connsiteY0" fmla="*/ 3653216 h 3924300"/>
              <a:gd name="connsiteX1" fmla="*/ 238125 w 3362325"/>
              <a:gd name="connsiteY1" fmla="*/ 3924300 h 3924300"/>
              <a:gd name="connsiteX2" fmla="*/ 3362325 w 3362325"/>
              <a:gd name="connsiteY2" fmla="*/ 3924300 h 3924300"/>
              <a:gd name="connsiteX3" fmla="*/ 3362325 w 3362325"/>
              <a:gd name="connsiteY3" fmla="*/ 285750 h 3924300"/>
              <a:gd name="connsiteX4" fmla="*/ 3057686 w 3362325"/>
              <a:gd name="connsiteY4" fmla="*/ 0 h 3924300"/>
              <a:gd name="connsiteX5" fmla="*/ 0 w 3362325"/>
              <a:gd name="connsiteY5" fmla="*/ 3653216 h 392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362325" h="3924300">
                <a:moveTo>
                  <a:pt x="0" y="3653216"/>
                </a:moveTo>
                <a:lnTo>
                  <a:pt x="238125" y="3924300"/>
                </a:lnTo>
                <a:lnTo>
                  <a:pt x="3362325" y="3924300"/>
                </a:lnTo>
                <a:lnTo>
                  <a:pt x="3362325" y="285750"/>
                </a:lnTo>
                <a:lnTo>
                  <a:pt x="3057686" y="0"/>
                </a:lnTo>
                <a:lnTo>
                  <a:pt x="0" y="3653216"/>
                </a:lnTo>
                <a:close/>
              </a:path>
            </a:pathLst>
          </a:custGeom>
          <a:gradFill flip="none" rotWithShape="1">
            <a:gsLst>
              <a:gs pos="57000">
                <a:schemeClr val="bg1">
                  <a:lumMod val="72000"/>
                  <a:alpha val="0"/>
                </a:schemeClr>
              </a:gs>
              <a:gs pos="2000">
                <a:schemeClr val="tx1">
                  <a:lumMod val="75000"/>
                  <a:lumOff val="2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/>
          </a:p>
        </p:txBody>
      </p: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66AAC82C-3F1B-66EE-B275-7A09A862E4C3}"/>
              </a:ext>
            </a:extLst>
          </p:cNvPr>
          <p:cNvGrpSpPr/>
          <p:nvPr/>
        </p:nvGrpSpPr>
        <p:grpSpPr>
          <a:xfrm>
            <a:off x="593954" y="5024811"/>
            <a:ext cx="6617952" cy="5024170"/>
            <a:chOff x="206629" y="2073408"/>
            <a:chExt cx="10143473" cy="618241"/>
          </a:xfrm>
          <a:solidFill>
            <a:schemeClr val="bg1"/>
          </a:solidFill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204F1E6B-F495-9547-FA3E-E385CE7F55AA}"/>
                </a:ext>
              </a:extLst>
            </p:cNvPr>
            <p:cNvSpPr/>
            <p:nvPr/>
          </p:nvSpPr>
          <p:spPr>
            <a:xfrm>
              <a:off x="206629" y="2073413"/>
              <a:ext cx="3239999" cy="618236"/>
            </a:xfrm>
            <a:prstGeom prst="rect">
              <a:avLst/>
            </a:prstGeom>
            <a:grpFill/>
            <a:ln w="12700" algn="ctr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marL="228600" indent="-228600" algn="ctr" latinLnBrk="0">
                <a:buAutoNum type="arabicPlain" startAt="77"/>
              </a:pPr>
              <a:endParaRPr lang="ko-KR" altLang="en-US" sz="900" kern="0">
                <a:ln w="3175"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9818F49D-9E38-C333-C02E-BC1FE52880B6}"/>
                </a:ext>
              </a:extLst>
            </p:cNvPr>
            <p:cNvSpPr/>
            <p:nvPr/>
          </p:nvSpPr>
          <p:spPr>
            <a:xfrm>
              <a:off x="3658364" y="2073408"/>
              <a:ext cx="3239999" cy="618241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BF5A23C5-CF81-49B2-8952-4E5C27FCD23B}"/>
                </a:ext>
              </a:extLst>
            </p:cNvPr>
            <p:cNvSpPr/>
            <p:nvPr/>
          </p:nvSpPr>
          <p:spPr>
            <a:xfrm>
              <a:off x="7110103" y="2073412"/>
              <a:ext cx="3239999" cy="618237"/>
            </a:xfrm>
            <a:prstGeom prst="rect">
              <a:avLst/>
            </a:prstGeom>
            <a:grpFill/>
            <a:ln w="12700">
              <a:noFill/>
            </a:ln>
            <a:effectLst/>
          </p:spPr>
          <p:txBody>
            <a:bodyPr wrap="none" anchor="ctr" anchorCtr="0">
              <a:noAutofit/>
            </a:bodyPr>
            <a:lstStyle/>
            <a:p>
              <a:pPr algn="ctr" latinLnBrk="0"/>
              <a:endParaRPr lang="ko-KR" altLang="en-US" sz="900" kern="0">
                <a:ln w="3175"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CF92D865-C975-0EA0-E73D-0D054A0E9539}"/>
              </a:ext>
            </a:extLst>
          </p:cNvPr>
          <p:cNvSpPr/>
          <p:nvPr/>
        </p:nvSpPr>
        <p:spPr>
          <a:xfrm>
            <a:off x="591106" y="5657393"/>
            <a:ext cx="2090195" cy="1092607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0" rtlCol="0" anchor="t">
            <a:spAutoFit/>
          </a:bodyPr>
          <a:lstStyle/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공공기관 운영 유지보수와는 틀린 전군 지원 국방정보체계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기존 사업자의 법인회생절차로 안정성</a:t>
            </a:r>
            <a:r>
              <a:rPr lang="en-US" altLang="ko-KR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기술 및 기타 지원이 부족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안정적인 국방업무환경과 신속한 장애대응으로 서비스 중단 최소화</a:t>
            </a:r>
          </a:p>
        </p:txBody>
      </p:sp>
      <p:sp>
        <p:nvSpPr>
          <p:cNvPr id="76" name="직사각형 75">
            <a:extLst>
              <a:ext uri="{FF2B5EF4-FFF2-40B4-BE49-F238E27FC236}">
                <a16:creationId xmlns:a16="http://schemas.microsoft.com/office/drawing/2014/main" id="{0965B870-D888-AF59-A999-1EBB3ECDC27E}"/>
              </a:ext>
            </a:extLst>
          </p:cNvPr>
          <p:cNvSpPr/>
          <p:nvPr/>
        </p:nvSpPr>
        <p:spPr>
          <a:xfrm>
            <a:off x="620519" y="5163289"/>
            <a:ext cx="2087322" cy="445922"/>
          </a:xfrm>
          <a:prstGeom prst="rect">
            <a:avLst/>
          </a:prstGeom>
          <a:solidFill>
            <a:srgbClr val="A5E0E3"/>
          </a:solidFill>
          <a:ln w="9525">
            <a:noFill/>
          </a:ln>
        </p:spPr>
        <p:txBody>
          <a:bodyPr vert="horz" wrap="square" lIns="39600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defTabSz="1067256">
              <a:spcAft>
                <a:spcPts val="299"/>
              </a:spcAft>
            </a:pP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국방정보체계 유지보수</a:t>
            </a:r>
            <a:br>
              <a:rPr lang="en-US" altLang="ko-KR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</a:b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업무의 특수성</a:t>
            </a:r>
          </a:p>
        </p:txBody>
      </p:sp>
      <p:sp>
        <p:nvSpPr>
          <p:cNvPr id="80" name="직사각형 79">
            <a:extLst>
              <a:ext uri="{FF2B5EF4-FFF2-40B4-BE49-F238E27FC236}">
                <a16:creationId xmlns:a16="http://schemas.microsoft.com/office/drawing/2014/main" id="{DCAACD85-11E0-2B14-EF65-D59ED62E577F}"/>
              </a:ext>
            </a:extLst>
          </p:cNvPr>
          <p:cNvSpPr/>
          <p:nvPr/>
        </p:nvSpPr>
        <p:spPr>
          <a:xfrm>
            <a:off x="591106" y="7369150"/>
            <a:ext cx="2090195" cy="1092607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0" rtlCol="0" anchor="t">
            <a:spAutoFit/>
          </a:bodyPr>
          <a:lstStyle/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유지보수 대상 전산자산의 신뢰성 있는 통합관리의 부재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인프라 장비 및 상용 소프트웨어 변경 또는 작업 시 장애 발생 요인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전산자산에 대한 장애내역 등 개별 상세 이력관리가 매우 중요</a:t>
            </a:r>
            <a:endParaRPr lang="ko-KR" altLang="en-US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50000"/>
                  <a:lumOff val="50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81510021-5519-B40B-9DE0-7C0959CE41D3}"/>
              </a:ext>
            </a:extLst>
          </p:cNvPr>
          <p:cNvSpPr/>
          <p:nvPr/>
        </p:nvSpPr>
        <p:spPr>
          <a:xfrm>
            <a:off x="2847521" y="5650410"/>
            <a:ext cx="2090195" cy="1092607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0" rtlCol="0" anchor="t">
            <a:spAutoFit/>
          </a:bodyPr>
          <a:lstStyle/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국방데이터센터의 </a:t>
            </a:r>
            <a:r>
              <a:rPr lang="en-US" altLang="ko-KR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DDoS </a:t>
            </a: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공격 등 사이버 보안 위협 공격 발생</a:t>
            </a: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전반적인 인프라의 구조적 보안 위협 진단과 분석 필요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보안 취약점 점검에 따른 분석 및 조치에 대한 개선 필요</a:t>
            </a:r>
          </a:p>
        </p:txBody>
      </p:sp>
      <p:sp>
        <p:nvSpPr>
          <p:cNvPr id="89" name="직사각형 88">
            <a:extLst>
              <a:ext uri="{FF2B5EF4-FFF2-40B4-BE49-F238E27FC236}">
                <a16:creationId xmlns:a16="http://schemas.microsoft.com/office/drawing/2014/main" id="{99067C39-A64F-8381-7577-2F44427C64BF}"/>
              </a:ext>
            </a:extLst>
          </p:cNvPr>
          <p:cNvSpPr/>
          <p:nvPr/>
        </p:nvSpPr>
        <p:spPr>
          <a:xfrm>
            <a:off x="2876934" y="5156306"/>
            <a:ext cx="2087322" cy="445922"/>
          </a:xfrm>
          <a:prstGeom prst="rect">
            <a:avLst/>
          </a:prstGeom>
          <a:solidFill>
            <a:srgbClr val="B5D4E9"/>
          </a:solidFill>
          <a:ln w="9525">
            <a:noFill/>
          </a:ln>
        </p:spPr>
        <p:txBody>
          <a:bodyPr vert="horz" wrap="square" lIns="39600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defTabSz="1067256">
              <a:spcAft>
                <a:spcPts val="299"/>
              </a:spcAft>
            </a:pP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보안관리 부분에 종합적인    지원 체계 강화</a:t>
            </a:r>
          </a:p>
        </p:txBody>
      </p:sp>
      <p:sp>
        <p:nvSpPr>
          <p:cNvPr id="91" name="오각형 476">
            <a:extLst>
              <a:ext uri="{FF2B5EF4-FFF2-40B4-BE49-F238E27FC236}">
                <a16:creationId xmlns:a16="http://schemas.microsoft.com/office/drawing/2014/main" id="{FAFCB1CA-807F-6D18-03EA-B67AA08A9A3F}"/>
              </a:ext>
            </a:extLst>
          </p:cNvPr>
          <p:cNvSpPr/>
          <p:nvPr/>
        </p:nvSpPr>
        <p:spPr>
          <a:xfrm>
            <a:off x="2847527" y="5156299"/>
            <a:ext cx="245063" cy="445922"/>
          </a:xfrm>
          <a:prstGeom prst="homePlate">
            <a:avLst>
              <a:gd name="adj" fmla="val 30920"/>
            </a:avLst>
          </a:prstGeom>
          <a:solidFill>
            <a:srgbClr val="398A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lt1"/>
              </a:solidFill>
            </a:endParaRPr>
          </a:p>
        </p:txBody>
      </p:sp>
      <p:sp>
        <p:nvSpPr>
          <p:cNvPr id="92" name="직사각형 91">
            <a:extLst>
              <a:ext uri="{FF2B5EF4-FFF2-40B4-BE49-F238E27FC236}">
                <a16:creationId xmlns:a16="http://schemas.microsoft.com/office/drawing/2014/main" id="{E34EEC9F-A0C6-5A3C-650E-419C963C6895}"/>
              </a:ext>
            </a:extLst>
          </p:cNvPr>
          <p:cNvSpPr/>
          <p:nvPr/>
        </p:nvSpPr>
        <p:spPr>
          <a:xfrm>
            <a:off x="2807686" y="5214828"/>
            <a:ext cx="239137" cy="315155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defTabSz="1067256">
              <a:spcAft>
                <a:spcPts val="299"/>
              </a:spcAft>
            </a:pPr>
            <a:r>
              <a:rPr lang="en-US" altLang="ko-KR" sz="9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함초롬돋움" panose="02030504000101010101" pitchFamily="18" charset="-127"/>
              </a:rPr>
              <a:t>01</a:t>
            </a:r>
            <a:endParaRPr lang="ko-KR" altLang="en-US" sz="900" kern="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5563568E-55FF-7878-8EB7-09576A615F62}"/>
              </a:ext>
            </a:extLst>
          </p:cNvPr>
          <p:cNvSpPr/>
          <p:nvPr/>
        </p:nvSpPr>
        <p:spPr>
          <a:xfrm>
            <a:off x="2847521" y="7369149"/>
            <a:ext cx="2090195" cy="938719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0" rtlCol="0" anchor="t">
            <a:spAutoFit/>
          </a:bodyPr>
          <a:lstStyle/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대내외 보안감사 지원 및 가이드 필요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상주인력에 대한 지속적인 보안교육 및 보안의식 고취 필요</a:t>
            </a: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관리적</a:t>
            </a:r>
            <a:r>
              <a:rPr lang="en-US" altLang="ko-KR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기술적</a:t>
            </a:r>
            <a:r>
              <a:rPr lang="en-US" altLang="ko-KR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/</a:t>
            </a: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물리적 보안관리에 대한 진단 필요</a:t>
            </a:r>
          </a:p>
        </p:txBody>
      </p:sp>
      <p:sp>
        <p:nvSpPr>
          <p:cNvPr id="95" name="직사각형 94">
            <a:extLst>
              <a:ext uri="{FF2B5EF4-FFF2-40B4-BE49-F238E27FC236}">
                <a16:creationId xmlns:a16="http://schemas.microsoft.com/office/drawing/2014/main" id="{24230CEA-38DA-6186-29F3-4793C800F473}"/>
              </a:ext>
            </a:extLst>
          </p:cNvPr>
          <p:cNvSpPr/>
          <p:nvPr/>
        </p:nvSpPr>
        <p:spPr>
          <a:xfrm>
            <a:off x="2876935" y="6875403"/>
            <a:ext cx="2087321" cy="445921"/>
          </a:xfrm>
          <a:prstGeom prst="rect">
            <a:avLst/>
          </a:prstGeom>
          <a:solidFill>
            <a:srgbClr val="B5D4E9"/>
          </a:solidFill>
          <a:ln w="9525">
            <a:noFill/>
          </a:ln>
        </p:spPr>
        <p:txBody>
          <a:bodyPr vert="horz" wrap="square" lIns="39600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defTabSz="1067256">
              <a:spcAft>
                <a:spcPts val="299"/>
              </a:spcAft>
            </a:pP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다양한 대내외 보안감사</a:t>
            </a:r>
            <a:br>
              <a:rPr lang="en-US" altLang="ko-KR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</a:b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대비 지원 절실</a:t>
            </a:r>
          </a:p>
        </p:txBody>
      </p:sp>
      <p:sp>
        <p:nvSpPr>
          <p:cNvPr id="97" name="오각형 470">
            <a:extLst>
              <a:ext uri="{FF2B5EF4-FFF2-40B4-BE49-F238E27FC236}">
                <a16:creationId xmlns:a16="http://schemas.microsoft.com/office/drawing/2014/main" id="{53457340-DBD9-EAE1-AE8E-D113FD63C837}"/>
              </a:ext>
            </a:extLst>
          </p:cNvPr>
          <p:cNvSpPr/>
          <p:nvPr/>
        </p:nvSpPr>
        <p:spPr>
          <a:xfrm>
            <a:off x="2847520" y="6875396"/>
            <a:ext cx="245062" cy="445921"/>
          </a:xfrm>
          <a:prstGeom prst="homePlate">
            <a:avLst>
              <a:gd name="adj" fmla="val 30920"/>
            </a:avLst>
          </a:prstGeom>
          <a:solidFill>
            <a:srgbClr val="398AC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 dirty="0">
              <a:solidFill>
                <a:schemeClr val="lt1"/>
              </a:solidFill>
            </a:endParaRPr>
          </a:p>
        </p:txBody>
      </p:sp>
      <p:sp>
        <p:nvSpPr>
          <p:cNvPr id="98" name="직사각형 97">
            <a:extLst>
              <a:ext uri="{FF2B5EF4-FFF2-40B4-BE49-F238E27FC236}">
                <a16:creationId xmlns:a16="http://schemas.microsoft.com/office/drawing/2014/main" id="{EFCB1975-1549-CAD3-AA24-C81C54C90586}"/>
              </a:ext>
            </a:extLst>
          </p:cNvPr>
          <p:cNvSpPr/>
          <p:nvPr/>
        </p:nvSpPr>
        <p:spPr>
          <a:xfrm>
            <a:off x="2807678" y="6936467"/>
            <a:ext cx="239137" cy="315154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defTabSz="1067256">
              <a:spcAft>
                <a:spcPts val="299"/>
              </a:spcAft>
            </a:pPr>
            <a:r>
              <a:rPr lang="en-US" altLang="ko-KR" sz="9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함초롬돋움" panose="02030504000101010101" pitchFamily="18" charset="-127"/>
              </a:rPr>
              <a:t>02</a:t>
            </a:r>
            <a:endParaRPr lang="ko-KR" altLang="en-US" sz="900" kern="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7AB150FA-6328-061C-31BD-A9CD7F084CFC}"/>
              </a:ext>
            </a:extLst>
          </p:cNvPr>
          <p:cNvSpPr/>
          <p:nvPr/>
        </p:nvSpPr>
        <p:spPr>
          <a:xfrm>
            <a:off x="5094308" y="5657389"/>
            <a:ext cx="2105122" cy="1092607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0" rtlCol="0" anchor="t">
            <a:spAutoFit/>
          </a:bodyPr>
          <a:lstStyle/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많은 노후 장비 및 단종 제품 보유로  점검 및 장애예방활동 강화 필요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빠른 장애처리를 위한 예비부품 확보 및 공급체계 필요</a:t>
            </a: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신속한 장애 처리를 위한 협력업체 현황화 및 기계실 근접 지원체계 필요 </a:t>
            </a:r>
          </a:p>
        </p:txBody>
      </p:sp>
      <p:sp>
        <p:nvSpPr>
          <p:cNvPr id="102" name="직사각형 101">
            <a:extLst>
              <a:ext uri="{FF2B5EF4-FFF2-40B4-BE49-F238E27FC236}">
                <a16:creationId xmlns:a16="http://schemas.microsoft.com/office/drawing/2014/main" id="{0577F086-AA38-AEF4-97D2-640D9439484F}"/>
              </a:ext>
            </a:extLst>
          </p:cNvPr>
          <p:cNvSpPr/>
          <p:nvPr/>
        </p:nvSpPr>
        <p:spPr>
          <a:xfrm>
            <a:off x="5124584" y="5163285"/>
            <a:ext cx="2087322" cy="445922"/>
          </a:xfrm>
          <a:prstGeom prst="rect">
            <a:avLst/>
          </a:prstGeom>
          <a:solidFill>
            <a:srgbClr val="C2C9D4"/>
          </a:solidFill>
          <a:ln w="9525">
            <a:noFill/>
          </a:ln>
        </p:spPr>
        <p:txBody>
          <a:bodyPr vert="horz" wrap="square" lIns="39600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defTabSz="1067256">
              <a:spcAft>
                <a:spcPts val="299"/>
              </a:spcAft>
            </a:pP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장애예방활동 및 신속한</a:t>
            </a:r>
            <a:br>
              <a:rPr lang="en-US" altLang="ko-KR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</a:b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장애대응체계 강화</a:t>
            </a:r>
          </a:p>
        </p:txBody>
      </p:sp>
      <p:sp>
        <p:nvSpPr>
          <p:cNvPr id="104" name="오각형 464">
            <a:extLst>
              <a:ext uri="{FF2B5EF4-FFF2-40B4-BE49-F238E27FC236}">
                <a16:creationId xmlns:a16="http://schemas.microsoft.com/office/drawing/2014/main" id="{ECB94D7E-772F-27BC-BFBB-24A6DF5F53BA}"/>
              </a:ext>
            </a:extLst>
          </p:cNvPr>
          <p:cNvSpPr/>
          <p:nvPr/>
        </p:nvSpPr>
        <p:spPr>
          <a:xfrm>
            <a:off x="5095170" y="5163278"/>
            <a:ext cx="245062" cy="445922"/>
          </a:xfrm>
          <a:prstGeom prst="homePlate">
            <a:avLst>
              <a:gd name="adj" fmla="val 30920"/>
            </a:avLst>
          </a:prstGeom>
          <a:solidFill>
            <a:srgbClr val="3E4959"/>
          </a:solidFill>
          <a:ln w="12700">
            <a:noFill/>
          </a:ln>
          <a:effectLst/>
        </p:spPr>
        <p:txBody>
          <a:bodyPr wrap="none" anchor="ctr" anchorCtr="0">
            <a:noAutofit/>
          </a:bodyPr>
          <a:lstStyle/>
          <a:p>
            <a:pPr algn="ctr" latinLnBrk="0"/>
            <a:endParaRPr lang="ko-KR" altLang="en-US" sz="900" kern="0" dirty="0">
              <a:ln w="3175">
                <a:solidFill>
                  <a:schemeClr val="bg1">
                    <a:alpha val="0"/>
                  </a:schemeClr>
                </a:solidFill>
              </a:ln>
              <a:gradFill>
                <a:gsLst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0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05" name="직사각형 104">
            <a:extLst>
              <a:ext uri="{FF2B5EF4-FFF2-40B4-BE49-F238E27FC236}">
                <a16:creationId xmlns:a16="http://schemas.microsoft.com/office/drawing/2014/main" id="{A3E491AB-BAF1-4B58-1CB7-DA71D7B95795}"/>
              </a:ext>
            </a:extLst>
          </p:cNvPr>
          <p:cNvSpPr/>
          <p:nvPr/>
        </p:nvSpPr>
        <p:spPr>
          <a:xfrm>
            <a:off x="5048978" y="5221178"/>
            <a:ext cx="239137" cy="315155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defTabSz="1067256">
              <a:spcAft>
                <a:spcPts val="299"/>
              </a:spcAft>
            </a:pPr>
            <a:r>
              <a:rPr lang="en-US" altLang="ko-KR" sz="9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함초롬돋움" panose="02030504000101010101" pitchFamily="18" charset="-127"/>
              </a:rPr>
              <a:t>01</a:t>
            </a:r>
            <a:endParaRPr lang="ko-KR" altLang="en-US" sz="900" kern="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23405672-6EED-18DA-D97B-0FBC44A3F18A}"/>
              </a:ext>
            </a:extLst>
          </p:cNvPr>
          <p:cNvSpPr/>
          <p:nvPr/>
        </p:nvSpPr>
        <p:spPr>
          <a:xfrm>
            <a:off x="5095171" y="7369149"/>
            <a:ext cx="2090195" cy="1246495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0" rtlCol="0" anchor="t">
            <a:spAutoFit/>
          </a:bodyPr>
          <a:lstStyle/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수작업 및 육안 점검 방식의 </a:t>
            </a:r>
            <a:br>
              <a:rPr lang="en-US" altLang="ko-KR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일일 예방 점검 개선 필요</a:t>
            </a: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전문업체를 통한 성능진단을 통한 장애요인 제거 및 성능 향상 필요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유지관리 절차 및 지침</a:t>
            </a:r>
            <a:r>
              <a:rPr lang="en-US" altLang="ko-KR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산출물과 매뉴얼에 대한 수행자료 활용체계 구축과 표준 품질관리체계 제공</a:t>
            </a: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146712F0-62E6-7E61-949B-2AA141E69BC1}"/>
              </a:ext>
            </a:extLst>
          </p:cNvPr>
          <p:cNvSpPr/>
          <p:nvPr/>
        </p:nvSpPr>
        <p:spPr>
          <a:xfrm>
            <a:off x="5124585" y="6875403"/>
            <a:ext cx="2087321" cy="445921"/>
          </a:xfrm>
          <a:prstGeom prst="rect">
            <a:avLst/>
          </a:prstGeom>
          <a:solidFill>
            <a:srgbClr val="C2C9D4"/>
          </a:solidFill>
          <a:ln w="9525">
            <a:noFill/>
          </a:ln>
        </p:spPr>
        <p:txBody>
          <a:bodyPr vert="horz" wrap="square" lIns="39600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defTabSz="1067256">
              <a:spcAft>
                <a:spcPts val="299"/>
              </a:spcAft>
            </a:pP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유지관리체계 및 분야별 </a:t>
            </a:r>
            <a:br>
              <a:rPr lang="en-US" altLang="ko-KR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</a:b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기술지원체계 강화</a:t>
            </a:r>
          </a:p>
        </p:txBody>
      </p:sp>
      <p:sp>
        <p:nvSpPr>
          <p:cNvPr id="112" name="오각형 458">
            <a:extLst>
              <a:ext uri="{FF2B5EF4-FFF2-40B4-BE49-F238E27FC236}">
                <a16:creationId xmlns:a16="http://schemas.microsoft.com/office/drawing/2014/main" id="{C39916E4-3E6A-A54C-D485-5DE2B14259B3}"/>
              </a:ext>
            </a:extLst>
          </p:cNvPr>
          <p:cNvSpPr/>
          <p:nvPr/>
        </p:nvSpPr>
        <p:spPr>
          <a:xfrm>
            <a:off x="5095170" y="6875396"/>
            <a:ext cx="245062" cy="445921"/>
          </a:xfrm>
          <a:prstGeom prst="homePlate">
            <a:avLst>
              <a:gd name="adj" fmla="val 30920"/>
            </a:avLst>
          </a:prstGeom>
          <a:solidFill>
            <a:srgbClr val="3E4959"/>
          </a:solidFill>
          <a:ln w="12700">
            <a:noFill/>
          </a:ln>
          <a:effectLst/>
        </p:spPr>
        <p:txBody>
          <a:bodyPr wrap="none" anchor="ctr" anchorCtr="0">
            <a:noAutofit/>
          </a:bodyPr>
          <a:lstStyle/>
          <a:p>
            <a:pPr algn="ctr" latinLnBrk="0"/>
            <a:endParaRPr lang="ko-KR" altLang="en-US" sz="900" kern="0" dirty="0">
              <a:ln w="3175">
                <a:solidFill>
                  <a:schemeClr val="bg1">
                    <a:alpha val="0"/>
                  </a:schemeClr>
                </a:solidFill>
              </a:ln>
              <a:gradFill>
                <a:gsLst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0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8D119776-CE8B-375F-534C-E16D8CCADDBC}"/>
              </a:ext>
            </a:extLst>
          </p:cNvPr>
          <p:cNvSpPr/>
          <p:nvPr/>
        </p:nvSpPr>
        <p:spPr>
          <a:xfrm>
            <a:off x="5055328" y="6939641"/>
            <a:ext cx="239137" cy="315154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defTabSz="1067256">
              <a:spcAft>
                <a:spcPts val="299"/>
              </a:spcAft>
            </a:pPr>
            <a:r>
              <a:rPr lang="en-US" altLang="ko-KR" sz="9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함초롬돋움" panose="02030504000101010101" pitchFamily="18" charset="-127"/>
              </a:rPr>
              <a:t>02</a:t>
            </a:r>
            <a:endParaRPr lang="ko-KR" altLang="en-US" sz="900" kern="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함초롬돋움" panose="02030504000101010101" pitchFamily="18" charset="-127"/>
            </a:endParaRPr>
          </a:p>
        </p:txBody>
      </p: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271C08BD-C9CB-38EB-EB9D-3637AC1EB1C4}"/>
              </a:ext>
            </a:extLst>
          </p:cNvPr>
          <p:cNvGrpSpPr/>
          <p:nvPr/>
        </p:nvGrpSpPr>
        <p:grpSpPr>
          <a:xfrm>
            <a:off x="2384387" y="8228125"/>
            <a:ext cx="2994472" cy="1906251"/>
            <a:chOff x="9616425" y="7444861"/>
            <a:chExt cx="1960485" cy="1891227"/>
          </a:xfrm>
        </p:grpSpPr>
        <p:pic>
          <p:nvPicPr>
            <p:cNvPr id="115" name="그림 114">
              <a:extLst>
                <a:ext uri="{FF2B5EF4-FFF2-40B4-BE49-F238E27FC236}">
                  <a16:creationId xmlns:a16="http://schemas.microsoft.com/office/drawing/2014/main" id="{25172B01-A617-D181-7141-1C6A18E2B6D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0917168" y="8126344"/>
              <a:ext cx="659742" cy="1077827"/>
            </a:xfrm>
            <a:prstGeom prst="rect">
              <a:avLst/>
            </a:prstGeom>
          </p:spPr>
        </p:pic>
        <p:pic>
          <p:nvPicPr>
            <p:cNvPr id="116" name="그림 115">
              <a:extLst>
                <a:ext uri="{FF2B5EF4-FFF2-40B4-BE49-F238E27FC236}">
                  <a16:creationId xmlns:a16="http://schemas.microsoft.com/office/drawing/2014/main" id="{9B12E8AD-7312-AE43-50C6-BE4329BC128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53510"/>
            <a:stretch/>
          </p:blipFill>
          <p:spPr>
            <a:xfrm flipH="1">
              <a:off x="9616425" y="7444861"/>
              <a:ext cx="407803" cy="1433049"/>
            </a:xfrm>
            <a:prstGeom prst="rect">
              <a:avLst/>
            </a:prstGeom>
          </p:spPr>
        </p:pic>
        <p:sp>
          <p:nvSpPr>
            <p:cNvPr id="117" name="타원 116">
              <a:extLst>
                <a:ext uri="{FF2B5EF4-FFF2-40B4-BE49-F238E27FC236}">
                  <a16:creationId xmlns:a16="http://schemas.microsoft.com/office/drawing/2014/main" id="{023A0AC2-0364-2FF1-6D4B-83C67E9FE512}"/>
                </a:ext>
              </a:extLst>
            </p:cNvPr>
            <p:cNvSpPr/>
            <p:nvPr/>
          </p:nvSpPr>
          <p:spPr>
            <a:xfrm>
              <a:off x="10081632" y="7537601"/>
              <a:ext cx="1061612" cy="1588135"/>
            </a:xfrm>
            <a:prstGeom prst="ellipse">
              <a:avLst/>
            </a:prstGeom>
            <a:noFill/>
            <a:ln w="285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grpSp>
          <p:nvGrpSpPr>
            <p:cNvPr id="118" name="Group 5">
              <a:extLst>
                <a:ext uri="{FF2B5EF4-FFF2-40B4-BE49-F238E27FC236}">
                  <a16:creationId xmlns:a16="http://schemas.microsoft.com/office/drawing/2014/main" id="{CA7554F2-8672-9313-7063-FB4D067A2AC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10029992" y="7512068"/>
              <a:ext cx="1181567" cy="1824020"/>
              <a:chOff x="-3618" y="2170"/>
              <a:chExt cx="2067" cy="2133"/>
            </a:xfrm>
          </p:grpSpPr>
          <p:sp>
            <p:nvSpPr>
              <p:cNvPr id="126" name="Freeform 6">
                <a:extLst>
                  <a:ext uri="{FF2B5EF4-FFF2-40B4-BE49-F238E27FC236}">
                    <a16:creationId xmlns:a16="http://schemas.microsoft.com/office/drawing/2014/main" id="{9A01232C-8A47-39B7-262C-E3DDBED08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103" y="2170"/>
                <a:ext cx="1034" cy="1192"/>
              </a:xfrm>
              <a:custGeom>
                <a:avLst/>
                <a:gdLst>
                  <a:gd name="T0" fmla="*/ 517 w 1034"/>
                  <a:gd name="T1" fmla="*/ 0 h 1192"/>
                  <a:gd name="T2" fmla="*/ 0 w 1034"/>
                  <a:gd name="T3" fmla="*/ 297 h 1192"/>
                  <a:gd name="T4" fmla="*/ 0 w 1034"/>
                  <a:gd name="T5" fmla="*/ 597 h 1192"/>
                  <a:gd name="T6" fmla="*/ 0 w 1034"/>
                  <a:gd name="T7" fmla="*/ 895 h 1192"/>
                  <a:gd name="T8" fmla="*/ 517 w 1034"/>
                  <a:gd name="T9" fmla="*/ 1192 h 1192"/>
                  <a:gd name="T10" fmla="*/ 1034 w 1034"/>
                  <a:gd name="T11" fmla="*/ 895 h 1192"/>
                  <a:gd name="T12" fmla="*/ 1034 w 1034"/>
                  <a:gd name="T13" fmla="*/ 597 h 1192"/>
                  <a:gd name="T14" fmla="*/ 1034 w 1034"/>
                  <a:gd name="T15" fmla="*/ 297 h 1192"/>
                  <a:gd name="T16" fmla="*/ 517 w 1034"/>
                  <a:gd name="T17" fmla="*/ 0 h 1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4" h="1192">
                    <a:moveTo>
                      <a:pt x="517" y="0"/>
                    </a:moveTo>
                    <a:lnTo>
                      <a:pt x="0" y="297"/>
                    </a:lnTo>
                    <a:lnTo>
                      <a:pt x="0" y="597"/>
                    </a:lnTo>
                    <a:lnTo>
                      <a:pt x="0" y="895"/>
                    </a:lnTo>
                    <a:lnTo>
                      <a:pt x="517" y="1192"/>
                    </a:lnTo>
                    <a:lnTo>
                      <a:pt x="1034" y="895"/>
                    </a:lnTo>
                    <a:lnTo>
                      <a:pt x="1034" y="597"/>
                    </a:lnTo>
                    <a:lnTo>
                      <a:pt x="1034" y="297"/>
                    </a:lnTo>
                    <a:lnTo>
                      <a:pt x="517" y="0"/>
                    </a:lnTo>
                    <a:close/>
                  </a:path>
                </a:pathLst>
              </a:custGeom>
              <a:solidFill>
                <a:srgbClr val="7DBAD9"/>
              </a:solidFill>
              <a:ln w="12700" algn="ctr">
                <a:solidFill>
                  <a:srgbClr val="7DBAD9"/>
                </a:solidFill>
                <a:miter lim="800000"/>
                <a:headEnd/>
                <a:tailEnd/>
              </a:ln>
              <a:effectLst/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latinLnBrk="0"/>
                <a:endParaRPr lang="ko-KR" altLang="en-US" sz="900" kern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7" name="Freeform 7">
                <a:extLst>
                  <a:ext uri="{FF2B5EF4-FFF2-40B4-BE49-F238E27FC236}">
                    <a16:creationId xmlns:a16="http://schemas.microsoft.com/office/drawing/2014/main" id="{2F23CF2B-D048-361A-30EB-9F7341D165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618" y="3111"/>
                <a:ext cx="1032" cy="1192"/>
              </a:xfrm>
              <a:custGeom>
                <a:avLst/>
                <a:gdLst>
                  <a:gd name="T0" fmla="*/ 515 w 1032"/>
                  <a:gd name="T1" fmla="*/ 0 h 1192"/>
                  <a:gd name="T2" fmla="*/ 0 w 1032"/>
                  <a:gd name="T3" fmla="*/ 297 h 1192"/>
                  <a:gd name="T4" fmla="*/ 0 w 1032"/>
                  <a:gd name="T5" fmla="*/ 595 h 1192"/>
                  <a:gd name="T6" fmla="*/ 0 w 1032"/>
                  <a:gd name="T7" fmla="*/ 895 h 1192"/>
                  <a:gd name="T8" fmla="*/ 515 w 1032"/>
                  <a:gd name="T9" fmla="*/ 1192 h 1192"/>
                  <a:gd name="T10" fmla="*/ 1032 w 1032"/>
                  <a:gd name="T11" fmla="*/ 895 h 1192"/>
                  <a:gd name="T12" fmla="*/ 1032 w 1032"/>
                  <a:gd name="T13" fmla="*/ 595 h 1192"/>
                  <a:gd name="T14" fmla="*/ 1032 w 1032"/>
                  <a:gd name="T15" fmla="*/ 297 h 1192"/>
                  <a:gd name="T16" fmla="*/ 515 w 1032"/>
                  <a:gd name="T17" fmla="*/ 0 h 1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2" h="1192">
                    <a:moveTo>
                      <a:pt x="515" y="0"/>
                    </a:moveTo>
                    <a:lnTo>
                      <a:pt x="0" y="297"/>
                    </a:lnTo>
                    <a:lnTo>
                      <a:pt x="0" y="595"/>
                    </a:lnTo>
                    <a:lnTo>
                      <a:pt x="0" y="895"/>
                    </a:lnTo>
                    <a:lnTo>
                      <a:pt x="515" y="1192"/>
                    </a:lnTo>
                    <a:lnTo>
                      <a:pt x="1032" y="895"/>
                    </a:lnTo>
                    <a:lnTo>
                      <a:pt x="1032" y="595"/>
                    </a:lnTo>
                    <a:lnTo>
                      <a:pt x="1032" y="297"/>
                    </a:lnTo>
                    <a:lnTo>
                      <a:pt x="515" y="0"/>
                    </a:lnTo>
                    <a:close/>
                  </a:path>
                </a:pathLst>
              </a:custGeom>
              <a:solidFill>
                <a:srgbClr val="37ADB2"/>
              </a:solidFill>
              <a:ln w="12700" algn="ctr">
                <a:noFill/>
                <a:miter lim="800000"/>
                <a:headEnd/>
                <a:tailEnd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228600" indent="-228600" algn="ctr" latinLnBrk="0">
                  <a:buAutoNum type="arabicPlain" startAt="77"/>
                </a:pPr>
                <a:endParaRPr lang="ko-KR" altLang="en-US" sz="900" kern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0">
                        <a:sysClr val="window" lastClr="FFFFFF"/>
                      </a:gs>
                      <a:gs pos="100000">
                        <a:sysClr val="window" lastClr="FFFFFF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28" name="Freeform 8">
                <a:extLst>
                  <a:ext uri="{FF2B5EF4-FFF2-40B4-BE49-F238E27FC236}">
                    <a16:creationId xmlns:a16="http://schemas.microsoft.com/office/drawing/2014/main" id="{37748EF1-19B4-8F70-6923-E78F65F158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586" y="3079"/>
                <a:ext cx="1035" cy="1192"/>
              </a:xfrm>
              <a:custGeom>
                <a:avLst/>
                <a:gdLst>
                  <a:gd name="T0" fmla="*/ 517 w 1035"/>
                  <a:gd name="T1" fmla="*/ 0 h 1192"/>
                  <a:gd name="T2" fmla="*/ 0 w 1035"/>
                  <a:gd name="T3" fmla="*/ 297 h 1192"/>
                  <a:gd name="T4" fmla="*/ 0 w 1035"/>
                  <a:gd name="T5" fmla="*/ 595 h 1192"/>
                  <a:gd name="T6" fmla="*/ 0 w 1035"/>
                  <a:gd name="T7" fmla="*/ 895 h 1192"/>
                  <a:gd name="T8" fmla="*/ 517 w 1035"/>
                  <a:gd name="T9" fmla="*/ 1192 h 1192"/>
                  <a:gd name="T10" fmla="*/ 1035 w 1035"/>
                  <a:gd name="T11" fmla="*/ 895 h 1192"/>
                  <a:gd name="T12" fmla="*/ 1035 w 1035"/>
                  <a:gd name="T13" fmla="*/ 595 h 1192"/>
                  <a:gd name="T14" fmla="*/ 1035 w 1035"/>
                  <a:gd name="T15" fmla="*/ 297 h 1192"/>
                  <a:gd name="T16" fmla="*/ 517 w 1035"/>
                  <a:gd name="T17" fmla="*/ 0 h 1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5" h="1192">
                    <a:moveTo>
                      <a:pt x="517" y="0"/>
                    </a:moveTo>
                    <a:lnTo>
                      <a:pt x="0" y="297"/>
                    </a:lnTo>
                    <a:lnTo>
                      <a:pt x="0" y="595"/>
                    </a:lnTo>
                    <a:lnTo>
                      <a:pt x="0" y="895"/>
                    </a:lnTo>
                    <a:lnTo>
                      <a:pt x="517" y="1192"/>
                    </a:lnTo>
                    <a:lnTo>
                      <a:pt x="1035" y="895"/>
                    </a:lnTo>
                    <a:lnTo>
                      <a:pt x="1035" y="595"/>
                    </a:lnTo>
                    <a:lnTo>
                      <a:pt x="1035" y="297"/>
                    </a:lnTo>
                    <a:lnTo>
                      <a:pt x="517" y="0"/>
                    </a:lnTo>
                    <a:close/>
                  </a:path>
                </a:pathLst>
              </a:custGeom>
              <a:solidFill>
                <a:srgbClr val="398AC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>
                  <a:solidFill>
                    <a:schemeClr val="lt1"/>
                  </a:solidFill>
                </a:endParaRPr>
              </a:p>
            </p:txBody>
          </p:sp>
          <p:sp>
            <p:nvSpPr>
              <p:cNvPr id="129" name="Freeform 9">
                <a:extLst>
                  <a:ext uri="{FF2B5EF4-FFF2-40B4-BE49-F238E27FC236}">
                    <a16:creationId xmlns:a16="http://schemas.microsoft.com/office/drawing/2014/main" id="{A18303A4-07B1-7D61-138C-43E894FFAB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034" y="2879"/>
                <a:ext cx="851" cy="983"/>
              </a:xfrm>
              <a:custGeom>
                <a:avLst/>
                <a:gdLst>
                  <a:gd name="T0" fmla="*/ 517 w 1034"/>
                  <a:gd name="T1" fmla="*/ 0 h 1193"/>
                  <a:gd name="T2" fmla="*/ 0 w 1034"/>
                  <a:gd name="T3" fmla="*/ 298 h 1193"/>
                  <a:gd name="T4" fmla="*/ 0 w 1034"/>
                  <a:gd name="T5" fmla="*/ 595 h 1193"/>
                  <a:gd name="T6" fmla="*/ 0 w 1034"/>
                  <a:gd name="T7" fmla="*/ 893 h 1193"/>
                  <a:gd name="T8" fmla="*/ 517 w 1034"/>
                  <a:gd name="T9" fmla="*/ 1193 h 1193"/>
                  <a:gd name="T10" fmla="*/ 1034 w 1034"/>
                  <a:gd name="T11" fmla="*/ 893 h 1193"/>
                  <a:gd name="T12" fmla="*/ 1034 w 1034"/>
                  <a:gd name="T13" fmla="*/ 595 h 1193"/>
                  <a:gd name="T14" fmla="*/ 1034 w 1034"/>
                  <a:gd name="T15" fmla="*/ 298 h 1193"/>
                  <a:gd name="T16" fmla="*/ 517 w 1034"/>
                  <a:gd name="T17" fmla="*/ 0 h 11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4" h="1193">
                    <a:moveTo>
                      <a:pt x="517" y="0"/>
                    </a:moveTo>
                    <a:lnTo>
                      <a:pt x="0" y="298"/>
                    </a:lnTo>
                    <a:lnTo>
                      <a:pt x="0" y="595"/>
                    </a:lnTo>
                    <a:lnTo>
                      <a:pt x="0" y="893"/>
                    </a:lnTo>
                    <a:lnTo>
                      <a:pt x="517" y="1193"/>
                    </a:lnTo>
                    <a:lnTo>
                      <a:pt x="1034" y="893"/>
                    </a:lnTo>
                    <a:lnTo>
                      <a:pt x="1034" y="595"/>
                    </a:lnTo>
                    <a:lnTo>
                      <a:pt x="1034" y="298"/>
                    </a:lnTo>
                    <a:lnTo>
                      <a:pt x="517" y="0"/>
                    </a:lnTo>
                    <a:close/>
                  </a:path>
                </a:pathLst>
              </a:custGeom>
              <a:solidFill>
                <a:schemeClr val="bg1"/>
              </a:solidFill>
              <a:ln w="12700" algn="ctr">
                <a:solidFill>
                  <a:srgbClr val="DDDDDD"/>
                </a:solidFill>
                <a:miter lim="800000"/>
                <a:headEnd/>
                <a:tailEnd/>
              </a:ln>
              <a:effectLst/>
            </p:spPr>
            <p:txBody>
              <a:bodyPr vert="horz" wrap="none" lIns="0" tIns="0" rIns="0" bIns="0" numCol="1" anchor="ctr" anchorCtr="0" compatLnSpc="1">
                <a:prstTxWarp prst="textNoShape">
                  <a:avLst/>
                </a:prstTxWarp>
              </a:bodyPr>
              <a:lstStyle/>
              <a:p>
                <a:pPr algn="ctr" defTabSz="859384" fontAlgn="base" latinLnBrk="0">
                  <a:spcBef>
                    <a:spcPct val="0"/>
                  </a:spcBef>
                </a:pPr>
                <a:endParaRPr kumimoji="1" lang="ko-KR" altLang="en-US" sz="900" kern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tx1">
                      <a:lumMod val="75000"/>
                      <a:lumOff val="2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sp>
            <p:nvSpPr>
              <p:cNvPr id="130" name="Freeform 10">
                <a:extLst>
                  <a:ext uri="{FF2B5EF4-FFF2-40B4-BE49-F238E27FC236}">
                    <a16:creationId xmlns:a16="http://schemas.microsoft.com/office/drawing/2014/main" id="{B45C663C-5DDE-72AF-E7DE-206DC230E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083" y="2211"/>
                <a:ext cx="1034" cy="297"/>
              </a:xfrm>
              <a:custGeom>
                <a:avLst/>
                <a:gdLst>
                  <a:gd name="T0" fmla="*/ 0 w 1034"/>
                  <a:gd name="T1" fmla="*/ 297 h 297"/>
                  <a:gd name="T2" fmla="*/ 1034 w 1034"/>
                  <a:gd name="T3" fmla="*/ 297 h 297"/>
                  <a:gd name="T4" fmla="*/ 517 w 1034"/>
                  <a:gd name="T5" fmla="*/ 0 h 297"/>
                  <a:gd name="T6" fmla="*/ 0 w 1034"/>
                  <a:gd name="T7" fmla="*/ 297 h 29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034" h="297">
                    <a:moveTo>
                      <a:pt x="0" y="297"/>
                    </a:moveTo>
                    <a:lnTo>
                      <a:pt x="1034" y="297"/>
                    </a:lnTo>
                    <a:lnTo>
                      <a:pt x="517" y="0"/>
                    </a:lnTo>
                    <a:lnTo>
                      <a:pt x="0" y="297"/>
                    </a:lnTo>
                    <a:close/>
                  </a:path>
                </a:pathLst>
              </a:custGeom>
              <a:solidFill>
                <a:srgbClr val="61ACD1"/>
              </a:solidFill>
              <a:ln w="9525">
                <a:noFill/>
                <a:round/>
                <a:headEnd/>
                <a:tailEnd/>
              </a:ln>
              <a:effectLst/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algn="ctr" latinLnBrk="0"/>
                <a:endParaRPr lang="ko-KR" altLang="en-US" sz="900" kern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solidFill>
                    <a:schemeClr val="bg1"/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1" name="Freeform 11">
                <a:extLst>
                  <a:ext uri="{FF2B5EF4-FFF2-40B4-BE49-F238E27FC236}">
                    <a16:creationId xmlns:a16="http://schemas.microsoft.com/office/drawing/2014/main" id="{B012945F-6330-A2BC-E42B-1C737FA86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3618" y="3376"/>
                <a:ext cx="515" cy="895"/>
              </a:xfrm>
              <a:custGeom>
                <a:avLst/>
                <a:gdLst>
                  <a:gd name="T0" fmla="*/ 0 w 515"/>
                  <a:gd name="T1" fmla="*/ 0 h 895"/>
                  <a:gd name="T2" fmla="*/ 0 w 515"/>
                  <a:gd name="T3" fmla="*/ 598 h 895"/>
                  <a:gd name="T4" fmla="*/ 515 w 515"/>
                  <a:gd name="T5" fmla="*/ 895 h 895"/>
                  <a:gd name="T6" fmla="*/ 0 w 515"/>
                  <a:gd name="T7" fmla="*/ 0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5" h="895">
                    <a:moveTo>
                      <a:pt x="0" y="0"/>
                    </a:moveTo>
                    <a:lnTo>
                      <a:pt x="0" y="598"/>
                    </a:lnTo>
                    <a:lnTo>
                      <a:pt x="515" y="8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29FA4"/>
              </a:solidFill>
              <a:ln w="12700" algn="ctr">
                <a:noFill/>
                <a:miter lim="800000"/>
                <a:headEnd/>
                <a:tailEnd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none" lIns="91440" tIns="45720" rIns="91440" bIns="45720" numCol="1" anchor="ctr" anchorCtr="0" compatLnSpc="1">
                <a:prstTxWarp prst="textNoShape">
                  <a:avLst/>
                </a:prstTxWarp>
                <a:noAutofit/>
              </a:bodyPr>
              <a:lstStyle/>
              <a:p>
                <a:pPr marL="228600" indent="-228600" algn="ctr" latinLnBrk="0">
                  <a:buAutoNum type="arabicPlain" startAt="77"/>
                </a:pPr>
                <a:endParaRPr lang="ko-KR" altLang="en-US" sz="900" kern="0">
                  <a:ln w="3175">
                    <a:solidFill>
                      <a:schemeClr val="bg1">
                        <a:alpha val="0"/>
                      </a:schemeClr>
                    </a:solidFill>
                  </a:ln>
                  <a:gradFill>
                    <a:gsLst>
                      <a:gs pos="0">
                        <a:sysClr val="window" lastClr="FFFFFF"/>
                      </a:gs>
                      <a:gs pos="100000">
                        <a:sysClr val="window" lastClr="FFFFFF"/>
                      </a:gs>
                    </a:gsLst>
                    <a:lin ang="5400000" scaled="0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anose="020B0604020202020204" pitchFamily="34" charset="0"/>
                </a:endParaRPr>
              </a:p>
            </p:txBody>
          </p:sp>
          <p:sp>
            <p:nvSpPr>
              <p:cNvPr id="132" name="Freeform 12">
                <a:extLst>
                  <a:ext uri="{FF2B5EF4-FFF2-40B4-BE49-F238E27FC236}">
                    <a16:creationId xmlns:a16="http://schemas.microsoft.com/office/drawing/2014/main" id="{D5835489-8A32-A441-ABDD-FE97D146C1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-2069" y="3408"/>
                <a:ext cx="518" cy="895"/>
              </a:xfrm>
              <a:custGeom>
                <a:avLst/>
                <a:gdLst>
                  <a:gd name="T0" fmla="*/ 518 w 518"/>
                  <a:gd name="T1" fmla="*/ 0 h 895"/>
                  <a:gd name="T2" fmla="*/ 518 w 518"/>
                  <a:gd name="T3" fmla="*/ 598 h 895"/>
                  <a:gd name="T4" fmla="*/ 0 w 518"/>
                  <a:gd name="T5" fmla="*/ 895 h 895"/>
                  <a:gd name="T6" fmla="*/ 518 w 518"/>
                  <a:gd name="T7" fmla="*/ 0 h 8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518" h="895">
                    <a:moveTo>
                      <a:pt x="518" y="0"/>
                    </a:moveTo>
                    <a:lnTo>
                      <a:pt x="518" y="598"/>
                    </a:lnTo>
                    <a:lnTo>
                      <a:pt x="0" y="895"/>
                    </a:lnTo>
                    <a:lnTo>
                      <a:pt x="518" y="0"/>
                    </a:lnTo>
                    <a:close/>
                  </a:path>
                </a:pathLst>
              </a:custGeom>
              <a:solidFill>
                <a:srgbClr val="347F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1100">
                  <a:solidFill>
                    <a:schemeClr val="lt1"/>
                  </a:solidFill>
                </a:endParaRPr>
              </a:p>
            </p:txBody>
          </p:sp>
        </p:grp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3D5EB190-6C45-D8A7-F205-851E9D39D52E}"/>
                </a:ext>
              </a:extLst>
            </p:cNvPr>
            <p:cNvSpPr txBox="1"/>
            <p:nvPr/>
          </p:nvSpPr>
          <p:spPr>
            <a:xfrm>
              <a:off x="10356716" y="8134858"/>
              <a:ext cx="528118" cy="348609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 defTabSz="1067256">
                <a:spcAft>
                  <a:spcPts val="100"/>
                </a:spcAft>
              </a:pPr>
              <a:r>
                <a:rPr lang="ko-KR" altLang="en-US" sz="11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함초롬돋움" panose="02030504000101010101" pitchFamily="18" charset="-127"/>
                </a:rPr>
                <a:t>정보보호</a:t>
              </a:r>
              <a:endParaRPr lang="en-US" altLang="ko-KR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함초롬돋움" panose="02030504000101010101" pitchFamily="18" charset="-127"/>
              </a:endParaRPr>
            </a:p>
            <a:p>
              <a:pPr algn="ctr" defTabSz="1067256">
                <a:spcAft>
                  <a:spcPts val="100"/>
                </a:spcAft>
              </a:pPr>
              <a:r>
                <a:rPr lang="ko-KR" altLang="en-US" sz="1100" kern="0" dirty="0">
                  <a:ln>
                    <a:solidFill>
                      <a:schemeClr val="accent1">
                        <a:alpha val="0"/>
                      </a:schemeClr>
                    </a:solidFill>
                  </a:ln>
                  <a:latin typeface="KoPub돋움체 Bold" panose="02020603020101020101" pitchFamily="18" charset="-127"/>
                  <a:ea typeface="KoPub돋움체 Bold" panose="02020603020101020101" pitchFamily="18" charset="-127"/>
                  <a:cs typeface="함초롬돋움" panose="02030504000101010101" pitchFamily="18" charset="-127"/>
                </a:rPr>
                <a:t>관리체계</a:t>
              </a:r>
              <a:endParaRPr lang="en-US" altLang="ko-KR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돋움체 Bold" panose="02020603020101020101" pitchFamily="18" charset="-127"/>
                <a:ea typeface="KoPub돋움체 Bold" panose="02020603020101020101" pitchFamily="18" charset="-127"/>
                <a:cs typeface="함초롬돋움" panose="02030504000101010101" pitchFamily="18" charset="-127"/>
              </a:endParaRP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B8E881E9-5318-FE76-B1FE-88E8D2328265}"/>
                </a:ext>
              </a:extLst>
            </p:cNvPr>
            <p:cNvSpPr txBox="1"/>
            <p:nvPr/>
          </p:nvSpPr>
          <p:spPr>
            <a:xfrm>
              <a:off x="9952654" y="7772540"/>
              <a:ext cx="528118" cy="31807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 defTabSz="1067256">
                <a:spcAft>
                  <a:spcPts val="100"/>
                </a:spcAft>
              </a:pPr>
              <a:r>
                <a:rPr lang="ko-KR" altLang="en-US" sz="10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itchFamily="2" charset="-127"/>
                  <a:ea typeface="KoPub돋움체 Bold" pitchFamily="2" charset="-127"/>
                </a:rPr>
                <a:t>관리적</a:t>
              </a:r>
              <a:endParaRPr lang="en-US" altLang="ko-KR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itchFamily="2" charset="-127"/>
                <a:ea typeface="KoPub돋움체 Bold" pitchFamily="2" charset="-127"/>
              </a:endParaRPr>
            </a:p>
            <a:p>
              <a:pPr algn="ctr" defTabSz="1067256">
                <a:spcAft>
                  <a:spcPts val="100"/>
                </a:spcAft>
              </a:pPr>
              <a:r>
                <a:rPr lang="ko-KR" altLang="en-US" sz="10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itchFamily="2" charset="-127"/>
                  <a:ea typeface="KoPub돋움체 Bold" pitchFamily="2" charset="-127"/>
                </a:rPr>
                <a:t>보안체계</a:t>
              </a:r>
            </a:p>
          </p:txBody>
        </p:sp>
        <p:sp>
          <p:nvSpPr>
            <p:cNvPr id="121" name="이등변 삼각형 120">
              <a:extLst>
                <a:ext uri="{FF2B5EF4-FFF2-40B4-BE49-F238E27FC236}">
                  <a16:creationId xmlns:a16="http://schemas.microsoft.com/office/drawing/2014/main" id="{0380C6A6-7C22-E002-D36A-A476DA65C9E1}"/>
                </a:ext>
              </a:extLst>
            </p:cNvPr>
            <p:cNvSpPr/>
            <p:nvPr/>
          </p:nvSpPr>
          <p:spPr>
            <a:xfrm rot="19877981">
              <a:off x="10071287" y="8591802"/>
              <a:ext cx="106962" cy="137940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122" name="이등변 삼각형 121">
              <a:extLst>
                <a:ext uri="{FF2B5EF4-FFF2-40B4-BE49-F238E27FC236}">
                  <a16:creationId xmlns:a16="http://schemas.microsoft.com/office/drawing/2014/main" id="{4AA02E1F-3267-9585-30B7-90B0CC49924F}"/>
                </a:ext>
              </a:extLst>
            </p:cNvPr>
            <p:cNvSpPr/>
            <p:nvPr/>
          </p:nvSpPr>
          <p:spPr>
            <a:xfrm rot="12522019" flipH="1">
              <a:off x="11036336" y="8634831"/>
              <a:ext cx="106962" cy="137940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123" name="이등변 삼각형 122">
              <a:extLst>
                <a:ext uri="{FF2B5EF4-FFF2-40B4-BE49-F238E27FC236}">
                  <a16:creationId xmlns:a16="http://schemas.microsoft.com/office/drawing/2014/main" id="{99DAF14E-182C-5396-C015-48C83811261C}"/>
                </a:ext>
              </a:extLst>
            </p:cNvPr>
            <p:cNvSpPr/>
            <p:nvPr/>
          </p:nvSpPr>
          <p:spPr>
            <a:xfrm rot="5400000" flipH="1">
              <a:off x="10557023" y="7517214"/>
              <a:ext cx="160011" cy="92208"/>
            </a:xfrm>
            <a:prstGeom prst="triangl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ACD07F99-D25C-144C-289F-D84F1E7D6414}"/>
                </a:ext>
              </a:extLst>
            </p:cNvPr>
            <p:cNvSpPr txBox="1"/>
            <p:nvPr/>
          </p:nvSpPr>
          <p:spPr>
            <a:xfrm>
              <a:off x="10750118" y="7772540"/>
              <a:ext cx="528118" cy="31807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 defTabSz="1067256">
                <a:spcAft>
                  <a:spcPts val="100"/>
                </a:spcAft>
              </a:pPr>
              <a:r>
                <a:rPr lang="ko-KR" altLang="en-US" sz="10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itchFamily="2" charset="-127"/>
                  <a:ea typeface="KoPub돋움체 Bold" pitchFamily="2" charset="-127"/>
                </a:rPr>
                <a:t>기술적</a:t>
              </a:r>
              <a:endParaRPr lang="en-US" altLang="ko-KR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itchFamily="2" charset="-127"/>
                <a:ea typeface="KoPub돋움체 Bold" pitchFamily="2" charset="-127"/>
              </a:endParaRPr>
            </a:p>
            <a:p>
              <a:pPr algn="ctr" defTabSz="1067256">
                <a:spcAft>
                  <a:spcPts val="100"/>
                </a:spcAft>
              </a:pPr>
              <a:r>
                <a:rPr lang="ko-KR" altLang="en-US" sz="10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itchFamily="2" charset="-127"/>
                  <a:ea typeface="KoPub돋움체 Bold" pitchFamily="2" charset="-127"/>
                </a:rPr>
                <a:t>보안체계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B114B904-9AC5-7E8A-6A1C-F09155D17650}"/>
                </a:ext>
              </a:extLst>
            </p:cNvPr>
            <p:cNvSpPr txBox="1"/>
            <p:nvPr/>
          </p:nvSpPr>
          <p:spPr>
            <a:xfrm>
              <a:off x="10350096" y="8776601"/>
              <a:ext cx="528118" cy="318074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spAutoFit/>
            </a:bodyPr>
            <a:lstStyle/>
            <a:p>
              <a:pPr algn="ctr" defTabSz="1067256">
                <a:spcAft>
                  <a:spcPts val="100"/>
                </a:spcAft>
              </a:pPr>
              <a:r>
                <a:rPr lang="ko-KR" altLang="en-US" sz="10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itchFamily="2" charset="-127"/>
                  <a:ea typeface="KoPub돋움체 Bold" pitchFamily="2" charset="-127"/>
                </a:rPr>
                <a:t>사용자</a:t>
              </a:r>
              <a:endParaRPr lang="en-US" altLang="ko-KR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itchFamily="2" charset="-127"/>
                <a:ea typeface="KoPub돋움체 Bold" pitchFamily="2" charset="-127"/>
              </a:endParaRPr>
            </a:p>
            <a:p>
              <a:pPr algn="ctr" defTabSz="1067256">
                <a:spcAft>
                  <a:spcPts val="100"/>
                </a:spcAft>
              </a:pPr>
              <a:r>
                <a:rPr lang="ko-KR" altLang="en-US" sz="1000" dirty="0">
                  <a:ln>
                    <a:solidFill>
                      <a:srgbClr val="ADADAD">
                        <a:alpha val="0"/>
                      </a:srgbClr>
                    </a:solidFill>
                  </a:ln>
                  <a:solidFill>
                    <a:schemeClr val="bg1"/>
                  </a:solidFill>
                  <a:latin typeface="KoPub돋움체 Bold" pitchFamily="2" charset="-127"/>
                  <a:ea typeface="KoPub돋움체 Bold" pitchFamily="2" charset="-127"/>
                </a:rPr>
                <a:t>보안체계</a:t>
              </a: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18563AA9-EFED-658F-0E54-5CAD11D7BD5E}"/>
              </a:ext>
            </a:extLst>
          </p:cNvPr>
          <p:cNvSpPr/>
          <p:nvPr/>
        </p:nvSpPr>
        <p:spPr>
          <a:xfrm>
            <a:off x="593954" y="4177613"/>
            <a:ext cx="2113888" cy="903131"/>
          </a:xfrm>
          <a:prstGeom prst="rect">
            <a:avLst/>
          </a:prstGeom>
          <a:solidFill>
            <a:srgbClr val="37ADB2"/>
          </a:solidFill>
          <a:ln w="12700" algn="ctr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228600" indent="-228600" algn="ctr" latinLnBrk="0">
              <a:buAutoNum type="arabicPlain" startAt="77"/>
            </a:pPr>
            <a:endParaRPr lang="ko-KR" altLang="en-US" sz="900" kern="0">
              <a:ln w="3175">
                <a:solidFill>
                  <a:schemeClr val="bg1">
                    <a:alpha val="0"/>
                  </a:schemeClr>
                </a:solidFill>
              </a:ln>
              <a:gradFill>
                <a:gsLst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0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60670873-D24D-7761-DC95-85A896D8076C}"/>
              </a:ext>
            </a:extLst>
          </p:cNvPr>
          <p:cNvSpPr/>
          <p:nvPr/>
        </p:nvSpPr>
        <p:spPr>
          <a:xfrm>
            <a:off x="2845986" y="4177603"/>
            <a:ext cx="2113888" cy="903131"/>
          </a:xfrm>
          <a:prstGeom prst="rect">
            <a:avLst/>
          </a:prstGeom>
          <a:solidFill>
            <a:srgbClr val="398AC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55A084CC-1BD5-117E-B6C2-986C857E10DD}"/>
              </a:ext>
            </a:extLst>
          </p:cNvPr>
          <p:cNvSpPr/>
          <p:nvPr/>
        </p:nvSpPr>
        <p:spPr>
          <a:xfrm>
            <a:off x="5098018" y="4177611"/>
            <a:ext cx="2113888" cy="903131"/>
          </a:xfrm>
          <a:prstGeom prst="rect">
            <a:avLst/>
          </a:prstGeom>
          <a:solidFill>
            <a:srgbClr val="3E4959"/>
          </a:solidFill>
          <a:ln w="12700">
            <a:noFill/>
          </a:ln>
          <a:effectLst/>
        </p:spPr>
        <p:txBody>
          <a:bodyPr wrap="none" anchor="ctr" anchorCtr="0">
            <a:noAutofit/>
          </a:bodyPr>
          <a:lstStyle/>
          <a:p>
            <a:pPr algn="ctr" latinLnBrk="0"/>
            <a:endParaRPr lang="ko-KR" altLang="en-US" sz="900" kern="0">
              <a:ln w="3175">
                <a:solidFill>
                  <a:schemeClr val="bg1">
                    <a:alpha val="0"/>
                  </a:schemeClr>
                </a:solidFill>
              </a:ln>
              <a:gradFill>
                <a:gsLst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0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B8614A00-3941-12F0-A612-2652F6464FEA}"/>
              </a:ext>
            </a:extLst>
          </p:cNvPr>
          <p:cNvSpPr txBox="1"/>
          <p:nvPr/>
        </p:nvSpPr>
        <p:spPr>
          <a:xfrm>
            <a:off x="1256832" y="4326676"/>
            <a:ext cx="1444980" cy="572877"/>
          </a:xfrm>
          <a:prstGeom prst="rect">
            <a:avLst/>
          </a:prstGeom>
          <a:noFill/>
        </p:spPr>
        <p:txBody>
          <a:bodyPr wrap="square" lIns="91404" tIns="45702" rIns="91404" bIns="45702" rtlCol="0">
            <a:spAutoFit/>
          </a:bodyPr>
          <a:lstStyle/>
          <a:p>
            <a:pPr lvl="0" algn="ctr" defTabSz="1067256" latinLnBrk="0">
              <a:lnSpc>
                <a:spcPct val="150000"/>
              </a:lnSpc>
            </a:pPr>
            <a:r>
              <a:rPr lang="ko-KR" altLang="en-US" sz="1000" b="1" dirty="0">
                <a:ln>
                  <a:solidFill>
                    <a:srgbClr val="8FD2F7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현황 분석을 바탕으로 </a:t>
            </a:r>
          </a:p>
          <a:p>
            <a:pPr lvl="0" algn="ctr" defTabSz="1067256" latinLnBrk="0">
              <a:lnSpc>
                <a:spcPct val="150000"/>
              </a:lnSpc>
            </a:pPr>
            <a:r>
              <a:rPr lang="ko-KR" altLang="en-US" sz="1200" b="1" dirty="0">
                <a:ln>
                  <a:solidFill>
                    <a:srgbClr val="8FD2F7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운영관리 정상화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92C2A66-28C0-1A72-BCBA-7A8FFED785A1}"/>
              </a:ext>
            </a:extLst>
          </p:cNvPr>
          <p:cNvSpPr txBox="1"/>
          <p:nvPr/>
        </p:nvSpPr>
        <p:spPr>
          <a:xfrm>
            <a:off x="3508638" y="4326676"/>
            <a:ext cx="1444980" cy="549794"/>
          </a:xfrm>
          <a:prstGeom prst="rect">
            <a:avLst/>
          </a:prstGeom>
          <a:noFill/>
        </p:spPr>
        <p:txBody>
          <a:bodyPr wrap="square" lIns="91404" tIns="45702" rIns="91404" bIns="45702" rtlCol="0">
            <a:spAutoFit/>
          </a:bodyPr>
          <a:lstStyle/>
          <a:p>
            <a:pPr algn="ctr" defTabSz="1067256" latinLnBrk="0">
              <a:lnSpc>
                <a:spcPct val="150000"/>
              </a:lnSpc>
            </a:pPr>
            <a:r>
              <a:rPr lang="ko-KR" altLang="en-US" sz="900" b="1" dirty="0">
                <a:ln>
                  <a:solidFill>
                    <a:srgbClr val="8FD2F7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보안 전문역량 바탕의</a:t>
            </a:r>
            <a:br>
              <a:rPr lang="en-US" altLang="ko-KR" sz="900" b="1" dirty="0">
                <a:ln>
                  <a:solidFill>
                    <a:srgbClr val="8FD2F7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</a:br>
            <a:r>
              <a:rPr lang="ko-KR" altLang="en-US" sz="1200" b="1" dirty="0">
                <a:ln>
                  <a:solidFill>
                    <a:srgbClr val="8FD2F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정보보호체계 강화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D13F18D3-6D5F-85DA-18A1-8600F810654B}"/>
              </a:ext>
            </a:extLst>
          </p:cNvPr>
          <p:cNvSpPr txBox="1"/>
          <p:nvPr/>
        </p:nvSpPr>
        <p:spPr>
          <a:xfrm>
            <a:off x="5755175" y="4326676"/>
            <a:ext cx="1444980" cy="549794"/>
          </a:xfrm>
          <a:prstGeom prst="rect">
            <a:avLst/>
          </a:prstGeom>
          <a:noFill/>
        </p:spPr>
        <p:txBody>
          <a:bodyPr wrap="square" lIns="91404" tIns="45702" rIns="91404" bIns="45702" rtlCol="0">
            <a:spAutoFit/>
          </a:bodyPr>
          <a:lstStyle/>
          <a:p>
            <a:pPr algn="ctr" defTabSz="1067256" latinLnBrk="0">
              <a:lnSpc>
                <a:spcPct val="150000"/>
              </a:lnSpc>
            </a:pPr>
            <a:r>
              <a:rPr lang="ko-KR" altLang="en-US" sz="900" b="1" dirty="0">
                <a:ln>
                  <a:solidFill>
                    <a:srgbClr val="8FD2F7">
                      <a:alpha val="0"/>
                    </a:srgbClr>
                  </a:solidFill>
                </a:ln>
                <a:solidFill>
                  <a:prstClr val="white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디지털 혁신 선도를 위한</a:t>
            </a:r>
          </a:p>
          <a:p>
            <a:pPr algn="ctr" defTabSz="1067256" latinLnBrk="0">
              <a:lnSpc>
                <a:spcPct val="150000"/>
              </a:lnSpc>
            </a:pPr>
            <a:r>
              <a:rPr lang="ko-KR" altLang="en-US" sz="1200" b="1" dirty="0">
                <a:ln>
                  <a:solidFill>
                    <a:srgbClr val="8FD2F7">
                      <a:alpha val="0"/>
                    </a:srgbClr>
                  </a:solidFill>
                </a:ln>
                <a:solidFill>
                  <a:schemeClr val="bg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운영관리 고도화</a:t>
            </a:r>
            <a:endParaRPr lang="ko-KR" altLang="en-US" sz="1600" b="1" dirty="0">
              <a:ln>
                <a:solidFill>
                  <a:srgbClr val="8FD2F7">
                    <a:alpha val="0"/>
                  </a:srgbClr>
                </a:solidFill>
              </a:ln>
              <a:solidFill>
                <a:schemeClr val="bg1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784FFABE-62D2-BF0D-1BE1-1D3867A5B25F}"/>
              </a:ext>
            </a:extLst>
          </p:cNvPr>
          <p:cNvGrpSpPr/>
          <p:nvPr/>
        </p:nvGrpSpPr>
        <p:grpSpPr>
          <a:xfrm>
            <a:off x="593954" y="5028441"/>
            <a:ext cx="6617952" cy="61199"/>
            <a:chOff x="206629" y="2073408"/>
            <a:chExt cx="10143473" cy="576005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8F37A0C-4B2D-265E-E58B-3DE10E374E4F}"/>
                </a:ext>
              </a:extLst>
            </p:cNvPr>
            <p:cNvSpPr/>
            <p:nvPr/>
          </p:nvSpPr>
          <p:spPr>
            <a:xfrm>
              <a:off x="206629" y="2073413"/>
              <a:ext cx="3240000" cy="576000"/>
            </a:xfrm>
            <a:prstGeom prst="rect">
              <a:avLst/>
            </a:prstGeom>
            <a:solidFill>
              <a:srgbClr val="2C8B90"/>
            </a:solidFill>
            <a:ln w="12700" algn="ctr">
              <a:noFill/>
              <a:miter lim="800000"/>
              <a:headEnd/>
              <a:tailEnd/>
            </a:ln>
            <a:effectLst/>
          </p:spPr>
          <p:txBody>
            <a:bodyPr vert="horz" wrap="none" lIns="91440" tIns="45720" rIns="91440" bIns="45720" numCol="1" anchor="ctr" anchorCtr="0" compatLnSpc="1">
              <a:prstTxWarp prst="textNoShape">
                <a:avLst/>
              </a:prstTxWarp>
              <a:noAutofit/>
            </a:bodyPr>
            <a:lstStyle/>
            <a:p>
              <a:pPr marL="228600" indent="-228600" algn="ctr" latinLnBrk="0">
                <a:buAutoNum type="arabicPlain" startAt="77"/>
              </a:pPr>
              <a:endParaRPr lang="ko-KR" altLang="en-US" sz="900" kern="0">
                <a:ln w="3175"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  <p:sp>
          <p:nvSpPr>
            <p:cNvPr id="53" name="직사각형 52">
              <a:extLst>
                <a:ext uri="{FF2B5EF4-FFF2-40B4-BE49-F238E27FC236}">
                  <a16:creationId xmlns:a16="http://schemas.microsoft.com/office/drawing/2014/main" id="{9DBDB6CC-8688-AB22-7AF3-135324996721}"/>
                </a:ext>
              </a:extLst>
            </p:cNvPr>
            <p:cNvSpPr/>
            <p:nvPr/>
          </p:nvSpPr>
          <p:spPr>
            <a:xfrm>
              <a:off x="3658365" y="2073408"/>
              <a:ext cx="3240000" cy="576000"/>
            </a:xfrm>
            <a:prstGeom prst="rect">
              <a:avLst/>
            </a:prstGeom>
            <a:solidFill>
              <a:srgbClr val="29638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100"/>
            </a:p>
          </p:txBody>
        </p:sp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CFF4745F-67AA-3378-3BD4-F4008BC0E58B}"/>
                </a:ext>
              </a:extLst>
            </p:cNvPr>
            <p:cNvSpPr/>
            <p:nvPr/>
          </p:nvSpPr>
          <p:spPr>
            <a:xfrm>
              <a:off x="7110102" y="2073412"/>
              <a:ext cx="3240000" cy="576000"/>
            </a:xfrm>
            <a:prstGeom prst="rect">
              <a:avLst/>
            </a:prstGeom>
            <a:solidFill>
              <a:srgbClr val="303844"/>
            </a:solidFill>
            <a:ln w="12700">
              <a:noFill/>
            </a:ln>
            <a:effectLst/>
          </p:spPr>
          <p:txBody>
            <a:bodyPr wrap="none" anchor="ctr" anchorCtr="0">
              <a:noAutofit/>
            </a:bodyPr>
            <a:lstStyle/>
            <a:p>
              <a:pPr algn="ctr" latinLnBrk="0"/>
              <a:endParaRPr lang="ko-KR" altLang="en-US" sz="900" kern="0">
                <a:ln w="3175">
                  <a:solidFill>
                    <a:schemeClr val="bg1">
                      <a:alpha val="0"/>
                    </a:schemeClr>
                  </a:solidFill>
                </a:ln>
                <a:gradFill>
                  <a:gsLst>
                    <a:gs pos="0">
                      <a:sysClr val="window" lastClr="FFFFFF"/>
                    </a:gs>
                    <a:gs pos="100000">
                      <a:sysClr val="window" lastClr="FFFFFF"/>
                    </a:gs>
                  </a:gsLst>
                  <a:lin ang="5400000" scaled="0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anose="020B0604020202020204" pitchFamily="34" charset="0"/>
              </a:endParaRPr>
            </a:p>
          </p:txBody>
        </p:sp>
      </p:grpSp>
      <p:sp>
        <p:nvSpPr>
          <p:cNvPr id="55" name="사다리꼴 54">
            <a:extLst>
              <a:ext uri="{FF2B5EF4-FFF2-40B4-BE49-F238E27FC236}">
                <a16:creationId xmlns:a16="http://schemas.microsoft.com/office/drawing/2014/main" id="{7762FCD0-B11E-7C3C-272B-4E933B058572}"/>
              </a:ext>
            </a:extLst>
          </p:cNvPr>
          <p:cNvSpPr/>
          <p:nvPr/>
        </p:nvSpPr>
        <p:spPr>
          <a:xfrm>
            <a:off x="1705610" y="3903488"/>
            <a:ext cx="1002234" cy="274125"/>
          </a:xfrm>
          <a:prstGeom prst="trapezoid">
            <a:avLst>
              <a:gd name="adj" fmla="val 40623"/>
            </a:avLst>
          </a:prstGeom>
          <a:solidFill>
            <a:srgbClr val="2C8B90"/>
          </a:solidFill>
          <a:ln w="12700" algn="ctr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228600" indent="-228600" algn="ctr" latinLnBrk="0">
              <a:buAutoNum type="arabicPlain" startAt="77"/>
            </a:pPr>
            <a:endParaRPr lang="ko-KR" altLang="en-US" sz="900" kern="0">
              <a:ln w="3175">
                <a:solidFill>
                  <a:schemeClr val="bg1">
                    <a:alpha val="0"/>
                  </a:schemeClr>
                </a:solidFill>
              </a:ln>
              <a:gradFill>
                <a:gsLst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0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56" name="사다리꼴 55">
            <a:extLst>
              <a:ext uri="{FF2B5EF4-FFF2-40B4-BE49-F238E27FC236}">
                <a16:creationId xmlns:a16="http://schemas.microsoft.com/office/drawing/2014/main" id="{36A4F9A7-B16B-4EF1-1E86-580D8D82D533}"/>
              </a:ext>
            </a:extLst>
          </p:cNvPr>
          <p:cNvSpPr/>
          <p:nvPr/>
        </p:nvSpPr>
        <p:spPr>
          <a:xfrm>
            <a:off x="3957642" y="3903488"/>
            <a:ext cx="1002234" cy="274125"/>
          </a:xfrm>
          <a:prstGeom prst="trapezoid">
            <a:avLst>
              <a:gd name="adj" fmla="val 40623"/>
            </a:avLst>
          </a:prstGeom>
          <a:solidFill>
            <a:srgbClr val="29638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100"/>
          </a:p>
        </p:txBody>
      </p:sp>
      <p:sp>
        <p:nvSpPr>
          <p:cNvPr id="57" name="사다리꼴 56">
            <a:extLst>
              <a:ext uri="{FF2B5EF4-FFF2-40B4-BE49-F238E27FC236}">
                <a16:creationId xmlns:a16="http://schemas.microsoft.com/office/drawing/2014/main" id="{FEA42021-1CF3-FBF3-4846-9AFC375000F4}"/>
              </a:ext>
            </a:extLst>
          </p:cNvPr>
          <p:cNvSpPr/>
          <p:nvPr/>
        </p:nvSpPr>
        <p:spPr>
          <a:xfrm>
            <a:off x="6209673" y="3903488"/>
            <a:ext cx="1002234" cy="274125"/>
          </a:xfrm>
          <a:prstGeom prst="trapezoid">
            <a:avLst>
              <a:gd name="adj" fmla="val 40623"/>
            </a:avLst>
          </a:prstGeom>
          <a:solidFill>
            <a:srgbClr val="303844"/>
          </a:solidFill>
          <a:ln w="12700">
            <a:noFill/>
          </a:ln>
          <a:effectLst/>
        </p:spPr>
        <p:txBody>
          <a:bodyPr wrap="none" anchor="ctr" anchorCtr="0">
            <a:noAutofit/>
          </a:bodyPr>
          <a:lstStyle/>
          <a:p>
            <a:pPr algn="ctr" latinLnBrk="0"/>
            <a:endParaRPr lang="ko-KR" altLang="en-US" sz="900" kern="0">
              <a:ln w="3175">
                <a:solidFill>
                  <a:schemeClr val="bg1">
                    <a:alpha val="0"/>
                  </a:schemeClr>
                </a:solidFill>
              </a:ln>
              <a:gradFill>
                <a:gsLst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0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0DE7F7E6-76B2-A087-6E29-F5A7420FCF42}"/>
              </a:ext>
            </a:extLst>
          </p:cNvPr>
          <p:cNvGrpSpPr/>
          <p:nvPr/>
        </p:nvGrpSpPr>
        <p:grpSpPr>
          <a:xfrm>
            <a:off x="1805409" y="3918473"/>
            <a:ext cx="811184" cy="264308"/>
            <a:chOff x="2593642" y="1548685"/>
            <a:chExt cx="861824" cy="271322"/>
          </a:xfrm>
        </p:grpSpPr>
        <p:grpSp>
          <p:nvGrpSpPr>
            <p:cNvPr id="59" name="그룹 58">
              <a:extLst>
                <a:ext uri="{FF2B5EF4-FFF2-40B4-BE49-F238E27FC236}">
                  <a16:creationId xmlns:a16="http://schemas.microsoft.com/office/drawing/2014/main" id="{AE22CDED-89F2-81BA-A0D9-05EC42B8FE89}"/>
                </a:ext>
              </a:extLst>
            </p:cNvPr>
            <p:cNvGrpSpPr/>
            <p:nvPr/>
          </p:nvGrpSpPr>
          <p:grpSpPr>
            <a:xfrm>
              <a:off x="2679418" y="1548685"/>
              <a:ext cx="764110" cy="269721"/>
              <a:chOff x="2679418" y="1548685"/>
              <a:chExt cx="764110" cy="269721"/>
            </a:xfrm>
          </p:grpSpPr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625EF0BA-745F-3BF9-9A37-661444CC18F4}"/>
                  </a:ext>
                </a:extLst>
              </p:cNvPr>
              <p:cNvSpPr txBox="1"/>
              <p:nvPr/>
            </p:nvSpPr>
            <p:spPr>
              <a:xfrm>
                <a:off x="2679418" y="1620162"/>
                <a:ext cx="429175" cy="1421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KoPub돋움체 Bold" pitchFamily="18" charset="-127"/>
                    <a:ea typeface="KoPub돋움체 Bold" pitchFamily="18" charset="-127"/>
                  </a:rPr>
                  <a:t>해결과제</a:t>
                </a:r>
              </a:p>
            </p:txBody>
          </p:sp>
          <p:sp>
            <p:nvSpPr>
              <p:cNvPr id="62" name="직사각형 61">
                <a:extLst>
                  <a:ext uri="{FF2B5EF4-FFF2-40B4-BE49-F238E27FC236}">
                    <a16:creationId xmlns:a16="http://schemas.microsoft.com/office/drawing/2014/main" id="{2C9A9D70-EDF6-137C-576A-62465AF09E36}"/>
                  </a:ext>
                </a:extLst>
              </p:cNvPr>
              <p:cNvSpPr/>
              <p:nvPr/>
            </p:nvSpPr>
            <p:spPr>
              <a:xfrm>
                <a:off x="3173786" y="1548685"/>
                <a:ext cx="269742" cy="2697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KoPub바탕체 Bold" panose="00000800000000000000" pitchFamily="2" charset="-127"/>
                    <a:ea typeface="KoPub바탕체 Bold" panose="00000800000000000000" pitchFamily="2" charset="-127"/>
                  </a:rPr>
                  <a:t>Ⅰ</a:t>
                </a:r>
                <a:endParaRPr lang="ko-KR" altLang="en-US" sz="11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바탕체 Bold" panose="00000800000000000000" pitchFamily="2" charset="-127"/>
                  <a:ea typeface="KoPub바탕체 Bold" panose="00000800000000000000" pitchFamily="2" charset="-127"/>
                </a:endParaRPr>
              </a:p>
            </p:txBody>
          </p:sp>
        </p:grpSp>
        <p:sp>
          <p:nvSpPr>
            <p:cNvPr id="60" name="자유형 505">
              <a:extLst>
                <a:ext uri="{FF2B5EF4-FFF2-40B4-BE49-F238E27FC236}">
                  <a16:creationId xmlns:a16="http://schemas.microsoft.com/office/drawing/2014/main" id="{B108049A-90D3-9AFE-89AE-9BE939E5368A}"/>
                </a:ext>
              </a:extLst>
            </p:cNvPr>
            <p:cNvSpPr/>
            <p:nvPr/>
          </p:nvSpPr>
          <p:spPr>
            <a:xfrm>
              <a:off x="2593642" y="1820007"/>
              <a:ext cx="861824" cy="0"/>
            </a:xfrm>
            <a:custGeom>
              <a:avLst/>
              <a:gdLst>
                <a:gd name="connsiteX0" fmla="*/ 0 w 896816"/>
                <a:gd name="connsiteY0" fmla="*/ 0 h 0"/>
                <a:gd name="connsiteX1" fmla="*/ 896816 w 896816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6816">
                  <a:moveTo>
                    <a:pt x="0" y="0"/>
                  </a:moveTo>
                  <a:lnTo>
                    <a:pt x="896816" y="0"/>
                  </a:lnTo>
                </a:path>
              </a:pathLst>
            </a:cu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grpSp>
        <p:nvGrpSpPr>
          <p:cNvPr id="63" name="그룹 62">
            <a:extLst>
              <a:ext uri="{FF2B5EF4-FFF2-40B4-BE49-F238E27FC236}">
                <a16:creationId xmlns:a16="http://schemas.microsoft.com/office/drawing/2014/main" id="{FC6E6C9D-9F20-6E2F-E92C-80C296F40819}"/>
              </a:ext>
            </a:extLst>
          </p:cNvPr>
          <p:cNvGrpSpPr/>
          <p:nvPr/>
        </p:nvGrpSpPr>
        <p:grpSpPr>
          <a:xfrm>
            <a:off x="4061823" y="3918473"/>
            <a:ext cx="811184" cy="264308"/>
            <a:chOff x="2593642" y="1548685"/>
            <a:chExt cx="861824" cy="271322"/>
          </a:xfrm>
        </p:grpSpPr>
        <p:grpSp>
          <p:nvGrpSpPr>
            <p:cNvPr id="64" name="그룹 63">
              <a:extLst>
                <a:ext uri="{FF2B5EF4-FFF2-40B4-BE49-F238E27FC236}">
                  <a16:creationId xmlns:a16="http://schemas.microsoft.com/office/drawing/2014/main" id="{4570D069-3C9E-20CA-A0C0-02263BA2D4AD}"/>
                </a:ext>
              </a:extLst>
            </p:cNvPr>
            <p:cNvGrpSpPr/>
            <p:nvPr/>
          </p:nvGrpSpPr>
          <p:grpSpPr>
            <a:xfrm>
              <a:off x="2679418" y="1548685"/>
              <a:ext cx="764110" cy="269721"/>
              <a:chOff x="2679418" y="1548685"/>
              <a:chExt cx="764110" cy="269721"/>
            </a:xfrm>
          </p:grpSpPr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E5626E11-F1FC-B781-A388-D9FDBD230492}"/>
                  </a:ext>
                </a:extLst>
              </p:cNvPr>
              <p:cNvSpPr txBox="1"/>
              <p:nvPr/>
            </p:nvSpPr>
            <p:spPr>
              <a:xfrm>
                <a:off x="2679418" y="1620162"/>
                <a:ext cx="429175" cy="1421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KoPub돋움체 Bold" pitchFamily="18" charset="-127"/>
                    <a:ea typeface="KoPub돋움체 Bold" pitchFamily="18" charset="-127"/>
                  </a:rPr>
                  <a:t>해결과제</a:t>
                </a:r>
              </a:p>
            </p:txBody>
          </p:sp>
          <p:sp>
            <p:nvSpPr>
              <p:cNvPr id="67" name="직사각형 66">
                <a:extLst>
                  <a:ext uri="{FF2B5EF4-FFF2-40B4-BE49-F238E27FC236}">
                    <a16:creationId xmlns:a16="http://schemas.microsoft.com/office/drawing/2014/main" id="{CF45B543-B2D5-8BA1-E069-74B67A73127D}"/>
                  </a:ext>
                </a:extLst>
              </p:cNvPr>
              <p:cNvSpPr/>
              <p:nvPr/>
            </p:nvSpPr>
            <p:spPr>
              <a:xfrm>
                <a:off x="3173786" y="1548685"/>
                <a:ext cx="269742" cy="2697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KoPub바탕체 Bold" panose="00000800000000000000" pitchFamily="2" charset="-127"/>
                    <a:ea typeface="KoPub바탕체 Bold" panose="00000800000000000000" pitchFamily="2" charset="-127"/>
                  </a:rPr>
                  <a:t>Ⅱ</a:t>
                </a:r>
                <a:endParaRPr lang="ko-KR" altLang="en-US" sz="11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바탕체 Bold" panose="00000800000000000000" pitchFamily="2" charset="-127"/>
                  <a:ea typeface="KoPub바탕체 Bold" panose="00000800000000000000" pitchFamily="2" charset="-127"/>
                </a:endParaRPr>
              </a:p>
            </p:txBody>
          </p:sp>
        </p:grpSp>
        <p:sp>
          <p:nvSpPr>
            <p:cNvPr id="65" name="자유형 501">
              <a:extLst>
                <a:ext uri="{FF2B5EF4-FFF2-40B4-BE49-F238E27FC236}">
                  <a16:creationId xmlns:a16="http://schemas.microsoft.com/office/drawing/2014/main" id="{5A459AA8-DD10-353C-9208-08E2B794CD3D}"/>
                </a:ext>
              </a:extLst>
            </p:cNvPr>
            <p:cNvSpPr/>
            <p:nvPr/>
          </p:nvSpPr>
          <p:spPr>
            <a:xfrm>
              <a:off x="2593642" y="1820007"/>
              <a:ext cx="861824" cy="0"/>
            </a:xfrm>
            <a:custGeom>
              <a:avLst/>
              <a:gdLst>
                <a:gd name="connsiteX0" fmla="*/ 0 w 896816"/>
                <a:gd name="connsiteY0" fmla="*/ 0 h 0"/>
                <a:gd name="connsiteX1" fmla="*/ 896816 w 896816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6816">
                  <a:moveTo>
                    <a:pt x="0" y="0"/>
                  </a:moveTo>
                  <a:lnTo>
                    <a:pt x="896816" y="0"/>
                  </a:lnTo>
                </a:path>
              </a:pathLst>
            </a:cu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grpSp>
        <p:nvGrpSpPr>
          <p:cNvPr id="68" name="그룹 67">
            <a:extLst>
              <a:ext uri="{FF2B5EF4-FFF2-40B4-BE49-F238E27FC236}">
                <a16:creationId xmlns:a16="http://schemas.microsoft.com/office/drawing/2014/main" id="{E68B22EA-A33F-72E6-68A5-957088F281EA}"/>
              </a:ext>
            </a:extLst>
          </p:cNvPr>
          <p:cNvGrpSpPr/>
          <p:nvPr/>
        </p:nvGrpSpPr>
        <p:grpSpPr>
          <a:xfrm>
            <a:off x="6320351" y="3918473"/>
            <a:ext cx="811184" cy="264308"/>
            <a:chOff x="2593642" y="1548685"/>
            <a:chExt cx="861824" cy="271322"/>
          </a:xfrm>
        </p:grpSpPr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A3DA73E9-8D0E-7832-4825-C8A8C5BAA60B}"/>
                </a:ext>
              </a:extLst>
            </p:cNvPr>
            <p:cNvGrpSpPr/>
            <p:nvPr/>
          </p:nvGrpSpPr>
          <p:grpSpPr>
            <a:xfrm>
              <a:off x="2679418" y="1548685"/>
              <a:ext cx="764110" cy="269721"/>
              <a:chOff x="2679418" y="1548685"/>
              <a:chExt cx="764110" cy="269721"/>
            </a:xfrm>
          </p:grpSpPr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50B513E2-0F86-3D91-0D59-33919121DE8A}"/>
                  </a:ext>
                </a:extLst>
              </p:cNvPr>
              <p:cNvSpPr txBox="1"/>
              <p:nvPr/>
            </p:nvSpPr>
            <p:spPr>
              <a:xfrm>
                <a:off x="2679418" y="1620162"/>
                <a:ext cx="429175" cy="14217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 anchorCtr="0">
                <a:spAutoFit/>
              </a:bodyPr>
              <a:lstStyle/>
              <a:p>
                <a:pPr algn="ctr"/>
                <a:r>
                  <a:rPr lang="ko-KR" altLang="en-US" sz="900" dirty="0">
                    <a:solidFill>
                      <a:schemeClr val="bg1"/>
                    </a:solidFill>
                    <a:latin typeface="KoPub돋움체 Bold" pitchFamily="18" charset="-127"/>
                    <a:ea typeface="KoPub돋움체 Bold" pitchFamily="18" charset="-127"/>
                  </a:rPr>
                  <a:t>해결과제</a:t>
                </a:r>
              </a:p>
            </p:txBody>
          </p:sp>
          <p:sp>
            <p:nvSpPr>
              <p:cNvPr id="72" name="직사각형 71">
                <a:extLst>
                  <a:ext uri="{FF2B5EF4-FFF2-40B4-BE49-F238E27FC236}">
                    <a16:creationId xmlns:a16="http://schemas.microsoft.com/office/drawing/2014/main" id="{AAB3306B-60B3-EBEF-250D-F46AA037D3BF}"/>
                  </a:ext>
                </a:extLst>
              </p:cNvPr>
              <p:cNvSpPr/>
              <p:nvPr/>
            </p:nvSpPr>
            <p:spPr>
              <a:xfrm>
                <a:off x="3173786" y="1548685"/>
                <a:ext cx="269742" cy="269721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rtlCol="0" anchor="ctr"/>
              <a:lstStyle/>
              <a:p>
                <a:pPr algn="ctr"/>
                <a:r>
                  <a:rPr lang="en-US" altLang="ko-KR" sz="1100" dirty="0">
                    <a:ln>
                      <a:solidFill>
                        <a:schemeClr val="accent1">
                          <a:shade val="50000"/>
                          <a:alpha val="0"/>
                        </a:schemeClr>
                      </a:solidFill>
                    </a:ln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KoPub바탕체 Bold" panose="00000800000000000000" pitchFamily="2" charset="-127"/>
                    <a:ea typeface="KoPub바탕체 Bold" panose="00000800000000000000" pitchFamily="2" charset="-127"/>
                  </a:rPr>
                  <a:t>Ⅲ</a:t>
                </a:r>
                <a:endParaRPr lang="ko-KR" altLang="en-US" sz="1100" dirty="0">
                  <a:ln>
                    <a:solidFill>
                      <a:schemeClr val="accent1">
                        <a:shade val="50000"/>
                        <a:alpha val="0"/>
                      </a:schemeClr>
                    </a:solidFill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KoPub바탕체 Bold" panose="00000800000000000000" pitchFamily="2" charset="-127"/>
                  <a:ea typeface="KoPub바탕체 Bold" panose="00000800000000000000" pitchFamily="2" charset="-127"/>
                </a:endParaRPr>
              </a:p>
            </p:txBody>
          </p:sp>
        </p:grpSp>
        <p:sp>
          <p:nvSpPr>
            <p:cNvPr id="70" name="자유형 497">
              <a:extLst>
                <a:ext uri="{FF2B5EF4-FFF2-40B4-BE49-F238E27FC236}">
                  <a16:creationId xmlns:a16="http://schemas.microsoft.com/office/drawing/2014/main" id="{A8B6A880-9882-5703-7D46-00E6218EBE90}"/>
                </a:ext>
              </a:extLst>
            </p:cNvPr>
            <p:cNvSpPr/>
            <p:nvPr/>
          </p:nvSpPr>
          <p:spPr>
            <a:xfrm>
              <a:off x="2593642" y="1820007"/>
              <a:ext cx="861824" cy="0"/>
            </a:xfrm>
            <a:custGeom>
              <a:avLst/>
              <a:gdLst>
                <a:gd name="connsiteX0" fmla="*/ 0 w 896816"/>
                <a:gd name="connsiteY0" fmla="*/ 0 h 0"/>
                <a:gd name="connsiteX1" fmla="*/ 896816 w 896816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896816">
                  <a:moveTo>
                    <a:pt x="0" y="0"/>
                  </a:moveTo>
                  <a:lnTo>
                    <a:pt x="896816" y="0"/>
                  </a:lnTo>
                </a:path>
              </a:pathLst>
            </a:custGeom>
            <a:ln w="317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 sz="900"/>
            </a:p>
          </p:txBody>
        </p:sp>
      </p:grpSp>
      <p:pic>
        <p:nvPicPr>
          <p:cNvPr id="133" name="Picture 55" descr="C:\Users\APPLE\Desktop\ti013a15310 [변환됨]-03.png">
            <a:extLst>
              <a:ext uri="{FF2B5EF4-FFF2-40B4-BE49-F238E27FC236}">
                <a16:creationId xmlns:a16="http://schemas.microsoft.com/office/drawing/2014/main" id="{C8ECF97F-9C22-E01C-95B5-E76078C9DDD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 t="8919" b="6448"/>
          <a:stretch/>
        </p:blipFill>
        <p:spPr bwMode="auto">
          <a:xfrm>
            <a:off x="575786" y="4177603"/>
            <a:ext cx="811184" cy="91203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4" name="Picture 42" descr="C:\Users\kims\Desktop\작업방\PT\사람\shutterstock_402435037 [Converted]-13.png">
            <a:extLst>
              <a:ext uri="{FF2B5EF4-FFF2-40B4-BE49-F238E27FC236}">
                <a16:creationId xmlns:a16="http://schemas.microsoft.com/office/drawing/2014/main" id="{4AC15363-26AA-DDE8-C2A7-32F9D8FF2A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3" t="11664" b="14107"/>
          <a:stretch/>
        </p:blipFill>
        <p:spPr bwMode="auto">
          <a:xfrm>
            <a:off x="2845207" y="4188265"/>
            <a:ext cx="730377" cy="9055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5" name="Picture 52" descr="C:\Users\APPLE\Desktop\ti013a15311 [변환됨]-06.png">
            <a:extLst>
              <a:ext uri="{FF2B5EF4-FFF2-40B4-BE49-F238E27FC236}">
                <a16:creationId xmlns:a16="http://schemas.microsoft.com/office/drawing/2014/main" id="{12653DA8-1D0E-A0F1-7C08-77C62A80E8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27842" b="9348"/>
          <a:stretch/>
        </p:blipFill>
        <p:spPr bwMode="auto">
          <a:xfrm flipH="1">
            <a:off x="5098013" y="4188263"/>
            <a:ext cx="772503" cy="880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6D407A6B-20D8-4395-65C8-5A2B569B26C3}"/>
              </a:ext>
            </a:extLst>
          </p:cNvPr>
          <p:cNvSpPr/>
          <p:nvPr/>
        </p:nvSpPr>
        <p:spPr>
          <a:xfrm>
            <a:off x="587102" y="9101077"/>
            <a:ext cx="2159487" cy="1092607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0" rtlCol="0" anchor="t">
            <a:spAutoFit/>
          </a:bodyPr>
          <a:lstStyle/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지난 수년 간 관행적인 업무 수행 반복으로 발전되지 않은 체계 유지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비효율적인 실적 취합 및 형식적인 </a:t>
            </a:r>
            <a:r>
              <a:rPr lang="en-US" altLang="ko-KR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SLA </a:t>
            </a: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데이터 작성과 보고의 개선 필요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수행사의 안정성과 전문성을 통한 고도화 프로세스 기반 수행 체계 필요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78" name="오각형 494">
            <a:extLst>
              <a:ext uri="{FF2B5EF4-FFF2-40B4-BE49-F238E27FC236}">
                <a16:creationId xmlns:a16="http://schemas.microsoft.com/office/drawing/2014/main" id="{B500D745-F783-18DD-956B-35C9862DCB08}"/>
              </a:ext>
            </a:extLst>
          </p:cNvPr>
          <p:cNvSpPr/>
          <p:nvPr/>
        </p:nvSpPr>
        <p:spPr>
          <a:xfrm>
            <a:off x="591104" y="5163282"/>
            <a:ext cx="245063" cy="445922"/>
          </a:xfrm>
          <a:prstGeom prst="homePlate">
            <a:avLst>
              <a:gd name="adj" fmla="val 30920"/>
            </a:avLst>
          </a:prstGeom>
          <a:solidFill>
            <a:srgbClr val="37ADB2"/>
          </a:solidFill>
          <a:ln w="12700" algn="ctr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228600" indent="-228600" algn="ctr" latinLnBrk="0">
              <a:buAutoNum type="arabicPlain" startAt="77"/>
            </a:pPr>
            <a:endParaRPr lang="ko-KR" altLang="en-US" sz="900" kern="0" dirty="0">
              <a:ln w="3175">
                <a:solidFill>
                  <a:schemeClr val="bg1">
                    <a:alpha val="0"/>
                  </a:schemeClr>
                </a:solidFill>
              </a:ln>
              <a:gradFill>
                <a:gsLst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0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8E517E2E-FB92-2B35-BFC9-E1B975F160EE}"/>
              </a:ext>
            </a:extLst>
          </p:cNvPr>
          <p:cNvSpPr/>
          <p:nvPr/>
        </p:nvSpPr>
        <p:spPr>
          <a:xfrm>
            <a:off x="549130" y="5221178"/>
            <a:ext cx="239137" cy="315155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defTabSz="1067256">
              <a:spcAft>
                <a:spcPts val="299"/>
              </a:spcAft>
            </a:pPr>
            <a:r>
              <a:rPr lang="en-US" altLang="ko-KR" sz="9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함초롬돋움" panose="02030504000101010101" pitchFamily="18" charset="-127"/>
              </a:rPr>
              <a:t>01</a:t>
            </a:r>
            <a:endParaRPr lang="ko-KR" altLang="en-US" sz="900" kern="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48210EE1-573A-A183-A30D-3335DF8E63CE}"/>
              </a:ext>
            </a:extLst>
          </p:cNvPr>
          <p:cNvSpPr/>
          <p:nvPr/>
        </p:nvSpPr>
        <p:spPr>
          <a:xfrm>
            <a:off x="620520" y="6874817"/>
            <a:ext cx="2087321" cy="445923"/>
          </a:xfrm>
          <a:prstGeom prst="rect">
            <a:avLst/>
          </a:prstGeom>
          <a:solidFill>
            <a:srgbClr val="A5E0E3"/>
          </a:solidFill>
          <a:ln w="9525">
            <a:noFill/>
          </a:ln>
        </p:spPr>
        <p:txBody>
          <a:bodyPr vert="horz" wrap="square" lIns="39600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defTabSz="1067256">
              <a:spcAft>
                <a:spcPts val="299"/>
              </a:spcAft>
            </a:pP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통합유지보수체계 미비로</a:t>
            </a:r>
            <a:br>
              <a:rPr lang="en-US" altLang="ko-KR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</a:b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효율성 부족</a:t>
            </a:r>
          </a:p>
        </p:txBody>
      </p:sp>
      <p:sp>
        <p:nvSpPr>
          <p:cNvPr id="84" name="오각형 488">
            <a:extLst>
              <a:ext uri="{FF2B5EF4-FFF2-40B4-BE49-F238E27FC236}">
                <a16:creationId xmlns:a16="http://schemas.microsoft.com/office/drawing/2014/main" id="{D0A658EA-0222-0547-A369-BB44D26E741D}"/>
              </a:ext>
            </a:extLst>
          </p:cNvPr>
          <p:cNvSpPr/>
          <p:nvPr/>
        </p:nvSpPr>
        <p:spPr>
          <a:xfrm>
            <a:off x="591105" y="6869377"/>
            <a:ext cx="245062" cy="445922"/>
          </a:xfrm>
          <a:prstGeom prst="homePlate">
            <a:avLst>
              <a:gd name="adj" fmla="val 30920"/>
            </a:avLst>
          </a:prstGeom>
          <a:solidFill>
            <a:srgbClr val="37ADB2"/>
          </a:solidFill>
          <a:ln w="12700" algn="ctr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228600" indent="-228600" algn="ctr" latinLnBrk="0">
              <a:buAutoNum type="arabicPlain" startAt="77"/>
            </a:pPr>
            <a:endParaRPr lang="ko-KR" altLang="en-US" sz="900" kern="0" dirty="0">
              <a:ln w="3175">
                <a:solidFill>
                  <a:schemeClr val="bg1">
                    <a:alpha val="0"/>
                  </a:schemeClr>
                </a:solidFill>
              </a:ln>
              <a:gradFill>
                <a:gsLst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0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937F6E49-72A3-B034-F650-7CD869B8FE11}"/>
              </a:ext>
            </a:extLst>
          </p:cNvPr>
          <p:cNvSpPr/>
          <p:nvPr/>
        </p:nvSpPr>
        <p:spPr>
          <a:xfrm>
            <a:off x="549130" y="6930127"/>
            <a:ext cx="239137" cy="315154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defTabSz="1067256">
              <a:spcAft>
                <a:spcPts val="299"/>
              </a:spcAft>
            </a:pPr>
            <a:r>
              <a:rPr lang="en-US" altLang="ko-KR" sz="9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함초롬돋움" panose="02030504000101010101" pitchFamily="18" charset="-127"/>
              </a:rPr>
              <a:t>02</a:t>
            </a:r>
            <a:endParaRPr lang="ko-KR" altLang="en-US" sz="900" kern="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4BAE6565-D3FD-723C-AB58-F8C4A3971515}"/>
              </a:ext>
            </a:extLst>
          </p:cNvPr>
          <p:cNvSpPr/>
          <p:nvPr/>
        </p:nvSpPr>
        <p:spPr>
          <a:xfrm>
            <a:off x="620520" y="8599004"/>
            <a:ext cx="2087321" cy="445922"/>
          </a:xfrm>
          <a:prstGeom prst="rect">
            <a:avLst/>
          </a:prstGeom>
          <a:solidFill>
            <a:srgbClr val="A5E0E3"/>
          </a:solidFill>
          <a:ln w="9525">
            <a:noFill/>
          </a:ln>
        </p:spPr>
        <p:txBody>
          <a:bodyPr vert="horz" wrap="square" lIns="39600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defTabSz="1067256">
              <a:spcAft>
                <a:spcPts val="299"/>
              </a:spcAft>
            </a:pPr>
            <a:r>
              <a:rPr lang="en-US" altLang="ko-KR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latin typeface="KoPub바탕체 Bold" panose="00000800000000000000" pitchFamily="2" charset="-127"/>
                <a:ea typeface="KoPub바탕체 Bold" panose="00000800000000000000" pitchFamily="2" charset="-127"/>
                <a:cs typeface="함초롬돋움" panose="02030504000101010101" pitchFamily="18" charset="-127"/>
              </a:rPr>
              <a:t>SLA </a:t>
            </a: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관리 및 운영관리체계</a:t>
            </a:r>
            <a:r>
              <a:rPr lang="en-US" altLang="ko-KR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개선 미비</a:t>
            </a:r>
          </a:p>
        </p:txBody>
      </p:sp>
      <p:sp>
        <p:nvSpPr>
          <p:cNvPr id="140" name="오각형 482">
            <a:extLst>
              <a:ext uri="{FF2B5EF4-FFF2-40B4-BE49-F238E27FC236}">
                <a16:creationId xmlns:a16="http://schemas.microsoft.com/office/drawing/2014/main" id="{2FB993C6-2D82-B4CB-2913-C843B31D58DD}"/>
              </a:ext>
            </a:extLst>
          </p:cNvPr>
          <p:cNvSpPr/>
          <p:nvPr/>
        </p:nvSpPr>
        <p:spPr>
          <a:xfrm>
            <a:off x="591105" y="8596719"/>
            <a:ext cx="245062" cy="445920"/>
          </a:xfrm>
          <a:prstGeom prst="homePlate">
            <a:avLst>
              <a:gd name="adj" fmla="val 30920"/>
            </a:avLst>
          </a:prstGeom>
          <a:solidFill>
            <a:srgbClr val="37ADB2"/>
          </a:solidFill>
          <a:ln w="12700" algn="ctr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228600" indent="-228600" algn="ctr" latinLnBrk="0">
              <a:buAutoNum type="arabicPlain" startAt="77"/>
            </a:pPr>
            <a:endParaRPr lang="ko-KR" altLang="en-US" sz="900" kern="0" dirty="0">
              <a:ln w="3175">
                <a:solidFill>
                  <a:schemeClr val="bg1">
                    <a:alpha val="0"/>
                  </a:schemeClr>
                </a:solidFill>
              </a:ln>
              <a:gradFill>
                <a:gsLst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0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41" name="직사각형 140">
            <a:extLst>
              <a:ext uri="{FF2B5EF4-FFF2-40B4-BE49-F238E27FC236}">
                <a16:creationId xmlns:a16="http://schemas.microsoft.com/office/drawing/2014/main" id="{97A49752-F355-1580-F002-77FCF66CBF0F}"/>
              </a:ext>
            </a:extLst>
          </p:cNvPr>
          <p:cNvSpPr/>
          <p:nvPr/>
        </p:nvSpPr>
        <p:spPr>
          <a:xfrm>
            <a:off x="549130" y="8654322"/>
            <a:ext cx="239137" cy="315152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defTabSz="1067256">
              <a:spcAft>
                <a:spcPts val="299"/>
              </a:spcAft>
            </a:pPr>
            <a:r>
              <a:rPr lang="en-US" altLang="ko-KR" sz="9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함초롬돋움" panose="02030504000101010101" pitchFamily="18" charset="-127"/>
              </a:rPr>
              <a:t>03</a:t>
            </a:r>
            <a:endParaRPr lang="ko-KR" altLang="en-US" sz="900" kern="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2526393B-26BA-6069-5E07-51CEE4F1DCF1}"/>
              </a:ext>
            </a:extLst>
          </p:cNvPr>
          <p:cNvSpPr/>
          <p:nvPr/>
        </p:nvSpPr>
        <p:spPr>
          <a:xfrm>
            <a:off x="5124585" y="8599584"/>
            <a:ext cx="2087321" cy="445922"/>
          </a:xfrm>
          <a:prstGeom prst="rect">
            <a:avLst/>
          </a:prstGeom>
          <a:solidFill>
            <a:srgbClr val="C2C9D4"/>
          </a:solidFill>
          <a:ln w="9525">
            <a:noFill/>
          </a:ln>
        </p:spPr>
        <p:txBody>
          <a:bodyPr vert="horz" wrap="square" lIns="396000" tIns="45720" rIns="91440" bIns="45720" numCol="1" anchor="ctr" anchorCtr="0" compatLnSpc="1">
            <a:prstTxWarp prst="textNoShape">
              <a:avLst/>
            </a:prstTxWarp>
            <a:scene3d>
              <a:camera prst="orthographicFront"/>
              <a:lightRig rig="threePt" dir="t"/>
            </a:scene3d>
            <a:sp3d>
              <a:bevelT w="0" h="0"/>
              <a:bevelB w="0" h="0"/>
            </a:sp3d>
          </a:bodyPr>
          <a:lstStyle/>
          <a:p>
            <a:pPr defTabSz="1067256">
              <a:spcAft>
                <a:spcPts val="299"/>
              </a:spcAft>
            </a:pP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향후 정보서비스 발전을</a:t>
            </a:r>
            <a:br>
              <a:rPr lang="en-US" altLang="ko-KR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</a:br>
            <a:r>
              <a:rPr lang="ko-KR" altLang="en-US" sz="1100" kern="0" dirty="0">
                <a:ln>
                  <a:solidFill>
                    <a:schemeClr val="accent1">
                      <a:alpha val="0"/>
                    </a:schemeClr>
                  </a:solidFill>
                </a:ln>
                <a:ea typeface="KoPub돋움체 Bold" panose="02020603020101020101" pitchFamily="18" charset="-127"/>
                <a:cs typeface="함초롬돋움" panose="02030504000101010101" pitchFamily="18" charset="-127"/>
              </a:rPr>
              <a:t>위한 방향성 수립</a:t>
            </a:r>
          </a:p>
        </p:txBody>
      </p:sp>
      <p:sp>
        <p:nvSpPr>
          <p:cNvPr id="146" name="오각형 452">
            <a:extLst>
              <a:ext uri="{FF2B5EF4-FFF2-40B4-BE49-F238E27FC236}">
                <a16:creationId xmlns:a16="http://schemas.microsoft.com/office/drawing/2014/main" id="{1B02D3CC-5F3D-8229-16D2-E67D2B53C75D}"/>
              </a:ext>
            </a:extLst>
          </p:cNvPr>
          <p:cNvSpPr/>
          <p:nvPr/>
        </p:nvSpPr>
        <p:spPr>
          <a:xfrm>
            <a:off x="5095170" y="8599577"/>
            <a:ext cx="245062" cy="445922"/>
          </a:xfrm>
          <a:prstGeom prst="homePlate">
            <a:avLst>
              <a:gd name="adj" fmla="val 30920"/>
            </a:avLst>
          </a:prstGeom>
          <a:solidFill>
            <a:srgbClr val="3E4959"/>
          </a:solidFill>
          <a:ln w="12700">
            <a:noFill/>
          </a:ln>
          <a:effectLst/>
        </p:spPr>
        <p:txBody>
          <a:bodyPr wrap="none" anchor="ctr" anchorCtr="0">
            <a:noAutofit/>
          </a:bodyPr>
          <a:lstStyle/>
          <a:p>
            <a:pPr algn="ctr" latinLnBrk="0"/>
            <a:endParaRPr lang="ko-KR" altLang="en-US" sz="900" kern="0" dirty="0">
              <a:ln w="3175">
                <a:solidFill>
                  <a:schemeClr val="bg1">
                    <a:alpha val="0"/>
                  </a:schemeClr>
                </a:solidFill>
              </a:ln>
              <a:gradFill>
                <a:gsLst>
                  <a:gs pos="0">
                    <a:sysClr val="window" lastClr="FFFFFF"/>
                  </a:gs>
                  <a:gs pos="100000">
                    <a:sysClr val="window" lastClr="FFFFFF"/>
                  </a:gs>
                </a:gsLst>
                <a:lin ang="5400000" scaled="0"/>
              </a:gradFill>
              <a:latin typeface="KoPub돋움체 Bold" panose="02020603020101020101" pitchFamily="18" charset="-127"/>
              <a:ea typeface="KoPub돋움체 Bold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47" name="직사각형 146">
            <a:extLst>
              <a:ext uri="{FF2B5EF4-FFF2-40B4-BE49-F238E27FC236}">
                <a16:creationId xmlns:a16="http://schemas.microsoft.com/office/drawing/2014/main" id="{2888021D-BC9E-6353-F2D8-1F18BD998241}"/>
              </a:ext>
            </a:extLst>
          </p:cNvPr>
          <p:cNvSpPr/>
          <p:nvPr/>
        </p:nvSpPr>
        <p:spPr>
          <a:xfrm>
            <a:off x="5055328" y="8660648"/>
            <a:ext cx="239137" cy="315155"/>
          </a:xfrm>
          <a:prstGeom prst="rect">
            <a:avLst/>
          </a:prstGeom>
        </p:spPr>
        <p:txBody>
          <a:bodyPr wrap="none" anchor="ctr" anchorCtr="0">
            <a:noAutofit/>
          </a:bodyPr>
          <a:lstStyle/>
          <a:p>
            <a:pPr defTabSz="1067256">
              <a:spcAft>
                <a:spcPts val="299"/>
              </a:spcAft>
            </a:pPr>
            <a:r>
              <a:rPr lang="en-US" altLang="ko-KR" sz="900" kern="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함초롬돋움" panose="02030504000101010101" pitchFamily="18" charset="-127"/>
              </a:rPr>
              <a:t>03</a:t>
            </a:r>
            <a:endParaRPr lang="ko-KR" altLang="en-US" sz="900" kern="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bg1"/>
              </a:solidFill>
              <a:latin typeface="HY헤드라인M" panose="02030600000101010101" pitchFamily="18" charset="-127"/>
              <a:ea typeface="HY헤드라인M" panose="02030600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06772D43-1D1A-A6E5-AC07-FE18397EB940}"/>
              </a:ext>
            </a:extLst>
          </p:cNvPr>
          <p:cNvSpPr/>
          <p:nvPr/>
        </p:nvSpPr>
        <p:spPr>
          <a:xfrm>
            <a:off x="5095171" y="9101077"/>
            <a:ext cx="2090195" cy="1131079"/>
          </a:xfrm>
          <a:prstGeom prst="rect">
            <a:avLst/>
          </a:prstGeom>
          <a:noFill/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2000" rIns="0" rtlCol="0" anchor="t">
            <a:spAutoFit/>
          </a:bodyPr>
          <a:lstStyle/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전체 국방 서비스의 방향성 확인 필요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진화되는 보안 위협에 대한 정보 제공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국방데이터센터 발전 속도에 맞춘 </a:t>
            </a:r>
            <a:r>
              <a:rPr lang="en-US" altLang="ko-KR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SDDC </a:t>
            </a: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구현에 대한 컨설팅 제공</a:t>
            </a:r>
            <a:endParaRPr lang="en-US" altLang="ko-KR" sz="1000" dirty="0">
              <a:ln>
                <a:solidFill>
                  <a:srgbClr val="ADADAD">
                    <a:alpha val="0"/>
                  </a:srgbClr>
                </a:solidFill>
              </a:ln>
              <a:solidFill>
                <a:schemeClr val="tx1">
                  <a:lumMod val="85000"/>
                  <a:lumOff val="1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  <a:p>
            <a:pPr marL="152371" lvl="1" indent="-152371" defTabSz="1067542" fontAlgn="ctr" latinLnBrk="0">
              <a:spcBef>
                <a:spcPct val="0"/>
              </a:spcBef>
              <a:spcAft>
                <a:spcPts val="300"/>
              </a:spcAft>
              <a:buClr>
                <a:srgbClr val="E34197"/>
              </a:buClr>
              <a:buSzPct val="115000"/>
              <a:buBlip>
                <a:blip r:embed="rId4"/>
              </a:buBlip>
              <a:defRPr/>
            </a:pPr>
            <a:r>
              <a:rPr lang="ko-KR" altLang="en-US" sz="1000" dirty="0">
                <a:ln>
                  <a:solidFill>
                    <a:srgbClr val="ADADAD">
                      <a:alpha val="0"/>
                    </a:srgb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신기술 및 선진사례 등 최신기법 제공으로 미래지향적인 방향성 제공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A0A9BDDE-A6E9-5748-7D6A-7ADF4B74D849}"/>
              </a:ext>
            </a:extLst>
          </p:cNvPr>
          <p:cNvSpPr/>
          <p:nvPr/>
        </p:nvSpPr>
        <p:spPr>
          <a:xfrm>
            <a:off x="7787753" y="5552139"/>
            <a:ext cx="4596978" cy="2232248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발표자료 </a:t>
            </a:r>
            <a:endParaRPr lang="en-US" altLang="ko-KR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2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사업특성</a:t>
            </a:r>
            <a:r>
              <a:rPr lang="en-US" altLang="ko-KR" sz="2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2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핵심과제</a:t>
            </a:r>
            <a:r>
              <a:rPr lang="en-US" altLang="ko-KR" sz="2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2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핵심성공요소</a:t>
            </a:r>
            <a:endParaRPr lang="en-US" altLang="ko-KR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2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최종적으로 싱크</a:t>
            </a:r>
            <a:endParaRPr lang="en-US" altLang="ko-KR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75934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5EB94BF4-269D-4ADE-8025-A904DB6FAF1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D15C4-AF98-EFE3-EB7A-8C48293D6D4B}"/>
              </a:ext>
            </a:extLst>
          </p:cNvPr>
          <p:cNvSpPr txBox="1"/>
          <p:nvPr/>
        </p:nvSpPr>
        <p:spPr>
          <a:xfrm>
            <a:off x="934361" y="2524932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정확한 사업 현안 및 개선사항을 기반으로 최적의 사업수행 방안 제시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F03E0E-F6C0-91ED-93A3-245C8135B495}"/>
              </a:ext>
            </a:extLst>
          </p:cNvPr>
          <p:cNvSpPr/>
          <p:nvPr/>
        </p:nvSpPr>
        <p:spPr>
          <a:xfrm>
            <a:off x="1381398" y="1696926"/>
            <a:ext cx="5849058" cy="563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>
                <a:srgbClr val="0061EB"/>
              </a:buClr>
              <a:buSzPct val="80000"/>
              <a:buFont typeface="KoPub돋움체 Bold" panose="02020603020101020101" pitchFamily="18" charset="-127"/>
              <a:buChar char="▶"/>
            </a:pP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제안사는 국방정보체계 기반 서비스를 전군에 지원하는 중요한 사업으로 인식하고 있으며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고도화된 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IT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인프라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운영관리 서비스 제공과 해당 분야의 전문인력을 투입한 최적의 수행 조직 구성으로 전산장비 및 정보체계에 대한</a:t>
            </a:r>
            <a:b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</a:b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최적의 유지와 품질향상을 보장합니다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8FA33E-FCA6-5565-BB5E-627D28B7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7" name="제목 1">
            <a:extLst>
              <a:ext uri="{FF2B5EF4-FFF2-40B4-BE49-F238E27FC236}">
                <a16:creationId xmlns:a16="http://schemas.microsoft.com/office/drawing/2014/main" id="{B200D8DB-75AB-DC3D-1B32-539CC26912B7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109" name="제목 1">
            <a:extLst>
              <a:ext uri="{FF2B5EF4-FFF2-40B4-BE49-F238E27FC236}">
                <a16:creationId xmlns:a16="http://schemas.microsoft.com/office/drawing/2014/main" id="{09EB6A0F-9F5F-B194-D668-4BBD59D29058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제안의 특성 및 장점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(1/2)</a:t>
            </a: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28812D2A-C837-6702-515B-390C98B502FC}"/>
              </a:ext>
            </a:extLst>
          </p:cNvPr>
          <p:cNvGrpSpPr/>
          <p:nvPr/>
        </p:nvGrpSpPr>
        <p:grpSpPr>
          <a:xfrm>
            <a:off x="573254" y="4336176"/>
            <a:ext cx="6627645" cy="5864019"/>
            <a:chOff x="573254" y="4431022"/>
            <a:chExt cx="6627645" cy="5415322"/>
          </a:xfrm>
        </p:grpSpPr>
        <p:sp>
          <p:nvSpPr>
            <p:cNvPr id="209" name="직사각형 208">
              <a:extLst>
                <a:ext uri="{FF2B5EF4-FFF2-40B4-BE49-F238E27FC236}">
                  <a16:creationId xmlns:a16="http://schemas.microsoft.com/office/drawing/2014/main" id="{85D0AC32-A891-595B-4B53-B7205D5D9752}"/>
                </a:ext>
              </a:extLst>
            </p:cNvPr>
            <p:cNvSpPr/>
            <p:nvPr/>
          </p:nvSpPr>
          <p:spPr>
            <a:xfrm rot="5400000">
              <a:off x="3834959" y="1169317"/>
              <a:ext cx="104235" cy="6627645"/>
            </a:xfrm>
            <a:prstGeom prst="rect">
              <a:avLst/>
            </a:prstGeom>
            <a:gradFill flip="none" rotWithShape="1">
              <a:gsLst>
                <a:gs pos="0">
                  <a:srgbClr val="C0C0C0"/>
                </a:gs>
                <a:gs pos="100000">
                  <a:srgbClr val="EAEAEA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10" name="모서리가 둥근 직사각형 28">
              <a:extLst>
                <a:ext uri="{FF2B5EF4-FFF2-40B4-BE49-F238E27FC236}">
                  <a16:creationId xmlns:a16="http://schemas.microsoft.com/office/drawing/2014/main" id="{FDEE7A5E-924C-4470-9CEB-1320D96A2A71}"/>
                </a:ext>
              </a:extLst>
            </p:cNvPr>
            <p:cNvSpPr/>
            <p:nvPr/>
          </p:nvSpPr>
          <p:spPr>
            <a:xfrm>
              <a:off x="601094" y="4550479"/>
              <a:ext cx="6599805" cy="5295865"/>
            </a:xfrm>
            <a:prstGeom prst="roundRect">
              <a:avLst>
                <a:gd name="adj" fmla="val 5581"/>
              </a:avLst>
            </a:prstGeom>
            <a:noFill/>
            <a:ln w="19050" algn="ctr">
              <a:solidFill>
                <a:schemeClr val="accent1">
                  <a:lumMod val="50000"/>
                </a:schemeClr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algn="ctr"/>
              <a:endParaRPr lang="ko-KR" altLang="en-US" sz="700" kern="0" dirty="0">
                <a:solidFill>
                  <a:srgbClr val="000000"/>
                </a:solidFill>
              </a:endParaRPr>
            </a:p>
          </p:txBody>
        </p:sp>
        <p:sp>
          <p:nvSpPr>
            <p:cNvPr id="211" name="Rectangle 266">
              <a:extLst>
                <a:ext uri="{FF2B5EF4-FFF2-40B4-BE49-F238E27FC236}">
                  <a16:creationId xmlns:a16="http://schemas.microsoft.com/office/drawing/2014/main" id="{DC01263A-6F66-FA84-974B-D379A145BC5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7158" y="6056319"/>
              <a:ext cx="6035812" cy="969011"/>
            </a:xfrm>
            <a:prstGeom prst="rect">
              <a:avLst/>
            </a:prstGeom>
            <a:pattFill prst="dk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/>
            <a:p>
              <a:pPr algn="ctr" defTabSz="1201918"/>
              <a:endParaRPr lang="ko-KR" altLang="en-US" sz="1200" dirty="0">
                <a:solidFill>
                  <a:srgbClr val="FFFFFF"/>
                </a:solidFill>
                <a:latin typeface="굴림" pitchFamily="50" charset="-127"/>
                <a:ea typeface="KoPub돋움체 Bold" pitchFamily="18" charset="-127"/>
              </a:endParaRPr>
            </a:p>
          </p:txBody>
        </p:sp>
        <p:sp>
          <p:nvSpPr>
            <p:cNvPr id="212" name="Rectangle 166">
              <a:extLst>
                <a:ext uri="{FF2B5EF4-FFF2-40B4-BE49-F238E27FC236}">
                  <a16:creationId xmlns:a16="http://schemas.microsoft.com/office/drawing/2014/main" id="{84E1563B-AAF4-B0CA-4699-D1022490A8E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09056" y="6182348"/>
              <a:ext cx="5787725" cy="7437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139700" indent="-139700" fontAlgn="base" latinLnBrk="0">
                <a:spcBef>
                  <a:spcPts val="100"/>
                </a:spcBef>
                <a:spcAft>
                  <a:spcPts val="4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신속한 유지관리를 위하여 정보체계 전문 인력을 배치하여 원활한 비상 대응 체계 수립</a:t>
              </a:r>
            </a:p>
            <a:p>
              <a:pPr marL="139700" indent="-139700" fontAlgn="base" latinLnBrk="0">
                <a:spcBef>
                  <a:spcPts val="100"/>
                </a:spcBef>
                <a:spcAft>
                  <a:spcPts val="4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고도의 전문 지식과 경험을 보유한 전문 인력으로 구성된 비상 대응조직</a:t>
              </a:r>
              <a:r>
                <a:rPr lang="en-US" altLang="ko-KR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(SWAT)</a:t>
              </a: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및 전문 협력업체</a:t>
              </a:r>
              <a:r>
                <a:rPr lang="en-US" altLang="ko-KR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제조사를 통해 복합장애 등 운영상 난제를 명확히 처리</a:t>
              </a:r>
              <a:endParaRPr lang="en-US" altLang="ko-KR" sz="10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139700" indent="-139700" fontAlgn="base" latinLnBrk="0">
                <a:spcBef>
                  <a:spcPts val="100"/>
                </a:spcBef>
                <a:spcAft>
                  <a:spcPts val="4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주요 장비 부품 전진배치 및 노후장비에 대한 </a:t>
              </a:r>
              <a:r>
                <a:rPr lang="ko-KR" altLang="en-US" sz="1000" dirty="0" err="1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예비품</a:t>
              </a: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확보</a:t>
              </a:r>
            </a:p>
          </p:txBody>
        </p:sp>
        <p:sp>
          <p:nvSpPr>
            <p:cNvPr id="213" name="AutoShape 555">
              <a:extLst>
                <a:ext uri="{FF2B5EF4-FFF2-40B4-BE49-F238E27FC236}">
                  <a16:creationId xmlns:a16="http://schemas.microsoft.com/office/drawing/2014/main" id="{5880C4A8-74AC-B478-A31F-DA2EFDBBD76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7523" y="5895326"/>
              <a:ext cx="1410704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indent="-180975" latinLnBrk="0"/>
              <a:r>
                <a:rPr lang="ko-KR" altLang="en-US" sz="110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서비스 체계</a:t>
              </a:r>
            </a:p>
          </p:txBody>
        </p:sp>
        <p:sp>
          <p:nvSpPr>
            <p:cNvPr id="214" name="Line 663">
              <a:extLst>
                <a:ext uri="{FF2B5EF4-FFF2-40B4-BE49-F238E27FC236}">
                  <a16:creationId xmlns:a16="http://schemas.microsoft.com/office/drawing/2014/main" id="{9A621FB9-E4A6-32F9-532B-B0060C3DE8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56365" y="5979842"/>
              <a:ext cx="5176549" cy="0"/>
            </a:xfrm>
            <a:prstGeom prst="line">
              <a:avLst/>
            </a:prstGeom>
            <a:noFill/>
            <a:ln w="6350">
              <a:solidFill>
                <a:srgbClr val="B2B2B2"/>
              </a:solidFill>
              <a:round/>
              <a:headEnd/>
              <a:tailEnd type="oval"/>
            </a:ln>
          </p:spPr>
          <p:txBody>
            <a:bodyPr wrap="none" anchor="ctr"/>
            <a:lstStyle/>
            <a:p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15" name="직사각형 79">
              <a:extLst>
                <a:ext uri="{FF2B5EF4-FFF2-40B4-BE49-F238E27FC236}">
                  <a16:creationId xmlns:a16="http://schemas.microsoft.com/office/drawing/2014/main" id="{03D0FC4B-8F89-4A49-5CA5-8CE8CBEB06FD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169412" y="5722027"/>
              <a:ext cx="2742711" cy="321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r" defTabSz="1474788"/>
              <a:r>
                <a:rPr lang="ko-KR" altLang="en-US" sz="1050" dirty="0">
                  <a:solidFill>
                    <a:srgbClr val="0066B3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비상 대응체계</a:t>
              </a:r>
            </a:p>
          </p:txBody>
        </p:sp>
        <p:sp>
          <p:nvSpPr>
            <p:cNvPr id="216" name="직사각형 215">
              <a:extLst>
                <a:ext uri="{FF2B5EF4-FFF2-40B4-BE49-F238E27FC236}">
                  <a16:creationId xmlns:a16="http://schemas.microsoft.com/office/drawing/2014/main" id="{28575646-3410-1EB0-AF58-0B2AFB98ACA3}"/>
                </a:ext>
              </a:extLst>
            </p:cNvPr>
            <p:cNvSpPr/>
            <p:nvPr/>
          </p:nvSpPr>
          <p:spPr>
            <a:xfrm rot="5400000">
              <a:off x="4033225" y="3090676"/>
              <a:ext cx="97746" cy="6029365"/>
            </a:xfrm>
            <a:prstGeom prst="rect">
              <a:avLst/>
            </a:prstGeom>
            <a:gradFill flip="none" rotWithShape="1">
              <a:gsLst>
                <a:gs pos="0">
                  <a:srgbClr val="C0C0C0"/>
                </a:gs>
                <a:gs pos="100000">
                  <a:srgbClr val="EAEAEA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17" name="Rectangle 266">
              <a:extLst>
                <a:ext uri="{FF2B5EF4-FFF2-40B4-BE49-F238E27FC236}">
                  <a16:creationId xmlns:a16="http://schemas.microsoft.com/office/drawing/2014/main" id="{88973E52-6E34-93F1-26DC-FBDA51D3840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7158" y="7344206"/>
              <a:ext cx="6035812" cy="888677"/>
            </a:xfrm>
            <a:prstGeom prst="rect">
              <a:avLst/>
            </a:prstGeom>
            <a:pattFill prst="dk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/>
            <a:p>
              <a:pPr algn="ctr" defTabSz="1201918"/>
              <a:endParaRPr lang="ko-KR" altLang="en-US" sz="1200" dirty="0">
                <a:solidFill>
                  <a:srgbClr val="FFFFFF"/>
                </a:solidFill>
                <a:latin typeface="굴림" pitchFamily="50" charset="-127"/>
                <a:ea typeface="KoPub돋움체 Bold" pitchFamily="18" charset="-127"/>
              </a:endParaRPr>
            </a:p>
          </p:txBody>
        </p:sp>
        <p:sp>
          <p:nvSpPr>
            <p:cNvPr id="218" name="Rectangle 166">
              <a:extLst>
                <a:ext uri="{FF2B5EF4-FFF2-40B4-BE49-F238E27FC236}">
                  <a16:creationId xmlns:a16="http://schemas.microsoft.com/office/drawing/2014/main" id="{EE973B6C-4F44-86E8-79D1-02B42B7BF3C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04224" y="7506814"/>
              <a:ext cx="5740886" cy="5899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139700" indent="-139700" fontAlgn="base" latinLnBrk="0">
                <a:spcBef>
                  <a:spcPts val="100"/>
                </a:spcBef>
                <a:spcAft>
                  <a:spcPts val="4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en-US" altLang="ko-KR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PM</a:t>
              </a: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을 중심으로 한 지원 조직</a:t>
              </a:r>
              <a:r>
                <a:rPr lang="en-US" altLang="ko-KR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비상대응조직</a:t>
              </a:r>
              <a:r>
                <a:rPr lang="en-US" altLang="ko-KR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, </a:t>
              </a:r>
              <a:r>
                <a:rPr lang="ko-KR" altLang="en-US" sz="1000" dirty="0" err="1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품질관리팀</a:t>
              </a:r>
              <a:r>
                <a:rPr lang="en-US" altLang="ko-KR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을 적극 활용하여 사업 수행에 만전을 기함</a:t>
              </a:r>
            </a:p>
            <a:p>
              <a:pPr marL="139700" indent="-139700" fontAlgn="base" latinLnBrk="0">
                <a:spcBef>
                  <a:spcPts val="100"/>
                </a:spcBef>
                <a:spcAft>
                  <a:spcPts val="4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다년간 사업으로 검증된 제안사의 품질 관리 조직활용을 통한 전사적 지원 체계</a:t>
              </a:r>
            </a:p>
            <a:p>
              <a:pPr marL="139700" indent="-139700" fontAlgn="base" latinLnBrk="0">
                <a:spcBef>
                  <a:spcPts val="100"/>
                </a:spcBef>
                <a:spcAft>
                  <a:spcPts val="4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인력 </a:t>
              </a:r>
              <a:r>
                <a:rPr lang="en-US" altLang="ko-KR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Pool</a:t>
              </a: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제를 가동하여 유사 시 대체인력을 즉시 투입</a:t>
              </a:r>
            </a:p>
          </p:txBody>
        </p:sp>
        <p:sp>
          <p:nvSpPr>
            <p:cNvPr id="219" name="AutoShape 555">
              <a:extLst>
                <a:ext uri="{FF2B5EF4-FFF2-40B4-BE49-F238E27FC236}">
                  <a16:creationId xmlns:a16="http://schemas.microsoft.com/office/drawing/2014/main" id="{6DC28F2C-1E75-C6B5-2AC1-50ADD1E622A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80296" y="7192575"/>
              <a:ext cx="109672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indent="-180975" latinLnBrk="0"/>
              <a:r>
                <a:rPr lang="ko-KR" altLang="en-US" sz="110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조직 체계</a:t>
              </a:r>
            </a:p>
          </p:txBody>
        </p:sp>
        <p:sp>
          <p:nvSpPr>
            <p:cNvPr id="220" name="Line 663">
              <a:extLst>
                <a:ext uri="{FF2B5EF4-FFF2-40B4-BE49-F238E27FC236}">
                  <a16:creationId xmlns:a16="http://schemas.microsoft.com/office/drawing/2014/main" id="{C8F99DFE-1CB0-54CA-61BB-E4A43B239F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8581" y="7277092"/>
              <a:ext cx="5304787" cy="0"/>
            </a:xfrm>
            <a:prstGeom prst="line">
              <a:avLst/>
            </a:prstGeom>
            <a:noFill/>
            <a:ln w="6350">
              <a:solidFill>
                <a:srgbClr val="B2B2B2"/>
              </a:solidFill>
              <a:round/>
              <a:headEnd/>
              <a:tailEnd type="oval"/>
            </a:ln>
          </p:spPr>
          <p:txBody>
            <a:bodyPr wrap="none" anchor="ctr"/>
            <a:lstStyle/>
            <a:p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21" name="직사각형 220">
              <a:extLst>
                <a:ext uri="{FF2B5EF4-FFF2-40B4-BE49-F238E27FC236}">
                  <a16:creationId xmlns:a16="http://schemas.microsoft.com/office/drawing/2014/main" id="{A601D3C1-1DDF-5BF4-61B6-E467E73ED3B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169412" y="7007337"/>
              <a:ext cx="2742711" cy="321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r" defTabSz="1474788"/>
              <a:r>
                <a:rPr lang="ko-KR" altLang="en-US" sz="1050" dirty="0">
                  <a:solidFill>
                    <a:srgbClr val="0066B3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전사적 지원 체계</a:t>
              </a:r>
            </a:p>
          </p:txBody>
        </p:sp>
        <p:sp>
          <p:nvSpPr>
            <p:cNvPr id="222" name="직사각형 221">
              <a:extLst>
                <a:ext uri="{FF2B5EF4-FFF2-40B4-BE49-F238E27FC236}">
                  <a16:creationId xmlns:a16="http://schemas.microsoft.com/office/drawing/2014/main" id="{E879CC4F-8602-7C1C-3AA8-9871615CB964}"/>
                </a:ext>
              </a:extLst>
            </p:cNvPr>
            <p:cNvSpPr/>
            <p:nvPr/>
          </p:nvSpPr>
          <p:spPr>
            <a:xfrm rot="5400000">
              <a:off x="4033225" y="4380163"/>
              <a:ext cx="97746" cy="6029365"/>
            </a:xfrm>
            <a:prstGeom prst="rect">
              <a:avLst/>
            </a:prstGeom>
            <a:gradFill flip="none" rotWithShape="1">
              <a:gsLst>
                <a:gs pos="0">
                  <a:srgbClr val="C0C0C0"/>
                </a:gs>
                <a:gs pos="100000">
                  <a:srgbClr val="EAEAEA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23" name="Rectangle 266">
              <a:extLst>
                <a:ext uri="{FF2B5EF4-FFF2-40B4-BE49-F238E27FC236}">
                  <a16:creationId xmlns:a16="http://schemas.microsoft.com/office/drawing/2014/main" id="{E24B52B6-93DA-0169-0F2D-6507B34712F4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7158" y="4877323"/>
              <a:ext cx="6035812" cy="851488"/>
            </a:xfrm>
            <a:prstGeom prst="rect">
              <a:avLst/>
            </a:prstGeom>
            <a:pattFill prst="dk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/>
            <a:p>
              <a:pPr algn="ctr" defTabSz="1201918"/>
              <a:endParaRPr lang="ko-KR" altLang="en-US" sz="1200" dirty="0">
                <a:solidFill>
                  <a:srgbClr val="FFFFFF"/>
                </a:solidFill>
                <a:latin typeface="굴림" pitchFamily="50" charset="-127"/>
                <a:ea typeface="KoPub돋움체 Bold" pitchFamily="18" charset="-127"/>
              </a:endParaRPr>
            </a:p>
          </p:txBody>
        </p:sp>
        <p:sp>
          <p:nvSpPr>
            <p:cNvPr id="224" name="Rectangle 166">
              <a:extLst>
                <a:ext uri="{FF2B5EF4-FFF2-40B4-BE49-F238E27FC236}">
                  <a16:creationId xmlns:a16="http://schemas.microsoft.com/office/drawing/2014/main" id="{F3A879E4-E664-AEAD-F621-77F3C7F06FF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09057" y="5026573"/>
              <a:ext cx="5156810" cy="544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139700" indent="-139700" fontAlgn="base" latinLnBrk="0">
                <a:spcBef>
                  <a:spcPts val="100"/>
                </a:spcBef>
                <a:spcAft>
                  <a:spcPts val="4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철저한 사업관리를 통한 사업 전반에 걸친 안정적인 유지관리 체계 확보</a:t>
              </a:r>
            </a:p>
            <a:p>
              <a:pPr marL="139700" indent="-139700" fontAlgn="base" latinLnBrk="0">
                <a:spcBef>
                  <a:spcPts val="100"/>
                </a:spcBef>
                <a:spcAft>
                  <a:spcPts val="4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국방 및 공공기관의 보안과 유지보수 사업자의</a:t>
              </a:r>
              <a:r>
                <a:rPr lang="en-US" altLang="ko-KR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검증된 유지관리 사업역량 활용</a:t>
              </a:r>
            </a:p>
            <a:p>
              <a:pPr marL="139700" indent="-139700" fontAlgn="base" latinLnBrk="0">
                <a:spcBef>
                  <a:spcPts val="100"/>
                </a:spcBef>
                <a:spcAft>
                  <a:spcPts val="4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단순기능 중심이 아닌 프로세스</a:t>
              </a:r>
              <a:r>
                <a:rPr lang="en-US" altLang="ko-KR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기술</a:t>
              </a:r>
              <a:r>
                <a:rPr lang="en-US" altLang="ko-KR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조직 관점의 고도화된 유지보수 체계 적용</a:t>
              </a:r>
            </a:p>
          </p:txBody>
        </p:sp>
        <p:sp>
          <p:nvSpPr>
            <p:cNvPr id="225" name="AutoShape 555">
              <a:extLst>
                <a:ext uri="{FF2B5EF4-FFF2-40B4-BE49-F238E27FC236}">
                  <a16:creationId xmlns:a16="http://schemas.microsoft.com/office/drawing/2014/main" id="{7D496B3A-6A2F-19FC-B91E-FEF454A9520E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80296" y="4716330"/>
              <a:ext cx="109672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indent="-180975" latinLnBrk="0"/>
              <a:r>
                <a:rPr lang="ko-KR" altLang="en-US" sz="110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수행 역량</a:t>
              </a:r>
            </a:p>
          </p:txBody>
        </p:sp>
        <p:sp>
          <p:nvSpPr>
            <p:cNvPr id="226" name="Line 663">
              <a:extLst>
                <a:ext uri="{FF2B5EF4-FFF2-40B4-BE49-F238E27FC236}">
                  <a16:creationId xmlns:a16="http://schemas.microsoft.com/office/drawing/2014/main" id="{942AB7A4-FC6D-DEA4-2D6B-1098778B7F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8581" y="4800847"/>
              <a:ext cx="5304787" cy="0"/>
            </a:xfrm>
            <a:prstGeom prst="line">
              <a:avLst/>
            </a:prstGeom>
            <a:noFill/>
            <a:ln w="6350">
              <a:solidFill>
                <a:srgbClr val="B2B2B2"/>
              </a:solidFill>
              <a:round/>
              <a:headEnd/>
              <a:tailEnd type="oval"/>
            </a:ln>
          </p:spPr>
          <p:txBody>
            <a:bodyPr wrap="none" anchor="ctr"/>
            <a:lstStyle/>
            <a:p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27" name="직사각형 79">
              <a:extLst>
                <a:ext uri="{FF2B5EF4-FFF2-40B4-BE49-F238E27FC236}">
                  <a16:creationId xmlns:a16="http://schemas.microsoft.com/office/drawing/2014/main" id="{48185A2F-ED36-746B-915D-1251A7AB757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169412" y="4528769"/>
              <a:ext cx="2742711" cy="321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r" defTabSz="1474788"/>
              <a:r>
                <a:rPr lang="ko-KR" altLang="en-US" sz="1100" dirty="0">
                  <a:solidFill>
                    <a:srgbClr val="0066B3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수행 경험 및 노하우</a:t>
              </a:r>
            </a:p>
          </p:txBody>
        </p:sp>
        <p:sp>
          <p:nvSpPr>
            <p:cNvPr id="228" name="직사각형 227">
              <a:extLst>
                <a:ext uri="{FF2B5EF4-FFF2-40B4-BE49-F238E27FC236}">
                  <a16:creationId xmlns:a16="http://schemas.microsoft.com/office/drawing/2014/main" id="{6370A86A-8546-3793-EF67-B5041050B576}"/>
                </a:ext>
              </a:extLst>
            </p:cNvPr>
            <p:cNvSpPr/>
            <p:nvPr/>
          </p:nvSpPr>
          <p:spPr>
            <a:xfrm rot="5400000">
              <a:off x="4033225" y="1910947"/>
              <a:ext cx="97746" cy="6029365"/>
            </a:xfrm>
            <a:prstGeom prst="rect">
              <a:avLst/>
            </a:prstGeom>
            <a:gradFill flip="none" rotWithShape="1">
              <a:gsLst>
                <a:gs pos="0">
                  <a:srgbClr val="C0C0C0"/>
                </a:gs>
                <a:gs pos="100000">
                  <a:srgbClr val="EAEAEA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sp>
          <p:nvSpPr>
            <p:cNvPr id="229" name="Rectangle 266">
              <a:extLst>
                <a:ext uri="{FF2B5EF4-FFF2-40B4-BE49-F238E27FC236}">
                  <a16:creationId xmlns:a16="http://schemas.microsoft.com/office/drawing/2014/main" id="{75F590A3-EC4C-1AA4-265F-9435A4290D61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67158" y="8568476"/>
              <a:ext cx="6035812" cy="1143436"/>
            </a:xfrm>
            <a:prstGeom prst="rect">
              <a:avLst/>
            </a:prstGeom>
            <a:pattFill prst="dkUp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>
              <a:noFill/>
            </a:ln>
          </p:spPr>
          <p:txBody>
            <a:bodyPr wrap="none" anchor="ctr"/>
            <a:lstStyle/>
            <a:p>
              <a:pPr algn="ctr" defTabSz="1201918"/>
              <a:endParaRPr lang="ko-KR" altLang="en-US" sz="1200" dirty="0">
                <a:solidFill>
                  <a:srgbClr val="FFFFFF"/>
                </a:solidFill>
                <a:latin typeface="굴림" pitchFamily="50" charset="-127"/>
                <a:ea typeface="KoPub돋움체 Bold" pitchFamily="18" charset="-127"/>
              </a:endParaRPr>
            </a:p>
          </p:txBody>
        </p:sp>
        <p:sp>
          <p:nvSpPr>
            <p:cNvPr id="230" name="Rectangle 166">
              <a:extLst>
                <a:ext uri="{FF2B5EF4-FFF2-40B4-BE49-F238E27FC236}">
                  <a16:creationId xmlns:a16="http://schemas.microsoft.com/office/drawing/2014/main" id="{B0D3036C-0885-5F09-6228-1A55BD6C4F19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304225" y="8707648"/>
              <a:ext cx="5161641" cy="9262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 anchor="t">
              <a:spAutoFit/>
            </a:bodyPr>
            <a:lstStyle/>
            <a:p>
              <a:pPr marL="139700" indent="-139700" fontAlgn="base" latinLnBrk="0">
                <a:lnSpc>
                  <a:spcPct val="50000"/>
                </a:lnSpc>
                <a:spcBef>
                  <a:spcPts val="100"/>
                </a:spcBef>
                <a:spcAft>
                  <a:spcPts val="6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조직</a:t>
              </a:r>
              <a:r>
                <a:rPr lang="en-US" altLang="ko-KR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프로세스</a:t>
              </a:r>
              <a:r>
                <a:rPr lang="en-US" altLang="ko-KR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, </a:t>
              </a: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시스템이 결합된 </a:t>
              </a:r>
              <a:r>
                <a:rPr lang="en-US" altLang="ko-KR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IT</a:t>
              </a: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서비스 관리체계 운용</a:t>
              </a:r>
              <a:endParaRPr lang="en-US" altLang="ko-KR" sz="10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139700" indent="-139700" fontAlgn="base" latinLnBrk="0">
                <a:lnSpc>
                  <a:spcPct val="50000"/>
                </a:lnSpc>
                <a:spcBef>
                  <a:spcPts val="100"/>
                </a:spcBef>
                <a:spcAft>
                  <a:spcPts val="6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초동 대응 강화 및 복합장애 특별대응 해결방안 적용 운영</a:t>
              </a:r>
              <a:endParaRPr lang="en-US" altLang="ko-KR" sz="10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139700" indent="-139700" fontAlgn="base" latinLnBrk="0">
                <a:lnSpc>
                  <a:spcPct val="50000"/>
                </a:lnSpc>
                <a:spcBef>
                  <a:spcPts val="100"/>
                </a:spcBef>
                <a:spcAft>
                  <a:spcPts val="6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사전예방 중심의 점검체계 확립으로 정보체계 가용성 보장</a:t>
              </a:r>
              <a:endParaRPr lang="en-US" altLang="ko-KR" sz="10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139700" indent="-139700" fontAlgn="base" latinLnBrk="0">
                <a:lnSpc>
                  <a:spcPct val="50000"/>
                </a:lnSpc>
                <a:spcBef>
                  <a:spcPts val="100"/>
                </a:spcBef>
                <a:spcAft>
                  <a:spcPts val="6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정보체계 개선활동으로 성능 및 기능 최적화 수행</a:t>
              </a:r>
              <a:endParaRPr lang="en-US" altLang="ko-KR" sz="10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139700" indent="-139700" fontAlgn="base" latinLnBrk="0">
                <a:lnSpc>
                  <a:spcPct val="50000"/>
                </a:lnSpc>
                <a:spcBef>
                  <a:spcPts val="100"/>
                </a:spcBef>
                <a:spcAft>
                  <a:spcPts val="6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정보체계 정밀 실사를 통한 체계적인 관리 진행</a:t>
              </a:r>
              <a:endParaRPr lang="en-US" altLang="ko-KR" sz="1000" dirty="0">
                <a:solidFill>
                  <a:srgbClr val="00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marL="139700" indent="-139700" fontAlgn="base" latinLnBrk="0">
                <a:lnSpc>
                  <a:spcPct val="50000"/>
                </a:lnSpc>
                <a:spcBef>
                  <a:spcPts val="100"/>
                </a:spcBef>
                <a:spcAft>
                  <a:spcPts val="600"/>
                </a:spcAft>
                <a:buClr>
                  <a:srgbClr val="044982"/>
                </a:buClr>
                <a:buSzPct val="70000"/>
                <a:buFont typeface="KoPub돋움체 Medium" pitchFamily="18" charset="-127"/>
                <a:buChar char="+"/>
                <a:defRPr/>
              </a:pPr>
              <a:r>
                <a:rPr lang="ko-KR" altLang="en-US" sz="1000" dirty="0">
                  <a:solidFill>
                    <a:srgbClr val="00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유지관리 업체 및 서비스 수준에 대한 엄격한 서비스 평가 관리 및 보고</a:t>
              </a:r>
            </a:p>
          </p:txBody>
        </p:sp>
        <p:sp>
          <p:nvSpPr>
            <p:cNvPr id="231" name="AutoShape 555">
              <a:extLst>
                <a:ext uri="{FF2B5EF4-FFF2-40B4-BE49-F238E27FC236}">
                  <a16:creationId xmlns:a16="http://schemas.microsoft.com/office/drawing/2014/main" id="{E4D2AFC6-5325-724B-8479-50EA7733F726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1080296" y="8407484"/>
              <a:ext cx="1096722" cy="16927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indent="-180975" latinLnBrk="0"/>
              <a:r>
                <a:rPr lang="ko-KR" altLang="en-US" sz="1100" dirty="0">
                  <a:solidFill>
                    <a:prstClr val="black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지원 활동</a:t>
              </a:r>
            </a:p>
          </p:txBody>
        </p:sp>
        <p:sp>
          <p:nvSpPr>
            <p:cNvPr id="232" name="Line 663">
              <a:extLst>
                <a:ext uri="{FF2B5EF4-FFF2-40B4-BE49-F238E27FC236}">
                  <a16:creationId xmlns:a16="http://schemas.microsoft.com/office/drawing/2014/main" id="{4A4EC9FB-E765-7A7F-20B7-BFC7F51360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18950" y="8492001"/>
              <a:ext cx="5326161" cy="0"/>
            </a:xfrm>
            <a:prstGeom prst="line">
              <a:avLst/>
            </a:prstGeom>
            <a:noFill/>
            <a:ln w="6350">
              <a:solidFill>
                <a:srgbClr val="B2B2B2"/>
              </a:solidFill>
              <a:round/>
              <a:headEnd/>
              <a:tailEnd type="oval"/>
            </a:ln>
          </p:spPr>
          <p:txBody>
            <a:bodyPr wrap="none" anchor="ctr"/>
            <a:lstStyle/>
            <a:p>
              <a:endParaRPr lang="ko-KR" altLang="en-US" dirty="0">
                <a:solidFill>
                  <a:prstClr val="black"/>
                </a:solidFill>
              </a:endParaRPr>
            </a:p>
          </p:txBody>
        </p:sp>
        <p:sp>
          <p:nvSpPr>
            <p:cNvPr id="233" name="직사각형 79">
              <a:extLst>
                <a:ext uri="{FF2B5EF4-FFF2-40B4-BE49-F238E27FC236}">
                  <a16:creationId xmlns:a16="http://schemas.microsoft.com/office/drawing/2014/main" id="{50316AEB-7319-6FD5-C32F-5EB9975DC560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4169412" y="8224576"/>
              <a:ext cx="2742711" cy="3212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0" tIns="0" rIns="0" bIns="0" anchor="ctr"/>
            <a:lstStyle/>
            <a:p>
              <a:pPr algn="r" defTabSz="1474788"/>
              <a:r>
                <a:rPr lang="ko-KR" altLang="en-US" sz="1050" dirty="0">
                  <a:solidFill>
                    <a:srgbClr val="0066B3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시스템 안정화 활동</a:t>
              </a:r>
            </a:p>
          </p:txBody>
        </p:sp>
        <p:sp>
          <p:nvSpPr>
            <p:cNvPr id="234" name="직사각형 233">
              <a:extLst>
                <a:ext uri="{FF2B5EF4-FFF2-40B4-BE49-F238E27FC236}">
                  <a16:creationId xmlns:a16="http://schemas.microsoft.com/office/drawing/2014/main" id="{60965FA7-60C5-B90C-E175-22BA1DF1E05F}"/>
                </a:ext>
              </a:extLst>
            </p:cNvPr>
            <p:cNvSpPr/>
            <p:nvPr/>
          </p:nvSpPr>
          <p:spPr>
            <a:xfrm rot="5400000">
              <a:off x="4033225" y="5604434"/>
              <a:ext cx="97746" cy="6029365"/>
            </a:xfrm>
            <a:prstGeom prst="rect">
              <a:avLst/>
            </a:prstGeom>
            <a:gradFill flip="none" rotWithShape="1">
              <a:gsLst>
                <a:gs pos="0">
                  <a:srgbClr val="C0C0C0"/>
                </a:gs>
                <a:gs pos="100000">
                  <a:srgbClr val="EAEAEA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solidFill>
                  <a:prstClr val="white"/>
                </a:solidFill>
              </a:endParaRPr>
            </a:p>
          </p:txBody>
        </p:sp>
        <p:grpSp>
          <p:nvGrpSpPr>
            <p:cNvPr id="235" name="그룹 234">
              <a:extLst>
                <a:ext uri="{FF2B5EF4-FFF2-40B4-BE49-F238E27FC236}">
                  <a16:creationId xmlns:a16="http://schemas.microsoft.com/office/drawing/2014/main" id="{79F29E61-EF88-F086-1B9E-482BC7FF0B9A}"/>
                </a:ext>
              </a:extLst>
            </p:cNvPr>
            <p:cNvGrpSpPr/>
            <p:nvPr/>
          </p:nvGrpSpPr>
          <p:grpSpPr>
            <a:xfrm>
              <a:off x="681704" y="5819192"/>
              <a:ext cx="482080" cy="333671"/>
              <a:chOff x="61779" y="5764303"/>
              <a:chExt cx="322262" cy="296874"/>
            </a:xfrm>
          </p:grpSpPr>
          <p:sp>
            <p:nvSpPr>
              <p:cNvPr id="236" name="Text Box 662">
                <a:extLst>
                  <a:ext uri="{FF2B5EF4-FFF2-40B4-BE49-F238E27FC236}">
                    <a16:creationId xmlns:a16="http://schemas.microsoft.com/office/drawing/2014/main" id="{A3476ED8-5AD1-6BB2-BAB1-3D591313BCA8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68128" y="5764303"/>
                <a:ext cx="315913" cy="2190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839788" latinLnBrk="0">
                  <a:buClr>
                    <a:srgbClr val="595959"/>
                  </a:buClr>
                </a:pPr>
                <a:r>
                  <a:rPr lang="en-US" altLang="ko-KR" sz="1600" b="1" dirty="0">
                    <a:solidFill>
                      <a:srgbClr val="0066B3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2</a:t>
                </a:r>
              </a:p>
            </p:txBody>
          </p:sp>
          <p:sp>
            <p:nvSpPr>
              <p:cNvPr id="237" name="AutoShape 664">
                <a:extLst>
                  <a:ext uri="{FF2B5EF4-FFF2-40B4-BE49-F238E27FC236}">
                    <a16:creationId xmlns:a16="http://schemas.microsoft.com/office/drawing/2014/main" id="{BC9B2F4E-E62A-E7C1-0D57-22C5BEE973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61774" y="5824635"/>
                <a:ext cx="236547" cy="236538"/>
              </a:xfrm>
              <a:prstGeom prst="rtTriangle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latinLnBrk="0"/>
                <a:endParaRPr lang="ko-KR" altLang="en-US" dirty="0">
                  <a:solidFill>
                    <a:srgbClr val="0066B3"/>
                  </a:solidFill>
                </a:endParaRPr>
              </a:p>
            </p:txBody>
          </p:sp>
          <p:sp>
            <p:nvSpPr>
              <p:cNvPr id="238" name="Line 663">
                <a:extLst>
                  <a:ext uri="{FF2B5EF4-FFF2-40B4-BE49-F238E27FC236}">
                    <a16:creationId xmlns:a16="http://schemas.microsoft.com/office/drawing/2014/main" id="{F3D67DC3-853D-9AA4-514C-92789ADBBE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5591" y="5843681"/>
                <a:ext cx="187325" cy="190508"/>
              </a:xfrm>
              <a:prstGeom prst="line">
                <a:avLst/>
              </a:prstGeom>
              <a:noFill/>
              <a:ln w="12700">
                <a:solidFill>
                  <a:srgbClr val="0066B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66B3"/>
                  </a:solidFill>
                </a:endParaRPr>
              </a:p>
            </p:txBody>
          </p:sp>
        </p:grpSp>
        <p:grpSp>
          <p:nvGrpSpPr>
            <p:cNvPr id="239" name="그룹 238">
              <a:extLst>
                <a:ext uri="{FF2B5EF4-FFF2-40B4-BE49-F238E27FC236}">
                  <a16:creationId xmlns:a16="http://schemas.microsoft.com/office/drawing/2014/main" id="{D4681883-D054-E25E-C621-31A508EB7EBA}"/>
                </a:ext>
              </a:extLst>
            </p:cNvPr>
            <p:cNvGrpSpPr/>
            <p:nvPr/>
          </p:nvGrpSpPr>
          <p:grpSpPr>
            <a:xfrm>
              <a:off x="681704" y="7114592"/>
              <a:ext cx="482080" cy="333671"/>
              <a:chOff x="61779" y="6978438"/>
              <a:chExt cx="322262" cy="296874"/>
            </a:xfrm>
          </p:grpSpPr>
          <p:sp>
            <p:nvSpPr>
              <p:cNvPr id="240" name="Text Box 662">
                <a:extLst>
                  <a:ext uri="{FF2B5EF4-FFF2-40B4-BE49-F238E27FC236}">
                    <a16:creationId xmlns:a16="http://schemas.microsoft.com/office/drawing/2014/main" id="{763847F6-14BF-C31B-302F-9DD5C34C8579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68128" y="6978438"/>
                <a:ext cx="315913" cy="2190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839788" latinLnBrk="0">
                  <a:buClr>
                    <a:srgbClr val="595959"/>
                  </a:buClr>
                </a:pPr>
                <a:r>
                  <a:rPr lang="en-US" altLang="ko-KR" sz="1600" b="1" dirty="0">
                    <a:solidFill>
                      <a:srgbClr val="0066B3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3</a:t>
                </a:r>
              </a:p>
            </p:txBody>
          </p:sp>
          <p:sp>
            <p:nvSpPr>
              <p:cNvPr id="241" name="AutoShape 664">
                <a:extLst>
                  <a:ext uri="{FF2B5EF4-FFF2-40B4-BE49-F238E27FC236}">
                    <a16:creationId xmlns:a16="http://schemas.microsoft.com/office/drawing/2014/main" id="{1702E42C-1F45-2BBC-F58D-BE4F5CFF9F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61774" y="7038770"/>
                <a:ext cx="236547" cy="236538"/>
              </a:xfrm>
              <a:prstGeom prst="rtTriangle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latinLnBrk="0"/>
                <a:endParaRPr lang="ko-KR" altLang="en-US" dirty="0">
                  <a:solidFill>
                    <a:srgbClr val="0066B3"/>
                  </a:solidFill>
                </a:endParaRPr>
              </a:p>
            </p:txBody>
          </p:sp>
          <p:sp>
            <p:nvSpPr>
              <p:cNvPr id="242" name="Line 663">
                <a:extLst>
                  <a:ext uri="{FF2B5EF4-FFF2-40B4-BE49-F238E27FC236}">
                    <a16:creationId xmlns:a16="http://schemas.microsoft.com/office/drawing/2014/main" id="{9C787C9F-5052-37A4-F97A-30A9132B92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5591" y="7057816"/>
                <a:ext cx="187325" cy="190508"/>
              </a:xfrm>
              <a:prstGeom prst="line">
                <a:avLst/>
              </a:prstGeom>
              <a:noFill/>
              <a:ln w="12700">
                <a:solidFill>
                  <a:srgbClr val="0066B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66B3"/>
                  </a:solidFill>
                </a:endParaRPr>
              </a:p>
            </p:txBody>
          </p:sp>
        </p:grpSp>
        <p:grpSp>
          <p:nvGrpSpPr>
            <p:cNvPr id="243" name="그룹 242">
              <a:extLst>
                <a:ext uri="{FF2B5EF4-FFF2-40B4-BE49-F238E27FC236}">
                  <a16:creationId xmlns:a16="http://schemas.microsoft.com/office/drawing/2014/main" id="{9DE0E8CA-5AC9-F20B-88DF-C0177688FA35}"/>
                </a:ext>
              </a:extLst>
            </p:cNvPr>
            <p:cNvGrpSpPr/>
            <p:nvPr/>
          </p:nvGrpSpPr>
          <p:grpSpPr>
            <a:xfrm>
              <a:off x="681704" y="4644410"/>
              <a:ext cx="482080" cy="333671"/>
              <a:chOff x="61779" y="4580904"/>
              <a:chExt cx="322262" cy="296874"/>
            </a:xfrm>
          </p:grpSpPr>
          <p:sp>
            <p:nvSpPr>
              <p:cNvPr id="244" name="Text Box 662">
                <a:extLst>
                  <a:ext uri="{FF2B5EF4-FFF2-40B4-BE49-F238E27FC236}">
                    <a16:creationId xmlns:a16="http://schemas.microsoft.com/office/drawing/2014/main" id="{E4AA39D7-EA0D-3C36-00A4-7CCF58F9F312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68128" y="4580904"/>
                <a:ext cx="315913" cy="2190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839788" latinLnBrk="0">
                  <a:buClr>
                    <a:srgbClr val="595959"/>
                  </a:buClr>
                </a:pPr>
                <a:r>
                  <a:rPr lang="en-US" altLang="ko-KR" sz="1600" b="1" dirty="0">
                    <a:solidFill>
                      <a:srgbClr val="0066B3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1</a:t>
                </a:r>
              </a:p>
            </p:txBody>
          </p:sp>
          <p:sp>
            <p:nvSpPr>
              <p:cNvPr id="245" name="AutoShape 664">
                <a:extLst>
                  <a:ext uri="{FF2B5EF4-FFF2-40B4-BE49-F238E27FC236}">
                    <a16:creationId xmlns:a16="http://schemas.microsoft.com/office/drawing/2014/main" id="{9F554B33-674C-26A9-FD27-583833E70A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61774" y="4641236"/>
                <a:ext cx="236547" cy="236538"/>
              </a:xfrm>
              <a:prstGeom prst="rtTriangle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latinLnBrk="0"/>
                <a:endParaRPr lang="ko-KR" altLang="en-US" dirty="0">
                  <a:solidFill>
                    <a:srgbClr val="0066B3"/>
                  </a:solidFill>
                </a:endParaRPr>
              </a:p>
            </p:txBody>
          </p:sp>
          <p:sp>
            <p:nvSpPr>
              <p:cNvPr id="246" name="Line 663">
                <a:extLst>
                  <a:ext uri="{FF2B5EF4-FFF2-40B4-BE49-F238E27FC236}">
                    <a16:creationId xmlns:a16="http://schemas.microsoft.com/office/drawing/2014/main" id="{B476CF9E-A08D-8E29-2F93-6D46F5FDF31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5591" y="4660282"/>
                <a:ext cx="187325" cy="190508"/>
              </a:xfrm>
              <a:prstGeom prst="line">
                <a:avLst/>
              </a:prstGeom>
              <a:noFill/>
              <a:ln w="12700">
                <a:solidFill>
                  <a:srgbClr val="0066B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66B3"/>
                  </a:solidFill>
                </a:endParaRPr>
              </a:p>
            </p:txBody>
          </p:sp>
        </p:grpSp>
        <p:grpSp>
          <p:nvGrpSpPr>
            <p:cNvPr id="247" name="그룹 246">
              <a:extLst>
                <a:ext uri="{FF2B5EF4-FFF2-40B4-BE49-F238E27FC236}">
                  <a16:creationId xmlns:a16="http://schemas.microsoft.com/office/drawing/2014/main" id="{7EFF3B7E-92F5-1906-CD85-CAFDCC8D5674}"/>
                </a:ext>
              </a:extLst>
            </p:cNvPr>
            <p:cNvGrpSpPr/>
            <p:nvPr/>
          </p:nvGrpSpPr>
          <p:grpSpPr>
            <a:xfrm>
              <a:off x="681704" y="8336027"/>
              <a:ext cx="482080" cy="333671"/>
              <a:chOff x="61779" y="8288384"/>
              <a:chExt cx="322262" cy="296874"/>
            </a:xfrm>
          </p:grpSpPr>
          <p:sp>
            <p:nvSpPr>
              <p:cNvPr id="248" name="Text Box 662">
                <a:extLst>
                  <a:ext uri="{FF2B5EF4-FFF2-40B4-BE49-F238E27FC236}">
                    <a16:creationId xmlns:a16="http://schemas.microsoft.com/office/drawing/2014/main" id="{D0919E2C-C466-E41E-4200-DA6C01B7801E}"/>
                  </a:ext>
                </a:extLst>
              </p:cNvPr>
              <p:cNvSpPr txBox="1">
                <a:spLocks noChangeArrowheads="1"/>
              </p:cNvSpPr>
              <p:nvPr/>
            </p:nvSpPr>
            <p:spPr bwMode="gray">
              <a:xfrm>
                <a:off x="68128" y="8288384"/>
                <a:ext cx="315913" cy="21906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>
                <a:spAutoFit/>
              </a:bodyPr>
              <a:lstStyle/>
              <a:p>
                <a:pPr defTabSz="839788" latinLnBrk="0">
                  <a:buClr>
                    <a:srgbClr val="595959"/>
                  </a:buClr>
                </a:pPr>
                <a:r>
                  <a:rPr lang="en-US" altLang="ko-KR" sz="1600" b="1" dirty="0">
                    <a:solidFill>
                      <a:srgbClr val="0066B3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rPr>
                  <a:t>4</a:t>
                </a:r>
              </a:p>
            </p:txBody>
          </p:sp>
          <p:sp>
            <p:nvSpPr>
              <p:cNvPr id="249" name="AutoShape 664">
                <a:extLst>
                  <a:ext uri="{FF2B5EF4-FFF2-40B4-BE49-F238E27FC236}">
                    <a16:creationId xmlns:a16="http://schemas.microsoft.com/office/drawing/2014/main" id="{69FECC02-D406-CB56-E694-84370A813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>
                <a:off x="61774" y="8348716"/>
                <a:ext cx="236547" cy="236538"/>
              </a:xfrm>
              <a:prstGeom prst="rtTriangle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eaVert" wrap="none" anchor="ctr"/>
              <a:lstStyle/>
              <a:p>
                <a:pPr latinLnBrk="0"/>
                <a:endParaRPr lang="ko-KR" altLang="en-US" dirty="0">
                  <a:solidFill>
                    <a:srgbClr val="0066B3"/>
                  </a:solidFill>
                </a:endParaRPr>
              </a:p>
            </p:txBody>
          </p:sp>
          <p:sp>
            <p:nvSpPr>
              <p:cNvPr id="250" name="Line 663">
                <a:extLst>
                  <a:ext uri="{FF2B5EF4-FFF2-40B4-BE49-F238E27FC236}">
                    <a16:creationId xmlns:a16="http://schemas.microsoft.com/office/drawing/2014/main" id="{B6748233-1F26-2114-E7BB-86C77C1F53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5591" y="8367762"/>
                <a:ext cx="187325" cy="190508"/>
              </a:xfrm>
              <a:prstGeom prst="line">
                <a:avLst/>
              </a:prstGeom>
              <a:noFill/>
              <a:ln w="12700">
                <a:solidFill>
                  <a:srgbClr val="0066B3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ko-KR" altLang="en-US" dirty="0">
                  <a:solidFill>
                    <a:srgbClr val="0066B3"/>
                  </a:solidFill>
                </a:endParaRPr>
              </a:p>
            </p:txBody>
          </p:sp>
        </p:grpSp>
      </p:grpSp>
      <p:cxnSp>
        <p:nvCxnSpPr>
          <p:cNvPr id="251" name="직선 연결선 250">
            <a:extLst>
              <a:ext uri="{FF2B5EF4-FFF2-40B4-BE49-F238E27FC236}">
                <a16:creationId xmlns:a16="http://schemas.microsoft.com/office/drawing/2014/main" id="{D6DF5B7D-079C-BF41-6686-5A0C6CCB64D7}"/>
              </a:ext>
            </a:extLst>
          </p:cNvPr>
          <p:cNvCxnSpPr/>
          <p:nvPr/>
        </p:nvCxnSpPr>
        <p:spPr bwMode="auto">
          <a:xfrm>
            <a:off x="591098" y="3604683"/>
            <a:ext cx="6577550" cy="0"/>
          </a:xfrm>
          <a:prstGeom prst="line">
            <a:avLst/>
          </a:prstGeom>
          <a:noFill/>
          <a:ln w="15875">
            <a:solidFill>
              <a:schemeClr val="accent1">
                <a:lumMod val="75000"/>
              </a:schemeClr>
            </a:solidFill>
            <a:prstDash val="sysDot"/>
            <a:round/>
            <a:headEnd type="oval" w="sm" len="sm"/>
            <a:tailEnd type="oval" w="sm" len="sm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cxnSp>
      <p:grpSp>
        <p:nvGrpSpPr>
          <p:cNvPr id="252" name="그룹 251">
            <a:extLst>
              <a:ext uri="{FF2B5EF4-FFF2-40B4-BE49-F238E27FC236}">
                <a16:creationId xmlns:a16="http://schemas.microsoft.com/office/drawing/2014/main" id="{6F20DF92-A957-CC2C-8AF8-8422903548D0}"/>
              </a:ext>
            </a:extLst>
          </p:cNvPr>
          <p:cNvGrpSpPr/>
          <p:nvPr/>
        </p:nvGrpSpPr>
        <p:grpSpPr>
          <a:xfrm>
            <a:off x="775692" y="3012040"/>
            <a:ext cx="1189432" cy="1185287"/>
            <a:chOff x="959746" y="2911197"/>
            <a:chExt cx="395893" cy="395893"/>
          </a:xfrm>
        </p:grpSpPr>
        <p:sp>
          <p:nvSpPr>
            <p:cNvPr id="253" name="타원 252">
              <a:extLst>
                <a:ext uri="{FF2B5EF4-FFF2-40B4-BE49-F238E27FC236}">
                  <a16:creationId xmlns:a16="http://schemas.microsoft.com/office/drawing/2014/main" id="{49B71B40-5C98-4066-46DF-B3E0C99F82DE}"/>
                </a:ext>
              </a:extLst>
            </p:cNvPr>
            <p:cNvSpPr/>
            <p:nvPr/>
          </p:nvSpPr>
          <p:spPr>
            <a:xfrm>
              <a:off x="959746" y="2911197"/>
              <a:ext cx="395893" cy="395893"/>
            </a:xfrm>
            <a:prstGeom prst="ellipse">
              <a:avLst/>
            </a:prstGeom>
            <a:solidFill>
              <a:schemeClr val="bg1"/>
            </a:solidFill>
            <a:ln w="31750">
              <a:gradFill>
                <a:gsLst>
                  <a:gs pos="50000">
                    <a:srgbClr val="C1ECF5"/>
                  </a:gs>
                  <a:gs pos="50000">
                    <a:srgbClr val="007BC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1100" dirty="0">
                <a:solidFill>
                  <a:schemeClr val="lt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54" name="Text Box 432">
              <a:extLst>
                <a:ext uri="{FF2B5EF4-FFF2-40B4-BE49-F238E27FC236}">
                  <a16:creationId xmlns:a16="http://schemas.microsoft.com/office/drawing/2014/main" id="{4509AAF9-F118-BADB-1B42-D67561FD18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7700" y="3015767"/>
              <a:ext cx="299960" cy="186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0" algn="ctr" defTabSz="914400" eaLnBrk="1" latinLnBrk="0" hangingPunct="1">
                <a:lnSpc>
                  <a:spcPct val="90000"/>
                </a:lnSpc>
                <a:buClr>
                  <a:srgbClr val="CC0000"/>
                </a:buClr>
                <a:buSzPct val="70000"/>
                <a:defRPr sz="1050" spc="-8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10800000" scaled="1"/>
                  </a:gradFill>
                  <a:latin typeface="Rix고딕 B" pitchFamily="18" charset="-127"/>
                  <a:ea typeface="Rix고딕 B" pitchFamily="18" charset="-127"/>
                </a:defRPr>
              </a:lvl1pPr>
              <a:lvl2pPr marL="457200" defTabSz="914400" eaLnBrk="1" hangingPunct="1">
                <a:defRPr sz="1800">
                  <a:latin typeface="+mn-lt"/>
                  <a:ea typeface="+mn-ea"/>
                </a:defRPr>
              </a:lvl2pPr>
              <a:lvl3pPr marL="914400" defTabSz="914400" eaLnBrk="1" hangingPunct="1">
                <a:defRPr sz="1800">
                  <a:latin typeface="+mn-lt"/>
                  <a:ea typeface="+mn-ea"/>
                </a:defRPr>
              </a:lvl3pPr>
              <a:lvl4pPr marL="1371600" defTabSz="914400" eaLnBrk="1" hangingPunct="1">
                <a:defRPr sz="1800">
                  <a:latin typeface="+mn-lt"/>
                  <a:ea typeface="+mn-ea"/>
                </a:defRPr>
              </a:lvl4pPr>
              <a:lvl5pPr marL="1828800" defTabSz="914400" eaLnBrk="1" hangingPunct="1">
                <a:defRPr sz="1800">
                  <a:latin typeface="+mn-lt"/>
                  <a:ea typeface="+mn-ea"/>
                </a:defRPr>
              </a:lvl5pPr>
              <a:lvl6pPr marL="2286000" defTabSz="914400">
                <a:defRPr sz="1800">
                  <a:latin typeface="+mn-lt"/>
                  <a:ea typeface="+mn-ea"/>
                </a:defRPr>
              </a:lvl6pPr>
              <a:lvl7pPr marL="2743200" defTabSz="914400">
                <a:defRPr sz="1800">
                  <a:latin typeface="+mn-lt"/>
                  <a:ea typeface="+mn-ea"/>
                </a:defRPr>
              </a:lvl7pPr>
              <a:lvl8pPr marL="3200400" defTabSz="914400">
                <a:defRPr sz="1800">
                  <a:latin typeface="+mn-lt"/>
                  <a:ea typeface="+mn-ea"/>
                </a:defRPr>
              </a:lvl8pPr>
              <a:lvl9pPr marL="3657600" defTabSz="914400">
                <a:defRPr sz="1800">
                  <a:latin typeface="+mn-lt"/>
                  <a:ea typeface="+mn-ea"/>
                </a:defRPr>
              </a:lvl9pPr>
            </a:lstStyle>
            <a:p>
              <a:pPr defTabSz="1500188" fontAlgn="base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>
                  <a:srgbClr val="808080"/>
                </a:buClr>
                <a:buSzPct val="100000"/>
                <a:defRPr/>
              </a:pPr>
              <a:r>
                <a:rPr lang="ko-KR" altLang="en-US" sz="1100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사업의 본질을</a:t>
              </a:r>
            </a:p>
            <a:p>
              <a:pPr defTabSz="1500188" fontAlgn="base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>
                  <a:srgbClr val="808080"/>
                </a:buClr>
                <a:buSzPct val="100000"/>
                <a:defRPr/>
              </a:pPr>
              <a:r>
                <a:rPr lang="ko-KR" altLang="en-US" sz="1100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이해하고</a:t>
              </a:r>
            </a:p>
            <a:p>
              <a:pPr defTabSz="1500188" fontAlgn="base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>
                  <a:srgbClr val="808080"/>
                </a:buClr>
                <a:buSzPct val="100000"/>
                <a:defRPr/>
              </a:pPr>
              <a:r>
                <a:rPr lang="ko-KR" altLang="en-US" sz="1100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실천 가능한 제안</a:t>
              </a:r>
            </a:p>
          </p:txBody>
        </p:sp>
      </p:grpSp>
      <p:grpSp>
        <p:nvGrpSpPr>
          <p:cNvPr id="255" name="그룹 254">
            <a:extLst>
              <a:ext uri="{FF2B5EF4-FFF2-40B4-BE49-F238E27FC236}">
                <a16:creationId xmlns:a16="http://schemas.microsoft.com/office/drawing/2014/main" id="{03514159-B660-9490-7BE9-901FEBDDC0D7}"/>
              </a:ext>
            </a:extLst>
          </p:cNvPr>
          <p:cNvGrpSpPr/>
          <p:nvPr/>
        </p:nvGrpSpPr>
        <p:grpSpPr>
          <a:xfrm>
            <a:off x="2470254" y="3012040"/>
            <a:ext cx="1189430" cy="1185287"/>
            <a:chOff x="1026610" y="2911197"/>
            <a:chExt cx="395893" cy="395893"/>
          </a:xfrm>
        </p:grpSpPr>
        <p:sp>
          <p:nvSpPr>
            <p:cNvPr id="256" name="타원 255">
              <a:extLst>
                <a:ext uri="{FF2B5EF4-FFF2-40B4-BE49-F238E27FC236}">
                  <a16:creationId xmlns:a16="http://schemas.microsoft.com/office/drawing/2014/main" id="{69D8F603-DD43-056C-C7B5-F6E5FF8B0C62}"/>
                </a:ext>
              </a:extLst>
            </p:cNvPr>
            <p:cNvSpPr/>
            <p:nvPr/>
          </p:nvSpPr>
          <p:spPr>
            <a:xfrm>
              <a:off x="1026610" y="2911197"/>
              <a:ext cx="395893" cy="395893"/>
            </a:xfrm>
            <a:prstGeom prst="ellipse">
              <a:avLst/>
            </a:prstGeom>
            <a:solidFill>
              <a:schemeClr val="bg1"/>
            </a:solidFill>
            <a:ln w="31750">
              <a:gradFill>
                <a:gsLst>
                  <a:gs pos="50000">
                    <a:srgbClr val="C1ECF5"/>
                  </a:gs>
                  <a:gs pos="50000">
                    <a:srgbClr val="007BC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1100" dirty="0">
                <a:solidFill>
                  <a:schemeClr val="lt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57" name="Text Box 432">
              <a:extLst>
                <a:ext uri="{FF2B5EF4-FFF2-40B4-BE49-F238E27FC236}">
                  <a16:creationId xmlns:a16="http://schemas.microsoft.com/office/drawing/2014/main" id="{F95CF21D-08DE-52F1-F840-8AE3F4750B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896" y="3015765"/>
              <a:ext cx="339337" cy="186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0" algn="ctr" defTabSz="914400" eaLnBrk="1" latinLnBrk="0" hangingPunct="1">
                <a:lnSpc>
                  <a:spcPct val="90000"/>
                </a:lnSpc>
                <a:buClr>
                  <a:srgbClr val="CC0000"/>
                </a:buClr>
                <a:buSzPct val="70000"/>
                <a:defRPr sz="1050" spc="-8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10800000" scaled="1"/>
                  </a:gradFill>
                  <a:latin typeface="Rix고딕 B" pitchFamily="18" charset="-127"/>
                  <a:ea typeface="Rix고딕 B" pitchFamily="18" charset="-127"/>
                </a:defRPr>
              </a:lvl1pPr>
              <a:lvl2pPr marL="457200" defTabSz="914400" eaLnBrk="1" hangingPunct="1">
                <a:defRPr sz="1800">
                  <a:latin typeface="+mn-lt"/>
                  <a:ea typeface="+mn-ea"/>
                </a:defRPr>
              </a:lvl2pPr>
              <a:lvl3pPr marL="914400" defTabSz="914400" eaLnBrk="1" hangingPunct="1">
                <a:defRPr sz="1800">
                  <a:latin typeface="+mn-lt"/>
                  <a:ea typeface="+mn-ea"/>
                </a:defRPr>
              </a:lvl3pPr>
              <a:lvl4pPr marL="1371600" defTabSz="914400" eaLnBrk="1" hangingPunct="1">
                <a:defRPr sz="1800">
                  <a:latin typeface="+mn-lt"/>
                  <a:ea typeface="+mn-ea"/>
                </a:defRPr>
              </a:lvl4pPr>
              <a:lvl5pPr marL="1828800" defTabSz="914400" eaLnBrk="1" hangingPunct="1">
                <a:defRPr sz="1800">
                  <a:latin typeface="+mn-lt"/>
                  <a:ea typeface="+mn-ea"/>
                </a:defRPr>
              </a:lvl5pPr>
              <a:lvl6pPr marL="2286000" defTabSz="914400">
                <a:defRPr sz="1800">
                  <a:latin typeface="+mn-lt"/>
                  <a:ea typeface="+mn-ea"/>
                </a:defRPr>
              </a:lvl6pPr>
              <a:lvl7pPr marL="2743200" defTabSz="914400">
                <a:defRPr sz="1800">
                  <a:latin typeface="+mn-lt"/>
                  <a:ea typeface="+mn-ea"/>
                </a:defRPr>
              </a:lvl7pPr>
              <a:lvl8pPr marL="3200400" defTabSz="914400">
                <a:defRPr sz="1800">
                  <a:latin typeface="+mn-lt"/>
                  <a:ea typeface="+mn-ea"/>
                </a:defRPr>
              </a:lvl8pPr>
              <a:lvl9pPr marL="3657600" defTabSz="914400">
                <a:defRPr sz="1800">
                  <a:latin typeface="+mn-lt"/>
                  <a:ea typeface="+mn-ea"/>
                </a:defRPr>
              </a:lvl9pPr>
            </a:lstStyle>
            <a:p>
              <a:pPr defTabSz="1500188" fontAlgn="base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>
                  <a:srgbClr val="808080"/>
                </a:buClr>
                <a:buSzPct val="100000"/>
                <a:defRPr/>
              </a:pPr>
              <a:r>
                <a:rPr lang="ko-KR" altLang="en-US" sz="1100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전문성과 경험을</a:t>
              </a:r>
              <a:endParaRPr lang="en-US" altLang="ko-KR" sz="1100" b="1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defTabSz="1500188" fontAlgn="base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>
                  <a:srgbClr val="808080"/>
                </a:buClr>
                <a:buSzPct val="100000"/>
                <a:defRPr/>
              </a:pPr>
              <a:r>
                <a:rPr lang="ko-KR" altLang="en-US" sz="1100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바탕으로 완벽한</a:t>
              </a:r>
              <a:endParaRPr lang="en-US" altLang="ko-KR" sz="1100" b="1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defTabSz="1500188" fontAlgn="base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>
                  <a:srgbClr val="808080"/>
                </a:buClr>
                <a:buSzPct val="100000"/>
                <a:defRPr/>
              </a:pPr>
              <a:r>
                <a:rPr lang="ko-KR" altLang="en-US" sz="1100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비상 대응체계 구축</a:t>
              </a:r>
            </a:p>
          </p:txBody>
        </p:sp>
      </p:grpSp>
      <p:grpSp>
        <p:nvGrpSpPr>
          <p:cNvPr id="258" name="그룹 257">
            <a:extLst>
              <a:ext uri="{FF2B5EF4-FFF2-40B4-BE49-F238E27FC236}">
                <a16:creationId xmlns:a16="http://schemas.microsoft.com/office/drawing/2014/main" id="{6F99575C-DAF5-5108-D3A9-B08CD96FE7BB}"/>
              </a:ext>
            </a:extLst>
          </p:cNvPr>
          <p:cNvGrpSpPr/>
          <p:nvPr/>
        </p:nvGrpSpPr>
        <p:grpSpPr>
          <a:xfrm>
            <a:off x="4164813" y="3012040"/>
            <a:ext cx="1189432" cy="1185287"/>
            <a:chOff x="1026610" y="2911197"/>
            <a:chExt cx="395893" cy="395893"/>
          </a:xfrm>
        </p:grpSpPr>
        <p:sp>
          <p:nvSpPr>
            <p:cNvPr id="259" name="타원 258">
              <a:extLst>
                <a:ext uri="{FF2B5EF4-FFF2-40B4-BE49-F238E27FC236}">
                  <a16:creationId xmlns:a16="http://schemas.microsoft.com/office/drawing/2014/main" id="{19EE312C-85E6-8182-220E-F3218279EE3C}"/>
                </a:ext>
              </a:extLst>
            </p:cNvPr>
            <p:cNvSpPr/>
            <p:nvPr/>
          </p:nvSpPr>
          <p:spPr>
            <a:xfrm>
              <a:off x="1026610" y="2911197"/>
              <a:ext cx="395893" cy="395893"/>
            </a:xfrm>
            <a:prstGeom prst="ellipse">
              <a:avLst/>
            </a:prstGeom>
            <a:solidFill>
              <a:schemeClr val="bg1"/>
            </a:solidFill>
            <a:ln w="31750">
              <a:gradFill>
                <a:gsLst>
                  <a:gs pos="50000">
                    <a:srgbClr val="C1ECF5"/>
                  </a:gs>
                  <a:gs pos="50000">
                    <a:srgbClr val="007BC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1100" dirty="0">
                <a:solidFill>
                  <a:schemeClr val="lt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60" name="Text Box 432">
              <a:extLst>
                <a:ext uri="{FF2B5EF4-FFF2-40B4-BE49-F238E27FC236}">
                  <a16:creationId xmlns:a16="http://schemas.microsoft.com/office/drawing/2014/main" id="{8FBFE1FF-FAA8-5C83-3954-D45161473D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4887" y="3020049"/>
              <a:ext cx="339336" cy="1781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0" algn="ctr" defTabSz="914400" eaLnBrk="1" latinLnBrk="0" hangingPunct="1">
                <a:lnSpc>
                  <a:spcPct val="90000"/>
                </a:lnSpc>
                <a:buClr>
                  <a:srgbClr val="CC0000"/>
                </a:buClr>
                <a:buSzPct val="70000"/>
                <a:defRPr sz="1050" spc="-8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10800000" scaled="1"/>
                  </a:gradFill>
                  <a:latin typeface="Rix고딕 B" pitchFamily="18" charset="-127"/>
                  <a:ea typeface="Rix고딕 B" pitchFamily="18" charset="-127"/>
                </a:defRPr>
              </a:lvl1pPr>
              <a:lvl2pPr marL="457200" defTabSz="914400" eaLnBrk="1" hangingPunct="1">
                <a:defRPr sz="1800">
                  <a:latin typeface="+mn-lt"/>
                  <a:ea typeface="+mn-ea"/>
                </a:defRPr>
              </a:lvl2pPr>
              <a:lvl3pPr marL="914400" defTabSz="914400" eaLnBrk="1" hangingPunct="1">
                <a:defRPr sz="1800">
                  <a:latin typeface="+mn-lt"/>
                  <a:ea typeface="+mn-ea"/>
                </a:defRPr>
              </a:lvl3pPr>
              <a:lvl4pPr marL="1371600" defTabSz="914400" eaLnBrk="1" hangingPunct="1">
                <a:defRPr sz="1800">
                  <a:latin typeface="+mn-lt"/>
                  <a:ea typeface="+mn-ea"/>
                </a:defRPr>
              </a:lvl4pPr>
              <a:lvl5pPr marL="1828800" defTabSz="914400" eaLnBrk="1" hangingPunct="1">
                <a:defRPr sz="1800">
                  <a:latin typeface="+mn-lt"/>
                  <a:ea typeface="+mn-ea"/>
                </a:defRPr>
              </a:lvl5pPr>
              <a:lvl6pPr marL="2286000" defTabSz="914400">
                <a:defRPr sz="1800">
                  <a:latin typeface="+mn-lt"/>
                  <a:ea typeface="+mn-ea"/>
                </a:defRPr>
              </a:lvl6pPr>
              <a:lvl7pPr marL="2743200" defTabSz="914400">
                <a:defRPr sz="1800">
                  <a:latin typeface="+mn-lt"/>
                  <a:ea typeface="+mn-ea"/>
                </a:defRPr>
              </a:lvl7pPr>
              <a:lvl8pPr marL="3200400" defTabSz="914400">
                <a:defRPr sz="1800">
                  <a:latin typeface="+mn-lt"/>
                  <a:ea typeface="+mn-ea"/>
                </a:defRPr>
              </a:lvl8pPr>
              <a:lvl9pPr marL="3657600" defTabSz="914400">
                <a:defRPr sz="1800">
                  <a:latin typeface="+mn-lt"/>
                  <a:ea typeface="+mn-ea"/>
                </a:defRPr>
              </a:lvl9pPr>
            </a:lstStyle>
            <a:p>
              <a:pPr defTabSz="1500188" fontAlgn="base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>
                  <a:srgbClr val="808080"/>
                </a:buClr>
                <a:buSzPct val="100000"/>
                <a:defRPr/>
              </a:pPr>
              <a:r>
                <a:rPr lang="ko-KR" altLang="en-US" sz="1100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전사차원</a:t>
              </a:r>
              <a:endParaRPr lang="en-US" altLang="ko-KR" sz="1100" b="1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defTabSz="1500188" fontAlgn="base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>
                  <a:srgbClr val="808080"/>
                </a:buClr>
                <a:buSzPct val="100000"/>
                <a:defRPr/>
              </a:pPr>
              <a:r>
                <a:rPr lang="ko-KR" altLang="en-US" sz="1100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지원체계 등</a:t>
              </a:r>
              <a:br>
                <a:rPr lang="ko-KR" altLang="en-US" sz="1100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</a:br>
              <a:r>
                <a:rPr lang="ko-KR" altLang="en-US" sz="1100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사업수행 조직 구성</a:t>
              </a:r>
            </a:p>
          </p:txBody>
        </p:sp>
      </p:grpSp>
      <p:grpSp>
        <p:nvGrpSpPr>
          <p:cNvPr id="261" name="그룹 260">
            <a:extLst>
              <a:ext uri="{FF2B5EF4-FFF2-40B4-BE49-F238E27FC236}">
                <a16:creationId xmlns:a16="http://schemas.microsoft.com/office/drawing/2014/main" id="{BF1C51B3-5DF1-6DC3-4776-780AE121AF4A}"/>
              </a:ext>
            </a:extLst>
          </p:cNvPr>
          <p:cNvGrpSpPr/>
          <p:nvPr/>
        </p:nvGrpSpPr>
        <p:grpSpPr>
          <a:xfrm>
            <a:off x="5859375" y="3012040"/>
            <a:ext cx="1189432" cy="1185287"/>
            <a:chOff x="1026610" y="2911197"/>
            <a:chExt cx="395893" cy="395893"/>
          </a:xfrm>
        </p:grpSpPr>
        <p:sp>
          <p:nvSpPr>
            <p:cNvPr id="262" name="타원 261">
              <a:extLst>
                <a:ext uri="{FF2B5EF4-FFF2-40B4-BE49-F238E27FC236}">
                  <a16:creationId xmlns:a16="http://schemas.microsoft.com/office/drawing/2014/main" id="{A2AC8123-7B08-6124-B08D-076C7B49C963}"/>
                </a:ext>
              </a:extLst>
            </p:cNvPr>
            <p:cNvSpPr/>
            <p:nvPr/>
          </p:nvSpPr>
          <p:spPr>
            <a:xfrm>
              <a:off x="1026610" y="2911197"/>
              <a:ext cx="395893" cy="395893"/>
            </a:xfrm>
            <a:prstGeom prst="ellipse">
              <a:avLst/>
            </a:prstGeom>
            <a:solidFill>
              <a:schemeClr val="bg1"/>
            </a:solidFill>
            <a:ln w="31750">
              <a:gradFill>
                <a:gsLst>
                  <a:gs pos="50000">
                    <a:srgbClr val="C1ECF5"/>
                  </a:gs>
                  <a:gs pos="50000">
                    <a:srgbClr val="007BC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0"/>
              <a:endParaRPr lang="ko-KR" altLang="en-US" sz="1100" dirty="0">
                <a:solidFill>
                  <a:schemeClr val="lt1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endParaRPr>
            </a:p>
          </p:txBody>
        </p:sp>
        <p:sp>
          <p:nvSpPr>
            <p:cNvPr id="263" name="Text Box 432">
              <a:extLst>
                <a:ext uri="{FF2B5EF4-FFF2-40B4-BE49-F238E27FC236}">
                  <a16:creationId xmlns:a16="http://schemas.microsoft.com/office/drawing/2014/main" id="{8D72B1B4-B26F-ADE4-6794-06306C8F5C6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8178" y="3015767"/>
              <a:ext cx="272749" cy="1867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0" tIns="0" rIns="0" bIns="0" anchor="ctr">
              <a:spAutoFit/>
            </a:bodyPr>
            <a:lstStyle>
              <a:defPPr>
                <a:defRPr lang="ko-KR"/>
              </a:defPPr>
              <a:lvl1pPr marL="0" algn="ctr" defTabSz="914400" eaLnBrk="1" latinLnBrk="0" hangingPunct="1">
                <a:lnSpc>
                  <a:spcPct val="90000"/>
                </a:lnSpc>
                <a:buClr>
                  <a:srgbClr val="CC0000"/>
                </a:buClr>
                <a:buSzPct val="70000"/>
                <a:defRPr sz="1050" spc="-80"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10800000" scaled="1"/>
                  </a:gradFill>
                  <a:latin typeface="Rix고딕 B" pitchFamily="18" charset="-127"/>
                  <a:ea typeface="Rix고딕 B" pitchFamily="18" charset="-127"/>
                </a:defRPr>
              </a:lvl1pPr>
              <a:lvl2pPr marL="457200" defTabSz="914400" eaLnBrk="1" hangingPunct="1">
                <a:defRPr sz="1800">
                  <a:latin typeface="+mn-lt"/>
                  <a:ea typeface="+mn-ea"/>
                </a:defRPr>
              </a:lvl2pPr>
              <a:lvl3pPr marL="914400" defTabSz="914400" eaLnBrk="1" hangingPunct="1">
                <a:defRPr sz="1800">
                  <a:latin typeface="+mn-lt"/>
                  <a:ea typeface="+mn-ea"/>
                </a:defRPr>
              </a:lvl3pPr>
              <a:lvl4pPr marL="1371600" defTabSz="914400" eaLnBrk="1" hangingPunct="1">
                <a:defRPr sz="1800">
                  <a:latin typeface="+mn-lt"/>
                  <a:ea typeface="+mn-ea"/>
                </a:defRPr>
              </a:lvl4pPr>
              <a:lvl5pPr marL="1828800" defTabSz="914400" eaLnBrk="1" hangingPunct="1">
                <a:defRPr sz="1800">
                  <a:latin typeface="+mn-lt"/>
                  <a:ea typeface="+mn-ea"/>
                </a:defRPr>
              </a:lvl5pPr>
              <a:lvl6pPr marL="2286000" defTabSz="914400">
                <a:defRPr sz="1800">
                  <a:latin typeface="+mn-lt"/>
                  <a:ea typeface="+mn-ea"/>
                </a:defRPr>
              </a:lvl6pPr>
              <a:lvl7pPr marL="2743200" defTabSz="914400">
                <a:defRPr sz="1800">
                  <a:latin typeface="+mn-lt"/>
                  <a:ea typeface="+mn-ea"/>
                </a:defRPr>
              </a:lvl7pPr>
              <a:lvl8pPr marL="3200400" defTabSz="914400">
                <a:defRPr sz="1800">
                  <a:latin typeface="+mn-lt"/>
                  <a:ea typeface="+mn-ea"/>
                </a:defRPr>
              </a:lvl8pPr>
              <a:lvl9pPr marL="3657600" defTabSz="914400">
                <a:defRPr sz="1800">
                  <a:latin typeface="+mn-lt"/>
                  <a:ea typeface="+mn-ea"/>
                </a:defRPr>
              </a:lvl9pPr>
            </a:lstStyle>
            <a:p>
              <a:pPr defTabSz="1500188" fontAlgn="base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>
                  <a:srgbClr val="808080"/>
                </a:buClr>
                <a:buSzPct val="100000"/>
                <a:defRPr/>
              </a:pPr>
              <a:r>
                <a:rPr lang="ko-KR" altLang="en-US" sz="1100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업무 및 서비스 </a:t>
              </a:r>
              <a:endParaRPr lang="en-US" altLang="ko-KR" sz="1100" b="1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defTabSz="1500188" fontAlgn="base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>
                  <a:srgbClr val="808080"/>
                </a:buClr>
                <a:buSzPct val="100000"/>
                <a:defRPr/>
              </a:pPr>
              <a:r>
                <a:rPr lang="ko-KR" altLang="en-US" sz="1100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안정화를 위한</a:t>
              </a:r>
              <a:endParaRPr lang="en-US" altLang="ko-KR" sz="1100" b="1" spc="-40" dirty="0">
                <a:gradFill>
                  <a:gsLst>
                    <a:gs pos="0">
                      <a:schemeClr val="tx1">
                        <a:lumMod val="85000"/>
                        <a:lumOff val="15000"/>
                      </a:schemeClr>
                    </a:gs>
                    <a:gs pos="100000">
                      <a:schemeClr val="tx1">
                        <a:lumMod val="85000"/>
                        <a:lumOff val="15000"/>
                      </a:schemeClr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defTabSz="1500188" fontAlgn="base">
                <a:lnSpc>
                  <a:spcPct val="100000"/>
                </a:lnSpc>
                <a:spcBef>
                  <a:spcPct val="0"/>
                </a:spcBef>
                <a:spcAft>
                  <a:spcPts val="200"/>
                </a:spcAft>
                <a:buClr>
                  <a:srgbClr val="808080"/>
                </a:buClr>
                <a:buSzPct val="100000"/>
                <a:defRPr/>
              </a:pPr>
              <a:r>
                <a:rPr lang="ko-KR" altLang="en-US" sz="1100" b="1" spc="-4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지원 활동 제시</a:t>
              </a:r>
            </a:p>
          </p:txBody>
        </p:sp>
      </p:grpSp>
      <p:sp>
        <p:nvSpPr>
          <p:cNvPr id="264" name="덧셈 기호 10">
            <a:extLst>
              <a:ext uri="{FF2B5EF4-FFF2-40B4-BE49-F238E27FC236}">
                <a16:creationId xmlns:a16="http://schemas.microsoft.com/office/drawing/2014/main" id="{60FD3EB5-B775-5E41-6951-295FD082BFCF}"/>
              </a:ext>
            </a:extLst>
          </p:cNvPr>
          <p:cNvSpPr/>
          <p:nvPr/>
        </p:nvSpPr>
        <p:spPr>
          <a:xfrm>
            <a:off x="2118833" y="3483437"/>
            <a:ext cx="255187" cy="255187"/>
          </a:xfrm>
          <a:prstGeom prst="mathPlus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265" name="덧셈 기호 10">
            <a:extLst>
              <a:ext uri="{FF2B5EF4-FFF2-40B4-BE49-F238E27FC236}">
                <a16:creationId xmlns:a16="http://schemas.microsoft.com/office/drawing/2014/main" id="{81181973-25D7-B6F1-F6BF-5A17407F4CA1}"/>
              </a:ext>
            </a:extLst>
          </p:cNvPr>
          <p:cNvSpPr/>
          <p:nvPr/>
        </p:nvSpPr>
        <p:spPr>
          <a:xfrm>
            <a:off x="3782816" y="3483437"/>
            <a:ext cx="255187" cy="255187"/>
          </a:xfrm>
          <a:prstGeom prst="mathPlus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266" name="덧셈 기호 10">
            <a:extLst>
              <a:ext uri="{FF2B5EF4-FFF2-40B4-BE49-F238E27FC236}">
                <a16:creationId xmlns:a16="http://schemas.microsoft.com/office/drawing/2014/main" id="{9F90442D-9A20-E57B-C3A2-FF0884B058B8}"/>
              </a:ext>
            </a:extLst>
          </p:cNvPr>
          <p:cNvSpPr/>
          <p:nvPr/>
        </p:nvSpPr>
        <p:spPr>
          <a:xfrm>
            <a:off x="5553295" y="3483437"/>
            <a:ext cx="255187" cy="255187"/>
          </a:xfrm>
          <a:prstGeom prst="mathPlus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815583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5EB94BF4-269D-4ADE-8025-A904DB6FAF1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D15C4-AF98-EFE3-EB7A-8C48293D6D4B}"/>
              </a:ext>
            </a:extLst>
          </p:cNvPr>
          <p:cNvSpPr txBox="1"/>
          <p:nvPr/>
        </p:nvSpPr>
        <p:spPr>
          <a:xfrm>
            <a:off x="934361" y="2524932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en-US" altLang="ko-KR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4</a:t>
            </a: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가지 분야에 대한 사업환경 분석으로 성공적인 사업 수행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8FA33E-FCA6-5565-BB5E-627D28B7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7" name="제목 1">
            <a:extLst>
              <a:ext uri="{FF2B5EF4-FFF2-40B4-BE49-F238E27FC236}">
                <a16:creationId xmlns:a16="http://schemas.microsoft.com/office/drawing/2014/main" id="{B200D8DB-75AB-DC3D-1B32-539CC26912B7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109" name="제목 1">
            <a:extLst>
              <a:ext uri="{FF2B5EF4-FFF2-40B4-BE49-F238E27FC236}">
                <a16:creationId xmlns:a16="http://schemas.microsoft.com/office/drawing/2014/main" id="{09EB6A0F-9F5F-B194-D668-4BBD59D29058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제안의 특성 및 장점 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(2/2)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05E9E2-5F4D-FC7A-0EB3-4189284DD7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80404" y="2043089"/>
            <a:ext cx="6589534" cy="11703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29D71198-78FE-575E-E3B2-31D8FFC134F8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4544" y="4854139"/>
            <a:ext cx="6249199" cy="336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7699C485-5CB0-E293-6755-C1279C85E710}"/>
              </a:ext>
            </a:extLst>
          </p:cNvPr>
          <p:cNvGrpSpPr/>
          <p:nvPr/>
        </p:nvGrpSpPr>
        <p:grpSpPr>
          <a:xfrm>
            <a:off x="1355896" y="2993969"/>
            <a:ext cx="5060634" cy="1413486"/>
            <a:chOff x="1437069" y="3356797"/>
            <a:chExt cx="4820595" cy="1346441"/>
          </a:xfrm>
        </p:grpSpPr>
        <p:grpSp>
          <p:nvGrpSpPr>
            <p:cNvPr id="6" name="그룹 5">
              <a:extLst>
                <a:ext uri="{FF2B5EF4-FFF2-40B4-BE49-F238E27FC236}">
                  <a16:creationId xmlns:a16="http://schemas.microsoft.com/office/drawing/2014/main" id="{A2C178D7-EA43-77A4-1C4B-A039013B4F22}"/>
                </a:ext>
              </a:extLst>
            </p:cNvPr>
            <p:cNvGrpSpPr/>
            <p:nvPr/>
          </p:nvGrpSpPr>
          <p:grpSpPr>
            <a:xfrm>
              <a:off x="1437069" y="3467294"/>
              <a:ext cx="4724155" cy="1235944"/>
              <a:chOff x="8151228" y="4969380"/>
              <a:chExt cx="4724155" cy="1235944"/>
            </a:xfrm>
          </p:grpSpPr>
          <p:grpSp>
            <p:nvGrpSpPr>
              <p:cNvPr id="16" name="그룹 15">
                <a:extLst>
                  <a:ext uri="{FF2B5EF4-FFF2-40B4-BE49-F238E27FC236}">
                    <a16:creationId xmlns:a16="http://schemas.microsoft.com/office/drawing/2014/main" id="{6E6FF957-115C-8F79-0C9F-569EBC45E13C}"/>
                  </a:ext>
                </a:extLst>
              </p:cNvPr>
              <p:cNvGrpSpPr/>
              <p:nvPr/>
            </p:nvGrpSpPr>
            <p:grpSpPr>
              <a:xfrm>
                <a:off x="8151228" y="4969380"/>
                <a:ext cx="4724155" cy="1235944"/>
                <a:chOff x="1402028" y="4244122"/>
                <a:chExt cx="4724155" cy="1235944"/>
              </a:xfrm>
            </p:grpSpPr>
            <p:grpSp>
              <p:nvGrpSpPr>
                <p:cNvPr id="22" name="그룹 21">
                  <a:extLst>
                    <a:ext uri="{FF2B5EF4-FFF2-40B4-BE49-F238E27FC236}">
                      <a16:creationId xmlns:a16="http://schemas.microsoft.com/office/drawing/2014/main" id="{98DC52E4-8728-C8C7-3CB1-36B8B664AF07}"/>
                    </a:ext>
                  </a:extLst>
                </p:cNvPr>
                <p:cNvGrpSpPr/>
                <p:nvPr/>
              </p:nvGrpSpPr>
              <p:grpSpPr>
                <a:xfrm>
                  <a:off x="1402028" y="4244122"/>
                  <a:ext cx="1235946" cy="1235944"/>
                  <a:chOff x="738189" y="3034269"/>
                  <a:chExt cx="1235946" cy="1235944"/>
                </a:xfrm>
              </p:grpSpPr>
              <p:sp>
                <p:nvSpPr>
                  <p:cNvPr id="31" name="Rectangle 78">
                    <a:extLst>
                      <a:ext uri="{FF2B5EF4-FFF2-40B4-BE49-F238E27FC236}">
                        <a16:creationId xmlns:a16="http://schemas.microsoft.com/office/drawing/2014/main" id="{5BECFD65-9EFC-9C0B-1158-56AB355293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8189" y="3034269"/>
                    <a:ext cx="1235946" cy="1235944"/>
                  </a:xfrm>
                  <a:prstGeom prst="ellipse">
                    <a:avLst/>
                  </a:prstGeom>
                  <a:solidFill>
                    <a:srgbClr val="DBEEF9"/>
                  </a:soli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339725" indent="-339725" algn="ctr" defTabSz="1042988" eaLnBrk="0" latinLnBrk="0" hangingPunct="0">
                      <a:spcBef>
                        <a:spcPts val="300"/>
                      </a:spcBef>
                      <a:buClr>
                        <a:srgbClr val="292929"/>
                      </a:buClr>
                      <a:buSzPct val="100000"/>
                      <a:tabLst>
                        <a:tab pos="5648325" algn="l"/>
                      </a:tabLst>
                      <a:defRPr/>
                    </a:pPr>
                    <a:endParaRPr kumimoji="0" lang="en-US" altLang="ko-KR" sz="1000" dirty="0">
                      <a:gradFill>
                        <a:gsLst>
                          <a:gs pos="50000">
                            <a:schemeClr val="tx1"/>
                          </a:gs>
                          <a:gs pos="100000">
                            <a:schemeClr val="tx1"/>
                          </a:gs>
                        </a:gsLst>
                        <a:lin ang="15000000" scaled="0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endParaRPr>
                  </a:p>
                </p:txBody>
              </p:sp>
              <p:sp>
                <p:nvSpPr>
                  <p:cNvPr id="32" name="Rectangle 78">
                    <a:extLst>
                      <a:ext uri="{FF2B5EF4-FFF2-40B4-BE49-F238E27FC236}">
                        <a16:creationId xmlns:a16="http://schemas.microsoft.com/office/drawing/2014/main" id="{F1DE8579-17AE-1EFF-0FCC-4E92252305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9968" y="3096048"/>
                    <a:ext cx="1112384" cy="1112383"/>
                  </a:xfrm>
                  <a:prstGeom prst="ellipse">
                    <a:avLst/>
                  </a:prstGeom>
                  <a:gradFill flip="none" rotWithShape="1">
                    <a:gsLst>
                      <a:gs pos="49000">
                        <a:srgbClr val="0070C0"/>
                      </a:gs>
                      <a:gs pos="50000">
                        <a:srgbClr val="4F9CD4"/>
                      </a:gs>
                    </a:gsLst>
                    <a:lin ang="15000000" scaled="0"/>
                    <a:tileRect/>
                  </a:gradFill>
                  <a:ln w="9525">
                    <a:solidFill>
                      <a:srgbClr val="0070C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339725" indent="-339725" algn="ctr" defTabSz="1042988" eaLnBrk="0" latinLnBrk="0" hangingPunct="0">
                      <a:spcBef>
                        <a:spcPts val="300"/>
                      </a:spcBef>
                      <a:buClr>
                        <a:srgbClr val="292929"/>
                      </a:buClr>
                      <a:buSzPct val="100000"/>
                      <a:tabLst>
                        <a:tab pos="5648325" algn="l"/>
                      </a:tabLst>
                    </a:pPr>
                    <a:endParaRPr kumimoji="0" lang="en-US" altLang="ko-KR" sz="1000" dirty="0">
                      <a:gradFill>
                        <a:gsLst>
                          <a:gs pos="50000">
                            <a:schemeClr val="tx1"/>
                          </a:gs>
                          <a:gs pos="100000">
                            <a:schemeClr val="tx1"/>
                          </a:gs>
                        </a:gsLst>
                        <a:lin ang="15000000" scaled="0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endParaRPr>
                  </a:p>
                </p:txBody>
              </p:sp>
              <p:sp>
                <p:nvSpPr>
                  <p:cNvPr id="33" name="Rectangle 78">
                    <a:extLst>
                      <a:ext uri="{FF2B5EF4-FFF2-40B4-BE49-F238E27FC236}">
                        <a16:creationId xmlns:a16="http://schemas.microsoft.com/office/drawing/2014/main" id="{1F026CBE-E5F2-8DF6-3329-2E66A114672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5537" y="3182317"/>
                    <a:ext cx="941250" cy="93984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 anchor="ctr"/>
                  <a:lstStyle/>
                  <a:p>
                    <a:pPr algn="ctr" defTabSz="1042988" eaLnBrk="0" latinLnBrk="0" hangingPunct="0">
                      <a:buClr>
                        <a:srgbClr val="3271AA"/>
                      </a:buClr>
                      <a:buSzPct val="140000"/>
                      <a:tabLst>
                        <a:tab pos="5648325" algn="l"/>
                      </a:tabLst>
                      <a:defRPr/>
                    </a:pPr>
                    <a:endParaRPr lang="ko-KR" altLang="en-US" b="1" dirty="0"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endParaRPr>
                  </a:p>
                </p:txBody>
              </p:sp>
            </p:grpSp>
            <p:grpSp>
              <p:nvGrpSpPr>
                <p:cNvPr id="23" name="그룹 22">
                  <a:extLst>
                    <a:ext uri="{FF2B5EF4-FFF2-40B4-BE49-F238E27FC236}">
                      <a16:creationId xmlns:a16="http://schemas.microsoft.com/office/drawing/2014/main" id="{4B2A8708-0F13-A44D-2760-E6F85EFE9CBB}"/>
                    </a:ext>
                  </a:extLst>
                </p:cNvPr>
                <p:cNvGrpSpPr/>
                <p:nvPr/>
              </p:nvGrpSpPr>
              <p:grpSpPr>
                <a:xfrm>
                  <a:off x="3146133" y="4244122"/>
                  <a:ext cx="1235946" cy="1235944"/>
                  <a:chOff x="738189" y="3034269"/>
                  <a:chExt cx="1235946" cy="1235944"/>
                </a:xfrm>
              </p:grpSpPr>
              <p:sp>
                <p:nvSpPr>
                  <p:cNvPr id="28" name="Rectangle 78">
                    <a:extLst>
                      <a:ext uri="{FF2B5EF4-FFF2-40B4-BE49-F238E27FC236}">
                        <a16:creationId xmlns:a16="http://schemas.microsoft.com/office/drawing/2014/main" id="{8EACE473-76F1-EE6A-EFF6-D261F32A806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8189" y="3034269"/>
                    <a:ext cx="1235946" cy="1235944"/>
                  </a:xfrm>
                  <a:prstGeom prst="ellipse">
                    <a:avLst/>
                  </a:prstGeom>
                  <a:solidFill>
                    <a:srgbClr val="DBEEF9"/>
                  </a:soli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339725" indent="-339725" algn="ctr" defTabSz="1042988" eaLnBrk="0" latinLnBrk="0" hangingPunct="0">
                      <a:spcBef>
                        <a:spcPts val="300"/>
                      </a:spcBef>
                      <a:buClr>
                        <a:srgbClr val="292929"/>
                      </a:buClr>
                      <a:buSzPct val="100000"/>
                      <a:tabLst>
                        <a:tab pos="5648325" algn="l"/>
                      </a:tabLst>
                      <a:defRPr/>
                    </a:pPr>
                    <a:endParaRPr kumimoji="0" lang="en-US" altLang="ko-KR" sz="1000" dirty="0">
                      <a:gradFill>
                        <a:gsLst>
                          <a:gs pos="50000">
                            <a:schemeClr val="tx1"/>
                          </a:gs>
                          <a:gs pos="100000">
                            <a:schemeClr val="tx1"/>
                          </a:gs>
                        </a:gsLst>
                        <a:lin ang="15000000" scaled="0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endParaRPr>
                  </a:p>
                </p:txBody>
              </p:sp>
              <p:sp>
                <p:nvSpPr>
                  <p:cNvPr id="29" name="Rectangle 78">
                    <a:extLst>
                      <a:ext uri="{FF2B5EF4-FFF2-40B4-BE49-F238E27FC236}">
                        <a16:creationId xmlns:a16="http://schemas.microsoft.com/office/drawing/2014/main" id="{6DFDDD48-F235-5EA9-11DA-409E78AB28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9968" y="3096048"/>
                    <a:ext cx="1112384" cy="1112383"/>
                  </a:xfrm>
                  <a:prstGeom prst="ellipse">
                    <a:avLst/>
                  </a:prstGeom>
                  <a:gradFill flip="none" rotWithShape="1">
                    <a:gsLst>
                      <a:gs pos="49000">
                        <a:srgbClr val="0070C0"/>
                      </a:gs>
                      <a:gs pos="50000">
                        <a:srgbClr val="4F9CD4"/>
                      </a:gs>
                    </a:gsLst>
                    <a:lin ang="15000000" scaled="0"/>
                    <a:tileRect/>
                  </a:gradFill>
                  <a:ln w="9525">
                    <a:solidFill>
                      <a:srgbClr val="0070C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339725" indent="-339725" algn="ctr" defTabSz="1042988" eaLnBrk="0" latinLnBrk="0" hangingPunct="0">
                      <a:spcBef>
                        <a:spcPts val="300"/>
                      </a:spcBef>
                      <a:buClr>
                        <a:srgbClr val="292929"/>
                      </a:buClr>
                      <a:buSzPct val="100000"/>
                      <a:tabLst>
                        <a:tab pos="5648325" algn="l"/>
                      </a:tabLst>
                    </a:pPr>
                    <a:endParaRPr kumimoji="0" lang="en-US" altLang="ko-KR" sz="1000" dirty="0">
                      <a:gradFill>
                        <a:gsLst>
                          <a:gs pos="50000">
                            <a:schemeClr val="tx1"/>
                          </a:gs>
                          <a:gs pos="100000">
                            <a:schemeClr val="tx1"/>
                          </a:gs>
                        </a:gsLst>
                        <a:lin ang="15000000" scaled="0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endParaRPr>
                  </a:p>
                </p:txBody>
              </p:sp>
              <p:sp>
                <p:nvSpPr>
                  <p:cNvPr id="30" name="Rectangle 78">
                    <a:extLst>
                      <a:ext uri="{FF2B5EF4-FFF2-40B4-BE49-F238E27FC236}">
                        <a16:creationId xmlns:a16="http://schemas.microsoft.com/office/drawing/2014/main" id="{3245FB99-77AB-1BF5-365C-920CB949D39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5537" y="3182317"/>
                    <a:ext cx="941250" cy="93984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 anchor="ctr"/>
                  <a:lstStyle/>
                  <a:p>
                    <a:pPr algn="ctr" defTabSz="1042988" eaLnBrk="0" latinLnBrk="0" hangingPunct="0">
                      <a:buClr>
                        <a:srgbClr val="3271AA"/>
                      </a:buClr>
                      <a:buSzPct val="140000"/>
                      <a:tabLst>
                        <a:tab pos="5648325" algn="l"/>
                      </a:tabLst>
                      <a:defRPr/>
                    </a:pPr>
                    <a:endParaRPr lang="ko-KR" altLang="en-US" b="1" dirty="0"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endParaRPr>
                  </a:p>
                </p:txBody>
              </p:sp>
            </p:grpSp>
            <p:grpSp>
              <p:nvGrpSpPr>
                <p:cNvPr id="24" name="그룹 23">
                  <a:extLst>
                    <a:ext uri="{FF2B5EF4-FFF2-40B4-BE49-F238E27FC236}">
                      <a16:creationId xmlns:a16="http://schemas.microsoft.com/office/drawing/2014/main" id="{48B16DB4-A4BC-9F18-03E3-1155C30F198D}"/>
                    </a:ext>
                  </a:extLst>
                </p:cNvPr>
                <p:cNvGrpSpPr/>
                <p:nvPr/>
              </p:nvGrpSpPr>
              <p:grpSpPr>
                <a:xfrm>
                  <a:off x="4890237" y="4244122"/>
                  <a:ext cx="1235946" cy="1235944"/>
                  <a:chOff x="738189" y="3034269"/>
                  <a:chExt cx="1235946" cy="1235944"/>
                </a:xfrm>
              </p:grpSpPr>
              <p:sp>
                <p:nvSpPr>
                  <p:cNvPr id="25" name="Rectangle 78">
                    <a:extLst>
                      <a:ext uri="{FF2B5EF4-FFF2-40B4-BE49-F238E27FC236}">
                        <a16:creationId xmlns:a16="http://schemas.microsoft.com/office/drawing/2014/main" id="{59D77702-60E9-7CDC-5B0E-0E536E9194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38189" y="3034269"/>
                    <a:ext cx="1235946" cy="1235944"/>
                  </a:xfrm>
                  <a:prstGeom prst="ellipse">
                    <a:avLst/>
                  </a:prstGeom>
                  <a:solidFill>
                    <a:srgbClr val="DBEEF9"/>
                  </a:solidFill>
                  <a:ln w="9525">
                    <a:noFill/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339725" indent="-339725" algn="ctr" defTabSz="1042988" eaLnBrk="0" latinLnBrk="0" hangingPunct="0">
                      <a:spcBef>
                        <a:spcPts val="300"/>
                      </a:spcBef>
                      <a:buClr>
                        <a:srgbClr val="292929"/>
                      </a:buClr>
                      <a:buSzPct val="100000"/>
                      <a:tabLst>
                        <a:tab pos="5648325" algn="l"/>
                      </a:tabLst>
                      <a:defRPr/>
                    </a:pPr>
                    <a:endParaRPr kumimoji="0" lang="en-US" altLang="ko-KR" sz="1000" dirty="0">
                      <a:gradFill>
                        <a:gsLst>
                          <a:gs pos="50000">
                            <a:schemeClr val="tx1"/>
                          </a:gs>
                          <a:gs pos="100000">
                            <a:schemeClr val="tx1"/>
                          </a:gs>
                        </a:gsLst>
                        <a:lin ang="15000000" scaled="0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endParaRPr>
                  </a:p>
                </p:txBody>
              </p:sp>
              <p:sp>
                <p:nvSpPr>
                  <p:cNvPr id="26" name="Rectangle 78">
                    <a:extLst>
                      <a:ext uri="{FF2B5EF4-FFF2-40B4-BE49-F238E27FC236}">
                        <a16:creationId xmlns:a16="http://schemas.microsoft.com/office/drawing/2014/main" id="{82051452-03C2-EE1C-FD0B-5713BA3C130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799968" y="3096048"/>
                    <a:ext cx="1112384" cy="1112383"/>
                  </a:xfrm>
                  <a:prstGeom prst="ellipse">
                    <a:avLst/>
                  </a:prstGeom>
                  <a:gradFill flip="none" rotWithShape="1">
                    <a:gsLst>
                      <a:gs pos="49000">
                        <a:srgbClr val="0070C0"/>
                      </a:gs>
                      <a:gs pos="50000">
                        <a:srgbClr val="4F9CD4"/>
                      </a:gs>
                    </a:gsLst>
                    <a:lin ang="15000000" scaled="0"/>
                    <a:tileRect/>
                  </a:gradFill>
                  <a:ln w="9525">
                    <a:solidFill>
                      <a:srgbClr val="0070C0"/>
                    </a:solidFill>
                    <a:round/>
                    <a:headEnd/>
                    <a:tailEnd/>
                  </a:ln>
                  <a:effectLst/>
                </p:spPr>
                <p:txBody>
                  <a:bodyPr wrap="none" anchor="ctr"/>
                  <a:lstStyle/>
                  <a:p>
                    <a:pPr marL="339725" indent="-339725" algn="ctr" defTabSz="1042988" eaLnBrk="0" latinLnBrk="0" hangingPunct="0">
                      <a:spcBef>
                        <a:spcPts val="300"/>
                      </a:spcBef>
                      <a:buClr>
                        <a:srgbClr val="292929"/>
                      </a:buClr>
                      <a:buSzPct val="100000"/>
                      <a:tabLst>
                        <a:tab pos="5648325" algn="l"/>
                      </a:tabLst>
                    </a:pPr>
                    <a:endParaRPr kumimoji="0" lang="en-US" altLang="ko-KR" sz="1000" dirty="0">
                      <a:gradFill>
                        <a:gsLst>
                          <a:gs pos="50000">
                            <a:schemeClr val="tx1"/>
                          </a:gs>
                          <a:gs pos="100000">
                            <a:schemeClr val="tx1"/>
                          </a:gs>
                        </a:gsLst>
                        <a:lin ang="15000000" scaled="0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endParaRPr>
                  </a:p>
                </p:txBody>
              </p:sp>
              <p:sp>
                <p:nvSpPr>
                  <p:cNvPr id="27" name="Rectangle 78">
                    <a:extLst>
                      <a:ext uri="{FF2B5EF4-FFF2-40B4-BE49-F238E27FC236}">
                        <a16:creationId xmlns:a16="http://schemas.microsoft.com/office/drawing/2014/main" id="{B6578084-2D92-1D05-7B57-6F3E723D0AE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885537" y="3182317"/>
                    <a:ext cx="941250" cy="939847"/>
                  </a:xfrm>
                  <a:prstGeom prst="ellipse">
                    <a:avLst/>
                  </a:prstGeom>
                  <a:solidFill>
                    <a:schemeClr val="bg1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wrap="none" lIns="0" tIns="0" rIns="0" bIns="0" anchor="ctr"/>
                  <a:lstStyle/>
                  <a:p>
                    <a:pPr algn="ctr" defTabSz="1042988" eaLnBrk="0" latinLnBrk="0" hangingPunct="0">
                      <a:buClr>
                        <a:srgbClr val="3271AA"/>
                      </a:buClr>
                      <a:buSzPct val="140000"/>
                      <a:tabLst>
                        <a:tab pos="5648325" algn="l"/>
                      </a:tabLst>
                      <a:defRPr/>
                    </a:pPr>
                    <a:endParaRPr lang="ko-KR" altLang="en-US" b="1" dirty="0"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endParaRPr>
                  </a:p>
                </p:txBody>
              </p:sp>
            </p:grpSp>
          </p:grpSp>
          <p:grpSp>
            <p:nvGrpSpPr>
              <p:cNvPr id="17" name="그룹 16">
                <a:extLst>
                  <a:ext uri="{FF2B5EF4-FFF2-40B4-BE49-F238E27FC236}">
                    <a16:creationId xmlns:a16="http://schemas.microsoft.com/office/drawing/2014/main" id="{4222FA8F-5DBE-25E1-2162-22E4D8AA5583}"/>
                  </a:ext>
                </a:extLst>
              </p:cNvPr>
              <p:cNvGrpSpPr/>
              <p:nvPr/>
            </p:nvGrpSpPr>
            <p:grpSpPr>
              <a:xfrm>
                <a:off x="9481567" y="5534232"/>
                <a:ext cx="2095610" cy="129322"/>
                <a:chOff x="2748893" y="4583930"/>
                <a:chExt cx="2095610" cy="129322"/>
              </a:xfrm>
            </p:grpSpPr>
            <p:cxnSp>
              <p:nvCxnSpPr>
                <p:cNvPr id="18" name="직선 연결선 17">
                  <a:extLst>
                    <a:ext uri="{FF2B5EF4-FFF2-40B4-BE49-F238E27FC236}">
                      <a16:creationId xmlns:a16="http://schemas.microsoft.com/office/drawing/2014/main" id="{22917615-CD25-5C6F-0FBF-4DD566B2DD07}"/>
                    </a:ext>
                  </a:extLst>
                </p:cNvPr>
                <p:cNvCxnSpPr/>
                <p:nvPr/>
              </p:nvCxnSpPr>
              <p:spPr>
                <a:xfrm>
                  <a:off x="4480803" y="4659004"/>
                  <a:ext cx="363700" cy="0"/>
                </a:xfrm>
                <a:prstGeom prst="line">
                  <a:avLst/>
                </a:prstGeom>
                <a:ln w="22225" cap="rnd">
                  <a:solidFill>
                    <a:schemeClr val="bg1">
                      <a:lumMod val="75000"/>
                    </a:schemeClr>
                  </a:solidFill>
                  <a:prstDash val="sysDot"/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직선 연결선 18">
                  <a:extLst>
                    <a:ext uri="{FF2B5EF4-FFF2-40B4-BE49-F238E27FC236}">
                      <a16:creationId xmlns:a16="http://schemas.microsoft.com/office/drawing/2014/main" id="{3B9508CB-A8E7-E055-5633-8E037931DB88}"/>
                    </a:ext>
                  </a:extLst>
                </p:cNvPr>
                <p:cNvCxnSpPr/>
                <p:nvPr/>
              </p:nvCxnSpPr>
              <p:spPr>
                <a:xfrm>
                  <a:off x="2748893" y="4659004"/>
                  <a:ext cx="363700" cy="0"/>
                </a:xfrm>
                <a:prstGeom prst="line">
                  <a:avLst/>
                </a:prstGeom>
                <a:ln w="22225" cap="rnd">
                  <a:solidFill>
                    <a:schemeClr val="bg1">
                      <a:lumMod val="75000"/>
                    </a:schemeClr>
                  </a:solidFill>
                  <a:prstDash val="sysDot"/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0" name="타원 19">
                  <a:extLst>
                    <a:ext uri="{FF2B5EF4-FFF2-40B4-BE49-F238E27FC236}">
                      <a16:creationId xmlns:a16="http://schemas.microsoft.com/office/drawing/2014/main" id="{94722059-4BD8-9A55-C609-9DBE3AAAB348}"/>
                    </a:ext>
                  </a:extLst>
                </p:cNvPr>
                <p:cNvSpPr/>
                <p:nvPr/>
              </p:nvSpPr>
              <p:spPr>
                <a:xfrm>
                  <a:off x="2856104" y="4583930"/>
                  <a:ext cx="129322" cy="12932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4F9CD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  <p:sp>
              <p:nvSpPr>
                <p:cNvPr id="21" name="타원 20">
                  <a:extLst>
                    <a:ext uri="{FF2B5EF4-FFF2-40B4-BE49-F238E27FC236}">
                      <a16:creationId xmlns:a16="http://schemas.microsoft.com/office/drawing/2014/main" id="{6DEDD358-5B93-1330-EDE0-FBFBCD383AEA}"/>
                    </a:ext>
                  </a:extLst>
                </p:cNvPr>
                <p:cNvSpPr/>
                <p:nvPr/>
              </p:nvSpPr>
              <p:spPr>
                <a:xfrm>
                  <a:off x="4597992" y="4583930"/>
                  <a:ext cx="129322" cy="129322"/>
                </a:xfrm>
                <a:prstGeom prst="ellipse">
                  <a:avLst/>
                </a:prstGeom>
                <a:solidFill>
                  <a:schemeClr val="bg1"/>
                </a:solidFill>
                <a:ln w="28575">
                  <a:solidFill>
                    <a:srgbClr val="4F9CD4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>
                    <a:latin typeface="KoPub돋움체 Bold" panose="02020603020101020101" pitchFamily="18" charset="-127"/>
                    <a:ea typeface="KoPub돋움체 Bold" panose="02020603020101020101" pitchFamily="18" charset="-127"/>
                  </a:endParaRPr>
                </a:p>
              </p:txBody>
            </p:sp>
          </p:grpSp>
        </p:grpSp>
        <p:sp>
          <p:nvSpPr>
            <p:cNvPr id="10" name="TextBox 184">
              <a:extLst>
                <a:ext uri="{FF2B5EF4-FFF2-40B4-BE49-F238E27FC236}">
                  <a16:creationId xmlns:a16="http://schemas.microsoft.com/office/drawing/2014/main" id="{E46660AF-63B6-25F7-9152-9BA6186427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64662" y="3903502"/>
              <a:ext cx="1160066" cy="5096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lvl="1" indent="-159620" algn="ctr" defTabSz="1000188" latinLnBrk="0">
                <a:lnSpc>
                  <a:spcPct val="90000"/>
                </a:lnSpc>
                <a:buClr>
                  <a:prstClr val="black">
                    <a:lumMod val="65000"/>
                    <a:lumOff val="35000"/>
                  </a:prstClr>
                </a:buClr>
                <a:buSzPct val="100000"/>
                <a:tabLst>
                  <a:tab pos="2374697" algn="l"/>
                  <a:tab pos="4981823" algn="l"/>
                </a:tabLst>
                <a:defRPr/>
              </a:pPr>
              <a:r>
                <a:rPr lang="ko-KR" altLang="en-US" sz="1100" kern="0" spc="-6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</a:rPr>
                <a:t>유사 사업경험에</a:t>
              </a:r>
              <a:br>
                <a:rPr lang="en-US" altLang="ko-KR" sz="1100" kern="0" spc="-6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</a:rPr>
              </a:br>
              <a:r>
                <a:rPr lang="ko-KR" altLang="en-US" sz="1100" kern="0" spc="-6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</a:rPr>
                <a:t> 기반한 철저한 사업제안 </a:t>
              </a:r>
              <a:endPara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  <a:sym typeface="KoPub돋움체 Medium" pitchFamily="2" charset="2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30E6B19-B068-E455-5E75-FE563F98CB57}"/>
                </a:ext>
              </a:extLst>
            </p:cNvPr>
            <p:cNvSpPr/>
            <p:nvPr/>
          </p:nvSpPr>
          <p:spPr>
            <a:xfrm>
              <a:off x="1668788" y="3883771"/>
              <a:ext cx="797334" cy="43088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ko-KR" altLang="en-US" sz="1100" kern="0" spc="-6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</a:rPr>
                <a:t>본 사업의 </a:t>
              </a:r>
              <a:endParaRPr lang="en-US" altLang="ko-KR" sz="1100" kern="0" spc="-6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  <a:p>
              <a:pPr algn="ctr"/>
              <a:r>
                <a:rPr lang="ko-KR" altLang="en-US" sz="1100" kern="0" spc="-6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</a:rPr>
                <a:t>완벽한 이해</a:t>
              </a:r>
            </a:p>
          </p:txBody>
        </p:sp>
        <p:sp>
          <p:nvSpPr>
            <p:cNvPr id="12" name="TextBox 184">
              <a:extLst>
                <a:ext uri="{FF2B5EF4-FFF2-40B4-BE49-F238E27FC236}">
                  <a16:creationId xmlns:a16="http://schemas.microsoft.com/office/drawing/2014/main" id="{1355D379-383A-A1E0-030C-FDB3F1DCF52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3306" y="3884560"/>
              <a:ext cx="1160066" cy="4663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lvl="1" indent="-159620" algn="ctr" defTabSz="1000188" latinLnBrk="0">
                <a:lnSpc>
                  <a:spcPct val="90000"/>
                </a:lnSpc>
                <a:buClr>
                  <a:prstClr val="black">
                    <a:lumMod val="65000"/>
                    <a:lumOff val="35000"/>
                  </a:prstClr>
                </a:buClr>
                <a:buSzPct val="100000"/>
                <a:tabLst>
                  <a:tab pos="2374697" algn="l"/>
                  <a:tab pos="4981823" algn="l"/>
                </a:tabLst>
                <a:defRPr/>
              </a:pPr>
              <a:r>
                <a:rPr lang="ko-KR" altLang="en-US" sz="1100" kern="0" spc="-6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</a:rPr>
                <a:t>제안사의</a:t>
              </a:r>
              <a:endParaRPr lang="en-US" altLang="ko-KR" sz="1100" kern="0" spc="-6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endParaRPr>
            </a:p>
            <a:p>
              <a:pPr marL="0" lvl="1" indent="-159620" algn="ctr" defTabSz="1000188" latinLnBrk="0">
                <a:lnSpc>
                  <a:spcPct val="90000"/>
                </a:lnSpc>
                <a:buClr>
                  <a:prstClr val="black">
                    <a:lumMod val="65000"/>
                    <a:lumOff val="35000"/>
                  </a:prstClr>
                </a:buClr>
                <a:buSzPct val="100000"/>
                <a:tabLst>
                  <a:tab pos="2374697" algn="l"/>
                  <a:tab pos="4981823" algn="l"/>
                </a:tabLst>
                <a:defRPr/>
              </a:pPr>
              <a:r>
                <a:rPr lang="ko-KR" altLang="en-US" sz="1100" kern="0" spc="-6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 pitchFamily="2" charset="2"/>
                </a:rPr>
                <a:t>전문역량</a:t>
              </a:r>
              <a:endParaRPr lang="en-US" altLang="ko-KR" sz="1100" kern="0" spc="-6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  <a:sym typeface="KoPub돋움체 Medium" pitchFamily="2" charset="2"/>
              </a:endParaRPr>
            </a:p>
            <a:p>
              <a:pPr marL="0" lvl="1" indent="-159620" algn="ctr" defTabSz="1000188" latinLnBrk="0">
                <a:lnSpc>
                  <a:spcPct val="90000"/>
                </a:lnSpc>
                <a:buClr>
                  <a:prstClr val="black">
                    <a:lumMod val="65000"/>
                    <a:lumOff val="35000"/>
                  </a:prstClr>
                </a:buClr>
                <a:buSzPct val="100000"/>
                <a:tabLst>
                  <a:tab pos="2374697" algn="l"/>
                  <a:tab pos="4981823" algn="l"/>
                </a:tabLst>
                <a:defRPr/>
              </a:pPr>
              <a:r>
                <a:rPr lang="ko-KR" altLang="en-US" sz="1100" kern="0" spc="-6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 pitchFamily="2" charset="2"/>
                </a:rPr>
                <a:t>총동원</a:t>
              </a:r>
              <a:endParaRPr lang="ko-KR" altLang="en-US" sz="1100" dirty="0">
                <a:solidFill>
                  <a:schemeClr val="tx1">
                    <a:lumMod val="65000"/>
                    <a:lumOff val="35000"/>
                  </a:schemeClr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  <a:sym typeface="KoPub돋움체 Medium" pitchFamily="2" charset="2"/>
              </a:endParaRPr>
            </a:p>
          </p:txBody>
        </p:sp>
        <p:sp>
          <p:nvSpPr>
            <p:cNvPr id="13" name="Rectangle 60">
              <a:extLst>
                <a:ext uri="{FF2B5EF4-FFF2-40B4-BE49-F238E27FC236}">
                  <a16:creationId xmlns:a16="http://schemas.microsoft.com/office/drawing/2014/main" id="{EE70E542-BC21-A423-3247-EA3AAC8E80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3856" y="3381995"/>
              <a:ext cx="353846" cy="353846"/>
            </a:xfrm>
            <a:prstGeom prst="wedgeEllipseCallout">
              <a:avLst>
                <a:gd name="adj1" fmla="val -41471"/>
                <a:gd name="adj2" fmla="val 62225"/>
              </a:avLst>
            </a:prstGeom>
            <a:solidFill>
              <a:srgbClr val="0070C0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 anchorCtr="0">
              <a:noAutofit/>
            </a:bodyPr>
            <a:lstStyle/>
            <a:p>
              <a:pPr marL="0" lvl="1" algn="ctr" defTabSz="1042988" eaLnBrk="0" fontAlgn="base" latinLnBrk="0" hangingPunct="0">
                <a:spcBef>
                  <a:spcPct val="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100000"/>
                <a:tabLst>
                  <a:tab pos="5648325" algn="l"/>
                </a:tabLst>
              </a:pPr>
              <a:r>
                <a:rPr kumimoji="1" lang="ko-KR" altLang="en-US" sz="1100" b="1" dirty="0">
                  <a:gradFill>
                    <a:gsLst>
                      <a:gs pos="12500">
                        <a:prstClr val="white"/>
                      </a:gs>
                      <a:gs pos="29661">
                        <a:prstClr val="white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sym typeface="KoPub돋움체 Medium"/>
                </a:rPr>
                <a:t>기본</a:t>
              </a:r>
            </a:p>
          </p:txBody>
        </p:sp>
        <p:sp>
          <p:nvSpPr>
            <p:cNvPr id="14" name="Rectangle 60">
              <a:extLst>
                <a:ext uri="{FF2B5EF4-FFF2-40B4-BE49-F238E27FC236}">
                  <a16:creationId xmlns:a16="http://schemas.microsoft.com/office/drawing/2014/main" id="{95B0EE8D-F4F0-364E-ACB6-CA1A64C78B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03818" y="3446078"/>
              <a:ext cx="353846" cy="353846"/>
            </a:xfrm>
            <a:prstGeom prst="wedgeEllipseCallout">
              <a:avLst>
                <a:gd name="adj1" fmla="val -41471"/>
                <a:gd name="adj2" fmla="val 62225"/>
              </a:avLst>
            </a:prstGeom>
            <a:solidFill>
              <a:srgbClr val="A6A6A6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 anchorCtr="0">
              <a:noAutofit/>
            </a:bodyPr>
            <a:lstStyle/>
            <a:p>
              <a:pPr marL="0" lvl="1" algn="ctr" defTabSz="1042988" eaLnBrk="0" fontAlgn="base" latinLnBrk="0" hangingPunct="0">
                <a:spcBef>
                  <a:spcPct val="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100000"/>
                <a:tabLst>
                  <a:tab pos="5648325" algn="l"/>
                </a:tabLst>
              </a:pPr>
              <a:r>
                <a:rPr kumimoji="1" lang="ko-KR" altLang="en-US" sz="1100" b="1" dirty="0">
                  <a:gradFill>
                    <a:gsLst>
                      <a:gs pos="12500">
                        <a:prstClr val="white"/>
                      </a:gs>
                      <a:gs pos="29661">
                        <a:prstClr val="white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sym typeface="KoPub돋움체 Medium"/>
                </a:rPr>
                <a:t>경험</a:t>
              </a:r>
            </a:p>
          </p:txBody>
        </p:sp>
        <p:sp>
          <p:nvSpPr>
            <p:cNvPr id="15" name="Rectangle 60">
              <a:extLst>
                <a:ext uri="{FF2B5EF4-FFF2-40B4-BE49-F238E27FC236}">
                  <a16:creationId xmlns:a16="http://schemas.microsoft.com/office/drawing/2014/main" id="{8CF56D46-2ADA-5143-7647-4BF0A1672E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7154" y="3356797"/>
              <a:ext cx="353846" cy="353846"/>
            </a:xfrm>
            <a:prstGeom prst="wedgeEllipseCallout">
              <a:avLst>
                <a:gd name="adj1" fmla="val -41471"/>
                <a:gd name="adj2" fmla="val 62225"/>
              </a:avLst>
            </a:prstGeom>
            <a:solidFill>
              <a:srgbClr val="063B7C"/>
            </a:solidFill>
            <a:ln w="6350">
              <a:solidFill>
                <a:schemeClr val="tx1">
                  <a:lumMod val="75000"/>
                  <a:lumOff val="25000"/>
                </a:schemeClr>
              </a:solidFill>
              <a:prstDash val="solid"/>
              <a:miter lim="800000"/>
              <a:headEnd/>
              <a:tailEnd/>
            </a:ln>
            <a:effectLst/>
          </p:spPr>
          <p:txBody>
            <a:bodyPr wrap="none" lIns="36000" tIns="36000" rIns="36000" bIns="36000" anchor="ctr" anchorCtr="0">
              <a:noAutofit/>
            </a:bodyPr>
            <a:lstStyle/>
            <a:p>
              <a:pPr marL="0" lvl="1" algn="ctr" defTabSz="1042988" eaLnBrk="0" fontAlgn="base" latinLnBrk="0" hangingPunct="0">
                <a:spcBef>
                  <a:spcPct val="0"/>
                </a:spcBef>
                <a:spcAft>
                  <a:spcPct val="0"/>
                </a:spcAft>
                <a:buClr>
                  <a:prstClr val="black">
                    <a:lumMod val="85000"/>
                    <a:lumOff val="15000"/>
                  </a:prstClr>
                </a:buClr>
                <a:buSzPct val="100000"/>
                <a:tabLst>
                  <a:tab pos="5648325" algn="l"/>
                </a:tabLst>
              </a:pPr>
              <a:r>
                <a:rPr kumimoji="1" lang="ko-KR" altLang="en-US" sz="1100" b="1" dirty="0">
                  <a:gradFill>
                    <a:gsLst>
                      <a:gs pos="12500">
                        <a:prstClr val="white"/>
                      </a:gs>
                      <a:gs pos="29661">
                        <a:prstClr val="white"/>
                      </a:gs>
                    </a:gsLst>
                    <a:lin ang="54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sym typeface="KoPub돋움체 Medium"/>
                </a:rPr>
                <a:t>역량</a:t>
              </a:r>
            </a:p>
          </p:txBody>
        </p:sp>
      </p:grp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A6DB38F1-230B-A4BC-7035-6B696385BA37}"/>
              </a:ext>
            </a:extLst>
          </p:cNvPr>
          <p:cNvSpPr/>
          <p:nvPr/>
        </p:nvSpPr>
        <p:spPr>
          <a:xfrm>
            <a:off x="786147" y="4421705"/>
            <a:ext cx="6206254" cy="364230"/>
          </a:xfrm>
          <a:prstGeom prst="rect">
            <a:avLst/>
          </a:prstGeom>
          <a:noFill/>
          <a:ln w="63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 anchorCtr="0">
            <a:spAutoFit/>
            <a:scene3d>
              <a:camera prst="orthographicFront"/>
              <a:lightRig rig="threePt" dir="t"/>
            </a:scene3d>
            <a:sp3d>
              <a:bevelT w="0" h="12700"/>
              <a:bevelB w="0" h="0"/>
            </a:sp3d>
          </a:bodyPr>
          <a:lstStyle/>
          <a:p>
            <a:pPr algn="ctr">
              <a:lnSpc>
                <a:spcPct val="120000"/>
              </a:lnSpc>
              <a:defRPr/>
            </a:pPr>
            <a:r>
              <a:rPr lang="en-US" altLang="ko-KR" sz="2000" spc="-100" dirty="0">
                <a:solidFill>
                  <a:srgbClr val="04376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| </a:t>
            </a:r>
            <a:r>
              <a:rPr lang="ko-KR" altLang="en-US" sz="2000" spc="-100" dirty="0">
                <a:solidFill>
                  <a:srgbClr val="04376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향후 </a:t>
            </a:r>
            <a:r>
              <a:rPr lang="en-US" altLang="ko-KR" sz="2000" spc="-100" dirty="0">
                <a:solidFill>
                  <a:srgbClr val="04376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10</a:t>
            </a:r>
            <a:r>
              <a:rPr lang="ko-KR" altLang="en-US" sz="2000" spc="-100" dirty="0">
                <a:solidFill>
                  <a:srgbClr val="04376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년을 바라보는 전산장비 및 정보체계</a:t>
            </a:r>
            <a:r>
              <a:rPr lang="en-US" altLang="ko-KR" sz="2000" spc="-100" dirty="0">
                <a:solidFill>
                  <a:srgbClr val="04376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 </a:t>
            </a:r>
            <a:r>
              <a:rPr lang="ko-KR" altLang="en-US" sz="2000" spc="-100" dirty="0">
                <a:solidFill>
                  <a:srgbClr val="04376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운영환경 제공  </a:t>
            </a:r>
            <a:r>
              <a:rPr lang="en-US" altLang="ko-KR" sz="2000" spc="-100" dirty="0">
                <a:solidFill>
                  <a:srgbClr val="043764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  <a:cs typeface="Arial" pitchFamily="34" charset="0"/>
              </a:rPr>
              <a:t>|</a:t>
            </a:r>
            <a:endParaRPr lang="ko-KR" altLang="en-US" sz="2000" spc="-100" dirty="0">
              <a:solidFill>
                <a:srgbClr val="043764"/>
              </a:solidFill>
              <a:latin typeface="KoPub돋움체 Bold" panose="02020603020101020101" pitchFamily="18" charset="-127"/>
              <a:ea typeface="KoPub돋움체 Bold" panose="02020603020101020101" pitchFamily="18" charset="-127"/>
              <a:cs typeface="Arial" pitchFamily="34" charset="0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9F60773-5DE7-3A9A-7BF7-456FE8C08FAD}"/>
              </a:ext>
            </a:extLst>
          </p:cNvPr>
          <p:cNvGrpSpPr/>
          <p:nvPr/>
        </p:nvGrpSpPr>
        <p:grpSpPr>
          <a:xfrm>
            <a:off x="559676" y="8640541"/>
            <a:ext cx="6641224" cy="1478840"/>
            <a:chOff x="893965" y="7750919"/>
            <a:chExt cx="5890242" cy="1327055"/>
          </a:xfrm>
        </p:grpSpPr>
        <p:sp>
          <p:nvSpPr>
            <p:cNvPr id="36" name="모서리가 둥근 직사각형 130">
              <a:extLst>
                <a:ext uri="{FF2B5EF4-FFF2-40B4-BE49-F238E27FC236}">
                  <a16:creationId xmlns:a16="http://schemas.microsoft.com/office/drawing/2014/main" id="{DFC3AE33-2FF4-B9AF-0729-33CCFD2369AF}"/>
                </a:ext>
              </a:extLst>
            </p:cNvPr>
            <p:cNvSpPr/>
            <p:nvPr/>
          </p:nvSpPr>
          <p:spPr bwMode="auto">
            <a:xfrm>
              <a:off x="2880252" y="7750940"/>
              <a:ext cx="1891355" cy="1190094"/>
            </a:xfrm>
            <a:prstGeom prst="roundRect">
              <a:avLst>
                <a:gd name="adj" fmla="val 4162"/>
              </a:avLst>
            </a:prstGeom>
            <a:noFill/>
            <a:ln w="12700" cap="flat" cmpd="sng" algn="ctr">
              <a:gradFill>
                <a:gsLst>
                  <a:gs pos="75000">
                    <a:sysClr val="window" lastClr="FFFFFF">
                      <a:lumMod val="75000"/>
                    </a:sysClr>
                  </a:gs>
                  <a:gs pos="100000">
                    <a:sysClr val="window" lastClr="FFFFFF">
                      <a:lumMod val="65000"/>
                      <a:alpha val="0"/>
                    </a:sys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8" b="0" i="0" u="none" strike="noStrike" kern="0" cap="none" spc="-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sym typeface="KoPub돋움체 Medium"/>
              </a:endParaRPr>
            </a:p>
          </p:txBody>
        </p:sp>
        <p:sp>
          <p:nvSpPr>
            <p:cNvPr id="37" name="TextBox 184">
              <a:extLst>
                <a:ext uri="{FF2B5EF4-FFF2-40B4-BE49-F238E27FC236}">
                  <a16:creationId xmlns:a16="http://schemas.microsoft.com/office/drawing/2014/main" id="{DDFB86B4-FCA0-C4C2-4819-1B7254D80A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6406" y="7810363"/>
              <a:ext cx="1160066" cy="2244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1" indent="-159620" algn="ctr" defTabSz="1000188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65000"/>
                    <a:lumOff val="35000"/>
                  </a:prstClr>
                </a:buClr>
                <a:buSzPct val="100000"/>
                <a:buFontTx/>
                <a:buNone/>
                <a:tabLst>
                  <a:tab pos="2374697" algn="l"/>
                  <a:tab pos="4981823" algn="l"/>
                </a:tabLst>
                <a:defRPr/>
              </a:pP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 pitchFamily="2" charset="2"/>
                </a:rPr>
                <a:t>현 재</a:t>
              </a:r>
            </a:p>
          </p:txBody>
        </p:sp>
        <p:cxnSp>
          <p:nvCxnSpPr>
            <p:cNvPr id="38" name="직선 연결선 37">
              <a:extLst>
                <a:ext uri="{FF2B5EF4-FFF2-40B4-BE49-F238E27FC236}">
                  <a16:creationId xmlns:a16="http://schemas.microsoft.com/office/drawing/2014/main" id="{D8092CED-2825-6191-2D8D-4D1480A2CD13}"/>
                </a:ext>
              </a:extLst>
            </p:cNvPr>
            <p:cNvCxnSpPr/>
            <p:nvPr/>
          </p:nvCxnSpPr>
          <p:spPr>
            <a:xfrm>
              <a:off x="3110426" y="7754798"/>
              <a:ext cx="1508097" cy="0"/>
            </a:xfrm>
            <a:prstGeom prst="line">
              <a:avLst/>
            </a:prstGeom>
            <a:noFill/>
            <a:ln w="38100" cap="flat" cmpd="sng" algn="ctr">
              <a:solidFill>
                <a:srgbClr val="1287B8"/>
              </a:solidFill>
              <a:prstDash val="solid"/>
              <a:miter lim="800000"/>
            </a:ln>
            <a:effectLst/>
          </p:spPr>
        </p:cxnSp>
        <p:sp>
          <p:nvSpPr>
            <p:cNvPr id="39" name="모서리가 둥근 직사각형 130">
              <a:extLst>
                <a:ext uri="{FF2B5EF4-FFF2-40B4-BE49-F238E27FC236}">
                  <a16:creationId xmlns:a16="http://schemas.microsoft.com/office/drawing/2014/main" id="{0A0BF192-3B9F-915E-9AA0-833334B08619}"/>
                </a:ext>
              </a:extLst>
            </p:cNvPr>
            <p:cNvSpPr/>
            <p:nvPr/>
          </p:nvSpPr>
          <p:spPr bwMode="auto">
            <a:xfrm>
              <a:off x="4892852" y="7750942"/>
              <a:ext cx="1891355" cy="1179257"/>
            </a:xfrm>
            <a:prstGeom prst="roundRect">
              <a:avLst>
                <a:gd name="adj" fmla="val 4162"/>
              </a:avLst>
            </a:prstGeom>
            <a:noFill/>
            <a:ln w="12700" cap="flat" cmpd="sng" algn="ctr">
              <a:gradFill>
                <a:gsLst>
                  <a:gs pos="75000">
                    <a:sysClr val="window" lastClr="FFFFFF">
                      <a:lumMod val="75000"/>
                    </a:sysClr>
                  </a:gs>
                  <a:gs pos="100000">
                    <a:sysClr val="window" lastClr="FFFFFF">
                      <a:lumMod val="65000"/>
                      <a:alpha val="0"/>
                    </a:sys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8" b="0" i="0" u="none" strike="noStrike" kern="0" cap="none" spc="-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sym typeface="KoPub돋움체 Medium"/>
              </a:endParaRPr>
            </a:p>
          </p:txBody>
        </p:sp>
        <p:sp>
          <p:nvSpPr>
            <p:cNvPr id="40" name="TextBox 184">
              <a:extLst>
                <a:ext uri="{FF2B5EF4-FFF2-40B4-BE49-F238E27FC236}">
                  <a16:creationId xmlns:a16="http://schemas.microsoft.com/office/drawing/2014/main" id="{7CFF76FB-5377-2159-9062-DC5BA8B218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59006" y="7810364"/>
              <a:ext cx="1160066" cy="2244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lvl="1" indent="-159620" algn="ctr" defTabSz="1000188">
                <a:lnSpc>
                  <a:spcPct val="90000"/>
                </a:lnSpc>
                <a:buClr>
                  <a:prstClr val="black">
                    <a:lumMod val="65000"/>
                    <a:lumOff val="35000"/>
                  </a:prstClr>
                </a:buClr>
                <a:buSzPct val="100000"/>
                <a:tabLst>
                  <a:tab pos="2374697" algn="l"/>
                  <a:tab pos="4981823" algn="l"/>
                </a:tabLst>
                <a:defRPr/>
              </a:pP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 pitchFamily="2" charset="2"/>
                </a:rPr>
                <a:t>미 래</a:t>
              </a:r>
            </a:p>
          </p:txBody>
        </p:sp>
        <p:cxnSp>
          <p:nvCxnSpPr>
            <p:cNvPr id="41" name="직선 연결선 40">
              <a:extLst>
                <a:ext uri="{FF2B5EF4-FFF2-40B4-BE49-F238E27FC236}">
                  <a16:creationId xmlns:a16="http://schemas.microsoft.com/office/drawing/2014/main" id="{06BA4045-45D5-EB86-3F43-3FB4015C1B7A}"/>
                </a:ext>
              </a:extLst>
            </p:cNvPr>
            <p:cNvCxnSpPr/>
            <p:nvPr/>
          </p:nvCxnSpPr>
          <p:spPr>
            <a:xfrm>
              <a:off x="5123026" y="7754799"/>
              <a:ext cx="1508097" cy="0"/>
            </a:xfrm>
            <a:prstGeom prst="line">
              <a:avLst/>
            </a:prstGeom>
            <a:noFill/>
            <a:ln w="38100" cap="flat" cmpd="sng" algn="ctr">
              <a:solidFill>
                <a:srgbClr val="1287B8"/>
              </a:solidFill>
              <a:prstDash val="solid"/>
              <a:miter lim="800000"/>
            </a:ln>
            <a:effectLst/>
          </p:spPr>
        </p:cxnSp>
        <p:sp>
          <p:nvSpPr>
            <p:cNvPr id="42" name="모서리가 둥근 직사각형 130">
              <a:extLst>
                <a:ext uri="{FF2B5EF4-FFF2-40B4-BE49-F238E27FC236}">
                  <a16:creationId xmlns:a16="http://schemas.microsoft.com/office/drawing/2014/main" id="{10952A2D-0995-A332-00EA-9894E75EC18E}"/>
                </a:ext>
              </a:extLst>
            </p:cNvPr>
            <p:cNvSpPr/>
            <p:nvPr/>
          </p:nvSpPr>
          <p:spPr bwMode="auto">
            <a:xfrm>
              <a:off x="893965" y="7750919"/>
              <a:ext cx="1891355" cy="1190094"/>
            </a:xfrm>
            <a:prstGeom prst="roundRect">
              <a:avLst>
                <a:gd name="adj" fmla="val 4162"/>
              </a:avLst>
            </a:prstGeom>
            <a:noFill/>
            <a:ln w="12700" cap="flat" cmpd="sng" algn="ctr">
              <a:gradFill>
                <a:gsLst>
                  <a:gs pos="75000">
                    <a:sysClr val="window" lastClr="FFFFFF">
                      <a:lumMod val="75000"/>
                    </a:sysClr>
                  </a:gs>
                  <a:gs pos="100000">
                    <a:sysClr val="window" lastClr="FFFFFF">
                      <a:lumMod val="65000"/>
                      <a:alpha val="0"/>
                    </a:sysClr>
                  </a:gs>
                </a:gsLst>
                <a:lin ang="5400000" scaled="0"/>
              </a:gradFill>
              <a:prstDash val="solid"/>
              <a:miter lim="800000"/>
            </a:ln>
            <a:effectLst/>
          </p:spPr>
          <p:txBody>
            <a:bodyPr rtlCol="0" anchor="ctr"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pPr marL="0" marR="0" lvl="0" indent="0" algn="ctr" defTabSz="4572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8" b="0" i="0" u="none" strike="noStrike" kern="0" cap="none" spc="-7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돋움체 Bold" panose="02020603020101020101" pitchFamily="18" charset="-127"/>
                <a:ea typeface="KoPub돋움체 Bold" panose="02020603020101020101" pitchFamily="18" charset="-127"/>
                <a:sym typeface="KoPub돋움체 Medium"/>
              </a:endParaRPr>
            </a:p>
          </p:txBody>
        </p:sp>
        <p:sp>
          <p:nvSpPr>
            <p:cNvPr id="43" name="TextBox 184">
              <a:extLst>
                <a:ext uri="{FF2B5EF4-FFF2-40B4-BE49-F238E27FC236}">
                  <a16:creationId xmlns:a16="http://schemas.microsoft.com/office/drawing/2014/main" id="{BEE37519-EFE1-851C-D197-D9E665988E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33513" y="7810342"/>
              <a:ext cx="1160066" cy="22447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/>
            <a:lstStyle/>
            <a:p>
              <a:pPr marL="0" marR="0" lvl="1" indent="-159620" algn="ctr" defTabSz="1000188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prstClr val="black">
                    <a:lumMod val="65000"/>
                    <a:lumOff val="35000"/>
                  </a:prstClr>
                </a:buClr>
                <a:buSzPct val="100000"/>
                <a:buFontTx/>
                <a:buNone/>
                <a:tabLst>
                  <a:tab pos="2374697" algn="l"/>
                  <a:tab pos="4981823" algn="l"/>
                </a:tabLst>
                <a:defRPr/>
              </a:pPr>
              <a:r>
                <a:rPr lang="ko-KR" altLang="en-US" sz="1100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  <a:cs typeface="Arial" pitchFamily="34" charset="0"/>
                  <a:sym typeface="KoPub돋움체 Medium" pitchFamily="2" charset="2"/>
                </a:rPr>
                <a:t>과 거</a:t>
              </a:r>
            </a:p>
          </p:txBody>
        </p:sp>
        <p:cxnSp>
          <p:nvCxnSpPr>
            <p:cNvPr id="44" name="직선 연결선 43">
              <a:extLst>
                <a:ext uri="{FF2B5EF4-FFF2-40B4-BE49-F238E27FC236}">
                  <a16:creationId xmlns:a16="http://schemas.microsoft.com/office/drawing/2014/main" id="{F374313B-72E3-B900-2DB8-5FE2E9C825E8}"/>
                </a:ext>
              </a:extLst>
            </p:cNvPr>
            <p:cNvCxnSpPr/>
            <p:nvPr/>
          </p:nvCxnSpPr>
          <p:spPr>
            <a:xfrm>
              <a:off x="1124139" y="7754777"/>
              <a:ext cx="1508097" cy="0"/>
            </a:xfrm>
            <a:prstGeom prst="line">
              <a:avLst/>
            </a:prstGeom>
            <a:noFill/>
            <a:ln w="38100" cap="flat" cmpd="sng" algn="ctr">
              <a:solidFill>
                <a:srgbClr val="1287B8"/>
              </a:solidFill>
              <a:prstDash val="solid"/>
              <a:miter lim="800000"/>
            </a:ln>
            <a:effectLst/>
          </p:spPr>
        </p:cxnSp>
        <p:grpSp>
          <p:nvGrpSpPr>
            <p:cNvPr id="45" name="그룹 44">
              <a:extLst>
                <a:ext uri="{FF2B5EF4-FFF2-40B4-BE49-F238E27FC236}">
                  <a16:creationId xmlns:a16="http://schemas.microsoft.com/office/drawing/2014/main" id="{10CF6CEA-A10F-F152-7699-2B92003254D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258881" y="7997974"/>
              <a:ext cx="1080015" cy="1080000"/>
              <a:chOff x="3250114" y="5419037"/>
              <a:chExt cx="1695811" cy="1695787"/>
            </a:xfrm>
          </p:grpSpPr>
          <p:sp>
            <p:nvSpPr>
              <p:cNvPr id="97" name="타원 96">
                <a:extLst>
                  <a:ext uri="{FF2B5EF4-FFF2-40B4-BE49-F238E27FC236}">
                    <a16:creationId xmlns:a16="http://schemas.microsoft.com/office/drawing/2014/main" id="{11ADE5DA-3A9E-8704-95DE-AD909BB7255E}"/>
                  </a:ext>
                </a:extLst>
              </p:cNvPr>
              <p:cNvSpPr/>
              <p:nvPr/>
            </p:nvSpPr>
            <p:spPr>
              <a:xfrm>
                <a:off x="3275572" y="5444485"/>
                <a:ext cx="1644894" cy="1644891"/>
              </a:xfrm>
              <a:prstGeom prst="ellipse">
                <a:avLst/>
              </a:prstGeom>
              <a:noFill/>
              <a:ln w="9525" cap="sq">
                <a:solidFill>
                  <a:srgbClr val="177CC0"/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indent="-180939" algn="ctr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schemeClr val="bg1">
                      <a:lumMod val="65000"/>
                    </a:schemeClr>
                  </a:buClr>
                  <a:buSzPct val="80000"/>
                  <a:tabLst>
                    <a:tab pos="2691859" algn="l"/>
                    <a:tab pos="5647190" algn="l"/>
                  </a:tabLst>
                </a:pPr>
                <a:r>
                  <a:rPr lang="ko-KR" altLang="en-US" sz="10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국방정보전산원 전산장비</a:t>
                </a:r>
                <a:endParaRPr lang="en-US" altLang="ko-KR" sz="10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indent="-180939" algn="ctr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schemeClr val="bg1">
                      <a:lumMod val="65000"/>
                    </a:schemeClr>
                  </a:buClr>
                  <a:buSzPct val="80000"/>
                  <a:tabLst>
                    <a:tab pos="2691859" algn="l"/>
                    <a:tab pos="5647190" algn="l"/>
                  </a:tabLst>
                </a:pPr>
                <a:r>
                  <a:rPr lang="ko-KR" altLang="en-US" sz="10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단순 유지보수</a:t>
                </a:r>
              </a:p>
            </p:txBody>
          </p:sp>
          <p:grpSp>
            <p:nvGrpSpPr>
              <p:cNvPr id="98" name="그룹 97">
                <a:extLst>
                  <a:ext uri="{FF2B5EF4-FFF2-40B4-BE49-F238E27FC236}">
                    <a16:creationId xmlns:a16="http://schemas.microsoft.com/office/drawing/2014/main" id="{936C6B7F-2476-32C7-62B7-C8275540A364}"/>
                  </a:ext>
                </a:extLst>
              </p:cNvPr>
              <p:cNvGrpSpPr/>
              <p:nvPr/>
            </p:nvGrpSpPr>
            <p:grpSpPr>
              <a:xfrm>
                <a:off x="3340722" y="5509634"/>
                <a:ext cx="1514594" cy="1514592"/>
                <a:chOff x="4608794" y="3222831"/>
                <a:chExt cx="1272893" cy="1272894"/>
              </a:xfrm>
            </p:grpSpPr>
            <p:sp>
              <p:nvSpPr>
                <p:cNvPr id="120" name="팔각형 119">
                  <a:extLst>
                    <a:ext uri="{FF2B5EF4-FFF2-40B4-BE49-F238E27FC236}">
                      <a16:creationId xmlns:a16="http://schemas.microsoft.com/office/drawing/2014/main" id="{A1846758-9037-D265-00E1-75B44E8086CC}"/>
                    </a:ext>
                  </a:extLst>
                </p:cNvPr>
                <p:cNvSpPr/>
                <p:nvPr/>
              </p:nvSpPr>
              <p:spPr>
                <a:xfrm>
                  <a:off x="4608794" y="3222831"/>
                  <a:ext cx="1272892" cy="1272892"/>
                </a:xfrm>
                <a:prstGeom prst="octagon">
                  <a:avLst/>
                </a:prstGeom>
                <a:noFill/>
                <a:ln w="3175" cap="sq">
                  <a:solidFill>
                    <a:srgbClr val="69C4ED"/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indent="-180939" algn="ctr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bg1">
                        <a:lumMod val="65000"/>
                      </a:scheme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lang="ko-KR" altLang="en-US" sz="12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21" name="팔각형 120">
                  <a:extLst>
                    <a:ext uri="{FF2B5EF4-FFF2-40B4-BE49-F238E27FC236}">
                      <a16:creationId xmlns:a16="http://schemas.microsoft.com/office/drawing/2014/main" id="{F3BD3A42-149B-C55E-9D03-AD62FED99ECC}"/>
                    </a:ext>
                  </a:extLst>
                </p:cNvPr>
                <p:cNvSpPr/>
                <p:nvPr/>
              </p:nvSpPr>
              <p:spPr>
                <a:xfrm rot="1380000">
                  <a:off x="4608795" y="3222833"/>
                  <a:ext cx="1272892" cy="1272892"/>
                </a:xfrm>
                <a:prstGeom prst="octagon">
                  <a:avLst/>
                </a:prstGeom>
                <a:noFill/>
                <a:ln w="3175" cap="sq">
                  <a:solidFill>
                    <a:srgbClr val="69C4ED"/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indent="-180939" algn="ctr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bg1">
                        <a:lumMod val="65000"/>
                      </a:scheme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lang="ko-KR" altLang="en-US" sz="12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99" name="그룹 98">
                <a:extLst>
                  <a:ext uri="{FF2B5EF4-FFF2-40B4-BE49-F238E27FC236}">
                    <a16:creationId xmlns:a16="http://schemas.microsoft.com/office/drawing/2014/main" id="{1B0BD0D3-8683-018B-7A62-2E042AB15B96}"/>
                  </a:ext>
                </a:extLst>
              </p:cNvPr>
              <p:cNvGrpSpPr/>
              <p:nvPr/>
            </p:nvGrpSpPr>
            <p:grpSpPr>
              <a:xfrm>
                <a:off x="3250114" y="5419037"/>
                <a:ext cx="1695811" cy="1695787"/>
                <a:chOff x="2914949" y="5479820"/>
                <a:chExt cx="1695811" cy="1695787"/>
              </a:xfrm>
              <a:solidFill>
                <a:srgbClr val="177CC0"/>
              </a:solidFill>
            </p:grpSpPr>
            <p:sp>
              <p:nvSpPr>
                <p:cNvPr id="100" name="타원 99">
                  <a:extLst>
                    <a:ext uri="{FF2B5EF4-FFF2-40B4-BE49-F238E27FC236}">
                      <a16:creationId xmlns:a16="http://schemas.microsoft.com/office/drawing/2014/main" id="{9A9702F3-38E9-7EAE-F50F-A64FB7ECA8CE}"/>
                    </a:ext>
                  </a:extLst>
                </p:cNvPr>
                <p:cNvSpPr/>
                <p:nvPr/>
              </p:nvSpPr>
              <p:spPr>
                <a:xfrm rot="5400000">
                  <a:off x="4567412" y="6308433"/>
                  <a:ext cx="34269" cy="342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/>
                </a:p>
              </p:txBody>
            </p:sp>
            <p:sp>
              <p:nvSpPr>
                <p:cNvPr id="101" name="타원 100">
                  <a:extLst>
                    <a:ext uri="{FF2B5EF4-FFF2-40B4-BE49-F238E27FC236}">
                      <a16:creationId xmlns:a16="http://schemas.microsoft.com/office/drawing/2014/main" id="{F5695BD9-B72E-41EB-524B-17AB6DF72AC9}"/>
                    </a:ext>
                  </a:extLst>
                </p:cNvPr>
                <p:cNvSpPr/>
                <p:nvPr/>
              </p:nvSpPr>
              <p:spPr>
                <a:xfrm rot="5400000">
                  <a:off x="2924034" y="6308433"/>
                  <a:ext cx="34269" cy="342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/>
                </a:p>
              </p:txBody>
            </p:sp>
            <p:sp>
              <p:nvSpPr>
                <p:cNvPr id="102" name="타원 101">
                  <a:extLst>
                    <a:ext uri="{FF2B5EF4-FFF2-40B4-BE49-F238E27FC236}">
                      <a16:creationId xmlns:a16="http://schemas.microsoft.com/office/drawing/2014/main" id="{4D5ED036-DC2C-4799-553B-82F8BE35BBB6}"/>
                    </a:ext>
                  </a:extLst>
                </p:cNvPr>
                <p:cNvSpPr/>
                <p:nvPr/>
              </p:nvSpPr>
              <p:spPr>
                <a:xfrm rot="4020000">
                  <a:off x="4492172" y="5978466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03" name="타원 102">
                  <a:extLst>
                    <a:ext uri="{FF2B5EF4-FFF2-40B4-BE49-F238E27FC236}">
                      <a16:creationId xmlns:a16="http://schemas.microsoft.com/office/drawing/2014/main" id="{C7DE14A1-F746-20C0-75C0-F891AED07A66}"/>
                    </a:ext>
                  </a:extLst>
                </p:cNvPr>
                <p:cNvSpPr/>
                <p:nvPr/>
              </p:nvSpPr>
              <p:spPr>
                <a:xfrm rot="4020000">
                  <a:off x="2979433" y="6620573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04" name="타원 103">
                  <a:extLst>
                    <a:ext uri="{FF2B5EF4-FFF2-40B4-BE49-F238E27FC236}">
                      <a16:creationId xmlns:a16="http://schemas.microsoft.com/office/drawing/2014/main" id="{CEAE3090-C3A4-DF29-4C58-DF381B74C435}"/>
                    </a:ext>
                  </a:extLst>
                </p:cNvPr>
                <p:cNvSpPr/>
                <p:nvPr/>
              </p:nvSpPr>
              <p:spPr>
                <a:xfrm rot="4020000">
                  <a:off x="4059086" y="7057286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05" name="타원 104">
                  <a:extLst>
                    <a:ext uri="{FF2B5EF4-FFF2-40B4-BE49-F238E27FC236}">
                      <a16:creationId xmlns:a16="http://schemas.microsoft.com/office/drawing/2014/main" id="{1B2C3603-A761-F31A-380B-37F64BA7F8A1}"/>
                    </a:ext>
                  </a:extLst>
                </p:cNvPr>
                <p:cNvSpPr/>
                <p:nvPr/>
              </p:nvSpPr>
              <p:spPr>
                <a:xfrm rot="4020000">
                  <a:off x="3416967" y="5544543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06" name="타원 105">
                  <a:extLst>
                    <a:ext uri="{FF2B5EF4-FFF2-40B4-BE49-F238E27FC236}">
                      <a16:creationId xmlns:a16="http://schemas.microsoft.com/office/drawing/2014/main" id="{E0C67F17-C731-E77F-A828-677C4AE18E81}"/>
                    </a:ext>
                  </a:extLst>
                </p:cNvPr>
                <p:cNvSpPr/>
                <p:nvPr/>
              </p:nvSpPr>
              <p:spPr>
                <a:xfrm rot="2700000">
                  <a:off x="4316143" y="5718961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08" name="타원 107">
                  <a:extLst>
                    <a:ext uri="{FF2B5EF4-FFF2-40B4-BE49-F238E27FC236}">
                      <a16:creationId xmlns:a16="http://schemas.microsoft.com/office/drawing/2014/main" id="{5B7B1C5A-9EE7-4D89-1C0F-BA86382B74A0}"/>
                    </a:ext>
                  </a:extLst>
                </p:cNvPr>
                <p:cNvSpPr/>
                <p:nvPr/>
              </p:nvSpPr>
              <p:spPr>
                <a:xfrm rot="2700000">
                  <a:off x="3154101" y="6880999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10" name="타원 109">
                  <a:extLst>
                    <a:ext uri="{FF2B5EF4-FFF2-40B4-BE49-F238E27FC236}">
                      <a16:creationId xmlns:a16="http://schemas.microsoft.com/office/drawing/2014/main" id="{1680125D-5C54-C940-5F03-FC8590CFF6E4}"/>
                    </a:ext>
                  </a:extLst>
                </p:cNvPr>
                <p:cNvSpPr/>
                <p:nvPr/>
              </p:nvSpPr>
              <p:spPr>
                <a:xfrm rot="2700000">
                  <a:off x="4318728" y="6881464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11" name="타원 110">
                  <a:extLst>
                    <a:ext uri="{FF2B5EF4-FFF2-40B4-BE49-F238E27FC236}">
                      <a16:creationId xmlns:a16="http://schemas.microsoft.com/office/drawing/2014/main" id="{F701C4FC-A096-E52E-497E-782B3564E1E3}"/>
                    </a:ext>
                  </a:extLst>
                </p:cNvPr>
                <p:cNvSpPr/>
                <p:nvPr/>
              </p:nvSpPr>
              <p:spPr>
                <a:xfrm rot="2700000">
                  <a:off x="3156685" y="5719415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12" name="타원 111">
                  <a:extLst>
                    <a:ext uri="{FF2B5EF4-FFF2-40B4-BE49-F238E27FC236}">
                      <a16:creationId xmlns:a16="http://schemas.microsoft.com/office/drawing/2014/main" id="{B256D76C-7B91-A6B6-AA6E-55CE8A4BF8EE}"/>
                    </a:ext>
                  </a:extLst>
                </p:cNvPr>
                <p:cNvSpPr/>
                <p:nvPr/>
              </p:nvSpPr>
              <p:spPr>
                <a:xfrm>
                  <a:off x="3734491" y="5479820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13" name="타원 112">
                  <a:extLst>
                    <a:ext uri="{FF2B5EF4-FFF2-40B4-BE49-F238E27FC236}">
                      <a16:creationId xmlns:a16="http://schemas.microsoft.com/office/drawing/2014/main" id="{61A760CF-1A51-41DB-5ECF-08796E904C60}"/>
                    </a:ext>
                  </a:extLst>
                </p:cNvPr>
                <p:cNvSpPr/>
                <p:nvPr/>
              </p:nvSpPr>
              <p:spPr>
                <a:xfrm>
                  <a:off x="3734490" y="7123182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14" name="타원 113">
                  <a:extLst>
                    <a:ext uri="{FF2B5EF4-FFF2-40B4-BE49-F238E27FC236}">
                      <a16:creationId xmlns:a16="http://schemas.microsoft.com/office/drawing/2014/main" id="{F8E6EA2A-6FBD-4A7E-3EA8-80C5913AA279}"/>
                    </a:ext>
                  </a:extLst>
                </p:cNvPr>
                <p:cNvSpPr/>
                <p:nvPr/>
              </p:nvSpPr>
              <p:spPr>
                <a:xfrm>
                  <a:off x="4558335" y="6300005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15" name="타원 114">
                  <a:extLst>
                    <a:ext uri="{FF2B5EF4-FFF2-40B4-BE49-F238E27FC236}">
                      <a16:creationId xmlns:a16="http://schemas.microsoft.com/office/drawing/2014/main" id="{FBF048DD-CFC6-1846-036E-5B1BF20EB6EC}"/>
                    </a:ext>
                  </a:extLst>
                </p:cNvPr>
                <p:cNvSpPr/>
                <p:nvPr/>
              </p:nvSpPr>
              <p:spPr>
                <a:xfrm>
                  <a:off x="2914949" y="6299995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16" name="타원 115">
                  <a:extLst>
                    <a:ext uri="{FF2B5EF4-FFF2-40B4-BE49-F238E27FC236}">
                      <a16:creationId xmlns:a16="http://schemas.microsoft.com/office/drawing/2014/main" id="{09FFD758-9802-B786-BC88-E920656CC75A}"/>
                    </a:ext>
                  </a:extLst>
                </p:cNvPr>
                <p:cNvSpPr/>
                <p:nvPr/>
              </p:nvSpPr>
              <p:spPr>
                <a:xfrm rot="1380000">
                  <a:off x="4055722" y="5544293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17" name="타원 116">
                  <a:extLst>
                    <a:ext uri="{FF2B5EF4-FFF2-40B4-BE49-F238E27FC236}">
                      <a16:creationId xmlns:a16="http://schemas.microsoft.com/office/drawing/2014/main" id="{8170E612-5A34-B72C-3C2A-476D2C68A294}"/>
                    </a:ext>
                  </a:extLst>
                </p:cNvPr>
                <p:cNvSpPr/>
                <p:nvPr/>
              </p:nvSpPr>
              <p:spPr>
                <a:xfrm rot="1380000">
                  <a:off x="3413602" y="7057016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18" name="타원 117">
                  <a:extLst>
                    <a:ext uri="{FF2B5EF4-FFF2-40B4-BE49-F238E27FC236}">
                      <a16:creationId xmlns:a16="http://schemas.microsoft.com/office/drawing/2014/main" id="{B1BEAFC1-77D3-5C5F-86AC-A2F4CD11DF75}"/>
                    </a:ext>
                  </a:extLst>
                </p:cNvPr>
                <p:cNvSpPr/>
                <p:nvPr/>
              </p:nvSpPr>
              <p:spPr>
                <a:xfrm rot="1380000">
                  <a:off x="4493600" y="6621180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119" name="타원 118">
                  <a:extLst>
                    <a:ext uri="{FF2B5EF4-FFF2-40B4-BE49-F238E27FC236}">
                      <a16:creationId xmlns:a16="http://schemas.microsoft.com/office/drawing/2014/main" id="{DB5F8F54-A9F3-9917-4CD1-13A5DA9CFAA2}"/>
                    </a:ext>
                  </a:extLst>
                </p:cNvPr>
                <p:cNvSpPr/>
                <p:nvPr/>
              </p:nvSpPr>
              <p:spPr>
                <a:xfrm rot="1380000">
                  <a:off x="2980869" y="5979100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</p:grpSp>
        <p:grpSp>
          <p:nvGrpSpPr>
            <p:cNvPr id="46" name="그룹 45">
              <a:extLst>
                <a:ext uri="{FF2B5EF4-FFF2-40B4-BE49-F238E27FC236}">
                  <a16:creationId xmlns:a16="http://schemas.microsoft.com/office/drawing/2014/main" id="{182098E2-238E-A7F8-F816-446FADC3764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273086" y="7997974"/>
              <a:ext cx="1080015" cy="1080000"/>
              <a:chOff x="818774" y="721142"/>
              <a:chExt cx="1695811" cy="1695787"/>
            </a:xfrm>
          </p:grpSpPr>
          <p:sp>
            <p:nvSpPr>
              <p:cNvPr id="74" name="타원 73">
                <a:extLst>
                  <a:ext uri="{FF2B5EF4-FFF2-40B4-BE49-F238E27FC236}">
                    <a16:creationId xmlns:a16="http://schemas.microsoft.com/office/drawing/2014/main" id="{3FE09CA1-9E68-D2E7-484B-9DEAEA6D76C0}"/>
                  </a:ext>
                </a:extLst>
              </p:cNvPr>
              <p:cNvSpPr/>
              <p:nvPr/>
            </p:nvSpPr>
            <p:spPr>
              <a:xfrm>
                <a:off x="844232" y="746590"/>
                <a:ext cx="1644894" cy="1644891"/>
              </a:xfrm>
              <a:prstGeom prst="ellipse">
                <a:avLst/>
              </a:prstGeom>
              <a:noFill/>
              <a:ln w="9525" cap="sq">
                <a:solidFill>
                  <a:schemeClr val="accent6">
                    <a:lumMod val="75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indent="-180939" algn="ctr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schemeClr val="bg1">
                      <a:lumMod val="65000"/>
                    </a:schemeClr>
                  </a:buClr>
                  <a:buSzPct val="80000"/>
                  <a:tabLst>
                    <a:tab pos="2691859" algn="l"/>
                    <a:tab pos="5647190" algn="l"/>
                  </a:tabLst>
                </a:pPr>
                <a:r>
                  <a:rPr lang="ko-KR" altLang="en-US" sz="11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독자 기계실</a:t>
                </a:r>
                <a:endParaRPr lang="en-US" altLang="ko-KR" sz="11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indent="-180939" algn="ctr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schemeClr val="bg1">
                      <a:lumMod val="65000"/>
                    </a:schemeClr>
                  </a:buClr>
                  <a:buSzPct val="80000"/>
                  <a:tabLst>
                    <a:tab pos="2691859" algn="l"/>
                    <a:tab pos="5647190" algn="l"/>
                  </a:tabLst>
                </a:pPr>
                <a:r>
                  <a:rPr lang="ko-KR" altLang="en-US" sz="11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신규기술 적용</a:t>
                </a:r>
                <a:endParaRPr lang="en-US" altLang="ko-KR" sz="11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indent="-180939" algn="ctr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schemeClr val="bg1">
                      <a:lumMod val="65000"/>
                    </a:schemeClr>
                  </a:buClr>
                  <a:buSzPct val="80000"/>
                  <a:tabLst>
                    <a:tab pos="2691859" algn="l"/>
                    <a:tab pos="5647190" algn="l"/>
                  </a:tabLst>
                </a:pPr>
                <a:r>
                  <a:rPr lang="en-US" altLang="ko-KR" sz="11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(HCI)</a:t>
                </a:r>
                <a:endParaRPr lang="ko-KR" altLang="en-US" sz="1100" dirty="0">
                  <a:solidFill>
                    <a:prstClr val="black">
                      <a:lumMod val="95000"/>
                      <a:lumOff val="5000"/>
                    </a:prst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grpSp>
            <p:nvGrpSpPr>
              <p:cNvPr id="75" name="그룹 74">
                <a:extLst>
                  <a:ext uri="{FF2B5EF4-FFF2-40B4-BE49-F238E27FC236}">
                    <a16:creationId xmlns:a16="http://schemas.microsoft.com/office/drawing/2014/main" id="{1B7859A8-7331-A2EB-0BDC-075EC450DC66}"/>
                  </a:ext>
                </a:extLst>
              </p:cNvPr>
              <p:cNvGrpSpPr/>
              <p:nvPr/>
            </p:nvGrpSpPr>
            <p:grpSpPr>
              <a:xfrm>
                <a:off x="909382" y="811739"/>
                <a:ext cx="1514594" cy="1514592"/>
                <a:chOff x="4608794" y="3222831"/>
                <a:chExt cx="1272893" cy="1272894"/>
              </a:xfrm>
            </p:grpSpPr>
            <p:sp>
              <p:nvSpPr>
                <p:cNvPr id="95" name="팔각형 94">
                  <a:extLst>
                    <a:ext uri="{FF2B5EF4-FFF2-40B4-BE49-F238E27FC236}">
                      <a16:creationId xmlns:a16="http://schemas.microsoft.com/office/drawing/2014/main" id="{470FDE85-D6E8-4E1C-BE28-A84C1F1BF743}"/>
                    </a:ext>
                  </a:extLst>
                </p:cNvPr>
                <p:cNvSpPr/>
                <p:nvPr/>
              </p:nvSpPr>
              <p:spPr>
                <a:xfrm>
                  <a:off x="4608794" y="3222831"/>
                  <a:ext cx="1272892" cy="1272892"/>
                </a:xfrm>
                <a:prstGeom prst="octagon">
                  <a:avLst/>
                </a:prstGeom>
                <a:noFill/>
                <a:ln w="3175" cap="sq">
                  <a:solidFill>
                    <a:schemeClr val="accent6">
                      <a:lumMod val="7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indent="-180939" algn="ctr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bg1">
                        <a:lumMod val="65000"/>
                      </a:scheme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lang="ko-KR" altLang="en-US" sz="12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96" name="팔각형 95">
                  <a:extLst>
                    <a:ext uri="{FF2B5EF4-FFF2-40B4-BE49-F238E27FC236}">
                      <a16:creationId xmlns:a16="http://schemas.microsoft.com/office/drawing/2014/main" id="{E432E662-7098-0561-2FB1-5373B9967E08}"/>
                    </a:ext>
                  </a:extLst>
                </p:cNvPr>
                <p:cNvSpPr/>
                <p:nvPr/>
              </p:nvSpPr>
              <p:spPr>
                <a:xfrm rot="1380000">
                  <a:off x="4608795" y="3222833"/>
                  <a:ext cx="1272892" cy="1272892"/>
                </a:xfrm>
                <a:prstGeom prst="octagon">
                  <a:avLst/>
                </a:prstGeom>
                <a:noFill/>
                <a:ln w="3175" cap="sq">
                  <a:solidFill>
                    <a:schemeClr val="accent6">
                      <a:lumMod val="7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indent="-180939" algn="ctr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bg1">
                        <a:lumMod val="65000"/>
                      </a:scheme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lang="ko-KR" altLang="en-US" sz="12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grpSp>
            <p:nvGrpSpPr>
              <p:cNvPr id="76" name="그룹 75">
                <a:extLst>
                  <a:ext uri="{FF2B5EF4-FFF2-40B4-BE49-F238E27FC236}">
                    <a16:creationId xmlns:a16="http://schemas.microsoft.com/office/drawing/2014/main" id="{4E6B198E-AB36-FE76-CBCD-88DE319F6FA1}"/>
                  </a:ext>
                </a:extLst>
              </p:cNvPr>
              <p:cNvGrpSpPr/>
              <p:nvPr/>
            </p:nvGrpSpPr>
            <p:grpSpPr>
              <a:xfrm>
                <a:off x="818774" y="721142"/>
                <a:ext cx="1695811" cy="1695787"/>
                <a:chOff x="2914949" y="5479820"/>
                <a:chExt cx="1695811" cy="1695787"/>
              </a:xfrm>
              <a:solidFill>
                <a:schemeClr val="accent6">
                  <a:lumMod val="75000"/>
                </a:schemeClr>
              </a:solidFill>
            </p:grpSpPr>
            <p:sp>
              <p:nvSpPr>
                <p:cNvPr id="77" name="타원 76">
                  <a:extLst>
                    <a:ext uri="{FF2B5EF4-FFF2-40B4-BE49-F238E27FC236}">
                      <a16:creationId xmlns:a16="http://schemas.microsoft.com/office/drawing/2014/main" id="{47330827-7444-F4BF-B94E-5B246787B2B0}"/>
                    </a:ext>
                  </a:extLst>
                </p:cNvPr>
                <p:cNvSpPr/>
                <p:nvPr/>
              </p:nvSpPr>
              <p:spPr>
                <a:xfrm rot="5400000">
                  <a:off x="4567412" y="6308433"/>
                  <a:ext cx="34269" cy="342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/>
                </a:p>
              </p:txBody>
            </p:sp>
            <p:sp>
              <p:nvSpPr>
                <p:cNvPr id="78" name="타원 77">
                  <a:extLst>
                    <a:ext uri="{FF2B5EF4-FFF2-40B4-BE49-F238E27FC236}">
                      <a16:creationId xmlns:a16="http://schemas.microsoft.com/office/drawing/2014/main" id="{4F10A2C3-5E4F-F791-B000-FE2F3A6CB09E}"/>
                    </a:ext>
                  </a:extLst>
                </p:cNvPr>
                <p:cNvSpPr/>
                <p:nvPr/>
              </p:nvSpPr>
              <p:spPr>
                <a:xfrm rot="5400000">
                  <a:off x="2924034" y="6308433"/>
                  <a:ext cx="34269" cy="34269"/>
                </a:xfrm>
                <a:prstGeom prst="ellipse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sz="2400" dirty="0"/>
                </a:p>
              </p:txBody>
            </p:sp>
            <p:sp>
              <p:nvSpPr>
                <p:cNvPr id="79" name="타원 78">
                  <a:extLst>
                    <a:ext uri="{FF2B5EF4-FFF2-40B4-BE49-F238E27FC236}">
                      <a16:creationId xmlns:a16="http://schemas.microsoft.com/office/drawing/2014/main" id="{BE11D99B-6209-4A31-9B8F-B7F7FA2A13B5}"/>
                    </a:ext>
                  </a:extLst>
                </p:cNvPr>
                <p:cNvSpPr/>
                <p:nvPr/>
              </p:nvSpPr>
              <p:spPr>
                <a:xfrm rot="4020000">
                  <a:off x="4492172" y="5978466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80" name="타원 79">
                  <a:extLst>
                    <a:ext uri="{FF2B5EF4-FFF2-40B4-BE49-F238E27FC236}">
                      <a16:creationId xmlns:a16="http://schemas.microsoft.com/office/drawing/2014/main" id="{8CF31BB9-6DE6-71B9-2C68-012F944D13E4}"/>
                    </a:ext>
                  </a:extLst>
                </p:cNvPr>
                <p:cNvSpPr/>
                <p:nvPr/>
              </p:nvSpPr>
              <p:spPr>
                <a:xfrm rot="4020000">
                  <a:off x="2979433" y="6620573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81" name="타원 80">
                  <a:extLst>
                    <a:ext uri="{FF2B5EF4-FFF2-40B4-BE49-F238E27FC236}">
                      <a16:creationId xmlns:a16="http://schemas.microsoft.com/office/drawing/2014/main" id="{23D5A02A-794C-D85D-853E-A320663896A2}"/>
                    </a:ext>
                  </a:extLst>
                </p:cNvPr>
                <p:cNvSpPr/>
                <p:nvPr/>
              </p:nvSpPr>
              <p:spPr>
                <a:xfrm rot="4020000">
                  <a:off x="4059086" y="7057286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82" name="타원 81">
                  <a:extLst>
                    <a:ext uri="{FF2B5EF4-FFF2-40B4-BE49-F238E27FC236}">
                      <a16:creationId xmlns:a16="http://schemas.microsoft.com/office/drawing/2014/main" id="{76AC70CF-A5EA-3EF2-2514-2CAB98A102EF}"/>
                    </a:ext>
                  </a:extLst>
                </p:cNvPr>
                <p:cNvSpPr/>
                <p:nvPr/>
              </p:nvSpPr>
              <p:spPr>
                <a:xfrm rot="4020000">
                  <a:off x="3416967" y="5544543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83" name="타원 82">
                  <a:extLst>
                    <a:ext uri="{FF2B5EF4-FFF2-40B4-BE49-F238E27FC236}">
                      <a16:creationId xmlns:a16="http://schemas.microsoft.com/office/drawing/2014/main" id="{56FD0AB5-B6F5-5089-AAFC-6B21546F61DD}"/>
                    </a:ext>
                  </a:extLst>
                </p:cNvPr>
                <p:cNvSpPr/>
                <p:nvPr/>
              </p:nvSpPr>
              <p:spPr>
                <a:xfrm rot="2700000">
                  <a:off x="4316143" y="5718961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84" name="타원 83">
                  <a:extLst>
                    <a:ext uri="{FF2B5EF4-FFF2-40B4-BE49-F238E27FC236}">
                      <a16:creationId xmlns:a16="http://schemas.microsoft.com/office/drawing/2014/main" id="{CEABC471-5E33-AF69-8A65-138F77091F0E}"/>
                    </a:ext>
                  </a:extLst>
                </p:cNvPr>
                <p:cNvSpPr/>
                <p:nvPr/>
              </p:nvSpPr>
              <p:spPr>
                <a:xfrm rot="2700000">
                  <a:off x="3154101" y="6880999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85" name="타원 84">
                  <a:extLst>
                    <a:ext uri="{FF2B5EF4-FFF2-40B4-BE49-F238E27FC236}">
                      <a16:creationId xmlns:a16="http://schemas.microsoft.com/office/drawing/2014/main" id="{F912A2CE-D1BF-D5B1-806E-38B39340C2EF}"/>
                    </a:ext>
                  </a:extLst>
                </p:cNvPr>
                <p:cNvSpPr/>
                <p:nvPr/>
              </p:nvSpPr>
              <p:spPr>
                <a:xfrm rot="2700000">
                  <a:off x="4318728" y="6881464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86" name="타원 85">
                  <a:extLst>
                    <a:ext uri="{FF2B5EF4-FFF2-40B4-BE49-F238E27FC236}">
                      <a16:creationId xmlns:a16="http://schemas.microsoft.com/office/drawing/2014/main" id="{E075EEB4-3A3C-A21C-299D-8908F38FC1F8}"/>
                    </a:ext>
                  </a:extLst>
                </p:cNvPr>
                <p:cNvSpPr/>
                <p:nvPr/>
              </p:nvSpPr>
              <p:spPr>
                <a:xfrm rot="2700000">
                  <a:off x="3156685" y="5719415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87" name="타원 86">
                  <a:extLst>
                    <a:ext uri="{FF2B5EF4-FFF2-40B4-BE49-F238E27FC236}">
                      <a16:creationId xmlns:a16="http://schemas.microsoft.com/office/drawing/2014/main" id="{CBCCE3F7-2837-0163-F588-15BF38349BB2}"/>
                    </a:ext>
                  </a:extLst>
                </p:cNvPr>
                <p:cNvSpPr/>
                <p:nvPr/>
              </p:nvSpPr>
              <p:spPr>
                <a:xfrm>
                  <a:off x="3734491" y="5479820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88" name="타원 87">
                  <a:extLst>
                    <a:ext uri="{FF2B5EF4-FFF2-40B4-BE49-F238E27FC236}">
                      <a16:creationId xmlns:a16="http://schemas.microsoft.com/office/drawing/2014/main" id="{2969622D-E191-E52A-CA8A-38A27EE9AD9F}"/>
                    </a:ext>
                  </a:extLst>
                </p:cNvPr>
                <p:cNvSpPr/>
                <p:nvPr/>
              </p:nvSpPr>
              <p:spPr>
                <a:xfrm>
                  <a:off x="3734490" y="7123182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89" name="타원 88">
                  <a:extLst>
                    <a:ext uri="{FF2B5EF4-FFF2-40B4-BE49-F238E27FC236}">
                      <a16:creationId xmlns:a16="http://schemas.microsoft.com/office/drawing/2014/main" id="{78CE8A6F-CF23-7588-C24F-D5A6C5B429F9}"/>
                    </a:ext>
                  </a:extLst>
                </p:cNvPr>
                <p:cNvSpPr/>
                <p:nvPr/>
              </p:nvSpPr>
              <p:spPr>
                <a:xfrm>
                  <a:off x="4558335" y="6300005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90" name="타원 89">
                  <a:extLst>
                    <a:ext uri="{FF2B5EF4-FFF2-40B4-BE49-F238E27FC236}">
                      <a16:creationId xmlns:a16="http://schemas.microsoft.com/office/drawing/2014/main" id="{3580E5A5-1672-BC8D-B0E5-E02CF2E2051C}"/>
                    </a:ext>
                  </a:extLst>
                </p:cNvPr>
                <p:cNvSpPr/>
                <p:nvPr/>
              </p:nvSpPr>
              <p:spPr>
                <a:xfrm>
                  <a:off x="2914949" y="6299995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91" name="타원 90">
                  <a:extLst>
                    <a:ext uri="{FF2B5EF4-FFF2-40B4-BE49-F238E27FC236}">
                      <a16:creationId xmlns:a16="http://schemas.microsoft.com/office/drawing/2014/main" id="{A397A146-BE2E-B2CF-7637-BB47EA4B2527}"/>
                    </a:ext>
                  </a:extLst>
                </p:cNvPr>
                <p:cNvSpPr/>
                <p:nvPr/>
              </p:nvSpPr>
              <p:spPr>
                <a:xfrm rot="1380000">
                  <a:off x="4055722" y="5544293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92" name="타원 91">
                  <a:extLst>
                    <a:ext uri="{FF2B5EF4-FFF2-40B4-BE49-F238E27FC236}">
                      <a16:creationId xmlns:a16="http://schemas.microsoft.com/office/drawing/2014/main" id="{BF170DC7-3FF5-652E-3EEC-C79D3CF9B269}"/>
                    </a:ext>
                  </a:extLst>
                </p:cNvPr>
                <p:cNvSpPr/>
                <p:nvPr/>
              </p:nvSpPr>
              <p:spPr>
                <a:xfrm rot="1380000">
                  <a:off x="3413602" y="7057016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93" name="타원 92">
                  <a:extLst>
                    <a:ext uri="{FF2B5EF4-FFF2-40B4-BE49-F238E27FC236}">
                      <a16:creationId xmlns:a16="http://schemas.microsoft.com/office/drawing/2014/main" id="{C39A5460-50BF-EB65-3CD5-192BDEDFE217}"/>
                    </a:ext>
                  </a:extLst>
                </p:cNvPr>
                <p:cNvSpPr/>
                <p:nvPr/>
              </p:nvSpPr>
              <p:spPr>
                <a:xfrm rot="1380000">
                  <a:off x="4493600" y="6621180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94" name="타원 93">
                  <a:extLst>
                    <a:ext uri="{FF2B5EF4-FFF2-40B4-BE49-F238E27FC236}">
                      <a16:creationId xmlns:a16="http://schemas.microsoft.com/office/drawing/2014/main" id="{6B6378F5-2B9D-6410-75C1-F3FFF89AA900}"/>
                    </a:ext>
                  </a:extLst>
                </p:cNvPr>
                <p:cNvSpPr/>
                <p:nvPr/>
              </p:nvSpPr>
              <p:spPr>
                <a:xfrm rot="1380000">
                  <a:off x="2980869" y="5979100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</p:grpSp>
        <p:grpSp>
          <p:nvGrpSpPr>
            <p:cNvPr id="47" name="그룹 46">
              <a:extLst>
                <a:ext uri="{FF2B5EF4-FFF2-40B4-BE49-F238E27FC236}">
                  <a16:creationId xmlns:a16="http://schemas.microsoft.com/office/drawing/2014/main" id="{B1636551-872D-4103-D687-E72588BD579B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5287291" y="7997974"/>
              <a:ext cx="1080014" cy="1080000"/>
              <a:chOff x="5020634" y="5235024"/>
              <a:chExt cx="1695812" cy="1695790"/>
            </a:xfrm>
          </p:grpSpPr>
          <p:sp>
            <p:nvSpPr>
              <p:cNvPr id="51" name="타원 50">
                <a:extLst>
                  <a:ext uri="{FF2B5EF4-FFF2-40B4-BE49-F238E27FC236}">
                    <a16:creationId xmlns:a16="http://schemas.microsoft.com/office/drawing/2014/main" id="{13D1D563-2BBA-DAAB-E090-C5622F37185F}"/>
                  </a:ext>
                </a:extLst>
              </p:cNvPr>
              <p:cNvSpPr/>
              <p:nvPr/>
            </p:nvSpPr>
            <p:spPr>
              <a:xfrm>
                <a:off x="5046091" y="5260473"/>
                <a:ext cx="1644894" cy="1644891"/>
              </a:xfrm>
              <a:prstGeom prst="ellipse">
                <a:avLst/>
              </a:prstGeom>
              <a:noFill/>
              <a:ln w="9525" cap="sq">
                <a:solidFill>
                  <a:schemeClr val="bg1">
                    <a:lumMod val="50000"/>
                  </a:schemeClr>
                </a:solidFill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>
                <a:scene3d>
                  <a:camera prst="orthographicFront"/>
                  <a:lightRig rig="threePt" dir="t"/>
                </a:scene3d>
                <a:sp3d>
                  <a:bevelT w="1270"/>
                </a:sp3d>
              </a:bodyPr>
              <a:lstStyle/>
              <a:p>
                <a:pPr indent="-180939" algn="ctr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schemeClr val="bg1">
                      <a:lumMod val="65000"/>
                    </a:schemeClr>
                  </a:buClr>
                  <a:buSzPct val="80000"/>
                  <a:tabLst>
                    <a:tab pos="2691859" algn="l"/>
                    <a:tab pos="5647190" algn="l"/>
                  </a:tabLst>
                </a:pPr>
                <a:r>
                  <a:rPr lang="ko-KR" altLang="en-US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국방 표준 전산실 구현</a:t>
                </a:r>
                <a:endParaRPr lang="en-US" altLang="ko-KR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  <a:p>
                <a:pPr indent="-180939" algn="ctr" fontAlgn="base" latinLnBrk="0">
                  <a:spcBef>
                    <a:spcPct val="0"/>
                  </a:spcBef>
                  <a:spcAft>
                    <a:spcPct val="0"/>
                  </a:spcAft>
                  <a:buClr>
                    <a:schemeClr val="bg1">
                      <a:lumMod val="65000"/>
                    </a:schemeClr>
                  </a:buClr>
                  <a:buSzPct val="80000"/>
                  <a:tabLst>
                    <a:tab pos="2691859" algn="l"/>
                    <a:tab pos="5647190" algn="l"/>
                  </a:tabLst>
                </a:pPr>
                <a:r>
                  <a:rPr lang="en-US" altLang="ko-KR" sz="12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KoPub돋움체 Bold" panose="02020603020101020101" pitchFamily="18" charset="-127"/>
                    <a:ea typeface="KoPub돋움체 Bold" panose="02020603020101020101" pitchFamily="18" charset="-127"/>
                  </a:rPr>
                  <a:t>(SDDC)</a:t>
                </a:r>
                <a:endParaRPr lang="ko-KR" altLang="en-US" sz="12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KoPub돋움체 Bold" panose="02020603020101020101" pitchFamily="18" charset="-127"/>
                  <a:ea typeface="KoPub돋움체 Bold" panose="02020603020101020101" pitchFamily="18" charset="-127"/>
                </a:endParaRPr>
              </a:p>
            </p:txBody>
          </p:sp>
          <p:grpSp>
            <p:nvGrpSpPr>
              <p:cNvPr id="52" name="그룹 51">
                <a:extLst>
                  <a:ext uri="{FF2B5EF4-FFF2-40B4-BE49-F238E27FC236}">
                    <a16:creationId xmlns:a16="http://schemas.microsoft.com/office/drawing/2014/main" id="{B1FE92D6-31D8-8CE5-13BC-59CF0660D3DA}"/>
                  </a:ext>
                </a:extLst>
              </p:cNvPr>
              <p:cNvGrpSpPr/>
              <p:nvPr/>
            </p:nvGrpSpPr>
            <p:grpSpPr>
              <a:xfrm>
                <a:off x="5111239" y="5325617"/>
                <a:ext cx="1514595" cy="1514593"/>
                <a:chOff x="4608794" y="3222829"/>
                <a:chExt cx="1272894" cy="1272895"/>
              </a:xfrm>
            </p:grpSpPr>
            <p:sp>
              <p:nvSpPr>
                <p:cNvPr id="72" name="팔각형 71">
                  <a:extLst>
                    <a:ext uri="{FF2B5EF4-FFF2-40B4-BE49-F238E27FC236}">
                      <a16:creationId xmlns:a16="http://schemas.microsoft.com/office/drawing/2014/main" id="{3C152BA5-1A51-96AC-DECC-BCDAF8D14873}"/>
                    </a:ext>
                  </a:extLst>
                </p:cNvPr>
                <p:cNvSpPr/>
                <p:nvPr/>
              </p:nvSpPr>
              <p:spPr>
                <a:xfrm>
                  <a:off x="4608794" y="3222832"/>
                  <a:ext cx="1272892" cy="1272892"/>
                </a:xfrm>
                <a:prstGeom prst="octagon">
                  <a:avLst/>
                </a:prstGeom>
                <a:noFill/>
                <a:ln w="3175" cap="sq">
                  <a:solidFill>
                    <a:schemeClr val="bg1">
                      <a:lumMod val="7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indent="-180939" algn="ctr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bg1">
                        <a:lumMod val="65000"/>
                      </a:scheme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lang="ko-KR" altLang="en-US" sz="12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73" name="팔각형 72">
                  <a:extLst>
                    <a:ext uri="{FF2B5EF4-FFF2-40B4-BE49-F238E27FC236}">
                      <a16:creationId xmlns:a16="http://schemas.microsoft.com/office/drawing/2014/main" id="{8F578688-992A-2F6B-57C4-48CB07D7301D}"/>
                    </a:ext>
                  </a:extLst>
                </p:cNvPr>
                <p:cNvSpPr/>
                <p:nvPr/>
              </p:nvSpPr>
              <p:spPr>
                <a:xfrm rot="1380000">
                  <a:off x="4608795" y="3222829"/>
                  <a:ext cx="1272893" cy="1272892"/>
                </a:xfrm>
                <a:prstGeom prst="octagon">
                  <a:avLst/>
                </a:prstGeom>
                <a:noFill/>
                <a:ln w="3175" cap="sq">
                  <a:solidFill>
                    <a:schemeClr val="bg1">
                      <a:lumMod val="75000"/>
                    </a:schemeClr>
                  </a:solidFill>
                  <a:miter lim="800000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1270"/>
                  </a:sp3d>
                </a:bodyPr>
                <a:lstStyle/>
                <a:p>
                  <a:pPr indent="-180939" algn="ctr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schemeClr val="bg1">
                        <a:lumMod val="65000"/>
                      </a:scheme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lang="ko-KR" altLang="en-US" sz="1200" dirty="0">
                    <a:solidFill>
                      <a:prstClr val="black">
                        <a:lumMod val="95000"/>
                        <a:lumOff val="5000"/>
                      </a:prstClr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  <p:sp>
            <p:nvSpPr>
              <p:cNvPr id="53" name="타원 52">
                <a:extLst>
                  <a:ext uri="{FF2B5EF4-FFF2-40B4-BE49-F238E27FC236}">
                    <a16:creationId xmlns:a16="http://schemas.microsoft.com/office/drawing/2014/main" id="{3650FDFD-14D8-1D18-C990-3F4D747C1ED6}"/>
                  </a:ext>
                </a:extLst>
              </p:cNvPr>
              <p:cNvSpPr/>
              <p:nvPr/>
            </p:nvSpPr>
            <p:spPr>
              <a:xfrm rot="5400000">
                <a:off x="6673097" y="6063637"/>
                <a:ext cx="34269" cy="34269"/>
              </a:xfrm>
              <a:prstGeom prst="ellipse">
                <a:avLst/>
              </a:prstGeom>
              <a:solidFill>
                <a:srgbClr val="2F6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/>
              </a:p>
            </p:txBody>
          </p:sp>
          <p:sp>
            <p:nvSpPr>
              <p:cNvPr id="54" name="타원 53">
                <a:extLst>
                  <a:ext uri="{FF2B5EF4-FFF2-40B4-BE49-F238E27FC236}">
                    <a16:creationId xmlns:a16="http://schemas.microsoft.com/office/drawing/2014/main" id="{BD1C2DB1-71DC-AB9A-C468-05CB9279EE06}"/>
                  </a:ext>
                </a:extLst>
              </p:cNvPr>
              <p:cNvSpPr/>
              <p:nvPr/>
            </p:nvSpPr>
            <p:spPr>
              <a:xfrm rot="5400000">
                <a:off x="5029719" y="6063637"/>
                <a:ext cx="34269" cy="34269"/>
              </a:xfrm>
              <a:prstGeom prst="ellipse">
                <a:avLst/>
              </a:prstGeom>
              <a:solidFill>
                <a:srgbClr val="2F6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sz="2400" dirty="0"/>
              </a:p>
            </p:txBody>
          </p:sp>
          <p:grpSp>
            <p:nvGrpSpPr>
              <p:cNvPr id="55" name="그룹 54">
                <a:extLst>
                  <a:ext uri="{FF2B5EF4-FFF2-40B4-BE49-F238E27FC236}">
                    <a16:creationId xmlns:a16="http://schemas.microsoft.com/office/drawing/2014/main" id="{C8E30700-EC70-F394-2136-115C86688266}"/>
                  </a:ext>
                </a:extLst>
              </p:cNvPr>
              <p:cNvGrpSpPr/>
              <p:nvPr/>
            </p:nvGrpSpPr>
            <p:grpSpPr>
              <a:xfrm>
                <a:off x="5020634" y="5235024"/>
                <a:ext cx="1695812" cy="1695790"/>
                <a:chOff x="5020634" y="5235024"/>
                <a:chExt cx="1695812" cy="1695790"/>
              </a:xfrm>
              <a:solidFill>
                <a:schemeClr val="bg1">
                  <a:lumMod val="50000"/>
                </a:schemeClr>
              </a:solidFill>
            </p:grpSpPr>
            <p:sp>
              <p:nvSpPr>
                <p:cNvPr id="56" name="타원 55">
                  <a:extLst>
                    <a:ext uri="{FF2B5EF4-FFF2-40B4-BE49-F238E27FC236}">
                      <a16:creationId xmlns:a16="http://schemas.microsoft.com/office/drawing/2014/main" id="{F77B9261-6E2A-B64D-56D9-EB7ECDE581A8}"/>
                    </a:ext>
                  </a:extLst>
                </p:cNvPr>
                <p:cNvSpPr/>
                <p:nvPr/>
              </p:nvSpPr>
              <p:spPr>
                <a:xfrm rot="4020000">
                  <a:off x="6597857" y="5733671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57" name="타원 56">
                  <a:extLst>
                    <a:ext uri="{FF2B5EF4-FFF2-40B4-BE49-F238E27FC236}">
                      <a16:creationId xmlns:a16="http://schemas.microsoft.com/office/drawing/2014/main" id="{D2201526-9947-E065-A5E7-F449CB9D95BA}"/>
                    </a:ext>
                  </a:extLst>
                </p:cNvPr>
                <p:cNvSpPr/>
                <p:nvPr/>
              </p:nvSpPr>
              <p:spPr>
                <a:xfrm rot="4020000">
                  <a:off x="5085118" y="6375778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58" name="타원 57">
                  <a:extLst>
                    <a:ext uri="{FF2B5EF4-FFF2-40B4-BE49-F238E27FC236}">
                      <a16:creationId xmlns:a16="http://schemas.microsoft.com/office/drawing/2014/main" id="{AAB31469-344F-0501-46D4-3B2BCFDB01B2}"/>
                    </a:ext>
                  </a:extLst>
                </p:cNvPr>
                <p:cNvSpPr/>
                <p:nvPr/>
              </p:nvSpPr>
              <p:spPr>
                <a:xfrm rot="4020000">
                  <a:off x="6164771" y="6812491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59" name="타원 58">
                  <a:extLst>
                    <a:ext uri="{FF2B5EF4-FFF2-40B4-BE49-F238E27FC236}">
                      <a16:creationId xmlns:a16="http://schemas.microsoft.com/office/drawing/2014/main" id="{47106DDA-F8F7-42BC-1E91-0A812C800D3D}"/>
                    </a:ext>
                  </a:extLst>
                </p:cNvPr>
                <p:cNvSpPr/>
                <p:nvPr/>
              </p:nvSpPr>
              <p:spPr>
                <a:xfrm rot="4020000">
                  <a:off x="5522652" y="5299748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60" name="타원 59">
                  <a:extLst>
                    <a:ext uri="{FF2B5EF4-FFF2-40B4-BE49-F238E27FC236}">
                      <a16:creationId xmlns:a16="http://schemas.microsoft.com/office/drawing/2014/main" id="{1DA33230-E104-6B92-BF0E-4F92BAB0A8EA}"/>
                    </a:ext>
                  </a:extLst>
                </p:cNvPr>
                <p:cNvSpPr/>
                <p:nvPr/>
              </p:nvSpPr>
              <p:spPr>
                <a:xfrm rot="2700000">
                  <a:off x="6421829" y="5474166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61" name="타원 60">
                  <a:extLst>
                    <a:ext uri="{FF2B5EF4-FFF2-40B4-BE49-F238E27FC236}">
                      <a16:creationId xmlns:a16="http://schemas.microsoft.com/office/drawing/2014/main" id="{FF121C9C-A79C-44BA-D1AF-D7AFED70ED51}"/>
                    </a:ext>
                  </a:extLst>
                </p:cNvPr>
                <p:cNvSpPr/>
                <p:nvPr/>
              </p:nvSpPr>
              <p:spPr>
                <a:xfrm rot="2700000">
                  <a:off x="5259786" y="6636204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62" name="타원 61">
                  <a:extLst>
                    <a:ext uri="{FF2B5EF4-FFF2-40B4-BE49-F238E27FC236}">
                      <a16:creationId xmlns:a16="http://schemas.microsoft.com/office/drawing/2014/main" id="{4835A2A9-56F3-1BC1-24E1-583DF93AD574}"/>
                    </a:ext>
                  </a:extLst>
                </p:cNvPr>
                <p:cNvSpPr/>
                <p:nvPr/>
              </p:nvSpPr>
              <p:spPr>
                <a:xfrm rot="2700000">
                  <a:off x="6424413" y="6636669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63" name="타원 62">
                  <a:extLst>
                    <a:ext uri="{FF2B5EF4-FFF2-40B4-BE49-F238E27FC236}">
                      <a16:creationId xmlns:a16="http://schemas.microsoft.com/office/drawing/2014/main" id="{8416901D-61AB-76F3-E119-47D309A57879}"/>
                    </a:ext>
                  </a:extLst>
                </p:cNvPr>
                <p:cNvSpPr/>
                <p:nvPr/>
              </p:nvSpPr>
              <p:spPr>
                <a:xfrm rot="2700000">
                  <a:off x="5262370" y="5474620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64" name="타원 63">
                  <a:extLst>
                    <a:ext uri="{FF2B5EF4-FFF2-40B4-BE49-F238E27FC236}">
                      <a16:creationId xmlns:a16="http://schemas.microsoft.com/office/drawing/2014/main" id="{049492C7-95D4-0100-529B-54E1594212E8}"/>
                    </a:ext>
                  </a:extLst>
                </p:cNvPr>
                <p:cNvSpPr/>
                <p:nvPr/>
              </p:nvSpPr>
              <p:spPr>
                <a:xfrm>
                  <a:off x="5840176" y="5235024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65" name="타원 64">
                  <a:extLst>
                    <a:ext uri="{FF2B5EF4-FFF2-40B4-BE49-F238E27FC236}">
                      <a16:creationId xmlns:a16="http://schemas.microsoft.com/office/drawing/2014/main" id="{80C04DD1-86EE-E32B-3377-7504BC09D522}"/>
                    </a:ext>
                  </a:extLst>
                </p:cNvPr>
                <p:cNvSpPr/>
                <p:nvPr/>
              </p:nvSpPr>
              <p:spPr>
                <a:xfrm>
                  <a:off x="5840175" y="6878389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66" name="타원 65">
                  <a:extLst>
                    <a:ext uri="{FF2B5EF4-FFF2-40B4-BE49-F238E27FC236}">
                      <a16:creationId xmlns:a16="http://schemas.microsoft.com/office/drawing/2014/main" id="{EDCE2EC7-56B5-255F-4A43-665C75E95E93}"/>
                    </a:ext>
                  </a:extLst>
                </p:cNvPr>
                <p:cNvSpPr/>
                <p:nvPr/>
              </p:nvSpPr>
              <p:spPr>
                <a:xfrm>
                  <a:off x="6664021" y="6055211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67" name="타원 66">
                  <a:extLst>
                    <a:ext uri="{FF2B5EF4-FFF2-40B4-BE49-F238E27FC236}">
                      <a16:creationId xmlns:a16="http://schemas.microsoft.com/office/drawing/2014/main" id="{47AF5D26-518A-E081-6B12-F3152234BDEA}"/>
                    </a:ext>
                  </a:extLst>
                </p:cNvPr>
                <p:cNvSpPr/>
                <p:nvPr/>
              </p:nvSpPr>
              <p:spPr>
                <a:xfrm>
                  <a:off x="5020634" y="6055202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68" name="타원 67">
                  <a:extLst>
                    <a:ext uri="{FF2B5EF4-FFF2-40B4-BE49-F238E27FC236}">
                      <a16:creationId xmlns:a16="http://schemas.microsoft.com/office/drawing/2014/main" id="{625C2699-B27E-5A06-26F8-2F8FCF58D0F5}"/>
                    </a:ext>
                  </a:extLst>
                </p:cNvPr>
                <p:cNvSpPr/>
                <p:nvPr/>
              </p:nvSpPr>
              <p:spPr>
                <a:xfrm rot="1380000">
                  <a:off x="6161408" y="5299502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69" name="타원 68">
                  <a:extLst>
                    <a:ext uri="{FF2B5EF4-FFF2-40B4-BE49-F238E27FC236}">
                      <a16:creationId xmlns:a16="http://schemas.microsoft.com/office/drawing/2014/main" id="{8350C184-905B-F917-C4F6-D9F510E51D34}"/>
                    </a:ext>
                  </a:extLst>
                </p:cNvPr>
                <p:cNvSpPr/>
                <p:nvPr/>
              </p:nvSpPr>
              <p:spPr>
                <a:xfrm rot="1380000">
                  <a:off x="5519287" y="6812225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70" name="타원 69">
                  <a:extLst>
                    <a:ext uri="{FF2B5EF4-FFF2-40B4-BE49-F238E27FC236}">
                      <a16:creationId xmlns:a16="http://schemas.microsoft.com/office/drawing/2014/main" id="{4825F698-65D6-ABAA-C225-2487A5350245}"/>
                    </a:ext>
                  </a:extLst>
                </p:cNvPr>
                <p:cNvSpPr/>
                <p:nvPr/>
              </p:nvSpPr>
              <p:spPr>
                <a:xfrm rot="1380000">
                  <a:off x="6599285" y="6376390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  <p:sp>
              <p:nvSpPr>
                <p:cNvPr id="71" name="타원 70">
                  <a:extLst>
                    <a:ext uri="{FF2B5EF4-FFF2-40B4-BE49-F238E27FC236}">
                      <a16:creationId xmlns:a16="http://schemas.microsoft.com/office/drawing/2014/main" id="{92CEA363-D655-BA64-16A6-6AADC8A529D6}"/>
                    </a:ext>
                  </a:extLst>
                </p:cNvPr>
                <p:cNvSpPr/>
                <p:nvPr/>
              </p:nvSpPr>
              <p:spPr>
                <a:xfrm rot="1380000">
                  <a:off x="5086548" y="5734260"/>
                  <a:ext cx="52425" cy="52425"/>
                </a:xfrm>
                <a:prstGeom prst="ellipse">
                  <a:avLst/>
                </a:prstGeom>
                <a:grpFill/>
                <a:ln w="6350">
                  <a:noFill/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>
                  <a:scene3d>
                    <a:camera prst="orthographicFront"/>
                    <a:lightRig rig="threePt" dir="t"/>
                  </a:scene3d>
                  <a:sp3d>
                    <a:bevelT w="0" h="0"/>
                  </a:sp3d>
                </a:bodyPr>
                <a:lstStyle/>
                <a:p>
                  <a:pPr indent="-180939" algn="ctr" defTabSz="1042847" fontAlgn="base" latinLnBrk="0">
                    <a:spcBef>
                      <a:spcPct val="0"/>
                    </a:spcBef>
                    <a:spcAft>
                      <a:spcPct val="0"/>
                    </a:spcAft>
                    <a:buClr>
                      <a:prstClr val="white">
                        <a:lumMod val="65000"/>
                      </a:prstClr>
                    </a:buClr>
                    <a:buSzPct val="80000"/>
                    <a:tabLst>
                      <a:tab pos="2691859" algn="l"/>
                      <a:tab pos="5647190" algn="l"/>
                    </a:tabLst>
                  </a:pPr>
                  <a:endParaRPr kumimoji="1" lang="ko-KR" altLang="en-US" sz="1000" dirty="0">
                    <a:ln>
                      <a:solidFill>
                        <a:srgbClr val="F79646">
                          <a:lumMod val="60000"/>
                          <a:lumOff val="40000"/>
                          <a:alpha val="3000"/>
                        </a:srgbClr>
                      </a:solidFill>
                    </a:ln>
                    <a:solidFill>
                      <a:prstClr val="white"/>
                    </a:solidFill>
                    <a:latin typeface="KoPub돋움체 Bold" panose="00000800000000000000" pitchFamily="2" charset="-127"/>
                    <a:ea typeface="KoPub돋움체 Bold" panose="00000800000000000000" pitchFamily="2" charset="-127"/>
                  </a:endParaRPr>
                </a:p>
              </p:txBody>
            </p:sp>
          </p:grpSp>
        </p:grpSp>
        <p:pic>
          <p:nvPicPr>
            <p:cNvPr id="48" name="Picture 23" descr="C:\Users\sun\Desktop\265660-management\265660-management\png\line-chart.png">
              <a:extLst>
                <a:ext uri="{FF2B5EF4-FFF2-40B4-BE49-F238E27FC236}">
                  <a16:creationId xmlns:a16="http://schemas.microsoft.com/office/drawing/2014/main" id="{48637646-3873-6DF0-248A-C0DF6B966B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1584" y="8671744"/>
              <a:ext cx="399406" cy="3994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A871F8A1-50E6-2B9F-3B12-CD305983F148}"/>
                </a:ext>
              </a:extLst>
            </p:cNvPr>
            <p:cNvSpPr>
              <a:spLocks/>
            </p:cNvSpPr>
            <p:nvPr/>
          </p:nvSpPr>
          <p:spPr bwMode="auto">
            <a:xfrm rot="18010152" flipH="1" flipV="1">
              <a:off x="2527140" y="7943503"/>
              <a:ext cx="523986" cy="466480"/>
            </a:xfrm>
            <a:custGeom>
              <a:avLst/>
              <a:gdLst>
                <a:gd name="T0" fmla="*/ 2038 w 2038"/>
                <a:gd name="T1" fmla="*/ 2106 h 2106"/>
                <a:gd name="T2" fmla="*/ 1982 w 2038"/>
                <a:gd name="T3" fmla="*/ 2100 h 2106"/>
                <a:gd name="T4" fmla="*/ 1878 w 2038"/>
                <a:gd name="T5" fmla="*/ 2084 h 2106"/>
                <a:gd name="T6" fmla="*/ 1786 w 2038"/>
                <a:gd name="T7" fmla="*/ 2062 h 2106"/>
                <a:gd name="T8" fmla="*/ 1680 w 2038"/>
                <a:gd name="T9" fmla="*/ 2032 h 2106"/>
                <a:gd name="T10" fmla="*/ 1566 w 2038"/>
                <a:gd name="T11" fmla="*/ 1988 h 2106"/>
                <a:gd name="T12" fmla="*/ 1444 w 2038"/>
                <a:gd name="T13" fmla="*/ 1930 h 2106"/>
                <a:gd name="T14" fmla="*/ 1322 w 2038"/>
                <a:gd name="T15" fmla="*/ 1858 h 2106"/>
                <a:gd name="T16" fmla="*/ 1200 w 2038"/>
                <a:gd name="T17" fmla="*/ 1764 h 2106"/>
                <a:gd name="T18" fmla="*/ 1142 w 2038"/>
                <a:gd name="T19" fmla="*/ 1712 h 2106"/>
                <a:gd name="T20" fmla="*/ 1084 w 2038"/>
                <a:gd name="T21" fmla="*/ 1652 h 2106"/>
                <a:gd name="T22" fmla="*/ 1030 w 2038"/>
                <a:gd name="T23" fmla="*/ 1588 h 2106"/>
                <a:gd name="T24" fmla="*/ 978 w 2038"/>
                <a:gd name="T25" fmla="*/ 1518 h 2106"/>
                <a:gd name="T26" fmla="*/ 930 w 2038"/>
                <a:gd name="T27" fmla="*/ 1442 h 2106"/>
                <a:gd name="T28" fmla="*/ 884 w 2038"/>
                <a:gd name="T29" fmla="*/ 1358 h 2106"/>
                <a:gd name="T30" fmla="*/ 844 w 2038"/>
                <a:gd name="T31" fmla="*/ 1270 h 2106"/>
                <a:gd name="T32" fmla="*/ 808 w 2038"/>
                <a:gd name="T33" fmla="*/ 1174 h 2106"/>
                <a:gd name="T34" fmla="*/ 778 w 2038"/>
                <a:gd name="T35" fmla="*/ 1070 h 2106"/>
                <a:gd name="T36" fmla="*/ 754 w 2038"/>
                <a:gd name="T37" fmla="*/ 960 h 2106"/>
                <a:gd name="T38" fmla="*/ 734 w 2038"/>
                <a:gd name="T39" fmla="*/ 842 h 2106"/>
                <a:gd name="T40" fmla="*/ 722 w 2038"/>
                <a:gd name="T41" fmla="*/ 716 h 2106"/>
                <a:gd name="T42" fmla="*/ 718 w 2038"/>
                <a:gd name="T43" fmla="*/ 582 h 2106"/>
                <a:gd name="T44" fmla="*/ 738 w 2038"/>
                <a:gd name="T45" fmla="*/ 290 h 2106"/>
                <a:gd name="T46" fmla="*/ 250 w 2038"/>
                <a:gd name="T47" fmla="*/ 290 h 2106"/>
                <a:gd name="T48" fmla="*/ 272 w 2038"/>
                <a:gd name="T49" fmla="*/ 582 h 2106"/>
                <a:gd name="T50" fmla="*/ 274 w 2038"/>
                <a:gd name="T51" fmla="*/ 630 h 2106"/>
                <a:gd name="T52" fmla="*/ 288 w 2038"/>
                <a:gd name="T53" fmla="*/ 746 h 2106"/>
                <a:gd name="T54" fmla="*/ 306 w 2038"/>
                <a:gd name="T55" fmla="*/ 844 h 2106"/>
                <a:gd name="T56" fmla="*/ 334 w 2038"/>
                <a:gd name="T57" fmla="*/ 958 h 2106"/>
                <a:gd name="T58" fmla="*/ 374 w 2038"/>
                <a:gd name="T59" fmla="*/ 1082 h 2106"/>
                <a:gd name="T60" fmla="*/ 428 w 2038"/>
                <a:gd name="T61" fmla="*/ 1214 h 2106"/>
                <a:gd name="T62" fmla="*/ 498 w 2038"/>
                <a:gd name="T63" fmla="*/ 1348 h 2106"/>
                <a:gd name="T64" fmla="*/ 586 w 2038"/>
                <a:gd name="T65" fmla="*/ 1482 h 2106"/>
                <a:gd name="T66" fmla="*/ 638 w 2038"/>
                <a:gd name="T67" fmla="*/ 1548 h 2106"/>
                <a:gd name="T68" fmla="*/ 694 w 2038"/>
                <a:gd name="T69" fmla="*/ 1612 h 2106"/>
                <a:gd name="T70" fmla="*/ 756 w 2038"/>
                <a:gd name="T71" fmla="*/ 1674 h 2106"/>
                <a:gd name="T72" fmla="*/ 826 w 2038"/>
                <a:gd name="T73" fmla="*/ 1734 h 2106"/>
                <a:gd name="T74" fmla="*/ 900 w 2038"/>
                <a:gd name="T75" fmla="*/ 1790 h 2106"/>
                <a:gd name="T76" fmla="*/ 980 w 2038"/>
                <a:gd name="T77" fmla="*/ 1844 h 2106"/>
                <a:gd name="T78" fmla="*/ 1068 w 2038"/>
                <a:gd name="T79" fmla="*/ 1894 h 2106"/>
                <a:gd name="T80" fmla="*/ 1162 w 2038"/>
                <a:gd name="T81" fmla="*/ 1940 h 2106"/>
                <a:gd name="T82" fmla="*/ 1264 w 2038"/>
                <a:gd name="T83" fmla="*/ 1982 h 2106"/>
                <a:gd name="T84" fmla="*/ 1372 w 2038"/>
                <a:gd name="T85" fmla="*/ 2018 h 2106"/>
                <a:gd name="T86" fmla="*/ 1490 w 2038"/>
                <a:gd name="T87" fmla="*/ 2048 h 2106"/>
                <a:gd name="T88" fmla="*/ 1614 w 2038"/>
                <a:gd name="T89" fmla="*/ 2072 h 2106"/>
                <a:gd name="T90" fmla="*/ 1746 w 2038"/>
                <a:gd name="T91" fmla="*/ 2090 h 2106"/>
                <a:gd name="T92" fmla="*/ 1888 w 2038"/>
                <a:gd name="T93" fmla="*/ 2102 h 2106"/>
                <a:gd name="T94" fmla="*/ 2038 w 2038"/>
                <a:gd name="T95" fmla="*/ 2106 h 210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38"/>
                <a:gd name="T145" fmla="*/ 0 h 2106"/>
                <a:gd name="T146" fmla="*/ 2038 w 2038"/>
                <a:gd name="T147" fmla="*/ 2106 h 210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38" h="2106">
                  <a:moveTo>
                    <a:pt x="2038" y="2106"/>
                  </a:moveTo>
                  <a:lnTo>
                    <a:pt x="2038" y="2106"/>
                  </a:lnTo>
                  <a:lnTo>
                    <a:pt x="2024" y="2104"/>
                  </a:lnTo>
                  <a:lnTo>
                    <a:pt x="1982" y="2100"/>
                  </a:lnTo>
                  <a:lnTo>
                    <a:pt x="1918" y="2092"/>
                  </a:lnTo>
                  <a:lnTo>
                    <a:pt x="1878" y="2084"/>
                  </a:lnTo>
                  <a:lnTo>
                    <a:pt x="1834" y="2074"/>
                  </a:lnTo>
                  <a:lnTo>
                    <a:pt x="1786" y="2062"/>
                  </a:lnTo>
                  <a:lnTo>
                    <a:pt x="1734" y="2048"/>
                  </a:lnTo>
                  <a:lnTo>
                    <a:pt x="1680" y="2032"/>
                  </a:lnTo>
                  <a:lnTo>
                    <a:pt x="1624" y="2012"/>
                  </a:lnTo>
                  <a:lnTo>
                    <a:pt x="1566" y="1988"/>
                  </a:lnTo>
                  <a:lnTo>
                    <a:pt x="1506" y="1962"/>
                  </a:lnTo>
                  <a:lnTo>
                    <a:pt x="1444" y="1930"/>
                  </a:lnTo>
                  <a:lnTo>
                    <a:pt x="1382" y="1896"/>
                  </a:lnTo>
                  <a:lnTo>
                    <a:pt x="1322" y="1858"/>
                  </a:lnTo>
                  <a:lnTo>
                    <a:pt x="1260" y="1814"/>
                  </a:lnTo>
                  <a:lnTo>
                    <a:pt x="1200" y="1764"/>
                  </a:lnTo>
                  <a:lnTo>
                    <a:pt x="1170" y="1738"/>
                  </a:lnTo>
                  <a:lnTo>
                    <a:pt x="1142" y="1712"/>
                  </a:lnTo>
                  <a:lnTo>
                    <a:pt x="1112" y="1682"/>
                  </a:lnTo>
                  <a:lnTo>
                    <a:pt x="1084" y="1652"/>
                  </a:lnTo>
                  <a:lnTo>
                    <a:pt x="1056" y="1622"/>
                  </a:lnTo>
                  <a:lnTo>
                    <a:pt x="1030" y="1588"/>
                  </a:lnTo>
                  <a:lnTo>
                    <a:pt x="1004" y="1554"/>
                  </a:lnTo>
                  <a:lnTo>
                    <a:pt x="978" y="1518"/>
                  </a:lnTo>
                  <a:lnTo>
                    <a:pt x="954" y="1480"/>
                  </a:lnTo>
                  <a:lnTo>
                    <a:pt x="930" y="1442"/>
                  </a:lnTo>
                  <a:lnTo>
                    <a:pt x="906" y="1400"/>
                  </a:lnTo>
                  <a:lnTo>
                    <a:pt x="884" y="1358"/>
                  </a:lnTo>
                  <a:lnTo>
                    <a:pt x="864" y="1316"/>
                  </a:lnTo>
                  <a:lnTo>
                    <a:pt x="844" y="1270"/>
                  </a:lnTo>
                  <a:lnTo>
                    <a:pt x="826" y="1222"/>
                  </a:lnTo>
                  <a:lnTo>
                    <a:pt x="808" y="1174"/>
                  </a:lnTo>
                  <a:lnTo>
                    <a:pt x="792" y="1122"/>
                  </a:lnTo>
                  <a:lnTo>
                    <a:pt x="778" y="1070"/>
                  </a:lnTo>
                  <a:lnTo>
                    <a:pt x="766" y="1016"/>
                  </a:lnTo>
                  <a:lnTo>
                    <a:pt x="754" y="960"/>
                  </a:lnTo>
                  <a:lnTo>
                    <a:pt x="744" y="902"/>
                  </a:lnTo>
                  <a:lnTo>
                    <a:pt x="734" y="842"/>
                  </a:lnTo>
                  <a:lnTo>
                    <a:pt x="728" y="780"/>
                  </a:lnTo>
                  <a:lnTo>
                    <a:pt x="722" y="716"/>
                  </a:lnTo>
                  <a:lnTo>
                    <a:pt x="720" y="650"/>
                  </a:lnTo>
                  <a:lnTo>
                    <a:pt x="718" y="582"/>
                  </a:lnTo>
                  <a:lnTo>
                    <a:pt x="988" y="582"/>
                  </a:lnTo>
                  <a:lnTo>
                    <a:pt x="738" y="290"/>
                  </a:lnTo>
                  <a:lnTo>
                    <a:pt x="494" y="0"/>
                  </a:lnTo>
                  <a:lnTo>
                    <a:pt x="250" y="290"/>
                  </a:lnTo>
                  <a:lnTo>
                    <a:pt x="0" y="582"/>
                  </a:lnTo>
                  <a:lnTo>
                    <a:pt x="272" y="582"/>
                  </a:lnTo>
                  <a:lnTo>
                    <a:pt x="274" y="630"/>
                  </a:lnTo>
                  <a:lnTo>
                    <a:pt x="282" y="702"/>
                  </a:lnTo>
                  <a:lnTo>
                    <a:pt x="288" y="746"/>
                  </a:lnTo>
                  <a:lnTo>
                    <a:pt x="296" y="794"/>
                  </a:lnTo>
                  <a:lnTo>
                    <a:pt x="306" y="844"/>
                  </a:lnTo>
                  <a:lnTo>
                    <a:pt x="318" y="900"/>
                  </a:lnTo>
                  <a:lnTo>
                    <a:pt x="334" y="958"/>
                  </a:lnTo>
                  <a:lnTo>
                    <a:pt x="352" y="1020"/>
                  </a:lnTo>
                  <a:lnTo>
                    <a:pt x="374" y="1082"/>
                  </a:lnTo>
                  <a:lnTo>
                    <a:pt x="398" y="1148"/>
                  </a:lnTo>
                  <a:lnTo>
                    <a:pt x="428" y="1214"/>
                  </a:lnTo>
                  <a:lnTo>
                    <a:pt x="460" y="1280"/>
                  </a:lnTo>
                  <a:lnTo>
                    <a:pt x="498" y="1348"/>
                  </a:lnTo>
                  <a:lnTo>
                    <a:pt x="540" y="1414"/>
                  </a:lnTo>
                  <a:lnTo>
                    <a:pt x="586" y="1482"/>
                  </a:lnTo>
                  <a:lnTo>
                    <a:pt x="612" y="1514"/>
                  </a:lnTo>
                  <a:lnTo>
                    <a:pt x="638" y="1548"/>
                  </a:lnTo>
                  <a:lnTo>
                    <a:pt x="666" y="1580"/>
                  </a:lnTo>
                  <a:lnTo>
                    <a:pt x="694" y="1612"/>
                  </a:lnTo>
                  <a:lnTo>
                    <a:pt x="724" y="1642"/>
                  </a:lnTo>
                  <a:lnTo>
                    <a:pt x="756" y="1674"/>
                  </a:lnTo>
                  <a:lnTo>
                    <a:pt x="790" y="1704"/>
                  </a:lnTo>
                  <a:lnTo>
                    <a:pt x="826" y="1734"/>
                  </a:lnTo>
                  <a:lnTo>
                    <a:pt x="862" y="1762"/>
                  </a:lnTo>
                  <a:lnTo>
                    <a:pt x="900" y="1790"/>
                  </a:lnTo>
                  <a:lnTo>
                    <a:pt x="940" y="1818"/>
                  </a:lnTo>
                  <a:lnTo>
                    <a:pt x="980" y="1844"/>
                  </a:lnTo>
                  <a:lnTo>
                    <a:pt x="1024" y="1870"/>
                  </a:lnTo>
                  <a:lnTo>
                    <a:pt x="1068" y="1894"/>
                  </a:lnTo>
                  <a:lnTo>
                    <a:pt x="1114" y="1918"/>
                  </a:lnTo>
                  <a:lnTo>
                    <a:pt x="1162" y="1940"/>
                  </a:lnTo>
                  <a:lnTo>
                    <a:pt x="1212" y="1962"/>
                  </a:lnTo>
                  <a:lnTo>
                    <a:pt x="1264" y="1982"/>
                  </a:lnTo>
                  <a:lnTo>
                    <a:pt x="1318" y="2000"/>
                  </a:lnTo>
                  <a:lnTo>
                    <a:pt x="1372" y="2018"/>
                  </a:lnTo>
                  <a:lnTo>
                    <a:pt x="1430" y="2034"/>
                  </a:lnTo>
                  <a:lnTo>
                    <a:pt x="1490" y="2048"/>
                  </a:lnTo>
                  <a:lnTo>
                    <a:pt x="1550" y="2060"/>
                  </a:lnTo>
                  <a:lnTo>
                    <a:pt x="1614" y="2072"/>
                  </a:lnTo>
                  <a:lnTo>
                    <a:pt x="1680" y="2082"/>
                  </a:lnTo>
                  <a:lnTo>
                    <a:pt x="1746" y="2090"/>
                  </a:lnTo>
                  <a:lnTo>
                    <a:pt x="1816" y="2096"/>
                  </a:lnTo>
                  <a:lnTo>
                    <a:pt x="1888" y="2102"/>
                  </a:lnTo>
                  <a:lnTo>
                    <a:pt x="1962" y="2104"/>
                  </a:lnTo>
                  <a:lnTo>
                    <a:pt x="2038" y="2106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4900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5400000" scaled="0"/>
            </a:gradFill>
            <a:ln w="19050">
              <a:noFill/>
            </a:ln>
            <a:effectLst>
              <a:outerShdw blurRad="12700" sx="101000" sy="101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pPr indent="-180993" algn="ctr"/>
              <a:endParaRPr lang="ko-KR" altLang="en-US" sz="8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  <p:sp>
          <p:nvSpPr>
            <p:cNvPr id="50" name="Freeform 10">
              <a:extLst>
                <a:ext uri="{FF2B5EF4-FFF2-40B4-BE49-F238E27FC236}">
                  <a16:creationId xmlns:a16="http://schemas.microsoft.com/office/drawing/2014/main" id="{C23E5CD8-DA0A-0344-D7C5-E0635EFCB676}"/>
                </a:ext>
              </a:extLst>
            </p:cNvPr>
            <p:cNvSpPr>
              <a:spLocks/>
            </p:cNvSpPr>
            <p:nvPr/>
          </p:nvSpPr>
          <p:spPr bwMode="auto">
            <a:xfrm rot="17893560" flipH="1" flipV="1">
              <a:off x="4539131" y="7909009"/>
              <a:ext cx="523986" cy="466480"/>
            </a:xfrm>
            <a:custGeom>
              <a:avLst/>
              <a:gdLst>
                <a:gd name="T0" fmla="*/ 2038 w 2038"/>
                <a:gd name="T1" fmla="*/ 2106 h 2106"/>
                <a:gd name="T2" fmla="*/ 1982 w 2038"/>
                <a:gd name="T3" fmla="*/ 2100 h 2106"/>
                <a:gd name="T4" fmla="*/ 1878 w 2038"/>
                <a:gd name="T5" fmla="*/ 2084 h 2106"/>
                <a:gd name="T6" fmla="*/ 1786 w 2038"/>
                <a:gd name="T7" fmla="*/ 2062 h 2106"/>
                <a:gd name="T8" fmla="*/ 1680 w 2038"/>
                <a:gd name="T9" fmla="*/ 2032 h 2106"/>
                <a:gd name="T10" fmla="*/ 1566 w 2038"/>
                <a:gd name="T11" fmla="*/ 1988 h 2106"/>
                <a:gd name="T12" fmla="*/ 1444 w 2038"/>
                <a:gd name="T13" fmla="*/ 1930 h 2106"/>
                <a:gd name="T14" fmla="*/ 1322 w 2038"/>
                <a:gd name="T15" fmla="*/ 1858 h 2106"/>
                <a:gd name="T16" fmla="*/ 1200 w 2038"/>
                <a:gd name="T17" fmla="*/ 1764 h 2106"/>
                <a:gd name="T18" fmla="*/ 1142 w 2038"/>
                <a:gd name="T19" fmla="*/ 1712 h 2106"/>
                <a:gd name="T20" fmla="*/ 1084 w 2038"/>
                <a:gd name="T21" fmla="*/ 1652 h 2106"/>
                <a:gd name="T22" fmla="*/ 1030 w 2038"/>
                <a:gd name="T23" fmla="*/ 1588 h 2106"/>
                <a:gd name="T24" fmla="*/ 978 w 2038"/>
                <a:gd name="T25" fmla="*/ 1518 h 2106"/>
                <a:gd name="T26" fmla="*/ 930 w 2038"/>
                <a:gd name="T27" fmla="*/ 1442 h 2106"/>
                <a:gd name="T28" fmla="*/ 884 w 2038"/>
                <a:gd name="T29" fmla="*/ 1358 h 2106"/>
                <a:gd name="T30" fmla="*/ 844 w 2038"/>
                <a:gd name="T31" fmla="*/ 1270 h 2106"/>
                <a:gd name="T32" fmla="*/ 808 w 2038"/>
                <a:gd name="T33" fmla="*/ 1174 h 2106"/>
                <a:gd name="T34" fmla="*/ 778 w 2038"/>
                <a:gd name="T35" fmla="*/ 1070 h 2106"/>
                <a:gd name="T36" fmla="*/ 754 w 2038"/>
                <a:gd name="T37" fmla="*/ 960 h 2106"/>
                <a:gd name="T38" fmla="*/ 734 w 2038"/>
                <a:gd name="T39" fmla="*/ 842 h 2106"/>
                <a:gd name="T40" fmla="*/ 722 w 2038"/>
                <a:gd name="T41" fmla="*/ 716 h 2106"/>
                <a:gd name="T42" fmla="*/ 718 w 2038"/>
                <a:gd name="T43" fmla="*/ 582 h 2106"/>
                <a:gd name="T44" fmla="*/ 738 w 2038"/>
                <a:gd name="T45" fmla="*/ 290 h 2106"/>
                <a:gd name="T46" fmla="*/ 250 w 2038"/>
                <a:gd name="T47" fmla="*/ 290 h 2106"/>
                <a:gd name="T48" fmla="*/ 272 w 2038"/>
                <a:gd name="T49" fmla="*/ 582 h 2106"/>
                <a:gd name="T50" fmla="*/ 274 w 2038"/>
                <a:gd name="T51" fmla="*/ 630 h 2106"/>
                <a:gd name="T52" fmla="*/ 288 w 2038"/>
                <a:gd name="T53" fmla="*/ 746 h 2106"/>
                <a:gd name="T54" fmla="*/ 306 w 2038"/>
                <a:gd name="T55" fmla="*/ 844 h 2106"/>
                <a:gd name="T56" fmla="*/ 334 w 2038"/>
                <a:gd name="T57" fmla="*/ 958 h 2106"/>
                <a:gd name="T58" fmla="*/ 374 w 2038"/>
                <a:gd name="T59" fmla="*/ 1082 h 2106"/>
                <a:gd name="T60" fmla="*/ 428 w 2038"/>
                <a:gd name="T61" fmla="*/ 1214 h 2106"/>
                <a:gd name="T62" fmla="*/ 498 w 2038"/>
                <a:gd name="T63" fmla="*/ 1348 h 2106"/>
                <a:gd name="T64" fmla="*/ 586 w 2038"/>
                <a:gd name="T65" fmla="*/ 1482 h 2106"/>
                <a:gd name="T66" fmla="*/ 638 w 2038"/>
                <a:gd name="T67" fmla="*/ 1548 h 2106"/>
                <a:gd name="T68" fmla="*/ 694 w 2038"/>
                <a:gd name="T69" fmla="*/ 1612 h 2106"/>
                <a:gd name="T70" fmla="*/ 756 w 2038"/>
                <a:gd name="T71" fmla="*/ 1674 h 2106"/>
                <a:gd name="T72" fmla="*/ 826 w 2038"/>
                <a:gd name="T73" fmla="*/ 1734 h 2106"/>
                <a:gd name="T74" fmla="*/ 900 w 2038"/>
                <a:gd name="T75" fmla="*/ 1790 h 2106"/>
                <a:gd name="T76" fmla="*/ 980 w 2038"/>
                <a:gd name="T77" fmla="*/ 1844 h 2106"/>
                <a:gd name="T78" fmla="*/ 1068 w 2038"/>
                <a:gd name="T79" fmla="*/ 1894 h 2106"/>
                <a:gd name="T80" fmla="*/ 1162 w 2038"/>
                <a:gd name="T81" fmla="*/ 1940 h 2106"/>
                <a:gd name="T82" fmla="*/ 1264 w 2038"/>
                <a:gd name="T83" fmla="*/ 1982 h 2106"/>
                <a:gd name="T84" fmla="*/ 1372 w 2038"/>
                <a:gd name="T85" fmla="*/ 2018 h 2106"/>
                <a:gd name="T86" fmla="*/ 1490 w 2038"/>
                <a:gd name="T87" fmla="*/ 2048 h 2106"/>
                <a:gd name="T88" fmla="*/ 1614 w 2038"/>
                <a:gd name="T89" fmla="*/ 2072 h 2106"/>
                <a:gd name="T90" fmla="*/ 1746 w 2038"/>
                <a:gd name="T91" fmla="*/ 2090 h 2106"/>
                <a:gd name="T92" fmla="*/ 1888 w 2038"/>
                <a:gd name="T93" fmla="*/ 2102 h 2106"/>
                <a:gd name="T94" fmla="*/ 2038 w 2038"/>
                <a:gd name="T95" fmla="*/ 2106 h 210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w 2038"/>
                <a:gd name="T145" fmla="*/ 0 h 2106"/>
                <a:gd name="T146" fmla="*/ 2038 w 2038"/>
                <a:gd name="T147" fmla="*/ 2106 h 2106"/>
              </a:gdLst>
              <a:ahLst/>
              <a:cxnLst>
                <a:cxn ang="T96">
                  <a:pos x="T0" y="T1"/>
                </a:cxn>
                <a:cxn ang="T97">
                  <a:pos x="T2" y="T3"/>
                </a:cxn>
                <a:cxn ang="T98">
                  <a:pos x="T4" y="T5"/>
                </a:cxn>
                <a:cxn ang="T99">
                  <a:pos x="T6" y="T7"/>
                </a:cxn>
                <a:cxn ang="T100">
                  <a:pos x="T8" y="T9"/>
                </a:cxn>
                <a:cxn ang="T101">
                  <a:pos x="T10" y="T11"/>
                </a:cxn>
                <a:cxn ang="T102">
                  <a:pos x="T12" y="T13"/>
                </a:cxn>
                <a:cxn ang="T103">
                  <a:pos x="T14" y="T15"/>
                </a:cxn>
                <a:cxn ang="T104">
                  <a:pos x="T16" y="T17"/>
                </a:cxn>
                <a:cxn ang="T105">
                  <a:pos x="T18" y="T19"/>
                </a:cxn>
                <a:cxn ang="T106">
                  <a:pos x="T20" y="T21"/>
                </a:cxn>
                <a:cxn ang="T107">
                  <a:pos x="T22" y="T23"/>
                </a:cxn>
                <a:cxn ang="T108">
                  <a:pos x="T24" y="T25"/>
                </a:cxn>
                <a:cxn ang="T109">
                  <a:pos x="T26" y="T27"/>
                </a:cxn>
                <a:cxn ang="T110">
                  <a:pos x="T28" y="T29"/>
                </a:cxn>
                <a:cxn ang="T111">
                  <a:pos x="T30" y="T31"/>
                </a:cxn>
                <a:cxn ang="T112">
                  <a:pos x="T32" y="T33"/>
                </a:cxn>
                <a:cxn ang="T113">
                  <a:pos x="T34" y="T35"/>
                </a:cxn>
                <a:cxn ang="T114">
                  <a:pos x="T36" y="T37"/>
                </a:cxn>
                <a:cxn ang="T115">
                  <a:pos x="T38" y="T39"/>
                </a:cxn>
                <a:cxn ang="T116">
                  <a:pos x="T40" y="T41"/>
                </a:cxn>
                <a:cxn ang="T117">
                  <a:pos x="T42" y="T43"/>
                </a:cxn>
                <a:cxn ang="T118">
                  <a:pos x="T44" y="T45"/>
                </a:cxn>
                <a:cxn ang="T119">
                  <a:pos x="T46" y="T47"/>
                </a:cxn>
                <a:cxn ang="T120">
                  <a:pos x="T48" y="T49"/>
                </a:cxn>
                <a:cxn ang="T121">
                  <a:pos x="T50" y="T51"/>
                </a:cxn>
                <a:cxn ang="T122">
                  <a:pos x="T52" y="T53"/>
                </a:cxn>
                <a:cxn ang="T123">
                  <a:pos x="T54" y="T55"/>
                </a:cxn>
                <a:cxn ang="T124">
                  <a:pos x="T56" y="T57"/>
                </a:cxn>
                <a:cxn ang="T125">
                  <a:pos x="T58" y="T59"/>
                </a:cxn>
                <a:cxn ang="T126">
                  <a:pos x="T60" y="T61"/>
                </a:cxn>
                <a:cxn ang="T127">
                  <a:pos x="T62" y="T63"/>
                </a:cxn>
                <a:cxn ang="T128">
                  <a:pos x="T64" y="T65"/>
                </a:cxn>
                <a:cxn ang="T129">
                  <a:pos x="T66" y="T67"/>
                </a:cxn>
                <a:cxn ang="T130">
                  <a:pos x="T68" y="T69"/>
                </a:cxn>
                <a:cxn ang="T131">
                  <a:pos x="T70" y="T71"/>
                </a:cxn>
                <a:cxn ang="T132">
                  <a:pos x="T72" y="T73"/>
                </a:cxn>
                <a:cxn ang="T133">
                  <a:pos x="T74" y="T75"/>
                </a:cxn>
                <a:cxn ang="T134">
                  <a:pos x="T76" y="T77"/>
                </a:cxn>
                <a:cxn ang="T135">
                  <a:pos x="T78" y="T79"/>
                </a:cxn>
                <a:cxn ang="T136">
                  <a:pos x="T80" y="T81"/>
                </a:cxn>
                <a:cxn ang="T137">
                  <a:pos x="T82" y="T83"/>
                </a:cxn>
                <a:cxn ang="T138">
                  <a:pos x="T84" y="T85"/>
                </a:cxn>
                <a:cxn ang="T139">
                  <a:pos x="T86" y="T87"/>
                </a:cxn>
                <a:cxn ang="T140">
                  <a:pos x="T88" y="T89"/>
                </a:cxn>
                <a:cxn ang="T141">
                  <a:pos x="T90" y="T91"/>
                </a:cxn>
                <a:cxn ang="T142">
                  <a:pos x="T92" y="T93"/>
                </a:cxn>
                <a:cxn ang="T143">
                  <a:pos x="T94" y="T95"/>
                </a:cxn>
              </a:cxnLst>
              <a:rect l="T144" t="T145" r="T146" b="T147"/>
              <a:pathLst>
                <a:path w="2038" h="2106">
                  <a:moveTo>
                    <a:pt x="2038" y="2106"/>
                  </a:moveTo>
                  <a:lnTo>
                    <a:pt x="2038" y="2106"/>
                  </a:lnTo>
                  <a:lnTo>
                    <a:pt x="2024" y="2104"/>
                  </a:lnTo>
                  <a:lnTo>
                    <a:pt x="1982" y="2100"/>
                  </a:lnTo>
                  <a:lnTo>
                    <a:pt x="1918" y="2092"/>
                  </a:lnTo>
                  <a:lnTo>
                    <a:pt x="1878" y="2084"/>
                  </a:lnTo>
                  <a:lnTo>
                    <a:pt x="1834" y="2074"/>
                  </a:lnTo>
                  <a:lnTo>
                    <a:pt x="1786" y="2062"/>
                  </a:lnTo>
                  <a:lnTo>
                    <a:pt x="1734" y="2048"/>
                  </a:lnTo>
                  <a:lnTo>
                    <a:pt x="1680" y="2032"/>
                  </a:lnTo>
                  <a:lnTo>
                    <a:pt x="1624" y="2012"/>
                  </a:lnTo>
                  <a:lnTo>
                    <a:pt x="1566" y="1988"/>
                  </a:lnTo>
                  <a:lnTo>
                    <a:pt x="1506" y="1962"/>
                  </a:lnTo>
                  <a:lnTo>
                    <a:pt x="1444" y="1930"/>
                  </a:lnTo>
                  <a:lnTo>
                    <a:pt x="1382" y="1896"/>
                  </a:lnTo>
                  <a:lnTo>
                    <a:pt x="1322" y="1858"/>
                  </a:lnTo>
                  <a:lnTo>
                    <a:pt x="1260" y="1814"/>
                  </a:lnTo>
                  <a:lnTo>
                    <a:pt x="1200" y="1764"/>
                  </a:lnTo>
                  <a:lnTo>
                    <a:pt x="1170" y="1738"/>
                  </a:lnTo>
                  <a:lnTo>
                    <a:pt x="1142" y="1712"/>
                  </a:lnTo>
                  <a:lnTo>
                    <a:pt x="1112" y="1682"/>
                  </a:lnTo>
                  <a:lnTo>
                    <a:pt x="1084" y="1652"/>
                  </a:lnTo>
                  <a:lnTo>
                    <a:pt x="1056" y="1622"/>
                  </a:lnTo>
                  <a:lnTo>
                    <a:pt x="1030" y="1588"/>
                  </a:lnTo>
                  <a:lnTo>
                    <a:pt x="1004" y="1554"/>
                  </a:lnTo>
                  <a:lnTo>
                    <a:pt x="978" y="1518"/>
                  </a:lnTo>
                  <a:lnTo>
                    <a:pt x="954" y="1480"/>
                  </a:lnTo>
                  <a:lnTo>
                    <a:pt x="930" y="1442"/>
                  </a:lnTo>
                  <a:lnTo>
                    <a:pt x="906" y="1400"/>
                  </a:lnTo>
                  <a:lnTo>
                    <a:pt x="884" y="1358"/>
                  </a:lnTo>
                  <a:lnTo>
                    <a:pt x="864" y="1316"/>
                  </a:lnTo>
                  <a:lnTo>
                    <a:pt x="844" y="1270"/>
                  </a:lnTo>
                  <a:lnTo>
                    <a:pt x="826" y="1222"/>
                  </a:lnTo>
                  <a:lnTo>
                    <a:pt x="808" y="1174"/>
                  </a:lnTo>
                  <a:lnTo>
                    <a:pt x="792" y="1122"/>
                  </a:lnTo>
                  <a:lnTo>
                    <a:pt x="778" y="1070"/>
                  </a:lnTo>
                  <a:lnTo>
                    <a:pt x="766" y="1016"/>
                  </a:lnTo>
                  <a:lnTo>
                    <a:pt x="754" y="960"/>
                  </a:lnTo>
                  <a:lnTo>
                    <a:pt x="744" y="902"/>
                  </a:lnTo>
                  <a:lnTo>
                    <a:pt x="734" y="842"/>
                  </a:lnTo>
                  <a:lnTo>
                    <a:pt x="728" y="780"/>
                  </a:lnTo>
                  <a:lnTo>
                    <a:pt x="722" y="716"/>
                  </a:lnTo>
                  <a:lnTo>
                    <a:pt x="720" y="650"/>
                  </a:lnTo>
                  <a:lnTo>
                    <a:pt x="718" y="582"/>
                  </a:lnTo>
                  <a:lnTo>
                    <a:pt x="988" y="582"/>
                  </a:lnTo>
                  <a:lnTo>
                    <a:pt x="738" y="290"/>
                  </a:lnTo>
                  <a:lnTo>
                    <a:pt x="494" y="0"/>
                  </a:lnTo>
                  <a:lnTo>
                    <a:pt x="250" y="290"/>
                  </a:lnTo>
                  <a:lnTo>
                    <a:pt x="0" y="582"/>
                  </a:lnTo>
                  <a:lnTo>
                    <a:pt x="272" y="582"/>
                  </a:lnTo>
                  <a:lnTo>
                    <a:pt x="274" y="630"/>
                  </a:lnTo>
                  <a:lnTo>
                    <a:pt x="282" y="702"/>
                  </a:lnTo>
                  <a:lnTo>
                    <a:pt x="288" y="746"/>
                  </a:lnTo>
                  <a:lnTo>
                    <a:pt x="296" y="794"/>
                  </a:lnTo>
                  <a:lnTo>
                    <a:pt x="306" y="844"/>
                  </a:lnTo>
                  <a:lnTo>
                    <a:pt x="318" y="900"/>
                  </a:lnTo>
                  <a:lnTo>
                    <a:pt x="334" y="958"/>
                  </a:lnTo>
                  <a:lnTo>
                    <a:pt x="352" y="1020"/>
                  </a:lnTo>
                  <a:lnTo>
                    <a:pt x="374" y="1082"/>
                  </a:lnTo>
                  <a:lnTo>
                    <a:pt x="398" y="1148"/>
                  </a:lnTo>
                  <a:lnTo>
                    <a:pt x="428" y="1214"/>
                  </a:lnTo>
                  <a:lnTo>
                    <a:pt x="460" y="1280"/>
                  </a:lnTo>
                  <a:lnTo>
                    <a:pt x="498" y="1348"/>
                  </a:lnTo>
                  <a:lnTo>
                    <a:pt x="540" y="1414"/>
                  </a:lnTo>
                  <a:lnTo>
                    <a:pt x="586" y="1482"/>
                  </a:lnTo>
                  <a:lnTo>
                    <a:pt x="612" y="1514"/>
                  </a:lnTo>
                  <a:lnTo>
                    <a:pt x="638" y="1548"/>
                  </a:lnTo>
                  <a:lnTo>
                    <a:pt x="666" y="1580"/>
                  </a:lnTo>
                  <a:lnTo>
                    <a:pt x="694" y="1612"/>
                  </a:lnTo>
                  <a:lnTo>
                    <a:pt x="724" y="1642"/>
                  </a:lnTo>
                  <a:lnTo>
                    <a:pt x="756" y="1674"/>
                  </a:lnTo>
                  <a:lnTo>
                    <a:pt x="790" y="1704"/>
                  </a:lnTo>
                  <a:lnTo>
                    <a:pt x="826" y="1734"/>
                  </a:lnTo>
                  <a:lnTo>
                    <a:pt x="862" y="1762"/>
                  </a:lnTo>
                  <a:lnTo>
                    <a:pt x="900" y="1790"/>
                  </a:lnTo>
                  <a:lnTo>
                    <a:pt x="940" y="1818"/>
                  </a:lnTo>
                  <a:lnTo>
                    <a:pt x="980" y="1844"/>
                  </a:lnTo>
                  <a:lnTo>
                    <a:pt x="1024" y="1870"/>
                  </a:lnTo>
                  <a:lnTo>
                    <a:pt x="1068" y="1894"/>
                  </a:lnTo>
                  <a:lnTo>
                    <a:pt x="1114" y="1918"/>
                  </a:lnTo>
                  <a:lnTo>
                    <a:pt x="1162" y="1940"/>
                  </a:lnTo>
                  <a:lnTo>
                    <a:pt x="1212" y="1962"/>
                  </a:lnTo>
                  <a:lnTo>
                    <a:pt x="1264" y="1982"/>
                  </a:lnTo>
                  <a:lnTo>
                    <a:pt x="1318" y="2000"/>
                  </a:lnTo>
                  <a:lnTo>
                    <a:pt x="1372" y="2018"/>
                  </a:lnTo>
                  <a:lnTo>
                    <a:pt x="1430" y="2034"/>
                  </a:lnTo>
                  <a:lnTo>
                    <a:pt x="1490" y="2048"/>
                  </a:lnTo>
                  <a:lnTo>
                    <a:pt x="1550" y="2060"/>
                  </a:lnTo>
                  <a:lnTo>
                    <a:pt x="1614" y="2072"/>
                  </a:lnTo>
                  <a:lnTo>
                    <a:pt x="1680" y="2082"/>
                  </a:lnTo>
                  <a:lnTo>
                    <a:pt x="1746" y="2090"/>
                  </a:lnTo>
                  <a:lnTo>
                    <a:pt x="1816" y="2096"/>
                  </a:lnTo>
                  <a:lnTo>
                    <a:pt x="1888" y="2102"/>
                  </a:lnTo>
                  <a:lnTo>
                    <a:pt x="1962" y="2104"/>
                  </a:lnTo>
                  <a:lnTo>
                    <a:pt x="2038" y="2106"/>
                  </a:lnTo>
                  <a:close/>
                </a:path>
              </a:pathLst>
            </a:custGeom>
            <a:gradFill>
              <a:gsLst>
                <a:gs pos="0">
                  <a:schemeClr val="bg1">
                    <a:lumMod val="65000"/>
                  </a:schemeClr>
                </a:gs>
                <a:gs pos="49000">
                  <a:schemeClr val="bg1">
                    <a:lumMod val="75000"/>
                  </a:schemeClr>
                </a:gs>
                <a:gs pos="100000">
                  <a:schemeClr val="accent1">
                    <a:tint val="23500"/>
                    <a:satMod val="160000"/>
                    <a:alpha val="0"/>
                  </a:schemeClr>
                </a:gs>
              </a:gsLst>
              <a:lin ang="5400000" scaled="0"/>
            </a:gradFill>
            <a:ln w="19050">
              <a:noFill/>
            </a:ln>
            <a:effectLst>
              <a:outerShdw blurRad="12700" sx="101000" sy="101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0" tIns="0" rIns="0" bIns="0" rtlCol="0" anchor="ctr">
              <a:scene3d>
                <a:camera prst="orthographicFront"/>
                <a:lightRig rig="threePt" dir="t"/>
              </a:scene3d>
              <a:sp3d>
                <a:bevelT w="1270" h="1270"/>
                <a:bevelB w="1270" h="1270"/>
              </a:sp3d>
            </a:bodyPr>
            <a:lstStyle/>
            <a:p>
              <a:pPr indent="-180993" algn="ctr"/>
              <a:endParaRPr lang="ko-KR" altLang="en-US" sz="800" dirty="0">
                <a:ln>
                  <a:solidFill>
                    <a:schemeClr val="bg1">
                      <a:lumMod val="75000"/>
                      <a:alpha val="0"/>
                    </a:schemeClr>
                  </a:solidFill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itchFamily="18" charset="-127"/>
                <a:ea typeface="KoPub돋움체 Bold" pitchFamily="18" charset="-127"/>
              </a:endParaRPr>
            </a:p>
          </p:txBody>
        </p:sp>
      </p:grp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EEE5C86A-0025-E59F-EDEE-4CA4B69428CF}"/>
              </a:ext>
            </a:extLst>
          </p:cNvPr>
          <p:cNvSpPr/>
          <p:nvPr/>
        </p:nvSpPr>
        <p:spPr>
          <a:xfrm>
            <a:off x="1055846" y="2072601"/>
            <a:ext cx="5647557" cy="77618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  <a:scene3d>
              <a:camera prst="orthographicFront"/>
              <a:lightRig rig="threePt" dir="t"/>
            </a:scene3d>
            <a:sp3d contourW="25400">
              <a:bevelT w="0"/>
              <a:bevelB w="0"/>
              <a:contourClr>
                <a:schemeClr val="bg1"/>
              </a:contourClr>
            </a:sp3d>
          </a:bodyPr>
          <a:lstStyle/>
          <a:p>
            <a:pPr algn="ctr" defTabSz="936438" latinLnBrk="0">
              <a:lnSpc>
                <a:spcPct val="150000"/>
              </a:lnSpc>
            </a:pPr>
            <a:r>
              <a:rPr lang="ko-KR" altLang="en-US" sz="1400" kern="0" dirty="0">
                <a:latin typeface="KoPub돋움체 Bold" panose="02020603020101020101" pitchFamily="18" charset="-127"/>
                <a:ea typeface="KoPub돋움체 Bold" panose="02020603020101020101" pitchFamily="18" charset="-127"/>
                <a:cs typeface="+mj-cs"/>
              </a:rPr>
              <a:t>본 사업의 완벽한 이해를 바탕으로</a:t>
            </a:r>
          </a:p>
          <a:p>
            <a:pPr algn="ctr" defTabSz="936438">
              <a:lnSpc>
                <a:spcPct val="150000"/>
              </a:lnSpc>
            </a:pPr>
            <a:r>
              <a:rPr lang="ko-KR" altLang="en-US" sz="2000" b="1" kern="0" dirty="0">
                <a:solidFill>
                  <a:srgbClr val="0070C0"/>
                </a:solidFill>
                <a:latin typeface="KoPub돋움체 Bold" panose="02020603020101020101" pitchFamily="18" charset="-127"/>
                <a:ea typeface="KoPub돋움체 Bold" panose="02020603020101020101" pitchFamily="18" charset="-127"/>
              </a:rPr>
              <a:t>제안사의 전문역량 총동원 및 사전파악 기반 사업제안</a:t>
            </a:r>
            <a:endParaRPr lang="ko-KR" altLang="en-US" sz="2400" b="1" kern="0" dirty="0">
              <a:solidFill>
                <a:srgbClr val="0070C0"/>
              </a:solidFill>
              <a:latin typeface="KoPub돋움체 Bold" panose="02020603020101020101" pitchFamily="18" charset="-127"/>
              <a:ea typeface="KoPub돋움체 Bold" panose="02020603020101020101" pitchFamily="18" charset="-127"/>
            </a:endParaRPr>
          </a:p>
        </p:txBody>
      </p:sp>
      <p:grpSp>
        <p:nvGrpSpPr>
          <p:cNvPr id="283" name="그룹 282">
            <a:extLst>
              <a:ext uri="{FF2B5EF4-FFF2-40B4-BE49-F238E27FC236}">
                <a16:creationId xmlns:a16="http://schemas.microsoft.com/office/drawing/2014/main" id="{A7CF6E71-5269-BBAB-220D-6C31E9E29635}"/>
              </a:ext>
            </a:extLst>
          </p:cNvPr>
          <p:cNvGrpSpPr/>
          <p:nvPr/>
        </p:nvGrpSpPr>
        <p:grpSpPr>
          <a:xfrm>
            <a:off x="574354" y="5030125"/>
            <a:ext cx="6626195" cy="3478327"/>
            <a:chOff x="574354" y="5030126"/>
            <a:chExt cx="6626195" cy="2965012"/>
          </a:xfrm>
        </p:grpSpPr>
        <p:sp>
          <p:nvSpPr>
            <p:cNvPr id="130" name="AutoShape 20" descr="바배경_어두운거">
              <a:extLst>
                <a:ext uri="{FF2B5EF4-FFF2-40B4-BE49-F238E27FC236}">
                  <a16:creationId xmlns:a16="http://schemas.microsoft.com/office/drawing/2014/main" id="{6FA586C5-5A27-0A82-2D30-F18A60E60E52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74354" y="5030126"/>
              <a:ext cx="3236228" cy="2965012"/>
            </a:xfrm>
            <a:prstGeom prst="roundRect">
              <a:avLst>
                <a:gd name="adj" fmla="val 0"/>
              </a:avLst>
            </a:prstGeom>
            <a:pattFill prst="dkUpDiag">
              <a:fgClr>
                <a:srgbClr val="BFBFBF"/>
              </a:fgClr>
              <a:bgClr>
                <a:srgbClr val="DDDDDD"/>
              </a:bgClr>
            </a:pattFill>
            <a:ln w="9525" algn="ctr">
              <a:noFill/>
              <a:miter lim="800000"/>
              <a:headEnd/>
              <a:tailEnd/>
            </a:ln>
          </p:spPr>
          <p:txBody>
            <a:bodyPr wrap="none" lIns="54000" rtlCol="0" anchor="ctr"/>
            <a:lstStyle/>
            <a:p>
              <a:pPr indent="-180975"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10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31" name="Rs189" descr="어두운 상향 대각선">
              <a:extLst>
                <a:ext uri="{FF2B5EF4-FFF2-40B4-BE49-F238E27FC236}">
                  <a16:creationId xmlns:a16="http://schemas.microsoft.com/office/drawing/2014/main" id="{02A608F5-1DB7-16AF-F3AB-2DFFE7C8C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8780" y="5094259"/>
              <a:ext cx="3004407" cy="237058"/>
            </a:xfrm>
            <a:prstGeom prst="roundRect">
              <a:avLst>
                <a:gd name="adj" fmla="val 5009"/>
              </a:avLst>
            </a:prstGeom>
            <a:solidFill>
              <a:srgbClr val="FFFFFF"/>
            </a:solidFill>
            <a:ln w="6350" algn="ctr">
              <a:solidFill>
                <a:srgbClr val="C0C0C0"/>
              </a:solidFill>
              <a:round/>
              <a:headEnd/>
              <a:tailEnd/>
            </a:ln>
            <a:effectLst>
              <a:outerShdw dist="35921" dir="2700000" algn="ctr" rotWithShape="0">
                <a:srgbClr val="EAEAEA"/>
              </a:outerShdw>
            </a:effectLst>
          </p:spPr>
          <p:txBody>
            <a:bodyPr lIns="0" tIns="0" rIns="0" bIns="0" anchor="ctr"/>
            <a:lstStyle>
              <a:lvl1pPr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9pPr>
            </a:lstStyle>
            <a:p>
              <a:pPr algn="ctr" latinLnBrk="0"/>
              <a:r>
                <a:rPr lang="ko-KR" altLang="en-US" sz="90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하드웨어 필수 예방점검 대상에 대한 유지보수 전문업체</a:t>
              </a:r>
            </a:p>
          </p:txBody>
        </p:sp>
        <p:sp>
          <p:nvSpPr>
            <p:cNvPr id="132" name="AutoShape 20" descr="바배경_어두운거">
              <a:extLst>
                <a:ext uri="{FF2B5EF4-FFF2-40B4-BE49-F238E27FC236}">
                  <a16:creationId xmlns:a16="http://schemas.microsoft.com/office/drawing/2014/main" id="{48C68F44-1E6E-31A2-C3E6-AFBCA7729078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964321" y="5030126"/>
              <a:ext cx="3236228" cy="2965012"/>
            </a:xfrm>
            <a:prstGeom prst="roundRect">
              <a:avLst>
                <a:gd name="adj" fmla="val 0"/>
              </a:avLst>
            </a:prstGeom>
            <a:pattFill prst="dkUpDiag">
              <a:fgClr>
                <a:srgbClr val="BFBFBF"/>
              </a:fgClr>
              <a:bgClr>
                <a:srgbClr val="DDDDDD"/>
              </a:bgClr>
            </a:pattFill>
            <a:ln w="9525" algn="ctr">
              <a:noFill/>
              <a:miter lim="800000"/>
              <a:headEnd/>
              <a:tailEnd/>
            </a:ln>
          </p:spPr>
          <p:txBody>
            <a:bodyPr wrap="none" lIns="54000" rtlCol="0" anchor="ctr"/>
            <a:lstStyle/>
            <a:p>
              <a:pPr indent="-180975" algn="ctr" fontAlgn="base" latinLnBrk="0">
                <a:spcBef>
                  <a:spcPct val="0"/>
                </a:spcBef>
                <a:spcAft>
                  <a:spcPct val="0"/>
                </a:spcAft>
              </a:pPr>
              <a:endParaRPr lang="ko-KR" altLang="en-US" sz="1000" dirty="0">
                <a:solidFill>
                  <a:prstClr val="white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133" name="Rs189" descr="어두운 상향 대각선">
              <a:extLst>
                <a:ext uri="{FF2B5EF4-FFF2-40B4-BE49-F238E27FC236}">
                  <a16:creationId xmlns:a16="http://schemas.microsoft.com/office/drawing/2014/main" id="{BB0EAE39-EC5B-370E-6E4A-B40984197D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8747" y="5094259"/>
              <a:ext cx="3004407" cy="237058"/>
            </a:xfrm>
            <a:prstGeom prst="roundRect">
              <a:avLst>
                <a:gd name="adj" fmla="val 5009"/>
              </a:avLst>
            </a:prstGeom>
            <a:solidFill>
              <a:srgbClr val="FFFFFF"/>
            </a:solidFill>
            <a:ln w="6350" algn="ctr">
              <a:solidFill>
                <a:srgbClr val="C0C0C0"/>
              </a:solidFill>
              <a:round/>
              <a:headEnd/>
              <a:tailEnd/>
            </a:ln>
            <a:effectLst>
              <a:outerShdw dist="35921" dir="2700000" algn="ctr" rotWithShape="0">
                <a:srgbClr val="EAEAEA"/>
              </a:outerShdw>
            </a:effectLst>
          </p:spPr>
          <p:txBody>
            <a:bodyPr lIns="0" tIns="0" rIns="0" bIns="0" anchor="ctr"/>
            <a:lstStyle>
              <a:lvl1pPr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1pPr>
              <a:lvl2pPr marL="742950" indent="-285750"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2pPr>
              <a:lvl3pPr marL="1143000" indent="-228600"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3pPr>
              <a:lvl4pPr marL="1600200" indent="-228600"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4pPr>
              <a:lvl5pPr marL="2057400" indent="-228600"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1200">
                  <a:solidFill>
                    <a:schemeClr val="tx1"/>
                  </a:solidFill>
                  <a:latin typeface="산돌고딕 L" pitchFamily="18" charset="-127"/>
                  <a:ea typeface="굴림" pitchFamily="50" charset="-127"/>
                </a:defRPr>
              </a:lvl9pPr>
            </a:lstStyle>
            <a:p>
              <a:pPr algn="ctr" latinLnBrk="0"/>
              <a:r>
                <a:rPr lang="ko-KR" altLang="en-US" sz="900" dirty="0">
                  <a:ln>
                    <a:solidFill>
                      <a:schemeClr val="bg1">
                        <a:lumMod val="65000"/>
                        <a:alpha val="0"/>
                      </a:schemeClr>
                    </a:solidFill>
                  </a:ln>
                  <a:solidFill>
                    <a:srgbClr val="292929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cs typeface="굴림" pitchFamily="50" charset="-127"/>
                </a:rPr>
                <a:t>소프트웨어 필수 예방점검 대상에 대한 유지보수 전문업체</a:t>
              </a:r>
            </a:p>
          </p:txBody>
        </p:sp>
        <p:grpSp>
          <p:nvGrpSpPr>
            <p:cNvPr id="134" name="그룹 133">
              <a:extLst>
                <a:ext uri="{FF2B5EF4-FFF2-40B4-BE49-F238E27FC236}">
                  <a16:creationId xmlns:a16="http://schemas.microsoft.com/office/drawing/2014/main" id="{D7B7ECF1-8E27-7079-FF45-2C9A44AB622C}"/>
                </a:ext>
              </a:extLst>
            </p:cNvPr>
            <p:cNvGrpSpPr/>
            <p:nvPr/>
          </p:nvGrpSpPr>
          <p:grpSpPr>
            <a:xfrm>
              <a:off x="4026040" y="5397689"/>
              <a:ext cx="3113359" cy="161444"/>
              <a:chOff x="3967309" y="5451961"/>
              <a:chExt cx="2965684" cy="169165"/>
            </a:xfrm>
          </p:grpSpPr>
          <p:grpSp>
            <p:nvGrpSpPr>
              <p:cNvPr id="135" name="그룹 6">
                <a:extLst>
                  <a:ext uri="{FF2B5EF4-FFF2-40B4-BE49-F238E27FC236}">
                    <a16:creationId xmlns:a16="http://schemas.microsoft.com/office/drawing/2014/main" id="{A5AAD4D9-E5C4-FB2F-7D0F-7B6BA4D898B3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39" name="순서도: 처리 138">
                  <a:extLst>
                    <a:ext uri="{FF2B5EF4-FFF2-40B4-BE49-F238E27FC236}">
                      <a16:creationId xmlns:a16="http://schemas.microsoft.com/office/drawing/2014/main" id="{6229D696-4353-5175-0130-E63DEEA51DBB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Tibero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40" name="Rectangle 7">
                  <a:extLst>
                    <a:ext uri="{FF2B5EF4-FFF2-40B4-BE49-F238E27FC236}">
                      <a16:creationId xmlns:a16="http://schemas.microsoft.com/office/drawing/2014/main" id="{8DB4CE90-4126-5790-AED5-59E8CF61D02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티맥스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136" name="그룹 6">
                <a:extLst>
                  <a:ext uri="{FF2B5EF4-FFF2-40B4-BE49-F238E27FC236}">
                    <a16:creationId xmlns:a16="http://schemas.microsoft.com/office/drawing/2014/main" id="{4788B9AF-1BC7-DD8B-6FF3-1C066CEE1498}"/>
                  </a:ext>
                </a:extLst>
              </p:cNvPr>
              <p:cNvGrpSpPr/>
              <p:nvPr/>
            </p:nvGrpSpPr>
            <p:grpSpPr>
              <a:xfrm>
                <a:off x="548051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37" name="순서도: 처리 136">
                  <a:extLst>
                    <a:ext uri="{FF2B5EF4-FFF2-40B4-BE49-F238E27FC236}">
                      <a16:creationId xmlns:a16="http://schemas.microsoft.com/office/drawing/2014/main" id="{F82DC21E-715C-5801-B326-1AC2D8D64D9B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eXsignOn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38" name="Rectangle 7">
                  <a:extLst>
                    <a:ext uri="{FF2B5EF4-FFF2-40B4-BE49-F238E27FC236}">
                      <a16:creationId xmlns:a16="http://schemas.microsoft.com/office/drawing/2014/main" id="{56ADB128-2D96-E11A-447A-AF6A8EFCB2A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토마토시스템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141" name="그룹 140">
              <a:extLst>
                <a:ext uri="{FF2B5EF4-FFF2-40B4-BE49-F238E27FC236}">
                  <a16:creationId xmlns:a16="http://schemas.microsoft.com/office/drawing/2014/main" id="{27A13321-1718-8D79-65E1-7C2F43D32674}"/>
                </a:ext>
              </a:extLst>
            </p:cNvPr>
            <p:cNvGrpSpPr/>
            <p:nvPr/>
          </p:nvGrpSpPr>
          <p:grpSpPr>
            <a:xfrm>
              <a:off x="4026040" y="5566362"/>
              <a:ext cx="3113359" cy="161444"/>
              <a:chOff x="3967309" y="5451961"/>
              <a:chExt cx="2965684" cy="169165"/>
            </a:xfrm>
          </p:grpSpPr>
          <p:grpSp>
            <p:nvGrpSpPr>
              <p:cNvPr id="142" name="그룹 6">
                <a:extLst>
                  <a:ext uri="{FF2B5EF4-FFF2-40B4-BE49-F238E27FC236}">
                    <a16:creationId xmlns:a16="http://schemas.microsoft.com/office/drawing/2014/main" id="{5FFCC953-F388-0301-C2C4-AA2A82A32E0F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46" name="순서도: 처리 145">
                  <a:extLst>
                    <a:ext uri="{FF2B5EF4-FFF2-40B4-BE49-F238E27FC236}">
                      <a16:creationId xmlns:a16="http://schemas.microsoft.com/office/drawing/2014/main" id="{7138CC78-D613-A57C-B0E2-A5A7EB9FE45A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Watch All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47" name="Rectangle 7">
                  <a:extLst>
                    <a:ext uri="{FF2B5EF4-FFF2-40B4-BE49-F238E27FC236}">
                      <a16:creationId xmlns:a16="http://schemas.microsoft.com/office/drawing/2014/main" id="{E070B5D3-8930-B27A-14CD-34D54B1040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와치텍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143" name="그룹 6">
                <a:extLst>
                  <a:ext uri="{FF2B5EF4-FFF2-40B4-BE49-F238E27FC236}">
                    <a16:creationId xmlns:a16="http://schemas.microsoft.com/office/drawing/2014/main" id="{CD076FAB-1461-669D-08C3-73AC2FBF618A}"/>
                  </a:ext>
                </a:extLst>
              </p:cNvPr>
              <p:cNvGrpSpPr/>
              <p:nvPr/>
            </p:nvGrpSpPr>
            <p:grpSpPr>
              <a:xfrm>
                <a:off x="548051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44" name="순서도: 처리 143">
                  <a:extLst>
                    <a:ext uri="{FF2B5EF4-FFF2-40B4-BE49-F238E27FC236}">
                      <a16:creationId xmlns:a16="http://schemas.microsoft.com/office/drawing/2014/main" id="{CACD93B7-8C5F-23AA-897E-2B897421D1F2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 </a:t>
                  </a:r>
                  <a:r>
                    <a:rPr lang="en-US" altLang="ko-KR" sz="8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Crownix</a:t>
                  </a: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 Report 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45" name="Rectangle 7">
                  <a:extLst>
                    <a:ext uri="{FF2B5EF4-FFF2-40B4-BE49-F238E27FC236}">
                      <a16:creationId xmlns:a16="http://schemas.microsoft.com/office/drawing/2014/main" id="{ABFCF4CC-AE43-C572-2C11-DF1CAEACBC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엠투소프트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148" name="그룹 147">
              <a:extLst>
                <a:ext uri="{FF2B5EF4-FFF2-40B4-BE49-F238E27FC236}">
                  <a16:creationId xmlns:a16="http://schemas.microsoft.com/office/drawing/2014/main" id="{F8ED43CD-214B-8D94-3B70-E5A7E6CF8599}"/>
                </a:ext>
              </a:extLst>
            </p:cNvPr>
            <p:cNvGrpSpPr/>
            <p:nvPr/>
          </p:nvGrpSpPr>
          <p:grpSpPr>
            <a:xfrm>
              <a:off x="4026040" y="5903709"/>
              <a:ext cx="3113359" cy="161444"/>
              <a:chOff x="3967309" y="5451961"/>
              <a:chExt cx="2965684" cy="169165"/>
            </a:xfrm>
          </p:grpSpPr>
          <p:grpSp>
            <p:nvGrpSpPr>
              <p:cNvPr id="149" name="그룹 6">
                <a:extLst>
                  <a:ext uri="{FF2B5EF4-FFF2-40B4-BE49-F238E27FC236}">
                    <a16:creationId xmlns:a16="http://schemas.microsoft.com/office/drawing/2014/main" id="{4AE18F42-0B70-AF88-D5B4-F332D852D22B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53" name="순서도: 처리 152">
                  <a:extLst>
                    <a:ext uri="{FF2B5EF4-FFF2-40B4-BE49-F238E27FC236}">
                      <a16:creationId xmlns:a16="http://schemas.microsoft.com/office/drawing/2014/main" id="{7F99C185-0074-09EF-CA33-51B9640842D6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Simpana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54" name="Rectangle 7">
                  <a:extLst>
                    <a:ext uri="{FF2B5EF4-FFF2-40B4-BE49-F238E27FC236}">
                      <a16:creationId xmlns:a16="http://schemas.microsoft.com/office/drawing/2014/main" id="{1A01CD77-61EB-6B6E-9AB5-6227ED197AB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디에스티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150" name="그룹 6">
                <a:extLst>
                  <a:ext uri="{FF2B5EF4-FFF2-40B4-BE49-F238E27FC236}">
                    <a16:creationId xmlns:a16="http://schemas.microsoft.com/office/drawing/2014/main" id="{89AD827B-FE63-AAA0-6A83-40675FB238F4}"/>
                  </a:ext>
                </a:extLst>
              </p:cNvPr>
              <p:cNvGrpSpPr/>
              <p:nvPr/>
            </p:nvGrpSpPr>
            <p:grpSpPr>
              <a:xfrm>
                <a:off x="548051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51" name="순서도: 처리 150">
                  <a:extLst>
                    <a:ext uri="{FF2B5EF4-FFF2-40B4-BE49-F238E27FC236}">
                      <a16:creationId xmlns:a16="http://schemas.microsoft.com/office/drawing/2014/main" id="{AF024A85-8CFB-A45B-2C78-9F6BEADCA6CD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7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XecureFileCrypto</a:t>
                  </a:r>
                  <a:endParaRPr lang="ko-KR" altLang="en-US" sz="7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52" name="Rectangle 7">
                  <a:extLst>
                    <a:ext uri="{FF2B5EF4-FFF2-40B4-BE49-F238E27FC236}">
                      <a16:creationId xmlns:a16="http://schemas.microsoft.com/office/drawing/2014/main" id="{F9C268C2-5F62-42CB-F135-89CDE2ED3E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한컴위드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155" name="그룹 154">
              <a:extLst>
                <a:ext uri="{FF2B5EF4-FFF2-40B4-BE49-F238E27FC236}">
                  <a16:creationId xmlns:a16="http://schemas.microsoft.com/office/drawing/2014/main" id="{D4130529-5AF4-05E9-084B-47104ADBD958}"/>
                </a:ext>
              </a:extLst>
            </p:cNvPr>
            <p:cNvGrpSpPr/>
            <p:nvPr/>
          </p:nvGrpSpPr>
          <p:grpSpPr>
            <a:xfrm>
              <a:off x="4026040" y="5735036"/>
              <a:ext cx="3113359" cy="161444"/>
              <a:chOff x="3967309" y="5451961"/>
              <a:chExt cx="2965684" cy="169165"/>
            </a:xfrm>
          </p:grpSpPr>
          <p:grpSp>
            <p:nvGrpSpPr>
              <p:cNvPr id="156" name="그룹 6">
                <a:extLst>
                  <a:ext uri="{FF2B5EF4-FFF2-40B4-BE49-F238E27FC236}">
                    <a16:creationId xmlns:a16="http://schemas.microsoft.com/office/drawing/2014/main" id="{459A307C-D869-08A4-76FD-2184BDE82B35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60" name="순서도: 처리 159">
                  <a:extLst>
                    <a:ext uri="{FF2B5EF4-FFF2-40B4-BE49-F238E27FC236}">
                      <a16:creationId xmlns:a16="http://schemas.microsoft.com/office/drawing/2014/main" id="{8243C161-4896-D9BF-B867-2FA4CB6FD1F2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Veeam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62" name="Rectangle 7">
                  <a:extLst>
                    <a:ext uri="{FF2B5EF4-FFF2-40B4-BE49-F238E27FC236}">
                      <a16:creationId xmlns:a16="http://schemas.microsoft.com/office/drawing/2014/main" id="{98AAAAAC-8EDC-EAD4-359A-2D9A6B79EF6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 정보라인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157" name="그룹 6">
                <a:extLst>
                  <a:ext uri="{FF2B5EF4-FFF2-40B4-BE49-F238E27FC236}">
                    <a16:creationId xmlns:a16="http://schemas.microsoft.com/office/drawing/2014/main" id="{566FEAA0-6ABD-8CC9-BD0D-F089267BD05D}"/>
                  </a:ext>
                </a:extLst>
              </p:cNvPr>
              <p:cNvGrpSpPr/>
              <p:nvPr/>
            </p:nvGrpSpPr>
            <p:grpSpPr>
              <a:xfrm>
                <a:off x="548051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58" name="순서도: 처리 157">
                  <a:extLst>
                    <a:ext uri="{FF2B5EF4-FFF2-40B4-BE49-F238E27FC236}">
                      <a16:creationId xmlns:a16="http://schemas.microsoft.com/office/drawing/2014/main" id="{8C189BD4-FE53-5A3D-CA0D-F868A31F16EE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Xplatform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59" name="Rectangle 7">
                  <a:extLst>
                    <a:ext uri="{FF2B5EF4-FFF2-40B4-BE49-F238E27FC236}">
                      <a16:creationId xmlns:a16="http://schemas.microsoft.com/office/drawing/2014/main" id="{F702A8F6-E4ED-25F7-6AF8-01EFCBBA5A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투비소프트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163" name="그룹 162">
              <a:extLst>
                <a:ext uri="{FF2B5EF4-FFF2-40B4-BE49-F238E27FC236}">
                  <a16:creationId xmlns:a16="http://schemas.microsoft.com/office/drawing/2014/main" id="{84699823-CD3A-90BF-2A52-942EC64B9AB8}"/>
                </a:ext>
              </a:extLst>
            </p:cNvPr>
            <p:cNvGrpSpPr/>
            <p:nvPr/>
          </p:nvGrpSpPr>
          <p:grpSpPr>
            <a:xfrm>
              <a:off x="4026040" y="6072383"/>
              <a:ext cx="3113359" cy="161444"/>
              <a:chOff x="3967309" y="5451961"/>
              <a:chExt cx="2965684" cy="169165"/>
            </a:xfrm>
          </p:grpSpPr>
          <p:grpSp>
            <p:nvGrpSpPr>
              <p:cNvPr id="164" name="그룹 6">
                <a:extLst>
                  <a:ext uri="{FF2B5EF4-FFF2-40B4-BE49-F238E27FC236}">
                    <a16:creationId xmlns:a16="http://schemas.microsoft.com/office/drawing/2014/main" id="{7893D353-1C04-15E6-A3D9-C5E65D04D6EA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68" name="순서도: 처리 167">
                  <a:extLst>
                    <a:ext uri="{FF2B5EF4-FFF2-40B4-BE49-F238E27FC236}">
                      <a16:creationId xmlns:a16="http://schemas.microsoft.com/office/drawing/2014/main" id="{7BEC205A-7786-21E6-18EC-99E7EF564AA3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Red Owl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69" name="Rectangle 7">
                  <a:extLst>
                    <a:ext uri="{FF2B5EF4-FFF2-40B4-BE49-F238E27FC236}">
                      <a16:creationId xmlns:a16="http://schemas.microsoft.com/office/drawing/2014/main" id="{0DD0D764-D5CC-CCF5-CCBF-97057533FC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아이티에이스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165" name="그룹 6">
                <a:extLst>
                  <a:ext uri="{FF2B5EF4-FFF2-40B4-BE49-F238E27FC236}">
                    <a16:creationId xmlns:a16="http://schemas.microsoft.com/office/drawing/2014/main" id="{B37155C2-3E0F-7598-DCF2-EF880FA49A62}"/>
                  </a:ext>
                </a:extLst>
              </p:cNvPr>
              <p:cNvGrpSpPr/>
              <p:nvPr/>
            </p:nvGrpSpPr>
            <p:grpSpPr>
              <a:xfrm>
                <a:off x="548051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66" name="순서도: 처리 165">
                  <a:extLst>
                    <a:ext uri="{FF2B5EF4-FFF2-40B4-BE49-F238E27FC236}">
                      <a16:creationId xmlns:a16="http://schemas.microsoft.com/office/drawing/2014/main" id="{2092733A-E39C-0BE6-EBFE-F619A2E98B72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d'amo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67" name="Rectangle 7">
                  <a:extLst>
                    <a:ext uri="{FF2B5EF4-FFF2-40B4-BE49-F238E27FC236}">
                      <a16:creationId xmlns:a16="http://schemas.microsoft.com/office/drawing/2014/main" id="{636C84CF-1E16-9268-323B-667D3808D1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지엘정보통신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170" name="그룹 169">
              <a:extLst>
                <a:ext uri="{FF2B5EF4-FFF2-40B4-BE49-F238E27FC236}">
                  <a16:creationId xmlns:a16="http://schemas.microsoft.com/office/drawing/2014/main" id="{EC90A693-F0BA-790D-5730-BCE1FC2B8BD8}"/>
                </a:ext>
              </a:extLst>
            </p:cNvPr>
            <p:cNvGrpSpPr/>
            <p:nvPr/>
          </p:nvGrpSpPr>
          <p:grpSpPr>
            <a:xfrm>
              <a:off x="4026040" y="6241057"/>
              <a:ext cx="3113359" cy="161444"/>
              <a:chOff x="3967309" y="5451961"/>
              <a:chExt cx="2965684" cy="169165"/>
            </a:xfrm>
          </p:grpSpPr>
          <p:grpSp>
            <p:nvGrpSpPr>
              <p:cNvPr id="171" name="그룹 6">
                <a:extLst>
                  <a:ext uri="{FF2B5EF4-FFF2-40B4-BE49-F238E27FC236}">
                    <a16:creationId xmlns:a16="http://schemas.microsoft.com/office/drawing/2014/main" id="{ED19E005-9F94-B9F1-0912-C6F4980E7B36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75" name="순서도: 처리 174">
                  <a:extLst>
                    <a:ext uri="{FF2B5EF4-FFF2-40B4-BE49-F238E27FC236}">
                      <a16:creationId xmlns:a16="http://schemas.microsoft.com/office/drawing/2014/main" id="{4B5395F0-F408-B735-53C0-68AC5D023855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SecuveTos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76" name="Rectangle 7">
                  <a:extLst>
                    <a:ext uri="{FF2B5EF4-FFF2-40B4-BE49-F238E27FC236}">
                      <a16:creationId xmlns:a16="http://schemas.microsoft.com/office/drawing/2014/main" id="{0A1436A5-41DE-94D4-1A02-9946A002EA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아이티에이스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172" name="그룹 6">
                <a:extLst>
                  <a:ext uri="{FF2B5EF4-FFF2-40B4-BE49-F238E27FC236}">
                    <a16:creationId xmlns:a16="http://schemas.microsoft.com/office/drawing/2014/main" id="{7277BCEA-FACB-011C-A6E9-DC89CADDAC46}"/>
                  </a:ext>
                </a:extLst>
              </p:cNvPr>
              <p:cNvGrpSpPr/>
              <p:nvPr/>
            </p:nvGrpSpPr>
            <p:grpSpPr>
              <a:xfrm>
                <a:off x="548051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73" name="순서도: 처리 172">
                  <a:extLst>
                    <a:ext uri="{FF2B5EF4-FFF2-40B4-BE49-F238E27FC236}">
                      <a16:creationId xmlns:a16="http://schemas.microsoft.com/office/drawing/2014/main" id="{1DA97D4F-EEB3-5844-56F7-9F081D45D709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MOBI POST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74" name="Rectangle 7">
                  <a:extLst>
                    <a:ext uri="{FF2B5EF4-FFF2-40B4-BE49-F238E27FC236}">
                      <a16:creationId xmlns:a16="http://schemas.microsoft.com/office/drawing/2014/main" id="{FDCECDC8-4BD0-F002-AD49-65FCF96957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포뎁스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177" name="그룹 176">
              <a:extLst>
                <a:ext uri="{FF2B5EF4-FFF2-40B4-BE49-F238E27FC236}">
                  <a16:creationId xmlns:a16="http://schemas.microsoft.com/office/drawing/2014/main" id="{88238551-57C5-E8B1-E931-E3DC3E69FBF0}"/>
                </a:ext>
              </a:extLst>
            </p:cNvPr>
            <p:cNvGrpSpPr/>
            <p:nvPr/>
          </p:nvGrpSpPr>
          <p:grpSpPr>
            <a:xfrm>
              <a:off x="4026040" y="6409730"/>
              <a:ext cx="3113359" cy="161444"/>
              <a:chOff x="3967309" y="5451961"/>
              <a:chExt cx="2965684" cy="169165"/>
            </a:xfrm>
          </p:grpSpPr>
          <p:grpSp>
            <p:nvGrpSpPr>
              <p:cNvPr id="178" name="그룹 6">
                <a:extLst>
                  <a:ext uri="{FF2B5EF4-FFF2-40B4-BE49-F238E27FC236}">
                    <a16:creationId xmlns:a16="http://schemas.microsoft.com/office/drawing/2014/main" id="{11D0E9C9-A392-E7A6-9731-2C7F7EDF1000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82" name="순서도: 처리 181">
                  <a:extLst>
                    <a:ext uri="{FF2B5EF4-FFF2-40B4-BE49-F238E27FC236}">
                      <a16:creationId xmlns:a16="http://schemas.microsoft.com/office/drawing/2014/main" id="{4D11377C-E452-4535-BB41-B56CD18FD338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Jennifer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83" name="Rectangle 7">
                  <a:extLst>
                    <a:ext uri="{FF2B5EF4-FFF2-40B4-BE49-F238E27FC236}">
                      <a16:creationId xmlns:a16="http://schemas.microsoft.com/office/drawing/2014/main" id="{A79099E7-18E4-BF96-E65C-4F00A3A6008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싸이웰시스템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179" name="그룹 6">
                <a:extLst>
                  <a:ext uri="{FF2B5EF4-FFF2-40B4-BE49-F238E27FC236}">
                    <a16:creationId xmlns:a16="http://schemas.microsoft.com/office/drawing/2014/main" id="{449841AB-AD1C-136B-7006-AF583D6558B8}"/>
                  </a:ext>
                </a:extLst>
              </p:cNvPr>
              <p:cNvGrpSpPr/>
              <p:nvPr/>
            </p:nvGrpSpPr>
            <p:grpSpPr>
              <a:xfrm>
                <a:off x="548051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80" name="순서도: 처리 179">
                  <a:extLst>
                    <a:ext uri="{FF2B5EF4-FFF2-40B4-BE49-F238E27FC236}">
                      <a16:creationId xmlns:a16="http://schemas.microsoft.com/office/drawing/2014/main" id="{F76EB999-2833-63BF-445A-211278D75633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Softcamp</a:t>
                  </a: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 DRM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81" name="Rectangle 7">
                  <a:extLst>
                    <a:ext uri="{FF2B5EF4-FFF2-40B4-BE49-F238E27FC236}">
                      <a16:creationId xmlns:a16="http://schemas.microsoft.com/office/drawing/2014/main" id="{5E670261-C022-F31D-502D-FF07C5B4C0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소프트캠프 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184" name="그룹 183">
              <a:extLst>
                <a:ext uri="{FF2B5EF4-FFF2-40B4-BE49-F238E27FC236}">
                  <a16:creationId xmlns:a16="http://schemas.microsoft.com/office/drawing/2014/main" id="{086CDB01-A4B9-27A9-F779-741FBC4A91F5}"/>
                </a:ext>
              </a:extLst>
            </p:cNvPr>
            <p:cNvGrpSpPr/>
            <p:nvPr/>
          </p:nvGrpSpPr>
          <p:grpSpPr>
            <a:xfrm>
              <a:off x="4026040" y="6578404"/>
              <a:ext cx="3113359" cy="161444"/>
              <a:chOff x="3967309" y="5451961"/>
              <a:chExt cx="2965684" cy="169165"/>
            </a:xfrm>
          </p:grpSpPr>
          <p:grpSp>
            <p:nvGrpSpPr>
              <p:cNvPr id="185" name="그룹 6">
                <a:extLst>
                  <a:ext uri="{FF2B5EF4-FFF2-40B4-BE49-F238E27FC236}">
                    <a16:creationId xmlns:a16="http://schemas.microsoft.com/office/drawing/2014/main" id="{E4C8B07B-6CAB-302A-CC02-2F00B9C14ED7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89" name="순서도: 처리 188">
                  <a:extLst>
                    <a:ext uri="{FF2B5EF4-FFF2-40B4-BE49-F238E27FC236}">
                      <a16:creationId xmlns:a16="http://schemas.microsoft.com/office/drawing/2014/main" id="{111B1747-9998-BDF5-7F0B-214526B55639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Indigo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90" name="Rectangle 7">
                  <a:extLst>
                    <a:ext uri="{FF2B5EF4-FFF2-40B4-BE49-F238E27FC236}">
                      <a16:creationId xmlns:a16="http://schemas.microsoft.com/office/drawing/2014/main" id="{9AD858F7-3EA4-128A-6B3D-C8E006F5F1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메타빌더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186" name="그룹 6">
                <a:extLst>
                  <a:ext uri="{FF2B5EF4-FFF2-40B4-BE49-F238E27FC236}">
                    <a16:creationId xmlns:a16="http://schemas.microsoft.com/office/drawing/2014/main" id="{45720966-32A8-792A-639C-EBBDAF84F0E6}"/>
                  </a:ext>
                </a:extLst>
              </p:cNvPr>
              <p:cNvGrpSpPr/>
              <p:nvPr/>
            </p:nvGrpSpPr>
            <p:grpSpPr>
              <a:xfrm>
                <a:off x="548051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87" name="순서도: 처리 186">
                  <a:extLst>
                    <a:ext uri="{FF2B5EF4-FFF2-40B4-BE49-F238E27FC236}">
                      <a16:creationId xmlns:a16="http://schemas.microsoft.com/office/drawing/2014/main" id="{61EC95AB-563A-1D51-F4C1-8474B62AEE4D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Sani TOX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88" name="Rectangle 7">
                  <a:extLst>
                    <a:ext uri="{FF2B5EF4-FFF2-40B4-BE49-F238E27FC236}">
                      <a16:creationId xmlns:a16="http://schemas.microsoft.com/office/drawing/2014/main" id="{B0C844A7-AD79-6CD5-C546-738A1D1061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7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지란지교시큐리티</a:t>
                  </a:r>
                  <a:endParaRPr lang="en-US" altLang="ko-KR" sz="7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191" name="그룹 190">
              <a:extLst>
                <a:ext uri="{FF2B5EF4-FFF2-40B4-BE49-F238E27FC236}">
                  <a16:creationId xmlns:a16="http://schemas.microsoft.com/office/drawing/2014/main" id="{785CF0FE-2348-E384-159B-95D87EE00183}"/>
                </a:ext>
              </a:extLst>
            </p:cNvPr>
            <p:cNvGrpSpPr/>
            <p:nvPr/>
          </p:nvGrpSpPr>
          <p:grpSpPr>
            <a:xfrm>
              <a:off x="4026040" y="6923751"/>
              <a:ext cx="3113359" cy="161444"/>
              <a:chOff x="3967309" y="5451961"/>
              <a:chExt cx="2965684" cy="169165"/>
            </a:xfrm>
          </p:grpSpPr>
          <p:grpSp>
            <p:nvGrpSpPr>
              <p:cNvPr id="192" name="그룹 6">
                <a:extLst>
                  <a:ext uri="{FF2B5EF4-FFF2-40B4-BE49-F238E27FC236}">
                    <a16:creationId xmlns:a16="http://schemas.microsoft.com/office/drawing/2014/main" id="{CE25F73D-8822-BE96-0942-0CE9CFA6EE0C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96" name="순서도: 처리 195">
                  <a:extLst>
                    <a:ext uri="{FF2B5EF4-FFF2-40B4-BE49-F238E27FC236}">
                      <a16:creationId xmlns:a16="http://schemas.microsoft.com/office/drawing/2014/main" id="{CAFA4403-6C83-19E0-3779-D6BCF32F33D8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TL Reporting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97" name="Rectangle 7">
                  <a:extLst>
                    <a:ext uri="{FF2B5EF4-FFF2-40B4-BE49-F238E27FC236}">
                      <a16:creationId xmlns:a16="http://schemas.microsoft.com/office/drawing/2014/main" id="{8D2904BC-9ABF-C770-05E7-09DBFB9C52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클립소프트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193" name="그룹 6">
                <a:extLst>
                  <a:ext uri="{FF2B5EF4-FFF2-40B4-BE49-F238E27FC236}">
                    <a16:creationId xmlns:a16="http://schemas.microsoft.com/office/drawing/2014/main" id="{5A14FAC3-0EED-E1D5-AF8D-44EB0464E194}"/>
                  </a:ext>
                </a:extLst>
              </p:cNvPr>
              <p:cNvGrpSpPr/>
              <p:nvPr/>
            </p:nvGrpSpPr>
            <p:grpSpPr>
              <a:xfrm>
                <a:off x="548051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194" name="순서도: 처리 193">
                  <a:extLst>
                    <a:ext uri="{FF2B5EF4-FFF2-40B4-BE49-F238E27FC236}">
                      <a16:creationId xmlns:a16="http://schemas.microsoft.com/office/drawing/2014/main" id="{1D6EAA69-C990-849B-9DCB-A853DA10A88C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Websquare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195" name="Rectangle 7">
                  <a:extLst>
                    <a:ext uri="{FF2B5EF4-FFF2-40B4-BE49-F238E27FC236}">
                      <a16:creationId xmlns:a16="http://schemas.microsoft.com/office/drawing/2014/main" id="{C6B901D7-4AE9-2655-4A7F-90C953DB18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7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인스웨이브시스템</a:t>
                  </a:r>
                  <a:endParaRPr lang="en-US" altLang="ko-KR" sz="7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198" name="그룹 197">
              <a:extLst>
                <a:ext uri="{FF2B5EF4-FFF2-40B4-BE49-F238E27FC236}">
                  <a16:creationId xmlns:a16="http://schemas.microsoft.com/office/drawing/2014/main" id="{BBA7AFC6-2489-1DB2-3CDF-56E8EC30F127}"/>
                </a:ext>
              </a:extLst>
            </p:cNvPr>
            <p:cNvGrpSpPr/>
            <p:nvPr/>
          </p:nvGrpSpPr>
          <p:grpSpPr>
            <a:xfrm>
              <a:off x="4026040" y="6747078"/>
              <a:ext cx="3113359" cy="169443"/>
              <a:chOff x="3967309" y="5443582"/>
              <a:chExt cx="2965684" cy="177547"/>
            </a:xfrm>
          </p:grpSpPr>
          <p:grpSp>
            <p:nvGrpSpPr>
              <p:cNvPr id="199" name="그룹 6">
                <a:extLst>
                  <a:ext uri="{FF2B5EF4-FFF2-40B4-BE49-F238E27FC236}">
                    <a16:creationId xmlns:a16="http://schemas.microsoft.com/office/drawing/2014/main" id="{7EA42918-01D9-1456-74B4-C5936366C0A6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203" name="순서도: 처리 202">
                  <a:extLst>
                    <a:ext uri="{FF2B5EF4-FFF2-40B4-BE49-F238E27FC236}">
                      <a16:creationId xmlns:a16="http://schemas.microsoft.com/office/drawing/2014/main" id="{80E5C142-9854-9C0B-27DB-08117E131B95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WISE OLAP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204" name="Rectangle 7">
                  <a:extLst>
                    <a:ext uri="{FF2B5EF4-FFF2-40B4-BE49-F238E27FC236}">
                      <a16:creationId xmlns:a16="http://schemas.microsoft.com/office/drawing/2014/main" id="{2C27F64A-9A8B-BF20-7933-AE80890071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위세아이텍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200" name="그룹 6">
                <a:extLst>
                  <a:ext uri="{FF2B5EF4-FFF2-40B4-BE49-F238E27FC236}">
                    <a16:creationId xmlns:a16="http://schemas.microsoft.com/office/drawing/2014/main" id="{737C40A8-E4A2-999E-B505-E94D6FEA82C7}"/>
                  </a:ext>
                </a:extLst>
              </p:cNvPr>
              <p:cNvGrpSpPr/>
              <p:nvPr/>
            </p:nvGrpSpPr>
            <p:grpSpPr>
              <a:xfrm>
                <a:off x="5480519" y="5443582"/>
                <a:ext cx="1452474" cy="177547"/>
                <a:chOff x="1345017" y="7533331"/>
                <a:chExt cx="1634455" cy="460313"/>
              </a:xfrm>
            </p:grpSpPr>
            <p:sp>
              <p:nvSpPr>
                <p:cNvPr id="201" name="순서도: 처리 200">
                  <a:extLst>
                    <a:ext uri="{FF2B5EF4-FFF2-40B4-BE49-F238E27FC236}">
                      <a16:creationId xmlns:a16="http://schemas.microsoft.com/office/drawing/2014/main" id="{77363AD8-8583-3C4E-A656-B3550E2CEB51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JOB-</a:t>
                  </a:r>
                  <a:r>
                    <a:rPr lang="en-US" altLang="ko-KR" sz="8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PaSS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202" name="Rectangle 7">
                  <a:extLst>
                    <a:ext uri="{FF2B5EF4-FFF2-40B4-BE49-F238E27FC236}">
                      <a16:creationId xmlns:a16="http://schemas.microsoft.com/office/drawing/2014/main" id="{224426E3-26B3-7A05-579A-8DE65FC3A1C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33331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데이터투테크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205" name="그룹 204">
              <a:extLst>
                <a:ext uri="{FF2B5EF4-FFF2-40B4-BE49-F238E27FC236}">
                  <a16:creationId xmlns:a16="http://schemas.microsoft.com/office/drawing/2014/main" id="{61CD3F7E-F7B3-3FEB-3B4C-A264728511D6}"/>
                </a:ext>
              </a:extLst>
            </p:cNvPr>
            <p:cNvGrpSpPr/>
            <p:nvPr/>
          </p:nvGrpSpPr>
          <p:grpSpPr>
            <a:xfrm>
              <a:off x="4026040" y="7092424"/>
              <a:ext cx="3113359" cy="161444"/>
              <a:chOff x="3967309" y="5451961"/>
              <a:chExt cx="2965684" cy="169165"/>
            </a:xfrm>
          </p:grpSpPr>
          <p:grpSp>
            <p:nvGrpSpPr>
              <p:cNvPr id="206" name="그룹 6">
                <a:extLst>
                  <a:ext uri="{FF2B5EF4-FFF2-40B4-BE49-F238E27FC236}">
                    <a16:creationId xmlns:a16="http://schemas.microsoft.com/office/drawing/2014/main" id="{73BF9EE6-EB39-0099-CAE6-18D5C0D07730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210" name="순서도: 처리 209">
                  <a:extLst>
                    <a:ext uri="{FF2B5EF4-FFF2-40B4-BE49-F238E27FC236}">
                      <a16:creationId xmlns:a16="http://schemas.microsoft.com/office/drawing/2014/main" id="{B50AD705-E828-DC7C-A599-851F4A272462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HI-WARE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211" name="Rectangle 7">
                  <a:extLst>
                    <a:ext uri="{FF2B5EF4-FFF2-40B4-BE49-F238E27FC236}">
                      <a16:creationId xmlns:a16="http://schemas.microsoft.com/office/drawing/2014/main" id="{E965B494-B770-44B6-2289-56388CE3B1A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7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에스엠인포메이션</a:t>
                  </a:r>
                  <a:endParaRPr lang="en-US" altLang="ko-KR" sz="7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207" name="그룹 6">
                <a:extLst>
                  <a:ext uri="{FF2B5EF4-FFF2-40B4-BE49-F238E27FC236}">
                    <a16:creationId xmlns:a16="http://schemas.microsoft.com/office/drawing/2014/main" id="{E4739191-F229-2D19-DC87-6C3706BFCE38}"/>
                  </a:ext>
                </a:extLst>
              </p:cNvPr>
              <p:cNvGrpSpPr/>
              <p:nvPr/>
            </p:nvGrpSpPr>
            <p:grpSpPr>
              <a:xfrm>
                <a:off x="548051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208" name="순서도: 처리 207">
                  <a:extLst>
                    <a:ext uri="{FF2B5EF4-FFF2-40B4-BE49-F238E27FC236}">
                      <a16:creationId xmlns:a16="http://schemas.microsoft.com/office/drawing/2014/main" id="{3CCA0125-AE1E-70CD-4BC8-1E980903EC04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TeraStream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209" name="Rectangle 7">
                  <a:extLst>
                    <a:ext uri="{FF2B5EF4-FFF2-40B4-BE49-F238E27FC236}">
                      <a16:creationId xmlns:a16="http://schemas.microsoft.com/office/drawing/2014/main" id="{57EF5738-A26B-80B7-F5C4-D5E8087F67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데이터스트림즈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06F95FC1-D3B8-E5CD-3CDA-585FF2615486}"/>
                </a:ext>
              </a:extLst>
            </p:cNvPr>
            <p:cNvGrpSpPr/>
            <p:nvPr/>
          </p:nvGrpSpPr>
          <p:grpSpPr>
            <a:xfrm>
              <a:off x="4026040" y="7261098"/>
              <a:ext cx="3113359" cy="161444"/>
              <a:chOff x="3967309" y="5451961"/>
              <a:chExt cx="2965684" cy="169165"/>
            </a:xfrm>
          </p:grpSpPr>
          <p:grpSp>
            <p:nvGrpSpPr>
              <p:cNvPr id="213" name="그룹 6">
                <a:extLst>
                  <a:ext uri="{FF2B5EF4-FFF2-40B4-BE49-F238E27FC236}">
                    <a16:creationId xmlns:a16="http://schemas.microsoft.com/office/drawing/2014/main" id="{CE9A3FEF-628E-969E-12DD-17DAFF38BE60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217" name="순서도: 처리 216">
                  <a:extLst>
                    <a:ext uri="{FF2B5EF4-FFF2-40B4-BE49-F238E27FC236}">
                      <a16:creationId xmlns:a16="http://schemas.microsoft.com/office/drawing/2014/main" id="{703320CA-9FD5-0DC0-B884-0B583B046525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TouchEn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218" name="Rectangle 7">
                  <a:extLst>
                    <a:ext uri="{FF2B5EF4-FFF2-40B4-BE49-F238E27FC236}">
                      <a16:creationId xmlns:a16="http://schemas.microsoft.com/office/drawing/2014/main" id="{9AEDD591-09C4-71F9-483B-AD63F80E50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라온시큐어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214" name="그룹 6">
                <a:extLst>
                  <a:ext uri="{FF2B5EF4-FFF2-40B4-BE49-F238E27FC236}">
                    <a16:creationId xmlns:a16="http://schemas.microsoft.com/office/drawing/2014/main" id="{32CF7552-6667-F6C6-72C4-CBA1276BC5DC}"/>
                  </a:ext>
                </a:extLst>
              </p:cNvPr>
              <p:cNvGrpSpPr/>
              <p:nvPr/>
            </p:nvGrpSpPr>
            <p:grpSpPr>
              <a:xfrm>
                <a:off x="548051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215" name="순서도: 처리 214">
                  <a:extLst>
                    <a:ext uri="{FF2B5EF4-FFF2-40B4-BE49-F238E27FC236}">
                      <a16:creationId xmlns:a16="http://schemas.microsoft.com/office/drawing/2014/main" id="{EAB6371E-7DE4-2636-44B6-4C13A787E0AD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 nProtect Online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216" name="Rectangle 7">
                  <a:extLst>
                    <a:ext uri="{FF2B5EF4-FFF2-40B4-BE49-F238E27FC236}">
                      <a16:creationId xmlns:a16="http://schemas.microsoft.com/office/drawing/2014/main" id="{8070DAD2-1D99-38D1-9965-FDC2A612E1F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잉카인터넷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219" name="그룹 218">
              <a:extLst>
                <a:ext uri="{FF2B5EF4-FFF2-40B4-BE49-F238E27FC236}">
                  <a16:creationId xmlns:a16="http://schemas.microsoft.com/office/drawing/2014/main" id="{2E7CC931-ABD9-1F8D-A879-563C1AA1F9F2}"/>
                </a:ext>
              </a:extLst>
            </p:cNvPr>
            <p:cNvGrpSpPr/>
            <p:nvPr/>
          </p:nvGrpSpPr>
          <p:grpSpPr>
            <a:xfrm>
              <a:off x="4026040" y="7429772"/>
              <a:ext cx="3113359" cy="161444"/>
              <a:chOff x="3967309" y="5451961"/>
              <a:chExt cx="2965684" cy="169165"/>
            </a:xfrm>
          </p:grpSpPr>
          <p:grpSp>
            <p:nvGrpSpPr>
              <p:cNvPr id="220" name="그룹 6">
                <a:extLst>
                  <a:ext uri="{FF2B5EF4-FFF2-40B4-BE49-F238E27FC236}">
                    <a16:creationId xmlns:a16="http://schemas.microsoft.com/office/drawing/2014/main" id="{F34AFAA6-FF87-930E-F906-3B972541C8B0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224" name="순서도: 처리 223">
                  <a:extLst>
                    <a:ext uri="{FF2B5EF4-FFF2-40B4-BE49-F238E27FC236}">
                      <a16:creationId xmlns:a16="http://schemas.microsoft.com/office/drawing/2014/main" id="{BD9CFBB2-353F-D685-DF97-AA5B27330D18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marR="0" lvl="1" indent="0" algn="ctr" defTabSz="134766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24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ko-KR" sz="800" b="0" i="0" u="none" strike="noStrike" kern="0" cap="none" spc="0" normalizeH="0" baseline="0" noProof="0" dirty="0">
                      <a:ln>
                        <a:solidFill>
                          <a:srgbClr val="FFFFFF">
                            <a:alpha val="4000"/>
                          </a:srgbClr>
                        </a:solidFill>
                      </a:ln>
                      <a:gradFill>
                        <a:gsLst>
                          <a:gs pos="0">
                            <a:srgbClr val="000000">
                              <a:lumMod val="85000"/>
                              <a:lumOff val="15000"/>
                            </a:srgbClr>
                          </a:gs>
                          <a:gs pos="100000">
                            <a:srgbClr val="000000">
                              <a:lumMod val="85000"/>
                              <a:lumOff val="15000"/>
                            </a:srgbClr>
                          </a:gs>
                        </a:gsLst>
                        <a:lin ang="13500000" scaled="1"/>
                      </a:gradFill>
                      <a:effectLst/>
                      <a:uLnTx/>
                      <a:uFillTx/>
                      <a:latin typeface="KoPub돋움체 Bold" panose="02020603020101020101" pitchFamily="18" charset="-127"/>
                      <a:ea typeface="KoPub돋움체 Bold" panose="02020603020101020101" pitchFamily="18" charset="-127"/>
                      <a:cs typeface="+mn-cs"/>
                      <a:sym typeface="KoPub돋움체 Medium"/>
                    </a:rPr>
                    <a:t>Key# </a:t>
                  </a:r>
                  <a:r>
                    <a:rPr kumimoji="0" lang="en-US" altLang="ko-KR" sz="800" b="0" i="0" u="none" strike="noStrike" kern="0" cap="none" spc="0" normalizeH="0" baseline="0" noProof="0" dirty="0" err="1">
                      <a:ln>
                        <a:solidFill>
                          <a:srgbClr val="FFFFFF">
                            <a:alpha val="4000"/>
                          </a:srgbClr>
                        </a:solidFill>
                      </a:ln>
                      <a:gradFill>
                        <a:gsLst>
                          <a:gs pos="0">
                            <a:srgbClr val="000000">
                              <a:lumMod val="85000"/>
                              <a:lumOff val="15000"/>
                            </a:srgbClr>
                          </a:gs>
                          <a:gs pos="100000">
                            <a:srgbClr val="000000">
                              <a:lumMod val="85000"/>
                              <a:lumOff val="15000"/>
                            </a:srgbClr>
                          </a:gs>
                        </a:gsLst>
                        <a:lin ang="13500000" scaled="1"/>
                      </a:gradFill>
                      <a:effectLst/>
                      <a:uLnTx/>
                      <a:uFillTx/>
                      <a:latin typeface="KoPub돋움체 Bold" panose="02020603020101020101" pitchFamily="18" charset="-127"/>
                      <a:ea typeface="KoPub돋움체 Bold" panose="02020603020101020101" pitchFamily="18" charset="-127"/>
                      <a:cs typeface="+mn-cs"/>
                      <a:sym typeface="KoPub돋움체 Medium"/>
                    </a:rPr>
                    <a:t>nxBiz</a:t>
                  </a:r>
                  <a:endParaRPr kumimoji="0" lang="ko-KR" altLang="en-US" sz="800" b="0" i="0" u="none" strike="noStrike" kern="0" cap="none" spc="0" normalizeH="0" baseline="0" noProof="0" dirty="0">
                    <a:ln>
                      <a:solidFill>
                        <a:srgbClr val="FFFFFF">
                          <a:alpha val="4000"/>
                        </a:srgbClr>
                      </a:solidFill>
                    </a:ln>
                    <a:gradFill>
                      <a:gsLst>
                        <a:gs pos="0">
                          <a:srgbClr val="000000">
                            <a:lumMod val="85000"/>
                            <a:lumOff val="15000"/>
                          </a:srgbClr>
                        </a:gs>
                        <a:gs pos="100000">
                          <a:srgbClr val="000000">
                            <a:lumMod val="85000"/>
                            <a:lumOff val="15000"/>
                          </a:srgbClr>
                        </a:gs>
                      </a:gsLst>
                      <a:lin ang="13500000" scaled="1"/>
                    </a:gradFill>
                    <a:effectLst/>
                    <a:uLnTx/>
                    <a:uFillTx/>
                    <a:latin typeface="KoPub돋움체 Bold" panose="02020603020101020101" pitchFamily="18" charset="-127"/>
                    <a:ea typeface="KoPub돋움체 Bold" panose="02020603020101020101" pitchFamily="18" charset="-127"/>
                    <a:cs typeface="+mn-cs"/>
                    <a:sym typeface="KoPub돋움체 Medium"/>
                  </a:endParaRPr>
                </a:p>
              </p:txBody>
            </p:sp>
            <p:sp>
              <p:nvSpPr>
                <p:cNvPr id="225" name="Rectangle 7">
                  <a:extLst>
                    <a:ext uri="{FF2B5EF4-FFF2-40B4-BE49-F238E27FC236}">
                      <a16:creationId xmlns:a16="http://schemas.microsoft.com/office/drawing/2014/main" id="{F7392D4D-527A-451D-C4B6-69BCCB599DE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라온시큐어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221" name="그룹 6">
                <a:extLst>
                  <a:ext uri="{FF2B5EF4-FFF2-40B4-BE49-F238E27FC236}">
                    <a16:creationId xmlns:a16="http://schemas.microsoft.com/office/drawing/2014/main" id="{96680F28-13F3-3C92-3878-FCCE85FAD7D2}"/>
                  </a:ext>
                </a:extLst>
              </p:cNvPr>
              <p:cNvGrpSpPr/>
              <p:nvPr/>
            </p:nvGrpSpPr>
            <p:grpSpPr>
              <a:xfrm>
                <a:off x="548051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222" name="순서도: 처리 221">
                  <a:extLst>
                    <a:ext uri="{FF2B5EF4-FFF2-40B4-BE49-F238E27FC236}">
                      <a16:creationId xmlns:a16="http://schemas.microsoft.com/office/drawing/2014/main" id="{0027B8BF-1B0A-4130-A9B7-003022615251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Magic Line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223" name="Rectangle 7">
                  <a:extLst>
                    <a:ext uri="{FF2B5EF4-FFF2-40B4-BE49-F238E27FC236}">
                      <a16:creationId xmlns:a16="http://schemas.microsoft.com/office/drawing/2014/main" id="{A7C3F875-44AD-F94D-9BF7-4F9F879903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드림시큐리티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226" name="그룹 225">
              <a:extLst>
                <a:ext uri="{FF2B5EF4-FFF2-40B4-BE49-F238E27FC236}">
                  <a16:creationId xmlns:a16="http://schemas.microsoft.com/office/drawing/2014/main" id="{BABB6149-29B6-A01E-B225-058AD965A87F}"/>
                </a:ext>
              </a:extLst>
            </p:cNvPr>
            <p:cNvGrpSpPr/>
            <p:nvPr/>
          </p:nvGrpSpPr>
          <p:grpSpPr>
            <a:xfrm>
              <a:off x="4026040" y="7598445"/>
              <a:ext cx="3113359" cy="161444"/>
              <a:chOff x="3967309" y="5451961"/>
              <a:chExt cx="2965684" cy="169165"/>
            </a:xfrm>
          </p:grpSpPr>
          <p:grpSp>
            <p:nvGrpSpPr>
              <p:cNvPr id="227" name="그룹 6">
                <a:extLst>
                  <a:ext uri="{FF2B5EF4-FFF2-40B4-BE49-F238E27FC236}">
                    <a16:creationId xmlns:a16="http://schemas.microsoft.com/office/drawing/2014/main" id="{63778B1C-B850-E9A3-089D-BBC3D2FB1DE9}"/>
                  </a:ext>
                </a:extLst>
              </p:cNvPr>
              <p:cNvGrpSpPr/>
              <p:nvPr/>
            </p:nvGrpSpPr>
            <p:grpSpPr>
              <a:xfrm>
                <a:off x="396730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231" name="순서도: 처리 230">
                  <a:extLst>
                    <a:ext uri="{FF2B5EF4-FFF2-40B4-BE49-F238E27FC236}">
                      <a16:creationId xmlns:a16="http://schemas.microsoft.com/office/drawing/2014/main" id="{B89739D9-3C70-1DC6-6D03-FCEDBF301829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KICA EWS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232" name="Rectangle 7">
                  <a:extLst>
                    <a:ext uri="{FF2B5EF4-FFF2-40B4-BE49-F238E27FC236}">
                      <a16:creationId xmlns:a16="http://schemas.microsoft.com/office/drawing/2014/main" id="{B702E8A6-08F5-B823-612E-EC69C48351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한국정보인증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  <p:grpSp>
            <p:nvGrpSpPr>
              <p:cNvPr id="228" name="그룹 6">
                <a:extLst>
                  <a:ext uri="{FF2B5EF4-FFF2-40B4-BE49-F238E27FC236}">
                    <a16:creationId xmlns:a16="http://schemas.microsoft.com/office/drawing/2014/main" id="{B963CA5A-3D00-645A-33C1-67186BB0D660}"/>
                  </a:ext>
                </a:extLst>
              </p:cNvPr>
              <p:cNvGrpSpPr/>
              <p:nvPr/>
            </p:nvGrpSpPr>
            <p:grpSpPr>
              <a:xfrm>
                <a:off x="5480519" y="5451961"/>
                <a:ext cx="1452474" cy="169165"/>
                <a:chOff x="1345017" y="7555062"/>
                <a:chExt cx="1634455" cy="438582"/>
              </a:xfrm>
            </p:grpSpPr>
            <p:sp>
              <p:nvSpPr>
                <p:cNvPr id="229" name="순서도: 처리 228">
                  <a:extLst>
                    <a:ext uri="{FF2B5EF4-FFF2-40B4-BE49-F238E27FC236}">
                      <a16:creationId xmlns:a16="http://schemas.microsoft.com/office/drawing/2014/main" id="{84CDF8C4-1E11-1FC9-F9F5-D9E70AA889B5}"/>
                    </a:ext>
                  </a:extLst>
                </p:cNvPr>
                <p:cNvSpPr/>
                <p:nvPr/>
              </p:nvSpPr>
              <p:spPr>
                <a:xfrm>
                  <a:off x="1345017" y="7555062"/>
                  <a:ext cx="815429" cy="438582"/>
                </a:xfrm>
                <a:prstGeom prst="flowChartProcess">
                  <a:avLst/>
                </a:prstGeom>
                <a:pattFill prst="ltDnDiag">
                  <a:fgClr>
                    <a:schemeClr val="bg1">
                      <a:lumMod val="85000"/>
                    </a:schemeClr>
                  </a:fgClr>
                  <a:bgClr>
                    <a:schemeClr val="bg1"/>
                  </a:bgClr>
                </a:pattFill>
                <a:ln w="6350">
                  <a:solidFill>
                    <a:schemeClr val="bg1">
                      <a:lumMod val="75000"/>
                    </a:schemeClr>
                  </a:solidFill>
                  <a:miter lim="800000"/>
                  <a:headEnd/>
                  <a:tailEnd/>
                </a:ln>
                <a:effectLst/>
              </p:spPr>
              <p:txBody>
                <a:bodyPr wrap="none" lIns="0" tIns="0" rIns="0" bIns="0" anchor="ctr">
                  <a:scene3d>
                    <a:camera prst="orthographicFront"/>
                    <a:lightRig rig="threePt" dir="t"/>
                  </a:scene3d>
                  <a:sp3d contourW="6350"/>
                </a:bodyPr>
                <a:lstStyle/>
                <a:p>
                  <a:pPr marL="0" lvl="1" algn="ctr" latinLnBrk="0">
                    <a:spcAft>
                      <a:spcPts val="240"/>
                    </a:spcAft>
                  </a:pPr>
                  <a:r>
                    <a:rPr lang="en-US" altLang="ko-KR" sz="800" kern="0" dirty="0" err="1">
                      <a:ln>
                        <a:solidFill>
                          <a:schemeClr val="bg1">
                            <a:alpha val="4000"/>
                          </a:schemeClr>
                        </a:solidFill>
                      </a:ln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Bold" panose="02020603020101020101" pitchFamily="18" charset="-127"/>
                      <a:ea typeface="KoPub돋움체 Bold" panose="02020603020101020101" pitchFamily="18" charset="-127"/>
                      <a:sym typeface="KoPub돋움체 Medium"/>
                    </a:rPr>
                    <a:t>MaxGauge</a:t>
                  </a:r>
                  <a:endPara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endParaRPr>
                </a:p>
              </p:txBody>
            </p:sp>
            <p:sp>
              <p:nvSpPr>
                <p:cNvPr id="230" name="Rectangle 7">
                  <a:extLst>
                    <a:ext uri="{FF2B5EF4-FFF2-40B4-BE49-F238E27FC236}">
                      <a16:creationId xmlns:a16="http://schemas.microsoft.com/office/drawing/2014/main" id="{7D6A88D3-F07F-82B9-6BEB-224496E52F6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164043" y="7555062"/>
                  <a:ext cx="815429" cy="438582"/>
                </a:xfrm>
                <a:prstGeom prst="rect">
                  <a:avLst/>
                </a:prstGeom>
                <a:solidFill>
                  <a:schemeClr val="bg1"/>
                </a:solidFill>
                <a:ln w="6350" algn="ctr">
                  <a:solidFill>
                    <a:srgbClr val="C0C0C0"/>
                  </a:solidFill>
                  <a:miter lim="800000"/>
                  <a:headEnd/>
                  <a:tailEnd/>
                </a:ln>
                <a:effectLst/>
              </p:spPr>
              <p:txBody>
                <a:bodyPr wrap="square" lIns="35992" tIns="0" rIns="35992" bIns="0" anchor="ctr"/>
                <a:lstStyle/>
                <a:p>
                  <a:pPr algn="ctr">
                    <a:spcBef>
                      <a:spcPts val="0"/>
                    </a:spcBef>
                    <a:defRPr/>
                  </a:pPr>
                  <a:r>
                    <a:rPr lang="ko-KR" altLang="en-US" sz="800" dirty="0" err="1">
                      <a:gradFill>
                        <a:gsLst>
                          <a:gs pos="0">
                            <a:schemeClr val="tx1">
                              <a:lumMod val="85000"/>
                              <a:lumOff val="15000"/>
                            </a:schemeClr>
                          </a:gs>
                          <a:gs pos="100000">
                            <a:schemeClr val="tx1">
                              <a:lumMod val="85000"/>
                              <a:lumOff val="15000"/>
                            </a:schemeClr>
                          </a:gs>
                        </a:gsLst>
                        <a:lin ang="13500000" scaled="1"/>
                      </a:gradFill>
                      <a:latin typeface="KoPub돋움체 Light" panose="02020603020101020101" pitchFamily="18" charset="-127"/>
                      <a:ea typeface="KoPub돋움체 Light" panose="02020603020101020101" pitchFamily="18" charset="-127"/>
                    </a:rPr>
                    <a:t>엑셈</a:t>
                  </a:r>
                  <a:endParaRPr lang="en-US" altLang="ko-KR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endParaRPr>
                </a:p>
              </p:txBody>
            </p:sp>
          </p:grpSp>
        </p:grpSp>
        <p:grpSp>
          <p:nvGrpSpPr>
            <p:cNvPr id="233" name="그룹 6">
              <a:extLst>
                <a:ext uri="{FF2B5EF4-FFF2-40B4-BE49-F238E27FC236}">
                  <a16:creationId xmlns:a16="http://schemas.microsoft.com/office/drawing/2014/main" id="{E7A3FAEB-5863-E9D2-F401-6B6F9C1B7252}"/>
                </a:ext>
              </a:extLst>
            </p:cNvPr>
            <p:cNvGrpSpPr/>
            <p:nvPr/>
          </p:nvGrpSpPr>
          <p:grpSpPr>
            <a:xfrm>
              <a:off x="4026040" y="7767121"/>
              <a:ext cx="1524799" cy="161444"/>
              <a:chOff x="1345017" y="7555062"/>
              <a:chExt cx="1634455" cy="438582"/>
            </a:xfrm>
          </p:grpSpPr>
          <p:sp>
            <p:nvSpPr>
              <p:cNvPr id="234" name="순서도: 처리 233">
                <a:extLst>
                  <a:ext uri="{FF2B5EF4-FFF2-40B4-BE49-F238E27FC236}">
                    <a16:creationId xmlns:a16="http://schemas.microsoft.com/office/drawing/2014/main" id="{4A32441D-5193-839B-3D57-2F28267A077E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ko-KR" altLang="en-US" sz="800" kern="0" dirty="0" err="1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위즈헬퍼</a:t>
                </a:r>
                <a:endParaRPr lang="ko-KR" altLang="en-US" sz="800" kern="0" dirty="0">
                  <a:ln>
                    <a:solidFill>
                      <a:schemeClr val="bg1">
                        <a:alpha val="4000"/>
                      </a:schemeClr>
                    </a:solidFill>
                  </a:ln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sym typeface="KoPub돋움체 Medium"/>
                </a:endParaRPr>
              </a:p>
            </p:txBody>
          </p:sp>
          <p:sp>
            <p:nvSpPr>
              <p:cNvPr id="235" name="Rectangle 7">
                <a:extLst>
                  <a:ext uri="{FF2B5EF4-FFF2-40B4-BE49-F238E27FC236}">
                    <a16:creationId xmlns:a16="http://schemas.microsoft.com/office/drawing/2014/main" id="{53869A3A-80E5-7F68-53D3-A3978B4BE3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 err="1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아란타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36" name="그룹 6">
              <a:extLst>
                <a:ext uri="{FF2B5EF4-FFF2-40B4-BE49-F238E27FC236}">
                  <a16:creationId xmlns:a16="http://schemas.microsoft.com/office/drawing/2014/main" id="{FA2D622E-E171-7319-908A-64DB4DF1B3BC}"/>
                </a:ext>
              </a:extLst>
            </p:cNvPr>
            <p:cNvGrpSpPr/>
            <p:nvPr/>
          </p:nvGrpSpPr>
          <p:grpSpPr>
            <a:xfrm>
              <a:off x="812949" y="5397689"/>
              <a:ext cx="2701274" cy="161444"/>
              <a:chOff x="1345017" y="7555062"/>
              <a:chExt cx="1634455" cy="438582"/>
            </a:xfrm>
          </p:grpSpPr>
          <p:sp>
            <p:nvSpPr>
              <p:cNvPr id="237" name="순서도: 처리 236">
                <a:extLst>
                  <a:ext uri="{FF2B5EF4-FFF2-40B4-BE49-F238E27FC236}">
                    <a16:creationId xmlns:a16="http://schemas.microsoft.com/office/drawing/2014/main" id="{659A11AB-62A4-8437-CC81-1A872ECD900A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서버</a:t>
                </a: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, </a:t>
                </a: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스토리지 전체</a:t>
                </a:r>
              </a:p>
            </p:txBody>
          </p:sp>
          <p:sp>
            <p:nvSpPr>
              <p:cNvPr id="238" name="Rectangle 7">
                <a:extLst>
                  <a:ext uri="{FF2B5EF4-FFF2-40B4-BE49-F238E27FC236}">
                    <a16:creationId xmlns:a16="http://schemas.microsoft.com/office/drawing/2014/main" id="{A16DE0E4-D81C-E725-2A03-C5C6E7FD37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나래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39" name="그룹 6">
              <a:extLst>
                <a:ext uri="{FF2B5EF4-FFF2-40B4-BE49-F238E27FC236}">
                  <a16:creationId xmlns:a16="http://schemas.microsoft.com/office/drawing/2014/main" id="{F6F253FC-6A1D-2AF7-9076-B2D4764F3C63}"/>
                </a:ext>
              </a:extLst>
            </p:cNvPr>
            <p:cNvGrpSpPr/>
            <p:nvPr/>
          </p:nvGrpSpPr>
          <p:grpSpPr>
            <a:xfrm>
              <a:off x="812949" y="5566933"/>
              <a:ext cx="2701274" cy="161444"/>
              <a:chOff x="1345017" y="7555062"/>
              <a:chExt cx="1634455" cy="438582"/>
            </a:xfrm>
          </p:grpSpPr>
          <p:sp>
            <p:nvSpPr>
              <p:cNvPr id="240" name="순서도: 처리 239">
                <a:extLst>
                  <a:ext uri="{FF2B5EF4-FFF2-40B4-BE49-F238E27FC236}">
                    <a16:creationId xmlns:a16="http://schemas.microsoft.com/office/drawing/2014/main" id="{C4DB1865-A5BB-3929-554B-87193D6312AC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ko-KR" altLang="en-US" sz="800" kern="0" dirty="0" err="1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백본스위치</a:t>
                </a: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, </a:t>
                </a: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라우터</a:t>
                </a:r>
              </a:p>
            </p:txBody>
          </p:sp>
          <p:sp>
            <p:nvSpPr>
              <p:cNvPr id="241" name="Rectangle 7">
                <a:extLst>
                  <a:ext uri="{FF2B5EF4-FFF2-40B4-BE49-F238E27FC236}">
                    <a16:creationId xmlns:a16="http://schemas.microsoft.com/office/drawing/2014/main" id="{1BDA8AB6-4796-1E35-D3A8-C9E6A953F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 err="1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티볼리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42" name="그룹 6">
              <a:extLst>
                <a:ext uri="{FF2B5EF4-FFF2-40B4-BE49-F238E27FC236}">
                  <a16:creationId xmlns:a16="http://schemas.microsoft.com/office/drawing/2014/main" id="{D4E5AA72-05FB-9D30-4FB6-1D24A87FA188}"/>
                </a:ext>
              </a:extLst>
            </p:cNvPr>
            <p:cNvGrpSpPr/>
            <p:nvPr/>
          </p:nvGrpSpPr>
          <p:grpSpPr>
            <a:xfrm>
              <a:off x="812949" y="5736178"/>
              <a:ext cx="2701274" cy="161444"/>
              <a:chOff x="1345017" y="7555062"/>
              <a:chExt cx="1634455" cy="438582"/>
            </a:xfrm>
          </p:grpSpPr>
          <p:sp>
            <p:nvSpPr>
              <p:cNvPr id="243" name="순서도: 처리 242">
                <a:extLst>
                  <a:ext uri="{FF2B5EF4-FFF2-40B4-BE49-F238E27FC236}">
                    <a16:creationId xmlns:a16="http://schemas.microsoft.com/office/drawing/2014/main" id="{A600C585-B19F-6E9D-26F4-B93732E815FA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L4</a:t>
                </a: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스위치</a:t>
                </a: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, </a:t>
                </a: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워크그룹</a:t>
                </a:r>
              </a:p>
            </p:txBody>
          </p:sp>
          <p:sp>
            <p:nvSpPr>
              <p:cNvPr id="244" name="Rectangle 7">
                <a:extLst>
                  <a:ext uri="{FF2B5EF4-FFF2-40B4-BE49-F238E27FC236}">
                    <a16:creationId xmlns:a16="http://schemas.microsoft.com/office/drawing/2014/main" id="{C5F00B52-8A0A-B516-7DB0-8DE150CCC1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 err="1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티볼리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45" name="그룹 6">
              <a:extLst>
                <a:ext uri="{FF2B5EF4-FFF2-40B4-BE49-F238E27FC236}">
                  <a16:creationId xmlns:a16="http://schemas.microsoft.com/office/drawing/2014/main" id="{E949539B-9887-C4D2-B263-DBD8D61B9BA6}"/>
                </a:ext>
              </a:extLst>
            </p:cNvPr>
            <p:cNvGrpSpPr/>
            <p:nvPr/>
          </p:nvGrpSpPr>
          <p:grpSpPr>
            <a:xfrm>
              <a:off x="812949" y="5905423"/>
              <a:ext cx="2701274" cy="161444"/>
              <a:chOff x="1345017" y="7555062"/>
              <a:chExt cx="1634455" cy="438582"/>
            </a:xfrm>
          </p:grpSpPr>
          <p:sp>
            <p:nvSpPr>
              <p:cNvPr id="246" name="순서도: 처리 245">
                <a:extLst>
                  <a:ext uri="{FF2B5EF4-FFF2-40B4-BE49-F238E27FC236}">
                    <a16:creationId xmlns:a16="http://schemas.microsoft.com/office/drawing/2014/main" id="{2666DA30-A2A0-44D8-D7E4-E063E8BF34C4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문자전송장치</a:t>
                </a:r>
              </a:p>
            </p:txBody>
          </p:sp>
          <p:sp>
            <p:nvSpPr>
              <p:cNvPr id="247" name="Rectangle 7">
                <a:extLst>
                  <a:ext uri="{FF2B5EF4-FFF2-40B4-BE49-F238E27FC236}">
                    <a16:creationId xmlns:a16="http://schemas.microsoft.com/office/drawing/2014/main" id="{639BF24A-A4FC-DF20-5AB4-EEB957A25E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 err="1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엠포스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48" name="그룹 6">
              <a:extLst>
                <a:ext uri="{FF2B5EF4-FFF2-40B4-BE49-F238E27FC236}">
                  <a16:creationId xmlns:a16="http://schemas.microsoft.com/office/drawing/2014/main" id="{B7E447CB-B160-669A-0564-5D797B9027D0}"/>
                </a:ext>
              </a:extLst>
            </p:cNvPr>
            <p:cNvGrpSpPr/>
            <p:nvPr/>
          </p:nvGrpSpPr>
          <p:grpSpPr>
            <a:xfrm>
              <a:off x="812949" y="6074667"/>
              <a:ext cx="2701274" cy="161444"/>
              <a:chOff x="1345017" y="7555062"/>
              <a:chExt cx="1634455" cy="438582"/>
            </a:xfrm>
          </p:grpSpPr>
          <p:sp>
            <p:nvSpPr>
              <p:cNvPr id="249" name="순서도: 처리 248">
                <a:extLst>
                  <a:ext uri="{FF2B5EF4-FFF2-40B4-BE49-F238E27FC236}">
                    <a16:creationId xmlns:a16="http://schemas.microsoft.com/office/drawing/2014/main" id="{18023947-B846-DEBE-8865-61215102D247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IP </a:t>
                </a: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관리체계</a:t>
                </a:r>
              </a:p>
            </p:txBody>
          </p:sp>
          <p:sp>
            <p:nvSpPr>
              <p:cNvPr id="250" name="Rectangle 7">
                <a:extLst>
                  <a:ext uri="{FF2B5EF4-FFF2-40B4-BE49-F238E27FC236}">
                    <a16:creationId xmlns:a16="http://schemas.microsoft.com/office/drawing/2014/main" id="{7208720A-5DDA-8D87-13EB-0470E30FC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 err="1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유비콤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51" name="그룹 6">
              <a:extLst>
                <a:ext uri="{FF2B5EF4-FFF2-40B4-BE49-F238E27FC236}">
                  <a16:creationId xmlns:a16="http://schemas.microsoft.com/office/drawing/2014/main" id="{3FCD1117-200C-D237-0F8E-F8091CC3F099}"/>
                </a:ext>
              </a:extLst>
            </p:cNvPr>
            <p:cNvGrpSpPr/>
            <p:nvPr/>
          </p:nvGrpSpPr>
          <p:grpSpPr>
            <a:xfrm>
              <a:off x="812949" y="6243912"/>
              <a:ext cx="2701274" cy="161444"/>
              <a:chOff x="1345017" y="7555062"/>
              <a:chExt cx="1634455" cy="438582"/>
            </a:xfrm>
          </p:grpSpPr>
          <p:sp>
            <p:nvSpPr>
              <p:cNvPr id="252" name="순서도: 처리 251">
                <a:extLst>
                  <a:ext uri="{FF2B5EF4-FFF2-40B4-BE49-F238E27FC236}">
                    <a16:creationId xmlns:a16="http://schemas.microsoft.com/office/drawing/2014/main" id="{96ED345B-9336-27F7-9305-C667BFBB176F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방화벽</a:t>
                </a: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,</a:t>
                </a:r>
                <a:r>
                  <a:rPr lang="en-US" altLang="ko-KR" sz="800" kern="0" dirty="0" err="1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IPS,DDoS</a:t>
                </a: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(</a:t>
                </a:r>
                <a:r>
                  <a:rPr lang="ko-KR" altLang="en-US" sz="800" kern="0" dirty="0" err="1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안랩</a:t>
                </a: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)</a:t>
                </a:r>
                <a:endParaRPr lang="ko-KR" altLang="en-US" sz="800" kern="0" dirty="0">
                  <a:ln>
                    <a:solidFill>
                      <a:schemeClr val="bg1">
                        <a:alpha val="4000"/>
                      </a:schemeClr>
                    </a:solidFill>
                  </a:ln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sym typeface="KoPub돋움체 Medium"/>
                </a:endParaRPr>
              </a:p>
            </p:txBody>
          </p:sp>
          <p:sp>
            <p:nvSpPr>
              <p:cNvPr id="253" name="Rectangle 7">
                <a:extLst>
                  <a:ext uri="{FF2B5EF4-FFF2-40B4-BE49-F238E27FC236}">
                    <a16:creationId xmlns:a16="http://schemas.microsoft.com/office/drawing/2014/main" id="{AD6F4F0C-7241-15B0-183E-9E7C0B8120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 err="1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에코넷시스템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54" name="그룹 6">
              <a:extLst>
                <a:ext uri="{FF2B5EF4-FFF2-40B4-BE49-F238E27FC236}">
                  <a16:creationId xmlns:a16="http://schemas.microsoft.com/office/drawing/2014/main" id="{3B26BBEF-D4FE-3B55-B9A7-098F23AF54E7}"/>
                </a:ext>
              </a:extLst>
            </p:cNvPr>
            <p:cNvGrpSpPr/>
            <p:nvPr/>
          </p:nvGrpSpPr>
          <p:grpSpPr>
            <a:xfrm>
              <a:off x="812949" y="6413157"/>
              <a:ext cx="2701274" cy="161444"/>
              <a:chOff x="1345017" y="7555062"/>
              <a:chExt cx="1634455" cy="438582"/>
            </a:xfrm>
          </p:grpSpPr>
          <p:sp>
            <p:nvSpPr>
              <p:cNvPr id="255" name="순서도: 처리 254">
                <a:extLst>
                  <a:ext uri="{FF2B5EF4-FFF2-40B4-BE49-F238E27FC236}">
                    <a16:creationId xmlns:a16="http://schemas.microsoft.com/office/drawing/2014/main" id="{2A026EA7-0E5B-FFE9-1891-A2108A3FC42C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IPS(</a:t>
                </a:r>
                <a:r>
                  <a:rPr lang="ko-KR" altLang="en-US" sz="800" kern="0" dirty="0" err="1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시큐아이</a:t>
                </a: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)</a:t>
                </a:r>
                <a:endParaRPr lang="ko-KR" altLang="en-US" sz="800" kern="0" dirty="0">
                  <a:ln>
                    <a:solidFill>
                      <a:schemeClr val="bg1">
                        <a:alpha val="4000"/>
                      </a:schemeClr>
                    </a:solidFill>
                  </a:ln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sym typeface="KoPub돋움체 Medium"/>
                </a:endParaRPr>
              </a:p>
            </p:txBody>
          </p:sp>
          <p:sp>
            <p:nvSpPr>
              <p:cNvPr id="256" name="Rectangle 7">
                <a:extLst>
                  <a:ext uri="{FF2B5EF4-FFF2-40B4-BE49-F238E27FC236}">
                    <a16:creationId xmlns:a16="http://schemas.microsoft.com/office/drawing/2014/main" id="{57C2B084-3F91-8911-E147-73FAF4F2C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 err="1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시큐어스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57" name="그룹 6">
              <a:extLst>
                <a:ext uri="{FF2B5EF4-FFF2-40B4-BE49-F238E27FC236}">
                  <a16:creationId xmlns:a16="http://schemas.microsoft.com/office/drawing/2014/main" id="{B2A09260-4758-0759-5BEE-818F30046229}"/>
                </a:ext>
              </a:extLst>
            </p:cNvPr>
            <p:cNvGrpSpPr/>
            <p:nvPr/>
          </p:nvGrpSpPr>
          <p:grpSpPr>
            <a:xfrm>
              <a:off x="812949" y="6582402"/>
              <a:ext cx="2701274" cy="161444"/>
              <a:chOff x="1345017" y="7555062"/>
              <a:chExt cx="1634455" cy="438582"/>
            </a:xfrm>
          </p:grpSpPr>
          <p:sp>
            <p:nvSpPr>
              <p:cNvPr id="258" name="순서도: 처리 257">
                <a:extLst>
                  <a:ext uri="{FF2B5EF4-FFF2-40B4-BE49-F238E27FC236}">
                    <a16:creationId xmlns:a16="http://schemas.microsoft.com/office/drawing/2014/main" id="{FCA8ACDC-3B47-6BE2-5BA4-BAF27978300A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ko-KR" altLang="en-US" sz="800" kern="0" dirty="0" err="1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스마트클린시스템</a:t>
                </a:r>
                <a:endParaRPr lang="ko-KR" altLang="en-US" sz="800" kern="0" dirty="0">
                  <a:ln>
                    <a:solidFill>
                      <a:schemeClr val="bg1">
                        <a:alpha val="4000"/>
                      </a:schemeClr>
                    </a:solidFill>
                  </a:ln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sym typeface="KoPub돋움체 Medium"/>
                </a:endParaRPr>
              </a:p>
            </p:txBody>
          </p:sp>
          <p:sp>
            <p:nvSpPr>
              <p:cNvPr id="259" name="Rectangle 7">
                <a:extLst>
                  <a:ext uri="{FF2B5EF4-FFF2-40B4-BE49-F238E27FC236}">
                    <a16:creationId xmlns:a16="http://schemas.microsoft.com/office/drawing/2014/main" id="{9AEE161A-EB33-43FD-3675-36EB34457B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 소프트캠프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60" name="그룹 6">
              <a:extLst>
                <a:ext uri="{FF2B5EF4-FFF2-40B4-BE49-F238E27FC236}">
                  <a16:creationId xmlns:a16="http://schemas.microsoft.com/office/drawing/2014/main" id="{A0493846-F223-0BFA-47FA-498D9AAB72E8}"/>
                </a:ext>
              </a:extLst>
            </p:cNvPr>
            <p:cNvGrpSpPr/>
            <p:nvPr/>
          </p:nvGrpSpPr>
          <p:grpSpPr>
            <a:xfrm>
              <a:off x="812949" y="6751646"/>
              <a:ext cx="2701274" cy="161444"/>
              <a:chOff x="1345017" y="7555062"/>
              <a:chExt cx="1634455" cy="438582"/>
            </a:xfrm>
          </p:grpSpPr>
          <p:sp>
            <p:nvSpPr>
              <p:cNvPr id="261" name="순서도: 처리 260">
                <a:extLst>
                  <a:ext uri="{FF2B5EF4-FFF2-40B4-BE49-F238E27FC236}">
                    <a16:creationId xmlns:a16="http://schemas.microsoft.com/office/drawing/2014/main" id="{9B4BA6C2-78FA-F5E7-DF66-56FD73C12688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UPS</a:t>
                </a:r>
                <a:endParaRPr lang="ko-KR" altLang="en-US" sz="800" kern="0" dirty="0">
                  <a:ln>
                    <a:solidFill>
                      <a:schemeClr val="bg1">
                        <a:alpha val="4000"/>
                      </a:schemeClr>
                    </a:solidFill>
                  </a:ln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sym typeface="KoPub돋움체 Medium"/>
                </a:endParaRPr>
              </a:p>
            </p:txBody>
          </p:sp>
          <p:sp>
            <p:nvSpPr>
              <p:cNvPr id="262" name="Rectangle 7">
                <a:extLst>
                  <a:ext uri="{FF2B5EF4-FFF2-40B4-BE49-F238E27FC236}">
                    <a16:creationId xmlns:a16="http://schemas.microsoft.com/office/drawing/2014/main" id="{7A56C4CA-D021-AA7A-7376-556AA9565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 err="1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현대파워시스템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63" name="그룹 6">
              <a:extLst>
                <a:ext uri="{FF2B5EF4-FFF2-40B4-BE49-F238E27FC236}">
                  <a16:creationId xmlns:a16="http://schemas.microsoft.com/office/drawing/2014/main" id="{FC52B544-3C92-7323-6379-F065466626A0}"/>
                </a:ext>
              </a:extLst>
            </p:cNvPr>
            <p:cNvGrpSpPr/>
            <p:nvPr/>
          </p:nvGrpSpPr>
          <p:grpSpPr>
            <a:xfrm>
              <a:off x="812949" y="6920891"/>
              <a:ext cx="2701274" cy="161444"/>
              <a:chOff x="1345017" y="7555062"/>
              <a:chExt cx="1634455" cy="438582"/>
            </a:xfrm>
          </p:grpSpPr>
          <p:sp>
            <p:nvSpPr>
              <p:cNvPr id="264" name="순서도: 처리 263">
                <a:extLst>
                  <a:ext uri="{FF2B5EF4-FFF2-40B4-BE49-F238E27FC236}">
                    <a16:creationId xmlns:a16="http://schemas.microsoft.com/office/drawing/2014/main" id="{EC8FCDF4-7430-DC09-7103-B79B626D5799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항온항습기</a:t>
                </a:r>
              </a:p>
            </p:txBody>
          </p:sp>
          <p:sp>
            <p:nvSpPr>
              <p:cNvPr id="265" name="Rectangle 7">
                <a:extLst>
                  <a:ext uri="{FF2B5EF4-FFF2-40B4-BE49-F238E27FC236}">
                    <a16:creationId xmlns:a16="http://schemas.microsoft.com/office/drawing/2014/main" id="{8A9650D5-CCDD-44C4-800A-4018AADC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 err="1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스코넷엔지니러링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66" name="그룹 6">
              <a:extLst>
                <a:ext uri="{FF2B5EF4-FFF2-40B4-BE49-F238E27FC236}">
                  <a16:creationId xmlns:a16="http://schemas.microsoft.com/office/drawing/2014/main" id="{5F9BACFC-DE78-635B-C898-6A660D7C1900}"/>
                </a:ext>
              </a:extLst>
            </p:cNvPr>
            <p:cNvGrpSpPr/>
            <p:nvPr/>
          </p:nvGrpSpPr>
          <p:grpSpPr>
            <a:xfrm>
              <a:off x="812949" y="7090136"/>
              <a:ext cx="2701274" cy="161444"/>
              <a:chOff x="1345017" y="7555062"/>
              <a:chExt cx="1634455" cy="438582"/>
            </a:xfrm>
          </p:grpSpPr>
          <p:sp>
            <p:nvSpPr>
              <p:cNvPr id="267" name="순서도: 처리 266">
                <a:extLst>
                  <a:ext uri="{FF2B5EF4-FFF2-40B4-BE49-F238E27FC236}">
                    <a16:creationId xmlns:a16="http://schemas.microsoft.com/office/drawing/2014/main" id="{E0A1DB9E-56D7-638E-DC54-D99403A7B06E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소화설비</a:t>
                </a:r>
              </a:p>
            </p:txBody>
          </p:sp>
          <p:sp>
            <p:nvSpPr>
              <p:cNvPr id="268" name="Rectangle 7">
                <a:extLst>
                  <a:ext uri="{FF2B5EF4-FFF2-40B4-BE49-F238E27FC236}">
                    <a16:creationId xmlns:a16="http://schemas.microsoft.com/office/drawing/2014/main" id="{C91A2353-7F8A-40A3-322F-418EA8E2F9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한양소방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69" name="그룹 6">
              <a:extLst>
                <a:ext uri="{FF2B5EF4-FFF2-40B4-BE49-F238E27FC236}">
                  <a16:creationId xmlns:a16="http://schemas.microsoft.com/office/drawing/2014/main" id="{59713F08-050D-E71D-1EDD-A4D5238AABF2}"/>
                </a:ext>
              </a:extLst>
            </p:cNvPr>
            <p:cNvGrpSpPr/>
            <p:nvPr/>
          </p:nvGrpSpPr>
          <p:grpSpPr>
            <a:xfrm>
              <a:off x="812949" y="7259381"/>
              <a:ext cx="2701274" cy="161444"/>
              <a:chOff x="1345017" y="7555062"/>
              <a:chExt cx="1634455" cy="438582"/>
            </a:xfrm>
          </p:grpSpPr>
          <p:sp>
            <p:nvSpPr>
              <p:cNvPr id="270" name="순서도: 처리 269">
                <a:extLst>
                  <a:ext uri="{FF2B5EF4-FFF2-40B4-BE49-F238E27FC236}">
                    <a16:creationId xmlns:a16="http://schemas.microsoft.com/office/drawing/2014/main" id="{2D02FDFB-0A7B-AE47-4AC7-2530CCDA8CB5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출입통제</a:t>
                </a:r>
              </a:p>
            </p:txBody>
          </p:sp>
          <p:sp>
            <p:nvSpPr>
              <p:cNvPr id="271" name="Rectangle 7">
                <a:extLst>
                  <a:ext uri="{FF2B5EF4-FFF2-40B4-BE49-F238E27FC236}">
                    <a16:creationId xmlns:a16="http://schemas.microsoft.com/office/drawing/2014/main" id="{A2925E8A-ACC2-995A-4176-E867102149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 err="1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유니온커뮤니티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72" name="그룹 6">
              <a:extLst>
                <a:ext uri="{FF2B5EF4-FFF2-40B4-BE49-F238E27FC236}">
                  <a16:creationId xmlns:a16="http://schemas.microsoft.com/office/drawing/2014/main" id="{96E57561-09C7-AD89-EBA4-22733D938887}"/>
                </a:ext>
              </a:extLst>
            </p:cNvPr>
            <p:cNvGrpSpPr/>
            <p:nvPr/>
          </p:nvGrpSpPr>
          <p:grpSpPr>
            <a:xfrm>
              <a:off x="812949" y="7428625"/>
              <a:ext cx="2701274" cy="161444"/>
              <a:chOff x="1345017" y="7555062"/>
              <a:chExt cx="1634455" cy="438582"/>
            </a:xfrm>
          </p:grpSpPr>
          <p:sp>
            <p:nvSpPr>
              <p:cNvPr id="273" name="순서도: 처리 272">
                <a:extLst>
                  <a:ext uri="{FF2B5EF4-FFF2-40B4-BE49-F238E27FC236}">
                    <a16:creationId xmlns:a16="http://schemas.microsoft.com/office/drawing/2014/main" id="{AA82EF16-83F6-C407-6791-1927A6477032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인증체계</a:t>
                </a: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(</a:t>
                </a: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고도화</a:t>
                </a: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)</a:t>
                </a:r>
                <a:endParaRPr lang="ko-KR" altLang="en-US" sz="800" kern="0" dirty="0">
                  <a:ln>
                    <a:solidFill>
                      <a:schemeClr val="bg1">
                        <a:alpha val="4000"/>
                      </a:schemeClr>
                    </a:solidFill>
                  </a:ln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sym typeface="KoPub돋움체 Medium"/>
                </a:endParaRPr>
              </a:p>
            </p:txBody>
          </p:sp>
          <p:sp>
            <p:nvSpPr>
              <p:cNvPr id="274" name="Rectangle 7">
                <a:extLst>
                  <a:ext uri="{FF2B5EF4-FFF2-40B4-BE49-F238E27FC236}">
                    <a16:creationId xmlns:a16="http://schemas.microsoft.com/office/drawing/2014/main" id="{F7412FF3-53F8-9B9C-71FD-1B88D3EE40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케이사인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75" name="그룹 6">
              <a:extLst>
                <a:ext uri="{FF2B5EF4-FFF2-40B4-BE49-F238E27FC236}">
                  <a16:creationId xmlns:a16="http://schemas.microsoft.com/office/drawing/2014/main" id="{B4D227B9-2DEE-EC31-E012-B9254D7845A6}"/>
                </a:ext>
              </a:extLst>
            </p:cNvPr>
            <p:cNvGrpSpPr/>
            <p:nvPr/>
          </p:nvGrpSpPr>
          <p:grpSpPr>
            <a:xfrm>
              <a:off x="812949" y="7597870"/>
              <a:ext cx="2701274" cy="161444"/>
              <a:chOff x="1345017" y="7555062"/>
              <a:chExt cx="1634455" cy="438582"/>
            </a:xfrm>
          </p:grpSpPr>
          <p:sp>
            <p:nvSpPr>
              <p:cNvPr id="276" name="순서도: 처리 275">
                <a:extLst>
                  <a:ext uri="{FF2B5EF4-FFF2-40B4-BE49-F238E27FC236}">
                    <a16:creationId xmlns:a16="http://schemas.microsoft.com/office/drawing/2014/main" id="{521E0C93-2087-78F4-4FF7-49E6633DD1A6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인증체계</a:t>
                </a: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(</a:t>
                </a: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기존</a:t>
                </a: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)</a:t>
                </a:r>
                <a:endParaRPr lang="ko-KR" altLang="en-US" sz="800" kern="0" dirty="0">
                  <a:ln>
                    <a:solidFill>
                      <a:schemeClr val="bg1">
                        <a:alpha val="4000"/>
                      </a:schemeClr>
                    </a:solidFill>
                  </a:ln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sym typeface="KoPub돋움체 Medium"/>
                </a:endParaRPr>
              </a:p>
            </p:txBody>
          </p:sp>
          <p:sp>
            <p:nvSpPr>
              <p:cNvPr id="277" name="Rectangle 7">
                <a:extLst>
                  <a:ext uri="{FF2B5EF4-FFF2-40B4-BE49-F238E27FC236}">
                    <a16:creationId xmlns:a16="http://schemas.microsoft.com/office/drawing/2014/main" id="{5A5F36FD-835E-4081-19C8-EDDE4E2C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 err="1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한컴위드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  <p:grpSp>
          <p:nvGrpSpPr>
            <p:cNvPr id="278" name="그룹 6">
              <a:extLst>
                <a:ext uri="{FF2B5EF4-FFF2-40B4-BE49-F238E27FC236}">
                  <a16:creationId xmlns:a16="http://schemas.microsoft.com/office/drawing/2014/main" id="{A09B9A65-95DA-7DA7-026F-95BEB07C63AC}"/>
                </a:ext>
              </a:extLst>
            </p:cNvPr>
            <p:cNvGrpSpPr/>
            <p:nvPr/>
          </p:nvGrpSpPr>
          <p:grpSpPr>
            <a:xfrm>
              <a:off x="812949" y="7767121"/>
              <a:ext cx="2701274" cy="161444"/>
              <a:chOff x="1345017" y="7555062"/>
              <a:chExt cx="1634455" cy="438582"/>
            </a:xfrm>
          </p:grpSpPr>
          <p:sp>
            <p:nvSpPr>
              <p:cNvPr id="279" name="순서도: 처리 278">
                <a:extLst>
                  <a:ext uri="{FF2B5EF4-FFF2-40B4-BE49-F238E27FC236}">
                    <a16:creationId xmlns:a16="http://schemas.microsoft.com/office/drawing/2014/main" id="{2D43F8B1-AF0B-DDBE-57AA-682F58EAE7C5}"/>
                  </a:ext>
                </a:extLst>
              </p:cNvPr>
              <p:cNvSpPr/>
              <p:nvPr/>
            </p:nvSpPr>
            <p:spPr>
              <a:xfrm>
                <a:off x="1345017" y="7555062"/>
                <a:ext cx="815429" cy="438582"/>
              </a:xfrm>
              <a:prstGeom prst="flowChartProcess">
                <a:avLst/>
              </a:prstGeom>
              <a:pattFill prst="ltDnDiag">
                <a:fgClr>
                  <a:schemeClr val="bg1">
                    <a:lumMod val="85000"/>
                  </a:schemeClr>
                </a:fgClr>
                <a:bgClr>
                  <a:schemeClr val="bg1"/>
                </a:bgClr>
              </a:pattFill>
              <a:ln w="6350">
                <a:solidFill>
                  <a:schemeClr val="bg1">
                    <a:lumMod val="75000"/>
                  </a:schemeClr>
                </a:solidFill>
                <a:miter lim="800000"/>
                <a:headEnd/>
                <a:tailEnd/>
              </a:ln>
              <a:effectLst/>
            </p:spPr>
            <p:txBody>
              <a:bodyPr wrap="none" lIns="0" tIns="0" rIns="0" bIns="0" anchor="ctr">
                <a:scene3d>
                  <a:camera prst="orthographicFront"/>
                  <a:lightRig rig="threePt" dir="t"/>
                </a:scene3d>
                <a:sp3d contourW="6350"/>
              </a:bodyPr>
              <a:lstStyle/>
              <a:p>
                <a:pPr marL="0" lvl="1" algn="ctr" latinLnBrk="0">
                  <a:spcAft>
                    <a:spcPts val="240"/>
                  </a:spcAft>
                </a:pPr>
                <a:r>
                  <a:rPr lang="ko-KR" altLang="en-US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사무용 전산장비</a:t>
                </a:r>
                <a:r>
                  <a:rPr lang="en-US" altLang="ko-KR" sz="800" kern="0" dirty="0">
                    <a:ln>
                      <a:solidFill>
                        <a:schemeClr val="bg1">
                          <a:alpha val="4000"/>
                        </a:schemeClr>
                      </a:solidFill>
                    </a:ln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Bold" panose="02020603020101020101" pitchFamily="18" charset="-127"/>
                    <a:ea typeface="KoPub돋움체 Bold" panose="02020603020101020101" pitchFamily="18" charset="-127"/>
                    <a:sym typeface="KoPub돋움체 Medium"/>
                  </a:rPr>
                  <a:t>(PC A/S)</a:t>
                </a:r>
                <a:endParaRPr lang="ko-KR" altLang="en-US" sz="800" kern="0" dirty="0">
                  <a:ln>
                    <a:solidFill>
                      <a:schemeClr val="bg1">
                        <a:alpha val="4000"/>
                      </a:schemeClr>
                    </a:solidFill>
                  </a:ln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Bold" panose="02020603020101020101" pitchFamily="18" charset="-127"/>
                  <a:ea typeface="KoPub돋움체 Bold" panose="02020603020101020101" pitchFamily="18" charset="-127"/>
                  <a:sym typeface="KoPub돋움체 Medium"/>
                </a:endParaRPr>
              </a:p>
            </p:txBody>
          </p:sp>
          <p:sp>
            <p:nvSpPr>
              <p:cNvPr id="280" name="Rectangle 7">
                <a:extLst>
                  <a:ext uri="{FF2B5EF4-FFF2-40B4-BE49-F238E27FC236}">
                    <a16:creationId xmlns:a16="http://schemas.microsoft.com/office/drawing/2014/main" id="{EC77FA4E-3284-E73B-669E-19196B3BDC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64043" y="7555062"/>
                <a:ext cx="815429" cy="438582"/>
              </a:xfrm>
              <a:prstGeom prst="rect">
                <a:avLst/>
              </a:prstGeom>
              <a:solidFill>
                <a:schemeClr val="bg1"/>
              </a:solidFill>
              <a:ln w="6350" algn="ctr">
                <a:solidFill>
                  <a:srgbClr val="C0C0C0"/>
                </a:solidFill>
                <a:miter lim="800000"/>
                <a:headEnd/>
                <a:tailEnd/>
              </a:ln>
              <a:effectLst/>
            </p:spPr>
            <p:txBody>
              <a:bodyPr wrap="square" lIns="35992" tIns="0" rIns="35992" bIns="0" anchor="ctr"/>
              <a:lstStyle/>
              <a:p>
                <a:pPr algn="ctr">
                  <a:spcBef>
                    <a:spcPts val="0"/>
                  </a:spcBef>
                  <a:defRPr/>
                </a:pPr>
                <a:r>
                  <a:rPr lang="ko-KR" altLang="en-US" sz="800" dirty="0">
                    <a:gradFill>
                      <a:gsLst>
                        <a:gs pos="0">
                          <a:schemeClr val="tx1">
                            <a:lumMod val="85000"/>
                            <a:lumOff val="15000"/>
                          </a:schemeClr>
                        </a:gs>
                        <a:gs pos="100000">
                          <a:schemeClr val="tx1">
                            <a:lumMod val="85000"/>
                            <a:lumOff val="15000"/>
                          </a:schemeClr>
                        </a:gs>
                      </a:gsLst>
                      <a:lin ang="13500000" scaled="1"/>
                    </a:gradFill>
                    <a:latin typeface="KoPub돋움체 Light" panose="02020603020101020101" pitchFamily="18" charset="-127"/>
                    <a:ea typeface="KoPub돋움체 Light" panose="02020603020101020101" pitchFamily="18" charset="-127"/>
                  </a:rPr>
                  <a:t>애니코어</a:t>
                </a:r>
                <a:endParaRPr lang="en-US" altLang="ko-KR" sz="800" dirty="0">
                  <a:gradFill>
                    <a:gsLst>
                      <a:gs pos="0">
                        <a:schemeClr val="tx1">
                          <a:lumMod val="85000"/>
                          <a:lumOff val="15000"/>
                        </a:schemeClr>
                      </a:gs>
                      <a:gs pos="100000">
                        <a:schemeClr val="tx1">
                          <a:lumMod val="85000"/>
                          <a:lumOff val="15000"/>
                        </a:schemeClr>
                      </a:gs>
                    </a:gsLst>
                    <a:lin ang="13500000" scaled="1"/>
                  </a:gradFill>
                  <a:latin typeface="KoPub돋움체 Light" panose="02020603020101020101" pitchFamily="18" charset="-127"/>
                  <a:ea typeface="KoPub돋움체 Light" panose="02020603020101020101" pitchFamily="18" charset="-127"/>
                </a:endParaRPr>
              </a:p>
            </p:txBody>
          </p:sp>
        </p:grpSp>
      </p:grpSp>
      <p:sp>
        <p:nvSpPr>
          <p:cNvPr id="281" name="TextBox 280">
            <a:extLst>
              <a:ext uri="{FF2B5EF4-FFF2-40B4-BE49-F238E27FC236}">
                <a16:creationId xmlns:a16="http://schemas.microsoft.com/office/drawing/2014/main" id="{BA9BB060-B5BD-CD20-A8E4-9EF276C7884E}"/>
              </a:ext>
            </a:extLst>
          </p:cNvPr>
          <p:cNvSpPr txBox="1"/>
          <p:nvPr/>
        </p:nvSpPr>
        <p:spPr>
          <a:xfrm>
            <a:off x="934361" y="1644256"/>
            <a:ext cx="58898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필수 예방점검 대상 항목에 대한 유지보수 전문업체 사전파악 기반으로 최적의 사업수행 방안 제시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38310D4-BD81-E357-A4D6-B755F3A025D4}"/>
              </a:ext>
            </a:extLst>
          </p:cNvPr>
          <p:cNvSpPr/>
          <p:nvPr/>
        </p:nvSpPr>
        <p:spPr>
          <a:xfrm>
            <a:off x="-4960946" y="5826570"/>
            <a:ext cx="4752528" cy="19854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업체 리스트</a:t>
            </a:r>
            <a:endParaRPr lang="en-US" altLang="ko-KR" sz="2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algn="ctr"/>
            <a:r>
              <a:rPr lang="ko-KR" altLang="en-US" sz="2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업데이트 예정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E7BED241-342C-51A7-FA37-B13BF0133B9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816574" y="2185358"/>
            <a:ext cx="5952783" cy="320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" name="AutoShape 20" descr="바배경_어두운거">
            <a:extLst>
              <a:ext uri="{FF2B5EF4-FFF2-40B4-BE49-F238E27FC236}">
                <a16:creationId xmlns:a16="http://schemas.microsoft.com/office/drawing/2014/main" id="{BFAD4E1A-B00F-DDF4-7889-2F99D7A12B15}"/>
              </a:ext>
            </a:extLst>
          </p:cNvPr>
          <p:cNvSpPr>
            <a:spLocks noChangeArrowheads="1"/>
          </p:cNvSpPr>
          <p:nvPr/>
        </p:nvSpPr>
        <p:spPr bwMode="gray">
          <a:xfrm>
            <a:off x="8837642" y="2316311"/>
            <a:ext cx="5905078" cy="7007717"/>
          </a:xfrm>
          <a:prstGeom prst="roundRect">
            <a:avLst>
              <a:gd name="adj" fmla="val 0"/>
            </a:avLst>
          </a:prstGeom>
          <a:pattFill prst="dkUpDiag">
            <a:fgClr>
              <a:srgbClr val="BFBFBF"/>
            </a:fgClr>
            <a:bgClr>
              <a:srgbClr val="DDDDDD"/>
            </a:bgClr>
          </a:pattFill>
          <a:ln w="9525" algn="ctr">
            <a:noFill/>
            <a:miter lim="800000"/>
            <a:headEnd/>
            <a:tailEnd/>
          </a:ln>
        </p:spPr>
        <p:txBody>
          <a:bodyPr wrap="none" lIns="54000" rtlCol="0" anchor="ctr"/>
          <a:lstStyle/>
          <a:p>
            <a:pPr indent="-180975" algn="ctr" fontAlgn="base" latinLnBrk="0">
              <a:spcBef>
                <a:spcPct val="0"/>
              </a:spcBef>
              <a:spcAft>
                <a:spcPct val="0"/>
              </a:spcAft>
            </a:pPr>
            <a:endParaRPr lang="ko-KR" altLang="en-US" sz="1000" dirty="0">
              <a:solidFill>
                <a:prstClr val="white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24" name="Rs189" descr="어두운 상향 대각선">
            <a:extLst>
              <a:ext uri="{FF2B5EF4-FFF2-40B4-BE49-F238E27FC236}">
                <a16:creationId xmlns:a16="http://schemas.microsoft.com/office/drawing/2014/main" id="{3C0B4A81-1B64-3075-0203-0C486D8104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0310" y="2352315"/>
            <a:ext cx="2844000" cy="216000"/>
          </a:xfrm>
          <a:prstGeom prst="roundRect">
            <a:avLst>
              <a:gd name="adj" fmla="val 5009"/>
            </a:avLst>
          </a:prstGeom>
          <a:solidFill>
            <a:schemeClr val="tx2">
              <a:lumMod val="40000"/>
              <a:lumOff val="60000"/>
            </a:schemeClr>
          </a:solidFill>
          <a:ln w="6350" algn="ctr">
            <a:solidFill>
              <a:srgbClr val="C0C0C0"/>
            </a:solidFill>
            <a:round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0" tIns="0" rIns="0" bIns="0" anchor="ctr"/>
          <a:lstStyle>
            <a:lvl1pPr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9pPr>
          </a:lstStyle>
          <a:p>
            <a:pPr algn="ctr" latinLnBrk="0"/>
            <a:r>
              <a:rPr lang="ko-KR" altLang="en-US" sz="10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rPr>
              <a:t>하드웨어 대상에 대한 유지보수 전문업체</a:t>
            </a:r>
          </a:p>
        </p:txBody>
      </p:sp>
      <p:graphicFrame>
        <p:nvGraphicFramePr>
          <p:cNvPr id="125" name="표 124">
            <a:extLst>
              <a:ext uri="{FF2B5EF4-FFF2-40B4-BE49-F238E27FC236}">
                <a16:creationId xmlns:a16="http://schemas.microsoft.com/office/drawing/2014/main" id="{B90C1CD1-A7B2-E6A7-9235-8DDEC2B03D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193480"/>
              </p:ext>
            </p:extLst>
          </p:nvPr>
        </p:nvGraphicFramePr>
        <p:xfrm>
          <a:off x="11826140" y="2615230"/>
          <a:ext cx="2841522" cy="13842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5141">
                  <a:extLst>
                    <a:ext uri="{9D8B030D-6E8A-4147-A177-3AD203B41FA5}">
                      <a16:colId xmlns:a16="http://schemas.microsoft.com/office/drawing/2014/main" val="3899968791"/>
                    </a:ext>
                  </a:extLst>
                </a:gridCol>
                <a:gridCol w="1156381">
                  <a:extLst>
                    <a:ext uri="{9D8B030D-6E8A-4147-A177-3AD203B41FA5}">
                      <a16:colId xmlns:a16="http://schemas.microsoft.com/office/drawing/2014/main" val="1418996178"/>
                    </a:ext>
                  </a:extLst>
                </a:gridCol>
              </a:tblGrid>
              <a:tr h="173037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FAS 8060A / </a:t>
                      </a:r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Netapp</a:t>
                      </a:r>
                      <a:endParaRPr 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아이웍스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7224"/>
                  </a:ext>
                </a:extLst>
              </a:tr>
              <a:tr h="173037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Scalar i500 / Quantum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백업 포함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OOCI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338576"/>
                  </a:ext>
                </a:extLst>
              </a:tr>
              <a:tr h="173037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SUN SE3510FC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위더스시스템즈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87360"/>
                  </a:ext>
                </a:extLst>
              </a:tr>
              <a:tr h="173037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정보체계 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SAM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스위치</a:t>
                      </a:r>
                      <a:endParaRPr lang="en-US" altLang="ko-KR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티에스씨인포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289777"/>
                  </a:ext>
                </a:extLst>
              </a:tr>
              <a:tr h="173037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HPE </a:t>
                      </a:r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StoreEasy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1660 storage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정원엔시스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6902454"/>
                  </a:ext>
                </a:extLst>
              </a:tr>
              <a:tr h="173037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WEB/WAS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 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IBM 3650 M4)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코넥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7640598"/>
                  </a:ext>
                </a:extLst>
              </a:tr>
              <a:tr h="173037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백업 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어플라이언스</a:t>
                      </a:r>
                      <a:endParaRPr 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메사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8036873"/>
                  </a:ext>
                </a:extLst>
              </a:tr>
              <a:tr h="173037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국방망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연계서버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방사청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연계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메타빌드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4837788"/>
                  </a:ext>
                </a:extLst>
              </a:tr>
            </a:tbl>
          </a:graphicData>
        </a:graphic>
      </p:graphicFrame>
      <p:graphicFrame>
        <p:nvGraphicFramePr>
          <p:cNvPr id="126" name="표 125">
            <a:extLst>
              <a:ext uri="{FF2B5EF4-FFF2-40B4-BE49-F238E27FC236}">
                <a16:creationId xmlns:a16="http://schemas.microsoft.com/office/drawing/2014/main" id="{8DFF3767-EE5A-B741-07F4-D30AC9AB1E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8042215"/>
              </p:ext>
            </p:extLst>
          </p:nvPr>
        </p:nvGraphicFramePr>
        <p:xfrm>
          <a:off x="11820188" y="4296531"/>
          <a:ext cx="2841522" cy="295074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5141">
                  <a:extLst>
                    <a:ext uri="{9D8B030D-6E8A-4147-A177-3AD203B41FA5}">
                      <a16:colId xmlns:a16="http://schemas.microsoft.com/office/drawing/2014/main" val="3899968791"/>
                    </a:ext>
                  </a:extLst>
                </a:gridCol>
                <a:gridCol w="1156381">
                  <a:extLst>
                    <a:ext uri="{9D8B030D-6E8A-4147-A177-3AD203B41FA5}">
                      <a16:colId xmlns:a16="http://schemas.microsoft.com/office/drawing/2014/main" val="1418996178"/>
                    </a:ext>
                  </a:extLst>
                </a:gridCol>
              </a:tblGrid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BLUEMAX NGF 1500 (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방화벽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아이시큐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8493758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WiseLog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넷스루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3644279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XecureDB</a:t>
                      </a:r>
                      <a:endParaRPr 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한컴시큐어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6996093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Fasoo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Secure Web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파수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0965001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Secukit</a:t>
                      </a:r>
                      <a:endParaRPr 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한국정보인증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969466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K-Defense(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키보드보안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킹스정보통신</a:t>
                      </a:r>
                      <a:r>
                        <a:rPr lang="ko-KR" alt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　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0961834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DB/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 접근제어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_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SW 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LSIT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6044822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장비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 IPS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침입방지시스템</a:t>
                      </a:r>
                      <a:endParaRPr lang="en-US" altLang="ko-KR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윈스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1970417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장비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방화벽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사용자용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)-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안랩</a:t>
                      </a:r>
                      <a:endParaRPr lang="en-US" altLang="ko-KR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안랩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557563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패스워드관리솔루션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-SW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에스엠에스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0709347"/>
                  </a:ext>
                </a:extLst>
              </a:tr>
              <a:tr h="288827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네트워크 접근통제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-SW(</a:t>
                      </a:r>
                      <a:r>
                        <a:rPr lang="en-US" altLang="ko-KR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Genian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NAC v5.0)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정책 서버 모듈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지니언스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1926066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WatchAll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11 Framework)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코넥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362079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장비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 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웹방화벽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장치</a:t>
                      </a:r>
                      <a:endParaRPr lang="en-US" altLang="ko-KR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펜타시큐리티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9665299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유해메일차단</a:t>
                      </a:r>
                      <a:endParaRPr lang="en-US" altLang="ko-KR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지란지교시큐리티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4495529"/>
                  </a:ext>
                </a:extLst>
              </a:tr>
              <a:tr h="288827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유해사이트차단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-SW(</a:t>
                      </a:r>
                      <a:r>
                        <a:rPr lang="en-US" altLang="ko-KR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WebKeeper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SG v1.1)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트래픽 라이선스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소만사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532885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통합로그시스템 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SW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시큐레이어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7213243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패스워드 관리 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APPM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라이선스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시큐어가드테크놀러지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89589608"/>
                  </a:ext>
                </a:extLst>
              </a:tr>
              <a:tr h="14831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백신서버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하우리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virobot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아이티윈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4669888"/>
                  </a:ext>
                </a:extLst>
              </a:tr>
            </a:tbl>
          </a:graphicData>
        </a:graphic>
      </p:graphicFrame>
      <p:sp>
        <p:nvSpPr>
          <p:cNvPr id="127" name="Rs189" descr="어두운 상향 대각선">
            <a:extLst>
              <a:ext uri="{FF2B5EF4-FFF2-40B4-BE49-F238E27FC236}">
                <a16:creationId xmlns:a16="http://schemas.microsoft.com/office/drawing/2014/main" id="{8B8E9C44-DDDD-79CD-C955-AF9D31D3B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2460" y="7280669"/>
            <a:ext cx="2844000" cy="216000"/>
          </a:xfrm>
          <a:prstGeom prst="roundRect">
            <a:avLst>
              <a:gd name="adj" fmla="val 5009"/>
            </a:avLst>
          </a:prstGeom>
          <a:solidFill>
            <a:schemeClr val="tx2">
              <a:lumMod val="40000"/>
              <a:lumOff val="60000"/>
            </a:schemeClr>
          </a:solidFill>
          <a:ln w="6350" algn="ctr">
            <a:solidFill>
              <a:srgbClr val="C0C0C0"/>
            </a:solidFill>
            <a:round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0" tIns="0" rIns="0" bIns="0" anchor="ctr"/>
          <a:lstStyle>
            <a:lvl1pPr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9pPr>
          </a:lstStyle>
          <a:p>
            <a:pPr algn="ctr" latinLnBrk="0"/>
            <a:r>
              <a:rPr lang="ko-KR" altLang="en-US" sz="10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rPr>
              <a:t>네트워크 대상에 대한 유지보수 전문업체</a:t>
            </a:r>
          </a:p>
        </p:txBody>
      </p:sp>
      <p:graphicFrame>
        <p:nvGraphicFramePr>
          <p:cNvPr id="128" name="표 127">
            <a:extLst>
              <a:ext uri="{FF2B5EF4-FFF2-40B4-BE49-F238E27FC236}">
                <a16:creationId xmlns:a16="http://schemas.microsoft.com/office/drawing/2014/main" id="{75CA4093-D39B-A254-C28F-30C2FEE0DE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7477034"/>
              </p:ext>
            </p:extLst>
          </p:nvPr>
        </p:nvGraphicFramePr>
        <p:xfrm>
          <a:off x="11828290" y="7543579"/>
          <a:ext cx="2841522" cy="63719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5141">
                  <a:extLst>
                    <a:ext uri="{9D8B030D-6E8A-4147-A177-3AD203B41FA5}">
                      <a16:colId xmlns:a16="http://schemas.microsoft.com/office/drawing/2014/main" val="3899968791"/>
                    </a:ext>
                  </a:extLst>
                </a:gridCol>
                <a:gridCol w="1156381">
                  <a:extLst>
                    <a:ext uri="{9D8B030D-6E8A-4147-A177-3AD203B41FA5}">
                      <a16:colId xmlns:a16="http://schemas.microsoft.com/office/drawing/2014/main" val="1418996178"/>
                    </a:ext>
                  </a:extLst>
                </a:gridCol>
              </a:tblGrid>
              <a:tr h="15929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Brocade 6510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정원엔시스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7224"/>
                  </a:ext>
                </a:extLst>
              </a:tr>
              <a:tr h="15929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Nexus 9300 10G-48p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자림솔루션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338576"/>
                  </a:ext>
                </a:extLst>
              </a:tr>
              <a:tr h="15929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한드림넷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SG2128GX, 28p (L2)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에스네트웍스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87360"/>
                  </a:ext>
                </a:extLst>
              </a:tr>
              <a:tr h="159298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연구소 암호화 장비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(NCC-15A)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대영에스텍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289777"/>
                  </a:ext>
                </a:extLst>
              </a:tr>
            </a:tbl>
          </a:graphicData>
        </a:graphic>
      </p:graphicFrame>
      <p:sp>
        <p:nvSpPr>
          <p:cNvPr id="129" name="Rs189" descr="어두운 상향 대각선">
            <a:extLst>
              <a:ext uri="{FF2B5EF4-FFF2-40B4-BE49-F238E27FC236}">
                <a16:creationId xmlns:a16="http://schemas.microsoft.com/office/drawing/2014/main" id="{DB481BC9-5224-9FBA-3FA2-ABDFF6790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9255" y="4033617"/>
            <a:ext cx="2844000" cy="216000"/>
          </a:xfrm>
          <a:prstGeom prst="roundRect">
            <a:avLst>
              <a:gd name="adj" fmla="val 5009"/>
            </a:avLst>
          </a:prstGeom>
          <a:solidFill>
            <a:schemeClr val="tx2">
              <a:lumMod val="40000"/>
              <a:lumOff val="60000"/>
            </a:schemeClr>
          </a:solidFill>
          <a:ln w="6350" algn="ctr">
            <a:solidFill>
              <a:srgbClr val="C0C0C0"/>
            </a:solidFill>
            <a:round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0" tIns="0" rIns="0" bIns="0" anchor="ctr"/>
          <a:lstStyle>
            <a:lvl1pPr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9pPr>
          </a:lstStyle>
          <a:p>
            <a:pPr algn="ctr" latinLnBrk="0"/>
            <a:r>
              <a:rPr lang="ko-KR" altLang="en-US" sz="10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rPr>
              <a:t>정보보호 대상에 대한 유지보수 전문업체</a:t>
            </a:r>
          </a:p>
        </p:txBody>
      </p:sp>
      <p:sp>
        <p:nvSpPr>
          <p:cNvPr id="282" name="Rs189" descr="어두운 상향 대각선">
            <a:extLst>
              <a:ext uri="{FF2B5EF4-FFF2-40B4-BE49-F238E27FC236}">
                <a16:creationId xmlns:a16="http://schemas.microsoft.com/office/drawing/2014/main" id="{D1887B86-E61C-479C-8076-348E246E25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21196" y="8217471"/>
            <a:ext cx="2844000" cy="216000"/>
          </a:xfrm>
          <a:prstGeom prst="roundRect">
            <a:avLst>
              <a:gd name="adj" fmla="val 5009"/>
            </a:avLst>
          </a:prstGeom>
          <a:solidFill>
            <a:schemeClr val="tx2">
              <a:lumMod val="40000"/>
              <a:lumOff val="60000"/>
            </a:schemeClr>
          </a:solidFill>
          <a:ln w="6350" algn="ctr">
            <a:solidFill>
              <a:srgbClr val="C0C0C0"/>
            </a:solidFill>
            <a:round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0" tIns="0" rIns="0" bIns="0" anchor="ctr"/>
          <a:lstStyle>
            <a:lvl1pPr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9pPr>
          </a:lstStyle>
          <a:p>
            <a:pPr algn="ctr" latinLnBrk="0"/>
            <a:r>
              <a:rPr lang="ko-KR" altLang="en-US" sz="10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rPr>
              <a:t>기타 대상에 대한 유지보수 전문업체</a:t>
            </a:r>
          </a:p>
        </p:txBody>
      </p:sp>
      <p:graphicFrame>
        <p:nvGraphicFramePr>
          <p:cNvPr id="284" name="표 283">
            <a:extLst>
              <a:ext uri="{FF2B5EF4-FFF2-40B4-BE49-F238E27FC236}">
                <a16:creationId xmlns:a16="http://schemas.microsoft.com/office/drawing/2014/main" id="{AE2646AE-6C41-0AEB-A621-DD40B8DE3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5039606"/>
              </p:ext>
            </p:extLst>
          </p:nvPr>
        </p:nvGraphicFramePr>
        <p:xfrm>
          <a:off x="11837026" y="8480386"/>
          <a:ext cx="2841522" cy="74153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85141">
                  <a:extLst>
                    <a:ext uri="{9D8B030D-6E8A-4147-A177-3AD203B41FA5}">
                      <a16:colId xmlns:a16="http://schemas.microsoft.com/office/drawing/2014/main" val="3899968791"/>
                    </a:ext>
                  </a:extLst>
                </a:gridCol>
                <a:gridCol w="1156381">
                  <a:extLst>
                    <a:ext uri="{9D8B030D-6E8A-4147-A177-3AD203B41FA5}">
                      <a16:colId xmlns:a16="http://schemas.microsoft.com/office/drawing/2014/main" val="1418996178"/>
                    </a:ext>
                  </a:extLst>
                </a:gridCol>
              </a:tblGrid>
              <a:tr h="163359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번역지원시스템 연간 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라이선스비</a:t>
                      </a:r>
                      <a:endParaRPr lang="ko-KR" alt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에버트란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7787224"/>
                  </a:ext>
                </a:extLst>
              </a:tr>
              <a:tr h="163359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정보체계 통합 백업 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LTO4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티에스씨인포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5338576"/>
                  </a:ext>
                </a:extLst>
              </a:tr>
              <a:tr h="216467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UPS, 30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분 이상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100KV_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대농산업전기 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PPU-A-3100-3</a:t>
                      </a: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대농산업전기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387360"/>
                  </a:ext>
                </a:extLst>
              </a:tr>
              <a:tr h="163359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항온항습기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배종전산실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)_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에이알</a:t>
                      </a:r>
                      <a:endParaRPr lang="en-US" altLang="ko-KR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에이알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3289777"/>
                  </a:ext>
                </a:extLst>
              </a:tr>
            </a:tbl>
          </a:graphicData>
        </a:graphic>
      </p:graphicFrame>
      <p:sp>
        <p:nvSpPr>
          <p:cNvPr id="285" name="Rs189" descr="어두운 상향 대각선">
            <a:extLst>
              <a:ext uri="{FF2B5EF4-FFF2-40B4-BE49-F238E27FC236}">
                <a16:creationId xmlns:a16="http://schemas.microsoft.com/office/drawing/2014/main" id="{6775CF00-BB79-6E20-9249-CF57CFD512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03864" y="2349131"/>
            <a:ext cx="2844000" cy="216000"/>
          </a:xfrm>
          <a:prstGeom prst="roundRect">
            <a:avLst>
              <a:gd name="adj" fmla="val 5009"/>
            </a:avLst>
          </a:prstGeom>
          <a:solidFill>
            <a:schemeClr val="tx2">
              <a:lumMod val="40000"/>
              <a:lumOff val="60000"/>
            </a:schemeClr>
          </a:solidFill>
          <a:ln w="6350" algn="ctr">
            <a:solidFill>
              <a:srgbClr val="C0C0C0"/>
            </a:solidFill>
            <a:round/>
            <a:headEnd/>
            <a:tailEnd/>
          </a:ln>
          <a:effectLst>
            <a:outerShdw dist="35921" dir="2700000" algn="ctr" rotWithShape="0">
              <a:srgbClr val="EAEAEA"/>
            </a:outerShdw>
          </a:effectLst>
        </p:spPr>
        <p:txBody>
          <a:bodyPr lIns="0" tIns="0" rIns="0" bIns="0" anchor="ctr"/>
          <a:lstStyle>
            <a:lvl1pPr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1pPr>
            <a:lvl2pPr marL="742950" indent="-28575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2pPr>
            <a:lvl3pPr marL="11430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3pPr>
            <a:lvl4pPr marL="16002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4pPr>
            <a:lvl5pPr marL="2057400" indent="-228600"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산돌고딕 L" pitchFamily="18" charset="-127"/>
                <a:ea typeface="굴림" pitchFamily="50" charset="-127"/>
              </a:defRPr>
            </a:lvl9pPr>
          </a:lstStyle>
          <a:p>
            <a:pPr algn="ctr" latinLnBrk="0"/>
            <a:r>
              <a:rPr lang="ko-KR" altLang="en-US" sz="1000" dirty="0">
                <a:ln>
                  <a:solidFill>
                    <a:schemeClr val="bg1">
                      <a:lumMod val="65000"/>
                      <a:alpha val="0"/>
                    </a:schemeClr>
                  </a:solidFill>
                </a:ln>
                <a:solidFill>
                  <a:srgbClr val="292929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굴림" pitchFamily="50" charset="-127"/>
              </a:rPr>
              <a:t>소프트웨어 대상에 대한 유지보수 전문업체</a:t>
            </a:r>
          </a:p>
        </p:txBody>
      </p:sp>
      <p:graphicFrame>
        <p:nvGraphicFramePr>
          <p:cNvPr id="286" name="표 285">
            <a:extLst>
              <a:ext uri="{FF2B5EF4-FFF2-40B4-BE49-F238E27FC236}">
                <a16:creationId xmlns:a16="http://schemas.microsoft.com/office/drawing/2014/main" id="{07C2616B-A530-828F-D556-99D3E6F1BB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7957125"/>
              </p:ext>
            </p:extLst>
          </p:nvPr>
        </p:nvGraphicFramePr>
        <p:xfrm>
          <a:off x="8918096" y="2609207"/>
          <a:ext cx="2835136" cy="664281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68530">
                  <a:extLst>
                    <a:ext uri="{9D8B030D-6E8A-4147-A177-3AD203B41FA5}">
                      <a16:colId xmlns:a16="http://schemas.microsoft.com/office/drawing/2014/main" val="3239612691"/>
                    </a:ext>
                  </a:extLst>
                </a:gridCol>
                <a:gridCol w="1166606">
                  <a:extLst>
                    <a:ext uri="{9D8B030D-6E8A-4147-A177-3AD203B41FA5}">
                      <a16:colId xmlns:a16="http://schemas.microsoft.com/office/drawing/2014/main" val="3119276135"/>
                    </a:ext>
                  </a:extLst>
                </a:gridCol>
              </a:tblGrid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홈페이지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국방망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,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인터넷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코넥</a:t>
                      </a:r>
                      <a:r>
                        <a:rPr lang="ko-KR" alt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　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8786606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통합업무지원시스템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크리스피드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053403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Tibero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5, sp1,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데이터 변환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티맥스티베로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2642270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WebtoB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4.1.8.1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티맥스소프트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6483644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Search Formula-1, </a:t>
                      </a:r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WiseNut</a:t>
                      </a:r>
                      <a:endParaRPr 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와이즈넛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5760955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MESIM Indigo ESB Hub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메타빌드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2835217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PDF Gateway 8 / 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이파피루스</a:t>
                      </a:r>
                      <a:endParaRPr lang="en-US" altLang="ko-KR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이파피루스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79064860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Web Square v5.0 / </a:t>
                      </a:r>
                      <a:r>
                        <a:rPr lang="ko-KR" altLang="en-US" sz="8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인스웨이브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인스웨이브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570438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파수 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Enterprise DRM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파수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9809076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Anysign 1.1.0.4 / </a:t>
                      </a:r>
                      <a:r>
                        <a:rPr lang="ko-KR" altLang="en-US" sz="8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소프트포럼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소프트포럼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852989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Clip Reporting 4.0 / </a:t>
                      </a:r>
                      <a:r>
                        <a:rPr lang="ko-KR" altLang="en-US" sz="8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클립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클립소프트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7609819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MetaMiner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3.0 / 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지티원</a:t>
                      </a:r>
                      <a:endParaRPr lang="ko-KR" alt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지티원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52575243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WiseLOG</a:t>
                      </a:r>
                      <a:endParaRPr 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넷스루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1270007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Simpana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10 / 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컴볼트</a:t>
                      </a:r>
                      <a:endParaRPr lang="ko-KR" alt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컴볼트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62461865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D'Amo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/ 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펜타</a:t>
                      </a:r>
                      <a:endParaRPr lang="ko-KR" alt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펜타시큐리티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4861381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REDOWL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아이티윈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7509654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DBSafer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5.0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접근제어포함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LSIT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5208251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secure keystroke 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소프트캠프</a:t>
                      </a:r>
                      <a:endParaRPr lang="ko-KR" alt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소프트캠프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3319447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Watchall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v10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와치텍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9025897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ER Win + Accelerator</a:t>
                      </a:r>
                      <a:endParaRPr lang="ko-KR" alt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제네시스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5228242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Namo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WebEditor</a:t>
                      </a:r>
                      <a:endParaRPr 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나모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8064746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Time Navigator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OOCI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194327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SDQ(Smart Data Quality)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비투엔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0905048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웹보안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키패드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Open Web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NSHC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721173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MS MOSS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하이컴파스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9961282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reporting Tool (OZ report 7)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포시에스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7374819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Oracle 11g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투썸데이타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25301291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xecueDB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8Core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한컴시큐어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2212087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Highway101 S/W License (EAI)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미라콤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8338376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OPR 3D-STD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연간 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라이센스비</a:t>
                      </a:r>
                      <a:endParaRPr lang="ko-KR" alt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모드뷰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0585098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국방망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HCI (SDS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라이선스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코넥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1215276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패스워드 관리 솔루션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시큐어가드테크놀러지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5482726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문서중앙화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SW 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지란지교시큐리티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70414573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ezPDF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workFlow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v3.0, 1 server</a:t>
                      </a:r>
                      <a:endParaRPr lang="en-US" altLang="ko-KR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유니닥스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2958830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Enterprise IP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오토콜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431341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서버보안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보안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OS 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리눅스 서버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시큐브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6810488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새하컴즈</a:t>
                      </a:r>
                      <a:endParaRPr lang="ko-KR" alt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새하컴즈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8994007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Brity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RPA v1.6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삼성</a:t>
                      </a:r>
                      <a:r>
                        <a:rPr lang="en-US" sz="9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SDS</a:t>
                      </a: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9886022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패스워드관리솔루션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-SW</a:t>
                      </a:r>
                      <a:endParaRPr lang="ko-KR" alt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에스엠에스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004300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네트워크 접근통제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-SW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지니언스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173625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유해사이트차단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-SW</a:t>
                      </a:r>
                      <a:endParaRPr lang="ko-KR" altLang="en-US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소만사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2279600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PC</a:t>
                      </a:r>
                      <a:r>
                        <a:rPr lang="ko-KR" alt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관리점검</a:t>
                      </a:r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en-US" sz="8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RemoteCall</a:t>
                      </a:r>
                      <a:r>
                        <a:rPr 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Agent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알서포트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065381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통합보안관제 모니터링</a:t>
                      </a:r>
                      <a:r>
                        <a:rPr lang="en-US" altLang="ko-KR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(SIEM)</a:t>
                      </a: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바이텍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8244197"/>
                  </a:ext>
                </a:extLst>
              </a:tr>
              <a:tr h="150973">
                <a:tc>
                  <a:txBody>
                    <a:bodyPr/>
                    <a:lstStyle/>
                    <a:p>
                      <a:pPr marL="0" algn="l" defTabSz="914400" rtl="0" eaLnBrk="1" fontAlgn="ctr" latinLnBrk="1" hangingPunct="1"/>
                      <a:r>
                        <a:rPr lang="ko-KR" altLang="en-US" sz="800" u="none" strike="noStrike" kern="1200" dirty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문서보안솔루션</a:t>
                      </a:r>
                      <a:endParaRPr lang="en-US" altLang="ko-KR" sz="8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72000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ko-KR" altLang="en-US" sz="900" u="none" strike="noStrike" kern="1200" dirty="0" err="1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effectLst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마크애니</a:t>
                      </a:r>
                      <a:endParaRPr lang="ko-KR" altLang="en-US" sz="900" u="none" strike="noStrike" kern="1200" dirty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4291" marR="4291" marT="4291" marB="0" anchor="ctr">
                    <a:lnL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691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97856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그림 12">
            <a:extLst>
              <a:ext uri="{FF2B5EF4-FFF2-40B4-BE49-F238E27FC236}">
                <a16:creationId xmlns:a16="http://schemas.microsoft.com/office/drawing/2014/main" id="{6DACFE69-FC59-534A-3E9F-836888D97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419" y="3128204"/>
            <a:ext cx="2359356" cy="597460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FE0EF49D-082F-E18C-72F2-D019513A14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alphaModFix amt="20000"/>
          </a:blip>
          <a:srcRect l="7290" t="11261" r="20000" b="10070"/>
          <a:stretch/>
        </p:blipFill>
        <p:spPr>
          <a:xfrm>
            <a:off x="575419" y="6057628"/>
            <a:ext cx="6610413" cy="4148097"/>
          </a:xfrm>
          <a:prstGeom prst="rect">
            <a:avLst/>
          </a:prstGeom>
          <a:noFill/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92FF61F3-986A-C11D-F188-587E78252EEC}"/>
              </a:ext>
            </a:extLst>
          </p:cNvPr>
          <p:cNvSpPr/>
          <p:nvPr/>
        </p:nvSpPr>
        <p:spPr>
          <a:xfrm flipV="1">
            <a:off x="575419" y="6034415"/>
            <a:ext cx="6602469" cy="4171622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161" name="직사각형 1" hidden="1">
            <a:extLst>
              <a:ext uri="{FF2B5EF4-FFF2-40B4-BE49-F238E27FC236}">
                <a16:creationId xmlns:a16="http://schemas.microsoft.com/office/drawing/2014/main" id="{5EB94BF4-269D-4ADE-8025-A904DB6FAF11}"/>
              </a:ext>
            </a:extLst>
          </p:cNvPr>
          <p:cNvSpPr/>
          <p:nvPr/>
        </p:nvSpPr>
        <p:spPr>
          <a:xfrm>
            <a:off x="5233805" y="330422"/>
            <a:ext cx="807913" cy="1186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spAutoFit/>
          </a:bodyPr>
          <a:lstStyle/>
          <a:p>
            <a:pPr algn="r"/>
            <a:r>
              <a:rPr lang="en-US" altLang="ko-KR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 </a:t>
            </a:r>
            <a:r>
              <a:rPr lang="ko-KR" altLang="en-US" sz="771" dirty="0">
                <a:ln>
                  <a:solidFill>
                    <a:schemeClr val="bg1">
                      <a:alpha val="400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 배경 및 목적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0DD15C4-AF98-EFE3-EB7A-8C48293D6D4B}"/>
              </a:ext>
            </a:extLst>
          </p:cNvPr>
          <p:cNvSpPr txBox="1"/>
          <p:nvPr/>
        </p:nvSpPr>
        <p:spPr>
          <a:xfrm>
            <a:off x="934361" y="2524932"/>
            <a:ext cx="4753626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1202116" latinLnBrk="0">
              <a:spcBef>
                <a:spcPts val="200"/>
              </a:spcBef>
              <a:spcAft>
                <a:spcPts val="200"/>
              </a:spcAft>
              <a:defRPr/>
            </a:pPr>
            <a:r>
              <a:rPr kumimoji="1" lang="ko-KR" altLang="en-US" sz="1100" b="1" dirty="0"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1"/>
                </a:gradFill>
                <a:latin typeface="KoPub돋움체 Bold" panose="02020603020101020101" pitchFamily="18" charset="-127"/>
                <a:ea typeface="KoPub돋움체 Bold" panose="02020603020101020101" pitchFamily="18" charset="-127"/>
                <a:cs typeface="가는각진제목체" pitchFamily="18" charset="-127"/>
              </a:rPr>
              <a:t>선진화된 유지관리 서비스 제공으로 국방전문화 전문기관 위상 강화 제고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99F03E0E-F6C0-91ED-93A3-245C8135B495}"/>
              </a:ext>
            </a:extLst>
          </p:cNvPr>
          <p:cNvSpPr/>
          <p:nvPr/>
        </p:nvSpPr>
        <p:spPr>
          <a:xfrm>
            <a:off x="1381398" y="1793106"/>
            <a:ext cx="5849058" cy="3715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ctr" anchorCtr="0">
            <a:spAutoFit/>
          </a:bodyPr>
          <a:lstStyle/>
          <a:p>
            <a:pPr marL="127000" indent="-127000">
              <a:lnSpc>
                <a:spcPct val="125000"/>
              </a:lnSpc>
              <a:spcBef>
                <a:spcPts val="100"/>
              </a:spcBef>
              <a:spcAft>
                <a:spcPts val="100"/>
              </a:spcAft>
              <a:buClr>
                <a:srgbClr val="0061EB"/>
              </a:buClr>
              <a:buSzPct val="80000"/>
              <a:buFont typeface="KoPub돋움체 Bold" panose="02020603020101020101" pitchFamily="18" charset="-127"/>
              <a:buChar char="▶"/>
            </a:pP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본 사업의 성공적인 수행으로 선진화된 국방 업무 중심의 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IT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지원 체계 구현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유지보수 업무 효율성 향상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유지보수 서비스 수준 관리 향상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, 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국방정보체계의 안정된 운영 보장의 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4</a:t>
            </a:r>
            <a:r>
              <a:rPr lang="ko-KR" altLang="en-US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대 기대효과가 창출됩니다</a:t>
            </a:r>
            <a:r>
              <a:rPr lang="en-US" altLang="ko-KR" sz="1000" dirty="0">
                <a:ln>
                  <a:solidFill>
                    <a:srgbClr val="BFC8D3">
                      <a:alpha val="0"/>
                    </a:srgbClr>
                  </a:solidFill>
                </a:ln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.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58FA33E-FCA6-5565-BB5E-627D28B757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1844" y="1239361"/>
            <a:ext cx="1338612" cy="138756"/>
          </a:xfrm>
          <a:prstGeom prst="rect">
            <a:avLst/>
          </a:prstGeom>
          <a:noFill/>
          <a:ln w="25400" algn="ctr">
            <a:noFill/>
            <a:miter lim="800000"/>
            <a:headEnd/>
            <a:tailEnd/>
          </a:ln>
        </p:spPr>
        <p:txBody>
          <a:bodyPr wrap="square" lIns="0" tIns="0" rIns="0" bIns="0" anchor="t">
            <a:spAutoFit/>
          </a:bodyPr>
          <a:lstStyle/>
          <a:p>
            <a:pPr latinLnBrk="0">
              <a:lnSpc>
                <a:spcPct val="120000"/>
              </a:lnSpc>
              <a:defRPr/>
            </a:pPr>
            <a:r>
              <a:rPr kumimoji="1" lang="ko-KR" altLang="en-US" sz="800" spc="-50" dirty="0">
                <a:ln>
                  <a:solidFill>
                    <a:schemeClr val="accent1"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KoPub돋움체 Medium" panose="02020603020101020101" pitchFamily="18" charset="-127"/>
                <a:ea typeface="KoPub돋움체 Medium" panose="02020603020101020101" pitchFamily="18" charset="-127"/>
              </a:rPr>
              <a:t>해당사항 없음</a:t>
            </a:r>
            <a:endParaRPr kumimoji="1" lang="en-US" altLang="ko-KR" sz="800" spc="-50" dirty="0">
              <a:ln>
                <a:solidFill>
                  <a:schemeClr val="accent1">
                    <a:alpha val="0"/>
                  </a:schemeClr>
                </a:solidFill>
              </a:ln>
              <a:solidFill>
                <a:schemeClr val="tx1">
                  <a:lumMod val="65000"/>
                  <a:lumOff val="35000"/>
                </a:schemeClr>
              </a:solidFill>
              <a:latin typeface="KoPub돋움체 Medium" panose="02020603020101020101" pitchFamily="18" charset="-127"/>
              <a:ea typeface="KoPub돋움체 Medium" panose="02020603020101020101" pitchFamily="18" charset="-127"/>
            </a:endParaRPr>
          </a:p>
        </p:txBody>
      </p:sp>
      <p:sp>
        <p:nvSpPr>
          <p:cNvPr id="107" name="제목 1">
            <a:extLst>
              <a:ext uri="{FF2B5EF4-FFF2-40B4-BE49-F238E27FC236}">
                <a16:creationId xmlns:a16="http://schemas.microsoft.com/office/drawing/2014/main" id="{B200D8DB-75AB-DC3D-1B32-539CC26912B7}"/>
              </a:ext>
            </a:extLst>
          </p:cNvPr>
          <p:cNvSpPr txBox="1">
            <a:spLocks/>
          </p:cNvSpPr>
          <p:nvPr/>
        </p:nvSpPr>
        <p:spPr>
          <a:xfrm>
            <a:off x="559676" y="997256"/>
            <a:ext cx="5889828" cy="179216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en-US" altLang="ko-KR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1. </a:t>
            </a:r>
            <a:r>
              <a:rPr lang="ko-KR" altLang="en-US" sz="10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사업 이해도</a:t>
            </a:r>
          </a:p>
        </p:txBody>
      </p:sp>
      <p:sp>
        <p:nvSpPr>
          <p:cNvPr id="109" name="제목 1">
            <a:extLst>
              <a:ext uri="{FF2B5EF4-FFF2-40B4-BE49-F238E27FC236}">
                <a16:creationId xmlns:a16="http://schemas.microsoft.com/office/drawing/2014/main" id="{09EB6A0F-9F5F-B194-D668-4BBD59D29058}"/>
              </a:ext>
            </a:extLst>
          </p:cNvPr>
          <p:cNvSpPr txBox="1">
            <a:spLocks/>
          </p:cNvSpPr>
          <p:nvPr/>
        </p:nvSpPr>
        <p:spPr>
          <a:xfrm>
            <a:off x="559676" y="1239582"/>
            <a:ext cx="5889828" cy="21512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algn="l" defTabSz="914400" rtl="0" eaLnBrk="1" latinLnBrk="0" hangingPunct="1">
              <a:lnSpc>
                <a:spcPct val="125000"/>
              </a:lnSpc>
              <a:spcBef>
                <a:spcPct val="0"/>
              </a:spcBef>
              <a:buNone/>
              <a:defRPr sz="1200" kern="1200">
                <a:solidFill>
                  <a:schemeClr val="tx1"/>
                </a:solidFill>
                <a:latin typeface="KoPub돋움체 Bold" pitchFamily="18" charset="-127"/>
                <a:ea typeface="KoPub돋움체 Bold" pitchFamily="18" charset="-127"/>
                <a:cs typeface="+mj-cs"/>
              </a:defRPr>
            </a:lvl1pPr>
          </a:lstStyle>
          <a:p>
            <a:pPr>
              <a:spcAft>
                <a:spcPts val="300"/>
              </a:spcAft>
            </a:pP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아</a:t>
            </a:r>
            <a:r>
              <a:rPr lang="en-US" altLang="ko-KR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. </a:t>
            </a:r>
            <a:r>
              <a:rPr lang="ko-KR" altLang="en-US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1"/>
                </a:gradFill>
              </a:rPr>
              <a:t>기대효과</a:t>
            </a:r>
          </a:p>
        </p:txBody>
      </p:sp>
      <p:sp>
        <p:nvSpPr>
          <p:cNvPr id="16" name="자유형 47">
            <a:extLst>
              <a:ext uri="{FF2B5EF4-FFF2-40B4-BE49-F238E27FC236}">
                <a16:creationId xmlns:a16="http://schemas.microsoft.com/office/drawing/2014/main" id="{48B5A5A4-33E3-EAEC-A1AF-6DFC5C39DB6F}"/>
              </a:ext>
            </a:extLst>
          </p:cNvPr>
          <p:cNvSpPr/>
          <p:nvPr/>
        </p:nvSpPr>
        <p:spPr>
          <a:xfrm>
            <a:off x="1073646" y="3085289"/>
            <a:ext cx="2499429" cy="731054"/>
          </a:xfrm>
          <a:custGeom>
            <a:avLst/>
            <a:gdLst>
              <a:gd name="connsiteX0" fmla="*/ 0 w 2346960"/>
              <a:gd name="connsiteY0" fmla="*/ 632460 h 632460"/>
              <a:gd name="connsiteX1" fmla="*/ 579120 w 2346960"/>
              <a:gd name="connsiteY1" fmla="*/ 0 h 632460"/>
              <a:gd name="connsiteX2" fmla="*/ 2346960 w 2346960"/>
              <a:gd name="connsiteY2" fmla="*/ 0 h 632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46960" h="632460">
                <a:moveTo>
                  <a:pt x="0" y="632460"/>
                </a:moveTo>
                <a:lnTo>
                  <a:pt x="579120" y="0"/>
                </a:lnTo>
                <a:lnTo>
                  <a:pt x="2346960" y="0"/>
                </a:lnTo>
              </a:path>
            </a:pathLst>
          </a:custGeom>
          <a:noFill/>
          <a:ln w="12700" cap="rnd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7" name="자유형 45">
            <a:extLst>
              <a:ext uri="{FF2B5EF4-FFF2-40B4-BE49-F238E27FC236}">
                <a16:creationId xmlns:a16="http://schemas.microsoft.com/office/drawing/2014/main" id="{6F75CCE1-338C-D606-E4AA-C2318EE5D39C}"/>
              </a:ext>
            </a:extLst>
          </p:cNvPr>
          <p:cNvSpPr/>
          <p:nvPr/>
        </p:nvSpPr>
        <p:spPr>
          <a:xfrm>
            <a:off x="2211769" y="4821234"/>
            <a:ext cx="1207110" cy="0"/>
          </a:xfrm>
          <a:custGeom>
            <a:avLst/>
            <a:gdLst>
              <a:gd name="connsiteX0" fmla="*/ 0 w 1133475"/>
              <a:gd name="connsiteY0" fmla="*/ 404812 h 404812"/>
              <a:gd name="connsiteX1" fmla="*/ 323850 w 1133475"/>
              <a:gd name="connsiteY1" fmla="*/ 0 h 404812"/>
              <a:gd name="connsiteX2" fmla="*/ 1133475 w 1133475"/>
              <a:gd name="connsiteY2" fmla="*/ 0 h 404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3475" h="404812">
                <a:moveTo>
                  <a:pt x="0" y="404812"/>
                </a:moveTo>
                <a:lnTo>
                  <a:pt x="323850" y="0"/>
                </a:lnTo>
                <a:lnTo>
                  <a:pt x="1133475" y="0"/>
                </a:lnTo>
              </a:path>
            </a:pathLst>
          </a:custGeom>
          <a:noFill/>
          <a:ln w="12700" cap="rnd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8" name="타원 65">
            <a:extLst>
              <a:ext uri="{FF2B5EF4-FFF2-40B4-BE49-F238E27FC236}">
                <a16:creationId xmlns:a16="http://schemas.microsoft.com/office/drawing/2014/main" id="{69080F99-13C8-B2EB-AA1A-408C270EF6C9}"/>
              </a:ext>
            </a:extLst>
          </p:cNvPr>
          <p:cNvSpPr/>
          <p:nvPr/>
        </p:nvSpPr>
        <p:spPr>
          <a:xfrm>
            <a:off x="601730" y="4106238"/>
            <a:ext cx="1597109" cy="3287989"/>
          </a:xfrm>
          <a:custGeom>
            <a:avLst/>
            <a:gdLst/>
            <a:ahLst/>
            <a:cxnLst/>
            <a:rect l="l" t="t" r="r" b="b"/>
            <a:pathLst>
              <a:path w="1499683" h="2844552">
                <a:moveTo>
                  <a:pt x="77407" y="0"/>
                </a:moveTo>
                <a:cubicBezTo>
                  <a:pt x="862908" y="0"/>
                  <a:pt x="1499683" y="636775"/>
                  <a:pt x="1499683" y="1422276"/>
                </a:cubicBezTo>
                <a:cubicBezTo>
                  <a:pt x="1499683" y="2207777"/>
                  <a:pt x="862908" y="2844552"/>
                  <a:pt x="77407" y="2844552"/>
                </a:cubicBezTo>
                <a:lnTo>
                  <a:pt x="0" y="2840644"/>
                </a:lnTo>
                <a:lnTo>
                  <a:pt x="0" y="3909"/>
                </a:lnTo>
                <a:cubicBezTo>
                  <a:pt x="25562" y="698"/>
                  <a:pt x="51403" y="0"/>
                  <a:pt x="77407" y="0"/>
                </a:cubicBezTo>
                <a:close/>
              </a:path>
            </a:pathLst>
          </a:custGeom>
          <a:solidFill>
            <a:srgbClr val="EAEA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19" name="타원 65">
            <a:extLst>
              <a:ext uri="{FF2B5EF4-FFF2-40B4-BE49-F238E27FC236}">
                <a16:creationId xmlns:a16="http://schemas.microsoft.com/office/drawing/2014/main" id="{CD8A6AE9-8D07-16C3-AEFE-90C362CF0A69}"/>
              </a:ext>
            </a:extLst>
          </p:cNvPr>
          <p:cNvSpPr/>
          <p:nvPr/>
        </p:nvSpPr>
        <p:spPr>
          <a:xfrm>
            <a:off x="601730" y="4333630"/>
            <a:ext cx="1376202" cy="2833204"/>
          </a:xfrm>
          <a:custGeom>
            <a:avLst/>
            <a:gdLst/>
            <a:ahLst/>
            <a:cxnLst/>
            <a:rect l="l" t="t" r="r" b="b"/>
            <a:pathLst>
              <a:path w="1499683" h="2844552">
                <a:moveTo>
                  <a:pt x="77407" y="0"/>
                </a:moveTo>
                <a:cubicBezTo>
                  <a:pt x="862908" y="0"/>
                  <a:pt x="1499683" y="636775"/>
                  <a:pt x="1499683" y="1422276"/>
                </a:cubicBezTo>
                <a:cubicBezTo>
                  <a:pt x="1499683" y="2207777"/>
                  <a:pt x="862908" y="2844552"/>
                  <a:pt x="77407" y="2844552"/>
                </a:cubicBezTo>
                <a:lnTo>
                  <a:pt x="0" y="2840644"/>
                </a:lnTo>
                <a:lnTo>
                  <a:pt x="0" y="3909"/>
                </a:lnTo>
                <a:cubicBezTo>
                  <a:pt x="25562" y="698"/>
                  <a:pt x="51403" y="0"/>
                  <a:pt x="77407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20" name="타원 65">
            <a:extLst>
              <a:ext uri="{FF2B5EF4-FFF2-40B4-BE49-F238E27FC236}">
                <a16:creationId xmlns:a16="http://schemas.microsoft.com/office/drawing/2014/main" id="{3FA6A0C0-A2FB-46E2-45CF-3CFEF8609924}"/>
              </a:ext>
            </a:extLst>
          </p:cNvPr>
          <p:cNvSpPr/>
          <p:nvPr/>
        </p:nvSpPr>
        <p:spPr>
          <a:xfrm>
            <a:off x="601730" y="4594196"/>
            <a:ext cx="1123068" cy="2312071"/>
          </a:xfrm>
          <a:custGeom>
            <a:avLst/>
            <a:gdLst/>
            <a:ahLst/>
            <a:cxnLst/>
            <a:rect l="l" t="t" r="r" b="b"/>
            <a:pathLst>
              <a:path w="1499683" h="2844552">
                <a:moveTo>
                  <a:pt x="77407" y="0"/>
                </a:moveTo>
                <a:cubicBezTo>
                  <a:pt x="862908" y="0"/>
                  <a:pt x="1499683" y="636775"/>
                  <a:pt x="1499683" y="1422276"/>
                </a:cubicBezTo>
                <a:cubicBezTo>
                  <a:pt x="1499683" y="2207777"/>
                  <a:pt x="862908" y="2844552"/>
                  <a:pt x="77407" y="2844552"/>
                </a:cubicBezTo>
                <a:lnTo>
                  <a:pt x="0" y="2840644"/>
                </a:lnTo>
                <a:lnTo>
                  <a:pt x="0" y="3909"/>
                </a:lnTo>
                <a:cubicBezTo>
                  <a:pt x="25562" y="698"/>
                  <a:pt x="51403" y="0"/>
                  <a:pt x="7740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21" name="타원 65">
            <a:extLst>
              <a:ext uri="{FF2B5EF4-FFF2-40B4-BE49-F238E27FC236}">
                <a16:creationId xmlns:a16="http://schemas.microsoft.com/office/drawing/2014/main" id="{3A344D4D-4646-7A2B-871A-87683CB9FA4F}"/>
              </a:ext>
            </a:extLst>
          </p:cNvPr>
          <p:cNvSpPr/>
          <p:nvPr/>
        </p:nvSpPr>
        <p:spPr>
          <a:xfrm>
            <a:off x="567475" y="3766350"/>
            <a:ext cx="1927304" cy="3967763"/>
          </a:xfrm>
          <a:custGeom>
            <a:avLst/>
            <a:gdLst/>
            <a:ahLst/>
            <a:cxnLst/>
            <a:rect l="l" t="t" r="r" b="b"/>
            <a:pathLst>
              <a:path w="1499683" h="2844552">
                <a:moveTo>
                  <a:pt x="77407" y="0"/>
                </a:moveTo>
                <a:cubicBezTo>
                  <a:pt x="862908" y="0"/>
                  <a:pt x="1499683" y="636775"/>
                  <a:pt x="1499683" y="1422276"/>
                </a:cubicBezTo>
                <a:cubicBezTo>
                  <a:pt x="1499683" y="2207777"/>
                  <a:pt x="862908" y="2844552"/>
                  <a:pt x="77407" y="2844552"/>
                </a:cubicBezTo>
                <a:lnTo>
                  <a:pt x="0" y="2840644"/>
                </a:lnTo>
                <a:lnTo>
                  <a:pt x="0" y="3909"/>
                </a:lnTo>
                <a:cubicBezTo>
                  <a:pt x="25562" y="698"/>
                  <a:pt x="51403" y="0"/>
                  <a:pt x="77407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487EF3BB-7C37-EA55-C43C-54123D41B6C3}"/>
              </a:ext>
            </a:extLst>
          </p:cNvPr>
          <p:cNvSpPr/>
          <p:nvPr/>
        </p:nvSpPr>
        <p:spPr>
          <a:xfrm>
            <a:off x="419674" y="3782612"/>
            <a:ext cx="194078" cy="39515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23" name="타원 22">
            <a:extLst>
              <a:ext uri="{FF2B5EF4-FFF2-40B4-BE49-F238E27FC236}">
                <a16:creationId xmlns:a16="http://schemas.microsoft.com/office/drawing/2014/main" id="{9541A0BD-D28E-D671-A969-042991706120}"/>
              </a:ext>
            </a:extLst>
          </p:cNvPr>
          <p:cNvSpPr/>
          <p:nvPr/>
        </p:nvSpPr>
        <p:spPr>
          <a:xfrm>
            <a:off x="1018029" y="3752212"/>
            <a:ext cx="110903" cy="120372"/>
          </a:xfrm>
          <a:prstGeom prst="ellipse">
            <a:avLst/>
          </a:prstGeom>
          <a:solidFill>
            <a:schemeClr val="bg1"/>
          </a:solidFill>
          <a:ln>
            <a:solidFill>
              <a:srgbClr val="288BC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24" name="타원 23">
            <a:extLst>
              <a:ext uri="{FF2B5EF4-FFF2-40B4-BE49-F238E27FC236}">
                <a16:creationId xmlns:a16="http://schemas.microsoft.com/office/drawing/2014/main" id="{1DC2CD84-858A-432E-8F63-6BA1648C5894}"/>
              </a:ext>
            </a:extLst>
          </p:cNvPr>
          <p:cNvSpPr/>
          <p:nvPr/>
        </p:nvSpPr>
        <p:spPr>
          <a:xfrm>
            <a:off x="2221853" y="4756757"/>
            <a:ext cx="110903" cy="120372"/>
          </a:xfrm>
          <a:prstGeom prst="ellipse">
            <a:avLst/>
          </a:prstGeom>
          <a:solidFill>
            <a:schemeClr val="bg1"/>
          </a:solidFill>
          <a:ln>
            <a:solidFill>
              <a:srgbClr val="37A9B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6C5A6EE5-5548-D7C5-9742-89A540C7F2D5}"/>
              </a:ext>
            </a:extLst>
          </p:cNvPr>
          <p:cNvSpPr/>
          <p:nvPr/>
        </p:nvSpPr>
        <p:spPr>
          <a:xfrm>
            <a:off x="3286809" y="3285095"/>
            <a:ext cx="384764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415" lvl="0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다양한 국방 사업 및 정보화 프로젝트 업무의 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IT 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전문가에 의한 기술 지원체계 구현</a:t>
            </a:r>
          </a:p>
          <a:p>
            <a:pPr marL="142415" lvl="0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정보체계 보안 및 백업 체계 구축으로 데이터의 보안을 강화</a:t>
            </a:r>
          </a:p>
          <a:p>
            <a:pPr marL="142415" lvl="0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국방 업무를 위한 주요 정보체계에 대한 활용지원을 강화하여 국방부의 업무성과 확대 제공</a:t>
            </a:r>
          </a:p>
          <a:p>
            <a:pPr marL="142415" lvl="0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통합 운영지원 강화로 전군 지원 정보체계 및 국방부 영내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대국민 지원 서비스의 질 향상</a:t>
            </a:r>
          </a:p>
        </p:txBody>
      </p:sp>
      <p:grpSp>
        <p:nvGrpSpPr>
          <p:cNvPr id="26" name="그룹 25">
            <a:extLst>
              <a:ext uri="{FF2B5EF4-FFF2-40B4-BE49-F238E27FC236}">
                <a16:creationId xmlns:a16="http://schemas.microsoft.com/office/drawing/2014/main" id="{5230B14C-C301-9B14-6A7E-169AB72EFC8C}"/>
              </a:ext>
            </a:extLst>
          </p:cNvPr>
          <p:cNvGrpSpPr/>
          <p:nvPr/>
        </p:nvGrpSpPr>
        <p:grpSpPr>
          <a:xfrm>
            <a:off x="3014974" y="4690293"/>
            <a:ext cx="4175135" cy="253976"/>
            <a:chOff x="2101850" y="3679007"/>
            <a:chExt cx="3636075" cy="193873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0112F2A8-ECEF-3099-07E0-903791BC28E8}"/>
                </a:ext>
              </a:extLst>
            </p:cNvPr>
            <p:cNvSpPr/>
            <p:nvPr/>
          </p:nvSpPr>
          <p:spPr>
            <a:xfrm>
              <a:off x="2101850" y="3679007"/>
              <a:ext cx="3636075" cy="1938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42000" tIns="36000" rIns="36000" bIns="36000" rtlCol="0" anchor="ctr"/>
            <a:lstStyle/>
            <a:p>
              <a:r>
                <a:rPr lang="ko-KR" altLang="en-US" sz="105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유지보수 업무 효율성 향상</a:t>
              </a: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4C51A870-870D-DA2D-13F9-DA45C74FEFC9}"/>
                </a:ext>
              </a:extLst>
            </p:cNvPr>
            <p:cNvSpPr/>
            <p:nvPr/>
          </p:nvSpPr>
          <p:spPr>
            <a:xfrm>
              <a:off x="2101850" y="3679007"/>
              <a:ext cx="223200" cy="193873"/>
            </a:xfrm>
            <a:prstGeom prst="rect">
              <a:avLst/>
            </a:prstGeom>
            <a:solidFill>
              <a:srgbClr val="37A9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5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02</a:t>
              </a:r>
              <a:endParaRPr lang="ko-KR" altLang="en-US" sz="105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DA216A9-49AC-43D4-F025-CEBA1FC93AF5}"/>
              </a:ext>
            </a:extLst>
          </p:cNvPr>
          <p:cNvSpPr/>
          <p:nvPr/>
        </p:nvSpPr>
        <p:spPr>
          <a:xfrm>
            <a:off x="3286808" y="5018765"/>
            <a:ext cx="3891080" cy="964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415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전문 유지보수 업체 선정을 통한 최적의 장비 운용 상태 유지 및 운영으로 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IT 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운영 부문의 전문성과 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IT 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서비스 품질 확보</a:t>
            </a:r>
          </a:p>
          <a:p>
            <a:pPr marL="142415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전산장비 및 정보체계에 대한 통제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(IT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거버넌스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강화로 안정적인 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IT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운영 및 체계적인 정보화 체계 구축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확장 등 정보화 부문의 효율성 향상</a:t>
            </a:r>
            <a:endParaRPr lang="en-US" altLang="ko-KR" sz="1000" dirty="0">
              <a:ln w="6350">
                <a:noFill/>
                <a:miter lim="800000"/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42415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장애 조치 지연시간에 대한 제재 조건을 적용하여 유지보수의 품질 향상</a:t>
            </a:r>
            <a:endParaRPr lang="en-US" altLang="ko-KR" sz="1000" dirty="0">
              <a:ln w="6350">
                <a:noFill/>
                <a:miter lim="800000"/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0" name="자유형 90">
            <a:extLst>
              <a:ext uri="{FF2B5EF4-FFF2-40B4-BE49-F238E27FC236}">
                <a16:creationId xmlns:a16="http://schemas.microsoft.com/office/drawing/2014/main" id="{C4E21D19-1660-144C-8898-AD5D718588D8}"/>
              </a:ext>
            </a:extLst>
          </p:cNvPr>
          <p:cNvSpPr/>
          <p:nvPr/>
        </p:nvSpPr>
        <p:spPr>
          <a:xfrm>
            <a:off x="2391540" y="6192609"/>
            <a:ext cx="1207110" cy="0"/>
          </a:xfrm>
          <a:custGeom>
            <a:avLst/>
            <a:gdLst>
              <a:gd name="connsiteX0" fmla="*/ 0 w 1133475"/>
              <a:gd name="connsiteY0" fmla="*/ 404812 h 404812"/>
              <a:gd name="connsiteX1" fmla="*/ 323850 w 1133475"/>
              <a:gd name="connsiteY1" fmla="*/ 0 h 404812"/>
              <a:gd name="connsiteX2" fmla="*/ 1133475 w 1133475"/>
              <a:gd name="connsiteY2" fmla="*/ 0 h 404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3475" h="404812">
                <a:moveTo>
                  <a:pt x="0" y="404812"/>
                </a:moveTo>
                <a:lnTo>
                  <a:pt x="323850" y="0"/>
                </a:lnTo>
                <a:lnTo>
                  <a:pt x="1133475" y="0"/>
                </a:lnTo>
              </a:path>
            </a:pathLst>
          </a:custGeom>
          <a:noFill/>
          <a:ln w="12700" cap="rnd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1" name="타원 30">
            <a:extLst>
              <a:ext uri="{FF2B5EF4-FFF2-40B4-BE49-F238E27FC236}">
                <a16:creationId xmlns:a16="http://schemas.microsoft.com/office/drawing/2014/main" id="{BC5EEC24-C10C-1E99-1236-4829BE658792}"/>
              </a:ext>
            </a:extLst>
          </p:cNvPr>
          <p:cNvSpPr/>
          <p:nvPr/>
        </p:nvSpPr>
        <p:spPr>
          <a:xfrm>
            <a:off x="2389728" y="6141553"/>
            <a:ext cx="110903" cy="120372"/>
          </a:xfrm>
          <a:prstGeom prst="ellipse">
            <a:avLst/>
          </a:prstGeom>
          <a:solidFill>
            <a:schemeClr val="bg1"/>
          </a:solidFill>
          <a:ln>
            <a:solidFill>
              <a:srgbClr val="58ADE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616EAF4E-3470-A29F-BE52-4675509DF9F4}"/>
              </a:ext>
            </a:extLst>
          </p:cNvPr>
          <p:cNvGrpSpPr/>
          <p:nvPr/>
        </p:nvGrpSpPr>
        <p:grpSpPr>
          <a:xfrm>
            <a:off x="3014974" y="6059807"/>
            <a:ext cx="4175135" cy="253976"/>
            <a:chOff x="2101850" y="3679007"/>
            <a:chExt cx="3636075" cy="193873"/>
          </a:xfrm>
        </p:grpSpPr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BC91B7A0-3812-155C-073E-3EB4FC19C6B2}"/>
                </a:ext>
              </a:extLst>
            </p:cNvPr>
            <p:cNvSpPr/>
            <p:nvPr/>
          </p:nvSpPr>
          <p:spPr>
            <a:xfrm>
              <a:off x="2101850" y="3679007"/>
              <a:ext cx="3636075" cy="19387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42000" tIns="36000" rIns="36000" bIns="36000" rtlCol="0" anchor="ctr"/>
            <a:lstStyle/>
            <a:p>
              <a:r>
                <a:rPr lang="ko-KR" altLang="en-US" sz="105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유지보수 서비스 수준 관리 향상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A7E59AA-26CA-C730-5C3E-45C8B6F88026}"/>
                </a:ext>
              </a:extLst>
            </p:cNvPr>
            <p:cNvSpPr/>
            <p:nvPr/>
          </p:nvSpPr>
          <p:spPr>
            <a:xfrm>
              <a:off x="2101850" y="3679007"/>
              <a:ext cx="223200" cy="193873"/>
            </a:xfrm>
            <a:prstGeom prst="rect">
              <a:avLst/>
            </a:prstGeom>
            <a:solidFill>
              <a:srgbClr val="58ADE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5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03</a:t>
              </a:r>
              <a:endParaRPr lang="ko-KR" altLang="en-US" sz="105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4C048248-DDC5-5157-4ADB-E69F8EB6A645}"/>
              </a:ext>
            </a:extLst>
          </p:cNvPr>
          <p:cNvSpPr/>
          <p:nvPr/>
        </p:nvSpPr>
        <p:spPr>
          <a:xfrm>
            <a:off x="3286808" y="6390298"/>
            <a:ext cx="3847647" cy="9643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415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ITSM/SLA 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기반의 유지관리 체계 수립을 통한 체계적 사업관리</a:t>
            </a:r>
            <a:endParaRPr lang="en-US" altLang="ko-KR" sz="1000" dirty="0">
              <a:ln w="6350">
                <a:noFill/>
                <a:miter lim="800000"/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42415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ISO 27001/9001/14001 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기반의 프로세스를 적용한 정량적인 서비스 수준 관리와 품질 고도화</a:t>
            </a:r>
          </a:p>
          <a:p>
            <a:pPr marL="142415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정보체계의 지속적인 개선과 운영관리의 고도화로 최적의 서비스 제공 및 이용자 만족도 향상 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운영성과 측정항목 및 성과지표 만족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endParaRPr lang="ko-KR" altLang="en-US" sz="1000" dirty="0">
              <a:ln w="6350">
                <a:noFill/>
                <a:miter lim="800000"/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36" name="타원 65">
            <a:extLst>
              <a:ext uri="{FF2B5EF4-FFF2-40B4-BE49-F238E27FC236}">
                <a16:creationId xmlns:a16="http://schemas.microsoft.com/office/drawing/2014/main" id="{BF87436E-7CF2-2967-A23A-9C2BFB8C6421}"/>
              </a:ext>
            </a:extLst>
          </p:cNvPr>
          <p:cNvSpPr/>
          <p:nvPr/>
        </p:nvSpPr>
        <p:spPr>
          <a:xfrm>
            <a:off x="601730" y="4333630"/>
            <a:ext cx="1376202" cy="2833204"/>
          </a:xfrm>
          <a:custGeom>
            <a:avLst/>
            <a:gdLst/>
            <a:ahLst/>
            <a:cxnLst/>
            <a:rect l="l" t="t" r="r" b="b"/>
            <a:pathLst>
              <a:path w="1499683" h="2844552">
                <a:moveTo>
                  <a:pt x="77407" y="0"/>
                </a:moveTo>
                <a:cubicBezTo>
                  <a:pt x="862908" y="0"/>
                  <a:pt x="1499683" y="636775"/>
                  <a:pt x="1499683" y="1422276"/>
                </a:cubicBezTo>
                <a:cubicBezTo>
                  <a:pt x="1499683" y="2207777"/>
                  <a:pt x="862908" y="2844552"/>
                  <a:pt x="77407" y="2844552"/>
                </a:cubicBezTo>
                <a:lnTo>
                  <a:pt x="0" y="2840644"/>
                </a:lnTo>
                <a:lnTo>
                  <a:pt x="0" y="3909"/>
                </a:lnTo>
                <a:cubicBezTo>
                  <a:pt x="25562" y="698"/>
                  <a:pt x="51403" y="0"/>
                  <a:pt x="77407" y="0"/>
                </a:cubicBezTo>
                <a:close/>
              </a:path>
            </a:pathLst>
          </a:custGeom>
          <a:solidFill>
            <a:schemeClr val="bg1"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A862F291-0881-1D1B-3C6B-503F9C5364E0}"/>
              </a:ext>
            </a:extLst>
          </p:cNvPr>
          <p:cNvSpPr/>
          <p:nvPr/>
        </p:nvSpPr>
        <p:spPr>
          <a:xfrm>
            <a:off x="3014974" y="7414453"/>
            <a:ext cx="4175135" cy="25397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42000" tIns="36000" rIns="36000" bIns="36000" rtlCol="0" anchor="ctr"/>
          <a:lstStyle/>
          <a:p>
            <a:r>
              <a:rPr lang="ko-KR" altLang="en-US" sz="1050" dirty="0">
                <a:solidFill>
                  <a:schemeClr val="tx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국장정보체계의 안정된 운영 보장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F3E4C7EC-D460-5872-39A1-247C9A22B6AE}"/>
              </a:ext>
            </a:extLst>
          </p:cNvPr>
          <p:cNvSpPr/>
          <p:nvPr/>
        </p:nvSpPr>
        <p:spPr>
          <a:xfrm>
            <a:off x="3014974" y="7414453"/>
            <a:ext cx="256290" cy="2539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36000" tIns="36000" rIns="36000" bIns="36000" rtlCol="0" anchor="ctr"/>
          <a:lstStyle/>
          <a:p>
            <a:pPr algn="ctr"/>
            <a:r>
              <a:rPr lang="en-US" altLang="ko-KR" sz="105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04</a:t>
            </a:r>
            <a:endParaRPr lang="ko-KR" altLang="en-US" sz="1050" dirty="0">
              <a:solidFill>
                <a:schemeClr val="bg1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235A03B0-B5A5-EE8F-BBB5-68652F3B92DC}"/>
              </a:ext>
            </a:extLst>
          </p:cNvPr>
          <p:cNvSpPr/>
          <p:nvPr/>
        </p:nvSpPr>
        <p:spPr>
          <a:xfrm>
            <a:off x="3286808" y="7737284"/>
            <a:ext cx="3875932" cy="1374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42415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국방정보체계의 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24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시간 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365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 무 중단 운영</a:t>
            </a:r>
            <a:endParaRPr lang="en-US" altLang="ko-KR" sz="1000" dirty="0">
              <a:ln w="6350">
                <a:noFill/>
                <a:miter lim="800000"/>
              </a:ln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L="142415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분야별 전문 인력이 상주하여 상시 예방점검 체계 구축 및 장애 발생 시 대응 시간 단축</a:t>
            </a:r>
          </a:p>
          <a:p>
            <a:pPr marL="142415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장애 요소 식별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인지 능력 향상을 통한 신속한 복구체계 구축</a:t>
            </a:r>
          </a:p>
          <a:p>
            <a:pPr marL="142415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국방통합데이터센터 內 국방정보체계의 안정적 운영 지원</a:t>
            </a:r>
          </a:p>
          <a:p>
            <a:pPr marL="142415" indent="-142415" defTabSz="957874" latinLnBrk="0">
              <a:spcAft>
                <a:spcPts val="400"/>
              </a:spcAft>
              <a:buClr>
                <a:schemeClr val="accent1"/>
              </a:buClr>
              <a:buSzPct val="120000"/>
              <a:buBlip>
                <a:blip r:embed="rId4"/>
              </a:buBlip>
              <a:tabLst>
                <a:tab pos="235176" algn="l"/>
              </a:tabLst>
              <a:defRPr/>
            </a:pP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노후화 및 단종</a:t>
            </a:r>
            <a:r>
              <a:rPr lang="en-US" altLang="ko-KR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(EOS)</a:t>
            </a:r>
            <a:r>
              <a:rPr lang="ko-KR" altLang="en-US" sz="1000" dirty="0">
                <a:ln w="6350">
                  <a:noFill/>
                  <a:miter lim="800000"/>
                </a:ln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장비에 대한 지속관리 및 예비품 수급계획을 통한 신속한 장애대응 방안 수립</a:t>
            </a:r>
          </a:p>
        </p:txBody>
      </p:sp>
      <p:grpSp>
        <p:nvGrpSpPr>
          <p:cNvPr id="41" name="그룹 40">
            <a:extLst>
              <a:ext uri="{FF2B5EF4-FFF2-40B4-BE49-F238E27FC236}">
                <a16:creationId xmlns:a16="http://schemas.microsoft.com/office/drawing/2014/main" id="{6A876DE4-A19B-4ECD-E9D5-7232C7883A53}"/>
              </a:ext>
            </a:extLst>
          </p:cNvPr>
          <p:cNvGrpSpPr/>
          <p:nvPr/>
        </p:nvGrpSpPr>
        <p:grpSpPr>
          <a:xfrm>
            <a:off x="3014974" y="2964082"/>
            <a:ext cx="4175135" cy="253976"/>
            <a:chOff x="9859353" y="3075372"/>
            <a:chExt cx="3636075" cy="219723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835D271B-D029-5B62-69C7-0CE4D06973DC}"/>
                </a:ext>
              </a:extLst>
            </p:cNvPr>
            <p:cNvSpPr/>
            <p:nvPr/>
          </p:nvSpPr>
          <p:spPr>
            <a:xfrm>
              <a:off x="9859353" y="3075372"/>
              <a:ext cx="3636075" cy="21972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42000" tIns="36000" rIns="36000" bIns="36000" rtlCol="0" anchor="ctr"/>
            <a:lstStyle/>
            <a:p>
              <a:r>
                <a:rPr lang="ko-KR" altLang="en-US" sz="105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선진화된 국방 업무 중심의 </a:t>
              </a:r>
              <a:r>
                <a:rPr lang="en-US" altLang="ko-KR" sz="105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IT </a:t>
              </a:r>
              <a:r>
                <a:rPr lang="ko-KR" altLang="en-US" sz="1050" dirty="0">
                  <a:solidFill>
                    <a:schemeClr val="tx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지원 체계 구현</a:t>
              </a: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910B3E7-0EF4-FB03-15CE-075177E8BBDD}"/>
                </a:ext>
              </a:extLst>
            </p:cNvPr>
            <p:cNvSpPr/>
            <p:nvPr/>
          </p:nvSpPr>
          <p:spPr>
            <a:xfrm>
              <a:off x="9859353" y="3075372"/>
              <a:ext cx="223200" cy="219723"/>
            </a:xfrm>
            <a:prstGeom prst="rect">
              <a:avLst/>
            </a:prstGeom>
            <a:solidFill>
              <a:srgbClr val="288BC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r>
                <a:rPr lang="en-US" altLang="ko-KR" sz="105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01</a:t>
              </a:r>
              <a:endParaRPr lang="ko-KR" altLang="en-US" sz="105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grpSp>
          <p:nvGrpSpPr>
            <p:cNvPr id="44" name="그룹 43">
              <a:extLst>
                <a:ext uri="{FF2B5EF4-FFF2-40B4-BE49-F238E27FC236}">
                  <a16:creationId xmlns:a16="http://schemas.microsoft.com/office/drawing/2014/main" id="{2550D581-5BBB-4CE8-9F6F-A97A0E4A14B9}"/>
                </a:ext>
              </a:extLst>
            </p:cNvPr>
            <p:cNvGrpSpPr/>
            <p:nvPr/>
          </p:nvGrpSpPr>
          <p:grpSpPr>
            <a:xfrm>
              <a:off x="10086427" y="3075372"/>
              <a:ext cx="59052" cy="219723"/>
              <a:chOff x="2950124" y="3567980"/>
              <a:chExt cx="59052" cy="219723"/>
            </a:xfrm>
          </p:grpSpPr>
          <p:sp>
            <p:nvSpPr>
              <p:cNvPr id="45" name="직사각형 44">
                <a:extLst>
                  <a:ext uri="{FF2B5EF4-FFF2-40B4-BE49-F238E27FC236}">
                    <a16:creationId xmlns:a16="http://schemas.microsoft.com/office/drawing/2014/main" id="{7BB55B06-4060-9B32-6B1F-31AA02339FF4}"/>
                  </a:ext>
                </a:extLst>
              </p:cNvPr>
              <p:cNvSpPr/>
              <p:nvPr/>
            </p:nvSpPr>
            <p:spPr>
              <a:xfrm>
                <a:off x="2950124" y="3567980"/>
                <a:ext cx="21600" cy="21972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tIns="36000" rIns="36000" bIns="36000" rtlCol="0" anchor="ctr"/>
              <a:lstStyle/>
              <a:p>
                <a:pPr algn="ctr"/>
                <a:endParaRPr lang="ko-KR" altLang="en-US" sz="105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  <p:sp>
            <p:nvSpPr>
              <p:cNvPr id="46" name="이등변 삼각형 45">
                <a:extLst>
                  <a:ext uri="{FF2B5EF4-FFF2-40B4-BE49-F238E27FC236}">
                    <a16:creationId xmlns:a16="http://schemas.microsoft.com/office/drawing/2014/main" id="{8B932059-CCB1-1B13-691E-33D705431A61}"/>
                  </a:ext>
                </a:extLst>
              </p:cNvPr>
              <p:cNvSpPr/>
              <p:nvPr/>
            </p:nvSpPr>
            <p:spPr>
              <a:xfrm rot="5400000">
                <a:off x="2951100" y="3651460"/>
                <a:ext cx="73393" cy="42758"/>
              </a:xfrm>
              <a:prstGeom prst="triangle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36000" tIns="36000" rIns="36000" bIns="36000" rtlCol="0" anchor="ctr"/>
              <a:lstStyle/>
              <a:p>
                <a:pPr algn="ctr"/>
                <a:endParaRPr lang="ko-KR" altLang="en-US" sz="1050" dirty="0">
                  <a:solidFill>
                    <a:schemeClr val="bg1"/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endParaRPr>
              </a:p>
            </p:txBody>
          </p:sp>
        </p:grpSp>
      </p:grpSp>
      <p:grpSp>
        <p:nvGrpSpPr>
          <p:cNvPr id="47" name="그룹 46">
            <a:extLst>
              <a:ext uri="{FF2B5EF4-FFF2-40B4-BE49-F238E27FC236}">
                <a16:creationId xmlns:a16="http://schemas.microsoft.com/office/drawing/2014/main" id="{82489A0C-6A76-3FF3-264B-8F3895201669}"/>
              </a:ext>
            </a:extLst>
          </p:cNvPr>
          <p:cNvGrpSpPr/>
          <p:nvPr/>
        </p:nvGrpSpPr>
        <p:grpSpPr>
          <a:xfrm>
            <a:off x="3256800" y="4690293"/>
            <a:ext cx="62888" cy="253976"/>
            <a:chOff x="2950124" y="3567980"/>
            <a:chExt cx="59052" cy="219723"/>
          </a:xfrm>
        </p:grpSpPr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802D360B-4813-D9B8-D61F-3282C9E26E66}"/>
                </a:ext>
              </a:extLst>
            </p:cNvPr>
            <p:cNvSpPr/>
            <p:nvPr/>
          </p:nvSpPr>
          <p:spPr>
            <a:xfrm>
              <a:off x="2950124" y="3567980"/>
              <a:ext cx="21600" cy="2197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endParaRPr lang="ko-KR" altLang="en-US" sz="105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49" name="이등변 삼각형 48">
              <a:extLst>
                <a:ext uri="{FF2B5EF4-FFF2-40B4-BE49-F238E27FC236}">
                  <a16:creationId xmlns:a16="http://schemas.microsoft.com/office/drawing/2014/main" id="{954A41F4-0C42-86BE-AD3E-6AA1AC4BCBD6}"/>
                </a:ext>
              </a:extLst>
            </p:cNvPr>
            <p:cNvSpPr/>
            <p:nvPr/>
          </p:nvSpPr>
          <p:spPr>
            <a:xfrm rot="5400000">
              <a:off x="2951100" y="3651460"/>
              <a:ext cx="73393" cy="4275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endParaRPr lang="ko-KR" altLang="en-US" sz="105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DDCB4191-C009-B517-4952-8C5885A2B536}"/>
              </a:ext>
            </a:extLst>
          </p:cNvPr>
          <p:cNvGrpSpPr/>
          <p:nvPr/>
        </p:nvGrpSpPr>
        <p:grpSpPr>
          <a:xfrm>
            <a:off x="3256800" y="6059807"/>
            <a:ext cx="62888" cy="253976"/>
            <a:chOff x="2950124" y="3567980"/>
            <a:chExt cx="59052" cy="219723"/>
          </a:xfrm>
        </p:grpSpPr>
        <p:sp>
          <p:nvSpPr>
            <p:cNvPr id="51" name="직사각형 50">
              <a:extLst>
                <a:ext uri="{FF2B5EF4-FFF2-40B4-BE49-F238E27FC236}">
                  <a16:creationId xmlns:a16="http://schemas.microsoft.com/office/drawing/2014/main" id="{FD6AF940-51EF-3ED7-D017-D137ED00C66D}"/>
                </a:ext>
              </a:extLst>
            </p:cNvPr>
            <p:cNvSpPr/>
            <p:nvPr/>
          </p:nvSpPr>
          <p:spPr>
            <a:xfrm>
              <a:off x="2950124" y="3567980"/>
              <a:ext cx="21600" cy="2197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endParaRPr lang="ko-KR" altLang="en-US" sz="105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52" name="이등변 삼각형 51">
              <a:extLst>
                <a:ext uri="{FF2B5EF4-FFF2-40B4-BE49-F238E27FC236}">
                  <a16:creationId xmlns:a16="http://schemas.microsoft.com/office/drawing/2014/main" id="{A01FD312-7288-FE3F-B18D-3D2FA65FC746}"/>
                </a:ext>
              </a:extLst>
            </p:cNvPr>
            <p:cNvSpPr/>
            <p:nvPr/>
          </p:nvSpPr>
          <p:spPr>
            <a:xfrm rot="5400000">
              <a:off x="2951100" y="3651460"/>
              <a:ext cx="73393" cy="4275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endParaRPr lang="ko-KR" altLang="en-US" sz="105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C69BD87A-94CB-B6D0-18A5-5BA02C888768}"/>
              </a:ext>
            </a:extLst>
          </p:cNvPr>
          <p:cNvGrpSpPr/>
          <p:nvPr/>
        </p:nvGrpSpPr>
        <p:grpSpPr>
          <a:xfrm>
            <a:off x="3256800" y="7417842"/>
            <a:ext cx="62888" cy="253976"/>
            <a:chOff x="2950124" y="3567980"/>
            <a:chExt cx="59052" cy="219723"/>
          </a:xfrm>
        </p:grpSpPr>
        <p:sp>
          <p:nvSpPr>
            <p:cNvPr id="54" name="직사각형 53">
              <a:extLst>
                <a:ext uri="{FF2B5EF4-FFF2-40B4-BE49-F238E27FC236}">
                  <a16:creationId xmlns:a16="http://schemas.microsoft.com/office/drawing/2014/main" id="{6CF6EEB2-82E8-1437-059E-44198485B8C5}"/>
                </a:ext>
              </a:extLst>
            </p:cNvPr>
            <p:cNvSpPr/>
            <p:nvPr/>
          </p:nvSpPr>
          <p:spPr>
            <a:xfrm>
              <a:off x="2950124" y="3567980"/>
              <a:ext cx="21600" cy="2197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endParaRPr lang="ko-KR" altLang="en-US" sz="105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55" name="이등변 삼각형 54">
              <a:extLst>
                <a:ext uri="{FF2B5EF4-FFF2-40B4-BE49-F238E27FC236}">
                  <a16:creationId xmlns:a16="http://schemas.microsoft.com/office/drawing/2014/main" id="{2E3EAC4D-E9B8-B1B4-C0CB-DB4626FAFF6D}"/>
                </a:ext>
              </a:extLst>
            </p:cNvPr>
            <p:cNvSpPr/>
            <p:nvPr/>
          </p:nvSpPr>
          <p:spPr>
            <a:xfrm rot="5400000">
              <a:off x="2951100" y="3651460"/>
              <a:ext cx="73393" cy="42758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36000" tIns="36000" rIns="36000" bIns="36000" rtlCol="0" anchor="ctr"/>
            <a:lstStyle/>
            <a:p>
              <a:pPr algn="ctr"/>
              <a:endParaRPr lang="ko-KR" altLang="en-US" sz="1050" dirty="0">
                <a:solidFill>
                  <a:schemeClr val="bg1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56" name="자유형 120">
            <a:extLst>
              <a:ext uri="{FF2B5EF4-FFF2-40B4-BE49-F238E27FC236}">
                <a16:creationId xmlns:a16="http://schemas.microsoft.com/office/drawing/2014/main" id="{F5B9087C-F686-2BFA-7F3B-1DA25E991615}"/>
              </a:ext>
            </a:extLst>
          </p:cNvPr>
          <p:cNvSpPr/>
          <p:nvPr/>
        </p:nvSpPr>
        <p:spPr>
          <a:xfrm flipV="1">
            <a:off x="1724797" y="7444488"/>
            <a:ext cx="1364507" cy="111763"/>
          </a:xfrm>
          <a:custGeom>
            <a:avLst/>
            <a:gdLst>
              <a:gd name="connsiteX0" fmla="*/ 0 w 1133475"/>
              <a:gd name="connsiteY0" fmla="*/ 404812 h 404812"/>
              <a:gd name="connsiteX1" fmla="*/ 323850 w 1133475"/>
              <a:gd name="connsiteY1" fmla="*/ 0 h 404812"/>
              <a:gd name="connsiteX2" fmla="*/ 1133475 w 1133475"/>
              <a:gd name="connsiteY2" fmla="*/ 0 h 4048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33475" h="404812">
                <a:moveTo>
                  <a:pt x="0" y="404812"/>
                </a:moveTo>
                <a:lnTo>
                  <a:pt x="323850" y="0"/>
                </a:lnTo>
                <a:lnTo>
                  <a:pt x="1133475" y="0"/>
                </a:lnTo>
              </a:path>
            </a:pathLst>
          </a:custGeom>
          <a:noFill/>
          <a:ln w="12700" cap="rnd"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57" name="타원 56">
            <a:extLst>
              <a:ext uri="{FF2B5EF4-FFF2-40B4-BE49-F238E27FC236}">
                <a16:creationId xmlns:a16="http://schemas.microsoft.com/office/drawing/2014/main" id="{2F679C7B-407C-CE97-7FF0-BD1B7774B6B9}"/>
              </a:ext>
            </a:extLst>
          </p:cNvPr>
          <p:cNvSpPr/>
          <p:nvPr/>
        </p:nvSpPr>
        <p:spPr>
          <a:xfrm>
            <a:off x="1635086" y="7329094"/>
            <a:ext cx="110903" cy="120372"/>
          </a:xfrm>
          <a:prstGeom prst="ellipse">
            <a:avLst/>
          </a:prstGeom>
          <a:solidFill>
            <a:schemeClr val="bg1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" tIns="36000" rIns="36000" bIns="36000" rtlCol="0" anchor="ctr"/>
          <a:lstStyle/>
          <a:p>
            <a:pPr algn="ctr"/>
            <a:endParaRPr lang="ko-KR" altLang="en-US" sz="1000" dirty="0">
              <a:latin typeface="KoPub바탕체 Medium" pitchFamily="18" charset="-127"/>
              <a:ea typeface="KoPub바탕체 Medium" pitchFamily="18" charset="-127"/>
            </a:endParaRPr>
          </a:p>
        </p:txBody>
      </p:sp>
      <p:sp>
        <p:nvSpPr>
          <p:cNvPr id="58" name="직사각형 57">
            <a:extLst>
              <a:ext uri="{FF2B5EF4-FFF2-40B4-BE49-F238E27FC236}">
                <a16:creationId xmlns:a16="http://schemas.microsoft.com/office/drawing/2014/main" id="{808DAA35-840D-3323-5D7B-8C2D58FE0D2F}"/>
              </a:ext>
            </a:extLst>
          </p:cNvPr>
          <p:cNvSpPr/>
          <p:nvPr/>
        </p:nvSpPr>
        <p:spPr>
          <a:xfrm>
            <a:off x="1631334" y="9342288"/>
            <a:ext cx="4340932" cy="236987"/>
          </a:xfrm>
          <a:prstGeom prst="rect">
            <a:avLst/>
          </a:prstGeom>
        </p:spPr>
        <p:txBody>
          <a:bodyPr wrap="non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/>
          <a:p>
            <a:pPr marL="0" marR="0" lvl="0" indent="0" algn="ctr" defTabSz="914400" eaLnBrk="1" fontAlgn="ctr" latinLnBrk="0" hangingPunct="1">
              <a:lnSpc>
                <a:spcPct val="11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</a:rPr>
              <a:t>완벽한 통합유지관리 서비스와 체계적인 최적의 운영지원으로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25CE620-1672-554C-A5B9-9BF4984F6B83}"/>
              </a:ext>
            </a:extLst>
          </p:cNvPr>
          <p:cNvSpPr txBox="1"/>
          <p:nvPr/>
        </p:nvSpPr>
        <p:spPr bwMode="auto">
          <a:xfrm>
            <a:off x="1249533" y="9637678"/>
            <a:ext cx="5131212" cy="2877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  <a:scene3d>
              <a:camera prst="orthographicFront"/>
              <a:lightRig rig="threePt" dir="t"/>
            </a:scene3d>
            <a:sp3d>
              <a:bevelT w="0" h="0"/>
            </a:sp3d>
          </a:bodyPr>
          <a:lstStyle>
            <a:defPPr>
              <a:defRPr lang="ko-KR"/>
            </a:defPPr>
            <a:lvl1pPr>
              <a:lnSpc>
                <a:spcPct val="110000"/>
              </a:lnSpc>
              <a:spcBef>
                <a:spcPct val="10000"/>
              </a:spcBef>
              <a:defRPr sz="1500">
                <a:solidFill>
                  <a:srgbClr val="2B5B95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defRPr>
            </a:lvl1pPr>
          </a:lstStyle>
          <a:p>
            <a:pPr marL="0" marR="0" lvl="0" indent="0" algn="ctr" defTabSz="914400" eaLnBrk="1" fontAlgn="ctr" latinLnBrk="0" hangingPunct="1">
              <a:lnSpc>
                <a:spcPct val="110000"/>
              </a:lnSpc>
              <a:spcBef>
                <a:spcPct val="1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00" kern="0" dirty="0">
                <a:solidFill>
                  <a:schemeClr val="accent6">
                    <a:lumMod val="7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</a:rPr>
              <a:t>국방</a:t>
            </a:r>
            <a:r>
              <a:rPr kumimoji="0" lang="ko-KR" altLang="en-US" sz="1700" kern="0" dirty="0">
                <a:solidFill>
                  <a:schemeClr val="accent6">
                    <a:lumMod val="7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</a:rPr>
              <a:t>업무 중심의 </a:t>
            </a:r>
            <a:r>
              <a:rPr kumimoji="0" lang="en-US" altLang="ko-KR" sz="1700" kern="0" dirty="0">
                <a:solidFill>
                  <a:schemeClr val="accent6">
                    <a:lumMod val="7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</a:rPr>
              <a:t>IT </a:t>
            </a:r>
            <a:r>
              <a:rPr kumimoji="0" lang="ko-KR" altLang="en-US" sz="1700" kern="0" dirty="0">
                <a:solidFill>
                  <a:schemeClr val="accent6">
                    <a:lumMod val="7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cs typeface="Arial" pitchFamily="34" charset="0"/>
              </a:rPr>
              <a:t>서비스 품질 향상 및 사용자 만족도 증대</a:t>
            </a:r>
          </a:p>
        </p:txBody>
      </p:sp>
      <p:pic>
        <p:nvPicPr>
          <p:cNvPr id="61" name="그림 60">
            <a:extLst>
              <a:ext uri="{FF2B5EF4-FFF2-40B4-BE49-F238E27FC236}">
                <a16:creationId xmlns:a16="http://schemas.microsoft.com/office/drawing/2014/main" id="{D2CAC632-026F-4FF9-0051-6949F89ED6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455" y="4661768"/>
            <a:ext cx="1506163" cy="410575"/>
          </a:xfrm>
          <a:prstGeom prst="rect">
            <a:avLst/>
          </a:prstGeom>
        </p:spPr>
      </p:pic>
      <p:pic>
        <p:nvPicPr>
          <p:cNvPr id="60" name="그림 59">
            <a:extLst>
              <a:ext uri="{FF2B5EF4-FFF2-40B4-BE49-F238E27FC236}">
                <a16:creationId xmlns:a16="http://schemas.microsoft.com/office/drawing/2014/main" id="{68CEB7FE-C902-E01D-1A9B-127675EA6D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963" y="5237832"/>
            <a:ext cx="946918" cy="1862258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F9570034-D3CF-ED32-8DCD-E88C85724A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5419" y="7814821"/>
            <a:ext cx="2353260" cy="591363"/>
          </a:xfrm>
          <a:prstGeom prst="rect">
            <a:avLst/>
          </a:prstGeom>
        </p:spPr>
      </p:pic>
      <p:sp>
        <p:nvSpPr>
          <p:cNvPr id="63" name="직사각형 62">
            <a:extLst>
              <a:ext uri="{FF2B5EF4-FFF2-40B4-BE49-F238E27FC236}">
                <a16:creationId xmlns:a16="http://schemas.microsoft.com/office/drawing/2014/main" id="{F3E2042D-F7FC-F66D-C138-E38CC7A628E3}"/>
              </a:ext>
            </a:extLst>
          </p:cNvPr>
          <p:cNvSpPr/>
          <p:nvPr/>
        </p:nvSpPr>
        <p:spPr>
          <a:xfrm>
            <a:off x="7775575" y="6533976"/>
            <a:ext cx="3385020" cy="820689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제안서 </a:t>
            </a:r>
            <a:r>
              <a:rPr lang="en-US" altLang="ko-KR" sz="2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ISO </a:t>
            </a:r>
            <a:r>
              <a:rPr lang="ko-KR" altLang="en-US" sz="2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확인</a:t>
            </a:r>
          </a:p>
        </p:txBody>
      </p:sp>
    </p:spTree>
    <p:extLst>
      <p:ext uri="{BB962C8B-B14F-4D97-AF65-F5344CB8AC3E}">
        <p14:creationId xmlns:p14="http://schemas.microsoft.com/office/powerpoint/2010/main" val="1872101156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2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</a:spPr>
      <a:bodyPr rtlCol="0" anchor="ctr"/>
      <a:lstStyle>
        <a:defPPr algn="ctr">
          <a:defRPr sz="2400" dirty="0" smtClean="0">
            <a:latin typeface="KoPub돋움체 Medium" panose="00000600000000000000" pitchFamily="2" charset="-127"/>
            <a:ea typeface="KoPub돋움체 Medium" panose="00000600000000000000" pitchFamily="2" charset="-127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사용자 지정 1">
    <a:dk1>
      <a:sysClr val="windowText" lastClr="000000"/>
    </a:dk1>
    <a:lt1>
      <a:sysClr val="window" lastClr="FFFFFF"/>
    </a:lt1>
    <a:dk2>
      <a:srgbClr val="2C77BC"/>
    </a:dk2>
    <a:lt2>
      <a:srgbClr val="51565D"/>
    </a:lt2>
    <a:accent1>
      <a:srgbClr val="007AD6"/>
    </a:accent1>
    <a:accent2>
      <a:srgbClr val="6BC6F3"/>
    </a:accent2>
    <a:accent3>
      <a:srgbClr val="ED342B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 테마">
    <a:majorFont>
      <a:latin typeface="Calibri Light" panose="020F03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사용자 지정 48">
    <a:dk1>
      <a:sysClr val="windowText" lastClr="000000"/>
    </a:dk1>
    <a:lt1>
      <a:sysClr val="window" lastClr="FFFFFF"/>
    </a:lt1>
    <a:dk2>
      <a:srgbClr val="2D58B9"/>
    </a:dk2>
    <a:lt2>
      <a:srgbClr val="51565D"/>
    </a:lt2>
    <a:accent1>
      <a:srgbClr val="0777D3"/>
    </a:accent1>
    <a:accent2>
      <a:srgbClr val="42B6F0"/>
    </a:accent2>
    <a:accent3>
      <a:srgbClr val="F2682A"/>
    </a:accent3>
    <a:accent4>
      <a:srgbClr val="000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사용자 지정 2">
    <a:majorFont>
      <a:latin typeface="KoPub돋움체 Bold"/>
      <a:ea typeface="KoPub돋움체 Bold"/>
      <a:cs typeface=""/>
    </a:majorFont>
    <a:minorFont>
      <a:latin typeface="KoPub돋움체 Medium"/>
      <a:ea typeface="KoPub돋움체 Medium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사용자 지정 48">
    <a:dk1>
      <a:sysClr val="windowText" lastClr="000000"/>
    </a:dk1>
    <a:lt1>
      <a:sysClr val="window" lastClr="FFFFFF"/>
    </a:lt1>
    <a:dk2>
      <a:srgbClr val="2D58B9"/>
    </a:dk2>
    <a:lt2>
      <a:srgbClr val="51565D"/>
    </a:lt2>
    <a:accent1>
      <a:srgbClr val="0777D3"/>
    </a:accent1>
    <a:accent2>
      <a:srgbClr val="42B6F0"/>
    </a:accent2>
    <a:accent3>
      <a:srgbClr val="F2682A"/>
    </a:accent3>
    <a:accent4>
      <a:srgbClr val="000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사용자 지정 2">
    <a:majorFont>
      <a:latin typeface="KoPub돋움체 Bold"/>
      <a:ea typeface="KoPub돋움체 Bold"/>
      <a:cs typeface=""/>
    </a:majorFont>
    <a:minorFont>
      <a:latin typeface="KoPub돋움체 Medium"/>
      <a:ea typeface="KoPub돋움체 Medium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사용자 지정 48">
    <a:dk1>
      <a:sysClr val="windowText" lastClr="000000"/>
    </a:dk1>
    <a:lt1>
      <a:sysClr val="window" lastClr="FFFFFF"/>
    </a:lt1>
    <a:dk2>
      <a:srgbClr val="2D58B9"/>
    </a:dk2>
    <a:lt2>
      <a:srgbClr val="51565D"/>
    </a:lt2>
    <a:accent1>
      <a:srgbClr val="0777D3"/>
    </a:accent1>
    <a:accent2>
      <a:srgbClr val="42B6F0"/>
    </a:accent2>
    <a:accent3>
      <a:srgbClr val="F2682A"/>
    </a:accent3>
    <a:accent4>
      <a:srgbClr val="000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사용자 지정 2">
    <a:majorFont>
      <a:latin typeface="KoPub돋움체 Bold"/>
      <a:ea typeface="KoPub돋움체 Bold"/>
      <a:cs typeface=""/>
    </a:majorFont>
    <a:minorFont>
      <a:latin typeface="KoPub돋움체 Medium"/>
      <a:ea typeface="KoPub돋움체 Medium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사용자 지정 48">
    <a:dk1>
      <a:sysClr val="windowText" lastClr="000000"/>
    </a:dk1>
    <a:lt1>
      <a:sysClr val="window" lastClr="FFFFFF"/>
    </a:lt1>
    <a:dk2>
      <a:srgbClr val="2D58B9"/>
    </a:dk2>
    <a:lt2>
      <a:srgbClr val="51565D"/>
    </a:lt2>
    <a:accent1>
      <a:srgbClr val="0777D3"/>
    </a:accent1>
    <a:accent2>
      <a:srgbClr val="42B6F0"/>
    </a:accent2>
    <a:accent3>
      <a:srgbClr val="F2682A"/>
    </a:accent3>
    <a:accent4>
      <a:srgbClr val="000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사용자 지정 2">
    <a:majorFont>
      <a:latin typeface="KoPub돋움체 Bold"/>
      <a:ea typeface="KoPub돋움체 Bold"/>
      <a:cs typeface=""/>
    </a:majorFont>
    <a:minorFont>
      <a:latin typeface="KoPub돋움체 Medium"/>
      <a:ea typeface="KoPub돋움체 Medium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사용자 지정 48">
    <a:dk1>
      <a:sysClr val="windowText" lastClr="000000"/>
    </a:dk1>
    <a:lt1>
      <a:sysClr val="window" lastClr="FFFFFF"/>
    </a:lt1>
    <a:dk2>
      <a:srgbClr val="2D58B9"/>
    </a:dk2>
    <a:lt2>
      <a:srgbClr val="51565D"/>
    </a:lt2>
    <a:accent1>
      <a:srgbClr val="0777D3"/>
    </a:accent1>
    <a:accent2>
      <a:srgbClr val="42B6F0"/>
    </a:accent2>
    <a:accent3>
      <a:srgbClr val="F2682A"/>
    </a:accent3>
    <a:accent4>
      <a:srgbClr val="000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사용자 지정 2">
    <a:majorFont>
      <a:latin typeface="KoPub돋움체 Bold"/>
      <a:ea typeface="KoPub돋움체 Bold"/>
      <a:cs typeface=""/>
    </a:majorFont>
    <a:minorFont>
      <a:latin typeface="KoPub돋움체 Medium"/>
      <a:ea typeface="KoPub돋움체 Medium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사용자 지정 48">
    <a:dk1>
      <a:sysClr val="windowText" lastClr="000000"/>
    </a:dk1>
    <a:lt1>
      <a:sysClr val="window" lastClr="FFFFFF"/>
    </a:lt1>
    <a:dk2>
      <a:srgbClr val="2D58B9"/>
    </a:dk2>
    <a:lt2>
      <a:srgbClr val="51565D"/>
    </a:lt2>
    <a:accent1>
      <a:srgbClr val="0777D3"/>
    </a:accent1>
    <a:accent2>
      <a:srgbClr val="42B6F0"/>
    </a:accent2>
    <a:accent3>
      <a:srgbClr val="F2682A"/>
    </a:accent3>
    <a:accent4>
      <a:srgbClr val="000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사용자 지정 2">
    <a:majorFont>
      <a:latin typeface="KoPub돋움체 Bold"/>
      <a:ea typeface="KoPub돋움체 Bold"/>
      <a:cs typeface=""/>
    </a:majorFont>
    <a:minorFont>
      <a:latin typeface="KoPub돋움체 Medium"/>
      <a:ea typeface="KoPub돋움체 Medium"/>
      <a:cs typeface=""/>
    </a:minorFont>
  </a:fontScheme>
  <a:fmtScheme name="Office 테마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19062</TotalTime>
  <Words>10860</Words>
  <Application>Microsoft Office PowerPoint</Application>
  <PresentationFormat>사용자 지정</PresentationFormat>
  <Paragraphs>3291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29</vt:i4>
      </vt:variant>
    </vt:vector>
  </HeadingPairs>
  <TitlesOfParts>
    <vt:vector size="45" baseType="lpstr">
      <vt:lpstr>KoPub바탕체 Light</vt:lpstr>
      <vt:lpstr>KoPub바탕체 Medium</vt:lpstr>
      <vt:lpstr>HY헤드라인M</vt:lpstr>
      <vt:lpstr>Arial Black</vt:lpstr>
      <vt:lpstr>KoPub돋움체 Light</vt:lpstr>
      <vt:lpstr>KoPub돋움체 Medium</vt:lpstr>
      <vt:lpstr>Rix모던고딕 L</vt:lpstr>
      <vt:lpstr>Arial</vt:lpstr>
      <vt:lpstr>Rix모던고딕 M</vt:lpstr>
      <vt:lpstr>굴림</vt:lpstr>
      <vt:lpstr>Rix모던고딕 B</vt:lpstr>
      <vt:lpstr>Wingdings</vt:lpstr>
      <vt:lpstr>KoPub바탕체 Bold</vt:lpstr>
      <vt:lpstr>KoPub돋움체 Bold</vt:lpstr>
      <vt:lpstr>디자인 사용자 지정</vt:lpstr>
      <vt:lpstr>2_Office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Registered User</dc:creator>
  <cp:lastModifiedBy>Karhem Do</cp:lastModifiedBy>
  <cp:revision>1169</cp:revision>
  <cp:lastPrinted>2024-06-13T00:53:28Z</cp:lastPrinted>
  <dcterms:created xsi:type="dcterms:W3CDTF">2013-01-14T00:39:27Z</dcterms:created>
  <dcterms:modified xsi:type="dcterms:W3CDTF">2024-11-19T06:56:34Z</dcterms:modified>
</cp:coreProperties>
</file>