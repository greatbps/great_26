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102.jpg" ContentType="image/jp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4043" r:id="rId1"/>
    <p:sldMasterId id="2147484305" r:id="rId2"/>
  </p:sldMasterIdLst>
  <p:notesMasterIdLst>
    <p:notesMasterId r:id="rId35"/>
  </p:notesMasterIdLst>
  <p:handoutMasterIdLst>
    <p:handoutMasterId r:id="rId36"/>
  </p:handoutMasterIdLst>
  <p:sldIdLst>
    <p:sldId id="937" r:id="rId3"/>
    <p:sldId id="755" r:id="rId4"/>
    <p:sldId id="756" r:id="rId5"/>
    <p:sldId id="897" r:id="rId6"/>
    <p:sldId id="898" r:id="rId7"/>
    <p:sldId id="922" r:id="rId8"/>
    <p:sldId id="759" r:id="rId9"/>
    <p:sldId id="923" r:id="rId10"/>
    <p:sldId id="760" r:id="rId11"/>
    <p:sldId id="924" r:id="rId12"/>
    <p:sldId id="762" r:id="rId13"/>
    <p:sldId id="925" r:id="rId14"/>
    <p:sldId id="931" r:id="rId15"/>
    <p:sldId id="836" r:id="rId16"/>
    <p:sldId id="927" r:id="rId17"/>
    <p:sldId id="928" r:id="rId18"/>
    <p:sldId id="896" r:id="rId19"/>
    <p:sldId id="932" r:id="rId20"/>
    <p:sldId id="844" r:id="rId21"/>
    <p:sldId id="900" r:id="rId22"/>
    <p:sldId id="899" r:id="rId23"/>
    <p:sldId id="912" r:id="rId24"/>
    <p:sldId id="933" r:id="rId25"/>
    <p:sldId id="906" r:id="rId26"/>
    <p:sldId id="851" r:id="rId27"/>
    <p:sldId id="767" r:id="rId28"/>
    <p:sldId id="824" r:id="rId29"/>
    <p:sldId id="936" r:id="rId30"/>
    <p:sldId id="739" r:id="rId31"/>
    <p:sldId id="727" r:id="rId32"/>
    <p:sldId id="826" r:id="rId33"/>
    <p:sldId id="781" r:id="rId34"/>
  </p:sldIdLst>
  <p:sldSz cx="10909300" cy="7777163"/>
  <p:notesSz cx="7099300" cy="10234613"/>
  <p:defaultTextStyle>
    <a:defPPr>
      <a:defRPr lang="ko-KR"/>
    </a:defPPr>
    <a:lvl1pPr marL="0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2882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5761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98644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1523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64403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97285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30165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63049" algn="l" defTabSz="1065761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99" userDrawn="1">
          <p15:clr>
            <a:srgbClr val="A4A3A4"/>
          </p15:clr>
        </p15:guide>
        <p15:guide id="2" orient="horz" pos="680">
          <p15:clr>
            <a:srgbClr val="A4A3A4"/>
          </p15:clr>
        </p15:guide>
        <p15:guide id="3" orient="horz" pos="4536" userDrawn="1">
          <p15:clr>
            <a:srgbClr val="A4A3A4"/>
          </p15:clr>
        </p15:guide>
        <p15:guide id="4" orient="horz" pos="862" userDrawn="1">
          <p15:clr>
            <a:srgbClr val="A4A3A4"/>
          </p15:clr>
        </p15:guide>
        <p15:guide id="5" pos="6838" userDrawn="1">
          <p15:clr>
            <a:srgbClr val="A4A3A4"/>
          </p15:clr>
        </p15:guide>
        <p15:guide id="6" pos="1168" userDrawn="1">
          <p15:clr>
            <a:srgbClr val="A4A3A4"/>
          </p15:clr>
        </p15:guide>
        <p15:guide id="7" pos="3436" userDrawn="1">
          <p15:clr>
            <a:srgbClr val="A4A3A4"/>
          </p15:clr>
        </p15:guide>
        <p15:guide id="8" pos="215" userDrawn="1">
          <p15:clr>
            <a:srgbClr val="A4A3A4"/>
          </p15:clr>
        </p15:guide>
        <p15:guide id="9" pos="3754" userDrawn="1">
          <p15:clr>
            <a:srgbClr val="A4A3A4"/>
          </p15:clr>
        </p15:guide>
        <p15:guide id="10" orient="horz" pos="1134" userDrawn="1">
          <p15:clr>
            <a:srgbClr val="A4A3A4"/>
          </p15:clr>
        </p15:guide>
        <p15:guide id="11" orient="horz" pos="2177" userDrawn="1">
          <p15:clr>
            <a:srgbClr val="A4A3A4"/>
          </p15:clr>
        </p15:guide>
        <p15:guide id="12" orient="horz" pos="2676" userDrawn="1">
          <p15:clr>
            <a:srgbClr val="A4A3A4"/>
          </p15:clr>
        </p15:guide>
        <p15:guide id="13" pos="2286" userDrawn="1">
          <p15:clr>
            <a:srgbClr val="A4A3A4"/>
          </p15:clr>
        </p15:guide>
        <p15:guide id="14" orient="horz" pos="4763" userDrawn="1">
          <p15:clr>
            <a:srgbClr val="A4A3A4"/>
          </p15:clr>
        </p15:guide>
        <p15:guide id="15" orient="horz" pos="136" userDrawn="1">
          <p15:clr>
            <a:srgbClr val="A4A3A4"/>
          </p15:clr>
        </p15:guide>
        <p15:guide id="16" orient="horz" pos="4898">
          <p15:clr>
            <a:srgbClr val="A4A3A4"/>
          </p15:clr>
        </p15:guide>
        <p15:guide id="17" orient="horz" pos="2586" userDrawn="1">
          <p15:clr>
            <a:srgbClr val="A4A3A4"/>
          </p15:clr>
        </p15:guide>
        <p15:guide id="18" orient="horz" pos="1588" userDrawn="1">
          <p15:clr>
            <a:srgbClr val="A4A3A4"/>
          </p15:clr>
        </p15:guide>
        <p15:guide id="19" pos="6657">
          <p15:clr>
            <a:srgbClr val="A4A3A4"/>
          </p15:clr>
        </p15:guide>
        <p15:guide id="21" pos="4570">
          <p15:clr>
            <a:srgbClr val="A4A3A4"/>
          </p15:clr>
        </p15:guide>
        <p15:guide id="22" pos="23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6B99"/>
    <a:srgbClr val="0066FF"/>
    <a:srgbClr val="0000FF"/>
    <a:srgbClr val="3E69AD"/>
    <a:srgbClr val="FF6600"/>
    <a:srgbClr val="66A31D"/>
    <a:srgbClr val="B3E775"/>
    <a:srgbClr val="92D050"/>
    <a:srgbClr val="E2F6CA"/>
    <a:srgbClr val="92DC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0" autoAdjust="0"/>
    <p:restoredTop sz="99712" autoAdjust="0"/>
  </p:normalViewPr>
  <p:slideViewPr>
    <p:cSldViewPr snapToObjects="1" showGuides="1">
      <p:cViewPr varScale="1">
        <p:scale>
          <a:sx n="103" d="100"/>
          <a:sy n="103" d="100"/>
        </p:scale>
        <p:origin x="1380" y="102"/>
      </p:cViewPr>
      <p:guideLst>
        <p:guide orient="horz" pos="4899"/>
        <p:guide orient="horz" pos="680"/>
        <p:guide orient="horz" pos="4536"/>
        <p:guide orient="horz" pos="862"/>
        <p:guide pos="6838"/>
        <p:guide pos="1168"/>
        <p:guide pos="3436"/>
        <p:guide pos="215"/>
        <p:guide pos="3754"/>
        <p:guide orient="horz" pos="1134"/>
        <p:guide orient="horz" pos="2177"/>
        <p:guide orient="horz" pos="2676"/>
        <p:guide pos="2286"/>
        <p:guide orient="horz" pos="4763"/>
        <p:guide orient="horz" pos="136"/>
        <p:guide orient="horz" pos="4898"/>
        <p:guide orient="horz" pos="2586"/>
        <p:guide orient="horz" pos="1588"/>
        <p:guide pos="6657"/>
        <p:guide pos="4570"/>
        <p:guide pos="2302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59" d="100"/>
          <a:sy n="59" d="100"/>
        </p:scale>
        <p:origin x="-3462" y="-96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077033" cy="511980"/>
          </a:xfrm>
          <a:prstGeom prst="rect">
            <a:avLst/>
          </a:prstGeom>
        </p:spPr>
        <p:txBody>
          <a:bodyPr vert="horz" lIns="96008" tIns="48003" rIns="96008" bIns="48003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0592" y="2"/>
            <a:ext cx="3077033" cy="511980"/>
          </a:xfrm>
          <a:prstGeom prst="rect">
            <a:avLst/>
          </a:prstGeom>
        </p:spPr>
        <p:txBody>
          <a:bodyPr vert="horz" lIns="96008" tIns="48003" rIns="96008" bIns="48003" rtlCol="0"/>
          <a:lstStyle>
            <a:lvl1pPr algn="r">
              <a:defRPr sz="1300"/>
            </a:lvl1pPr>
          </a:lstStyle>
          <a:p>
            <a:fld id="{2CD17754-389D-4DDA-BFCE-61440931A672}" type="datetimeFigureOut">
              <a:rPr lang="ko-KR" altLang="en-US" smtClean="0"/>
              <a:pPr/>
              <a:t>2018-11-22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720971"/>
            <a:ext cx="3077033" cy="511980"/>
          </a:xfrm>
          <a:prstGeom prst="rect">
            <a:avLst/>
          </a:prstGeom>
        </p:spPr>
        <p:txBody>
          <a:bodyPr vert="horz" lIns="96008" tIns="48003" rIns="96008" bIns="48003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0592" y="9720971"/>
            <a:ext cx="3077033" cy="511980"/>
          </a:xfrm>
          <a:prstGeom prst="rect">
            <a:avLst/>
          </a:prstGeom>
        </p:spPr>
        <p:txBody>
          <a:bodyPr vert="horz" lIns="96008" tIns="48003" rIns="96008" bIns="48003" rtlCol="0" anchor="b"/>
          <a:lstStyle>
            <a:lvl1pPr algn="r">
              <a:defRPr sz="1300"/>
            </a:lvl1pPr>
          </a:lstStyle>
          <a:p>
            <a:fld id="{9EA37032-6AA8-49A8-8E23-CF9804B091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2743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3076364" cy="511731"/>
          </a:xfrm>
          <a:prstGeom prst="rect">
            <a:avLst/>
          </a:prstGeom>
        </p:spPr>
        <p:txBody>
          <a:bodyPr vert="horz" lIns="94596" tIns="47298" rIns="94596" bIns="47298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6" y="3"/>
            <a:ext cx="3076364" cy="511731"/>
          </a:xfrm>
          <a:prstGeom prst="rect">
            <a:avLst/>
          </a:prstGeom>
        </p:spPr>
        <p:txBody>
          <a:bodyPr vert="horz" lIns="94596" tIns="47298" rIns="94596" bIns="47298" rtlCol="0"/>
          <a:lstStyle>
            <a:lvl1pPr algn="r">
              <a:defRPr sz="1300"/>
            </a:lvl1pPr>
          </a:lstStyle>
          <a:p>
            <a:fld id="{3FA800C4-2109-464D-99C9-8353BD3DDCCA}" type="datetimeFigureOut">
              <a:rPr lang="ko-KR" altLang="en-US" smtClean="0"/>
              <a:pPr/>
              <a:t>2018-11-22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766763"/>
            <a:ext cx="5381625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96" tIns="47298" rIns="94596" bIns="47298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2" y="4861443"/>
            <a:ext cx="5679440" cy="4605576"/>
          </a:xfrm>
          <a:prstGeom prst="rect">
            <a:avLst/>
          </a:prstGeom>
        </p:spPr>
        <p:txBody>
          <a:bodyPr vert="horz" lIns="94596" tIns="47298" rIns="94596" bIns="4729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721110"/>
            <a:ext cx="3076364" cy="511731"/>
          </a:xfrm>
          <a:prstGeom prst="rect">
            <a:avLst/>
          </a:prstGeom>
        </p:spPr>
        <p:txBody>
          <a:bodyPr vert="horz" lIns="94596" tIns="47298" rIns="94596" bIns="47298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6" y="9721110"/>
            <a:ext cx="3076364" cy="511731"/>
          </a:xfrm>
          <a:prstGeom prst="rect">
            <a:avLst/>
          </a:prstGeom>
        </p:spPr>
        <p:txBody>
          <a:bodyPr vert="horz" lIns="94596" tIns="47298" rIns="94596" bIns="47298" rtlCol="0" anchor="b"/>
          <a:lstStyle>
            <a:lvl1pPr algn="r">
              <a:defRPr sz="1300"/>
            </a:lvl1pPr>
          </a:lstStyle>
          <a:p>
            <a:fld id="{C1CF5CE6-EFAA-4397-917E-0403A48CDDD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8836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2882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65761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98644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31523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64403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97285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30165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63049" algn="l" defTabSz="1065761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2751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19188" y="711200"/>
            <a:ext cx="4989512" cy="3556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507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19188" y="711200"/>
            <a:ext cx="4989512" cy="3556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53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88988" y="744538"/>
            <a:ext cx="5221287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34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5156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804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804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6380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5756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4474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659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484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484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505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8919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9053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1F99AF-EDD1-4E14-84D6-4DC8F7DE69DF}" type="slidenum">
              <a:rPr lang="en-US" altLang="ko-KR">
                <a:solidFill>
                  <a:prstClr val="black"/>
                </a:solidFill>
              </a:rPr>
              <a:pPr/>
              <a:t>29</a:t>
            </a:fld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314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60425" y="766763"/>
            <a:ext cx="5383213" cy="3836987"/>
          </a:xfrm>
          <a:ln/>
        </p:spPr>
      </p:sp>
      <p:sp>
        <p:nvSpPr>
          <p:cNvPr id="314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0428" y="4861484"/>
            <a:ext cx="5678447" cy="4604841"/>
          </a:xfrm>
        </p:spPr>
        <p:txBody>
          <a:bodyPr/>
          <a:lstStyle/>
          <a:p>
            <a:r>
              <a:rPr lang="ko-KR" altLang="en-US" dirty="0"/>
              <a:t>또한 사업에서 야기되는 위험 요소를 제거하기 위하여 </a:t>
            </a:r>
            <a:endParaRPr lang="en-US" altLang="ko-KR" dirty="0"/>
          </a:p>
          <a:p>
            <a:r>
              <a:rPr lang="ko-KR" altLang="en-US" dirty="0"/>
              <a:t>발생할 위험 요소를 조기에 식별하며 식별된 위험을 지속적으로 관리하도록 하겠습니다</a:t>
            </a:r>
            <a:r>
              <a:rPr lang="en-US" altLang="ko-KR" dirty="0"/>
              <a:t>.</a:t>
            </a:r>
            <a:endParaRPr lang="ko-KR" altLang="ko-KR"/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390994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58838" y="766763"/>
            <a:ext cx="5381625" cy="383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F5CE6-EFAA-4397-917E-0403A48CDDD0}" type="slidenum">
              <a:rPr lang="ko-KR" altLang="en-US" smtClean="0">
                <a:solidFill>
                  <a:prstClr val="black"/>
                </a:solidFill>
              </a:rPr>
              <a:pPr/>
              <a:t>30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91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22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5251874" y="7386719"/>
            <a:ext cx="40556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2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9609228" y="325599"/>
            <a:ext cx="872034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19050">
              <a:bevelT w="127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algn="r" defTabSz="914327" fontAlgn="auto">
              <a:spcBef>
                <a:spcPts val="0"/>
              </a:spcBef>
              <a:spcAft>
                <a:spcPts val="0"/>
              </a:spcAft>
              <a:buSzPct val="100000"/>
              <a:defRPr kumimoji="0" sz="110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marL="0" lvl="0" algn="r" defTabSz="913607" rtl="0" eaLnBrk="1" fontAlgn="auto" latinLnBrk="1" hangingPunct="1">
              <a:spcBef>
                <a:spcPts val="0"/>
              </a:spcBef>
              <a:spcAft>
                <a:spcPts val="0"/>
              </a:spcAft>
              <a:buSzPct val="100000"/>
            </a:pPr>
            <a:r>
              <a:rPr kumimoji="0" lang="en-US" altLang="ko-KR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Ⅰ. </a:t>
            </a:r>
            <a:r>
              <a:rPr kumimoji="0" lang="ko-KR" alt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사업의 이해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251874" y="7386719"/>
            <a:ext cx="40556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3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없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9772731" y="325595"/>
            <a:ext cx="708527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19050">
              <a:bevelT w="127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algn="r" defTabSz="914327" fontAlgn="auto">
              <a:spcBef>
                <a:spcPts val="0"/>
              </a:spcBef>
              <a:spcAft>
                <a:spcPts val="0"/>
              </a:spcAft>
              <a:buSzPct val="100000"/>
              <a:defRPr kumimoji="0" sz="110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lvl="0"/>
            <a:r>
              <a:rPr lang="en-US" altLang="ko-KR" dirty="0"/>
              <a:t>Ⅱ. </a:t>
            </a:r>
            <a:r>
              <a:rPr lang="ko-KR" altLang="en-US" dirty="0"/>
              <a:t>추진전략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251874" y="7386719"/>
            <a:ext cx="40556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9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33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9445718" y="325599"/>
            <a:ext cx="1035540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19050">
              <a:bevelT w="127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algn="r" defTabSz="914327" fontAlgn="auto">
              <a:spcBef>
                <a:spcPts val="0"/>
              </a:spcBef>
              <a:spcAft>
                <a:spcPts val="0"/>
              </a:spcAft>
              <a:buSzPct val="100000"/>
              <a:defRPr kumimoji="0" sz="110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marL="0" lvl="0" algn="r" defTabSz="913607" rtl="0" eaLnBrk="1" fontAlgn="auto" latinLnBrk="1" hangingPunct="1">
              <a:spcBef>
                <a:spcPts val="0"/>
              </a:spcBef>
              <a:spcAft>
                <a:spcPts val="0"/>
              </a:spcAft>
              <a:buSzPct val="100000"/>
            </a:pPr>
            <a:r>
              <a:rPr kumimoji="0" lang="en-US" altLang="ko-KR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Ⅲ. </a:t>
            </a:r>
            <a:r>
              <a:rPr kumimoji="0" lang="ko-KR" alt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업무개발 방안 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251874" y="7386719"/>
            <a:ext cx="40556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94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444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8"/>
          <p:cNvSpPr txBox="1">
            <a:spLocks noChangeArrowheads="1"/>
          </p:cNvSpPr>
          <p:nvPr userDrawn="1"/>
        </p:nvSpPr>
        <p:spPr bwMode="auto">
          <a:xfrm>
            <a:off x="2275267" y="2645163"/>
            <a:ext cx="4081989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사업관리 방안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9307860" y="325599"/>
            <a:ext cx="117339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19050">
              <a:bevelT w="127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algn="r" defTabSz="914327" fontAlgn="auto">
              <a:spcBef>
                <a:spcPts val="0"/>
              </a:spcBef>
              <a:spcAft>
                <a:spcPts val="0"/>
              </a:spcAft>
              <a:buSzPct val="100000"/>
              <a:defRPr kumimoji="0" sz="110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marL="0" lvl="0" algn="r" defTabSz="913607" rtl="0" eaLnBrk="1" fontAlgn="auto" latinLnBrk="1" hangingPunct="1">
              <a:spcBef>
                <a:spcPts val="0"/>
              </a:spcBef>
              <a:spcAft>
                <a:spcPts val="0"/>
              </a:spcAft>
              <a:buSzPct val="100000"/>
            </a:pPr>
            <a:r>
              <a:rPr kumimoji="0" lang="en-US" altLang="ko-KR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Ⅳ. </a:t>
            </a:r>
            <a:r>
              <a:rPr kumimoji="0" lang="ko-KR" alt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사업관리 방안 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214204" y="738671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44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빈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8"/>
          <p:cNvSpPr txBox="1">
            <a:spLocks noChangeArrowheads="1"/>
          </p:cNvSpPr>
          <p:nvPr userDrawn="1"/>
        </p:nvSpPr>
        <p:spPr bwMode="auto">
          <a:xfrm>
            <a:off x="2275267" y="2645163"/>
            <a:ext cx="4081989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solidFill>
                  <a:prstClr val="white"/>
                </a:solidFill>
                <a:latin typeface="Rix모던고딕 EB" pitchFamily="18" charset="-127"/>
                <a:ea typeface="Rix모던고딕 EB" pitchFamily="18" charset="-127"/>
              </a:rPr>
              <a:t>사업관리 방안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251874" y="7386719"/>
            <a:ext cx="40556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4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흰흰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8"/>
          <p:cNvSpPr txBox="1">
            <a:spLocks noChangeArrowheads="1"/>
          </p:cNvSpPr>
          <p:nvPr userDrawn="1"/>
        </p:nvSpPr>
        <p:spPr bwMode="auto">
          <a:xfrm>
            <a:off x="2275267" y="2645163"/>
            <a:ext cx="4081989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solidFill>
                  <a:prstClr val="white"/>
                </a:solidFill>
                <a:latin typeface="Rix모던고딕 EB" pitchFamily="18" charset="-127"/>
                <a:ea typeface="Rix모던고딕 EB" pitchFamily="18" charset="-127"/>
              </a:rPr>
              <a:t>사업관리 방안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251874" y="7386719"/>
            <a:ext cx="40556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6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2222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9482587" y="325595"/>
            <a:ext cx="9986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19050">
              <a:bevelT w="127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algn="r" defTabSz="914327" fontAlgn="auto">
              <a:spcBef>
                <a:spcPts val="0"/>
              </a:spcBef>
              <a:spcAft>
                <a:spcPts val="0"/>
              </a:spcAft>
              <a:buSzPct val="100000"/>
              <a:defRPr kumimoji="0" sz="110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</a:rPr>
              <a:t>Ⅱ.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사업추진 전략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251874" y="7386719"/>
            <a:ext cx="405560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 </a:t>
            </a:r>
            <a:fld id="{FE8AD26A-F932-48A9-9CD9-EA89DF65F334}" type="slidenum">
              <a:rPr lang="ko-KR" altLang="en-US" sz="11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pPr algn="ctr"/>
              <a:t>‹#›</a:t>
            </a:fld>
            <a:r>
              <a:rPr lang="ko-KR" altLang="en-US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en-US" altLang="ko-KR" sz="1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-</a:t>
            </a:r>
            <a:endParaRPr lang="ko-KR" altLang="en-US" sz="1100" baseline="0" dirty="0">
              <a:solidFill>
                <a:schemeClr val="tx1">
                  <a:lumMod val="65000"/>
                  <a:lumOff val="3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4649" y="7431159"/>
            <a:ext cx="1177271" cy="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8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74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B196A245-DA57-49A3-981E-1A6FA0E5B0F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006" y="7411965"/>
            <a:ext cx="1604220" cy="31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6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45" r:id="rId2"/>
    <p:sldLayoutId id="2147484083" r:id="rId3"/>
    <p:sldLayoutId id="2147484059" r:id="rId4"/>
    <p:sldLayoutId id="2147484060" r:id="rId5"/>
    <p:sldLayoutId id="2147484082" r:id="rId6"/>
    <p:sldLayoutId id="2147484084" r:id="rId7"/>
    <p:sldLayoutId id="2147484304" r:id="rId8"/>
    <p:sldLayoutId id="2147484306" r:id="rId9"/>
  </p:sldLayoutIdLst>
  <p:txStyles>
    <p:titleStyle>
      <a:lvl1pPr algn="ctr" defTabSz="1018286" rtl="0" eaLnBrk="1" latinLnBrk="1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1857" indent="-381857" algn="l" defTabSz="1018286" rtl="0" eaLnBrk="1" latinLnBrk="1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357" indent="-318215" algn="l" defTabSz="1018286" rtl="0" eaLnBrk="1" latinLnBrk="1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2863" indent="-254571" algn="l" defTabSz="1018286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004" indent="-254571" algn="l" defTabSz="1018286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1147" indent="-254571" algn="l" defTabSz="1018286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0291" indent="-254571" algn="l" defTabSz="1018286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09430" indent="-254571" algn="l" defTabSz="1018286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18579" indent="-254571" algn="l" defTabSz="1018286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7720" indent="-254571" algn="l" defTabSz="1018286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143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286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430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574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5717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4863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004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148" algn="l" defTabSz="1018286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57866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0.jpe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jpe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jpe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5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wmf"/><Relationship Id="rId4" Type="http://schemas.openxmlformats.org/officeDocument/2006/relationships/image" Target="../media/image46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.png"/><Relationship Id="rId5" Type="http://schemas.openxmlformats.org/officeDocument/2006/relationships/image" Target="../media/image66.jpeg"/><Relationship Id="rId4" Type="http://schemas.openxmlformats.org/officeDocument/2006/relationships/image" Target="../media/image65.jpeg"/><Relationship Id="rId9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38.png"/><Relationship Id="rId7" Type="http://schemas.openxmlformats.org/officeDocument/2006/relationships/image" Target="../media/image7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jpeg"/><Relationship Id="rId5" Type="http://schemas.openxmlformats.org/officeDocument/2006/relationships/image" Target="../media/image71.jpeg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13" Type="http://schemas.openxmlformats.org/officeDocument/2006/relationships/image" Target="../media/image81.jpeg"/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6.png"/><Relationship Id="rId11" Type="http://schemas.openxmlformats.org/officeDocument/2006/relationships/image" Target="../media/image79.png"/><Relationship Id="rId5" Type="http://schemas.openxmlformats.org/officeDocument/2006/relationships/image" Target="../media/image75.jpeg"/><Relationship Id="rId10" Type="http://schemas.openxmlformats.org/officeDocument/2006/relationships/image" Target="../media/image78.png"/><Relationship Id="rId4" Type="http://schemas.openxmlformats.org/officeDocument/2006/relationships/image" Target="../media/image72.jpeg"/><Relationship Id="rId9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jpeg"/><Relationship Id="rId3" Type="http://schemas.openxmlformats.org/officeDocument/2006/relationships/image" Target="../media/image83.png"/><Relationship Id="rId7" Type="http://schemas.openxmlformats.org/officeDocument/2006/relationships/image" Target="../media/image8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4.png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13" Type="http://schemas.openxmlformats.org/officeDocument/2006/relationships/image" Target="../media/image90.png"/><Relationship Id="rId3" Type="http://schemas.openxmlformats.org/officeDocument/2006/relationships/tags" Target="../tags/tag4.xml"/><Relationship Id="rId7" Type="http://schemas.openxmlformats.org/officeDocument/2006/relationships/image" Target="../media/image88.png"/><Relationship Id="rId12" Type="http://schemas.openxmlformats.org/officeDocument/2006/relationships/image" Target="../media/image89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7.jpeg"/><Relationship Id="rId11" Type="http://schemas.openxmlformats.org/officeDocument/2006/relationships/image" Target="../media/image28.jpeg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72.jpeg"/><Relationship Id="rId4" Type="http://schemas.openxmlformats.org/officeDocument/2006/relationships/tags" Target="../tags/tag5.xml"/><Relationship Id="rId9" Type="http://schemas.openxmlformats.org/officeDocument/2006/relationships/image" Target="../media/image20.jpeg"/><Relationship Id="rId1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3.png"/><Relationship Id="rId4" Type="http://schemas.openxmlformats.org/officeDocument/2006/relationships/image" Target="../media/image9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8.jpeg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0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2.jp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05.jpe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jpeg"/><Relationship Id="rId5" Type="http://schemas.openxmlformats.org/officeDocument/2006/relationships/image" Target="../media/image106.png"/><Relationship Id="rId10" Type="http://schemas.openxmlformats.org/officeDocument/2006/relationships/image" Target="../media/image110.jpeg"/><Relationship Id="rId4" Type="http://schemas.openxmlformats.org/officeDocument/2006/relationships/image" Target="../media/image38.png"/><Relationship Id="rId9" Type="http://schemas.openxmlformats.org/officeDocument/2006/relationships/image" Target="../media/image10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1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11" Type="http://schemas.openxmlformats.org/officeDocument/2006/relationships/image" Target="../media/image117.png"/><Relationship Id="rId5" Type="http://schemas.openxmlformats.org/officeDocument/2006/relationships/image" Target="../media/image10.png"/><Relationship Id="rId10" Type="http://schemas.openxmlformats.org/officeDocument/2006/relationships/image" Target="../media/image116.png"/><Relationship Id="rId4" Type="http://schemas.openxmlformats.org/officeDocument/2006/relationships/image" Target="../media/image100.png"/><Relationship Id="rId9" Type="http://schemas.openxmlformats.org/officeDocument/2006/relationships/image" Target="../media/image1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0.png"/><Relationship Id="rId5" Type="http://schemas.openxmlformats.org/officeDocument/2006/relationships/image" Target="../media/image38.png"/><Relationship Id="rId4" Type="http://schemas.openxmlformats.org/officeDocument/2006/relationships/image" Target="../media/image1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59BBA9A8-C675-4210-8F97-C148C8AE9312}"/>
              </a:ext>
            </a:extLst>
          </p:cNvPr>
          <p:cNvGrpSpPr/>
          <p:nvPr/>
        </p:nvGrpSpPr>
        <p:grpSpPr>
          <a:xfrm>
            <a:off x="126057" y="144165"/>
            <a:ext cx="10441930" cy="2699915"/>
            <a:chOff x="126057" y="144165"/>
            <a:chExt cx="10441930" cy="269991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5B09E100-A934-44DD-A75A-5AE22630D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057" y="144165"/>
              <a:ext cx="1815203" cy="3600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676829F4-61A5-40F6-9665-3E4EBE5C0003}"/>
                </a:ext>
              </a:extLst>
            </p:cNvPr>
            <p:cNvSpPr txBox="1"/>
            <p:nvPr/>
          </p:nvSpPr>
          <p:spPr>
            <a:xfrm>
              <a:off x="341312" y="2290082"/>
              <a:ext cx="1022667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accent5">
                      <a:lumMod val="50000"/>
                    </a:schemeClr>
                  </a:solidFill>
                </a:rPr>
                <a:t>[</a:t>
              </a:r>
              <a:r>
                <a:rPr lang="ko-KR" altLang="en-US" sz="3000" b="1" dirty="0">
                  <a:solidFill>
                    <a:schemeClr val="accent5">
                      <a:lumMod val="50000"/>
                    </a:schemeClr>
                  </a:solidFill>
                </a:rPr>
                <a:t>교육정보 종합시스템 </a:t>
              </a:r>
              <a:r>
                <a:rPr lang="en-US" altLang="ko-KR" sz="3000" b="1" dirty="0">
                  <a:solidFill>
                    <a:schemeClr val="accent5">
                      <a:lumMod val="50000"/>
                    </a:schemeClr>
                  </a:solidFill>
                </a:rPr>
                <a:t>SW </a:t>
              </a:r>
              <a:r>
                <a:rPr lang="ko-KR" altLang="en-US" sz="3000" b="1" dirty="0">
                  <a:solidFill>
                    <a:schemeClr val="accent5">
                      <a:lumMod val="50000"/>
                    </a:schemeClr>
                  </a:solidFill>
                </a:rPr>
                <a:t>개발 용역</a:t>
              </a:r>
              <a:r>
                <a:rPr lang="en-US" altLang="ko-KR" sz="3000" b="1" dirty="0">
                  <a:solidFill>
                    <a:schemeClr val="accent5">
                      <a:lumMod val="50000"/>
                    </a:schemeClr>
                  </a:solidFill>
                </a:rPr>
                <a:t>]</a:t>
              </a:r>
              <a:r>
                <a:rPr lang="ko-KR" altLang="en-US" sz="3000" b="1" dirty="0">
                  <a:solidFill>
                    <a:schemeClr val="accent5">
                      <a:lumMod val="50000"/>
                    </a:schemeClr>
                  </a:solidFill>
                </a:rPr>
                <a:t> 사업 수행계획 보고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05AB6D1-990E-4ADD-9F9C-5A79A28EC511}"/>
              </a:ext>
            </a:extLst>
          </p:cNvPr>
          <p:cNvSpPr txBox="1"/>
          <p:nvPr/>
        </p:nvSpPr>
        <p:spPr>
          <a:xfrm>
            <a:off x="3798466" y="4608661"/>
            <a:ext cx="30963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schemeClr val="accent5">
                    <a:lumMod val="50000"/>
                  </a:schemeClr>
                </a:solidFill>
              </a:rPr>
              <a:t>2018.11</a:t>
            </a:r>
            <a:endParaRPr lang="ko-KR" altLang="en-US" sz="30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647050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2689372" y="2822964"/>
            <a:ext cx="3917406" cy="53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28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사업의 이해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2689372" y="3724661"/>
            <a:ext cx="3381228" cy="53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28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사업추진 전략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2689371" y="4664463"/>
            <a:ext cx="3368528" cy="53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28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업무개발 방안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689372" y="5566161"/>
            <a:ext cx="3190728" cy="53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28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사업관리 방안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278186" y="2804269"/>
            <a:ext cx="1162050" cy="666750"/>
            <a:chOff x="1278186" y="2880469"/>
            <a:chExt cx="1162050" cy="66675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8186" y="2880469"/>
              <a:ext cx="1162050" cy="66675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567645" y="2880469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3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1278186" y="3687787"/>
            <a:ext cx="1162050" cy="666750"/>
            <a:chOff x="1278186" y="2880469"/>
            <a:chExt cx="1162050" cy="66675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8186" y="2880469"/>
              <a:ext cx="1162050" cy="666750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1567645" y="2880469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3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Ⅱ</a:t>
              </a:r>
              <a:endPara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1263298" y="4647025"/>
            <a:ext cx="1162050" cy="666750"/>
            <a:chOff x="1278186" y="2880469"/>
            <a:chExt cx="1162050" cy="666750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8186" y="2880469"/>
              <a:ext cx="1162050" cy="666750"/>
            </a:xfrm>
            <a:prstGeom prst="rect">
              <a:avLst/>
            </a:prstGeom>
          </p:spPr>
        </p:pic>
        <p:sp>
          <p:nvSpPr>
            <p:cNvPr id="14" name="직사각형 13"/>
            <p:cNvSpPr/>
            <p:nvPr/>
          </p:nvSpPr>
          <p:spPr>
            <a:xfrm>
              <a:off x="1567645" y="2880469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3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Ⅲ</a:t>
              </a:r>
              <a:endPara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265486" y="5534595"/>
            <a:ext cx="1162050" cy="666750"/>
            <a:chOff x="1278186" y="2880469"/>
            <a:chExt cx="1162050" cy="666750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8186" y="2880469"/>
              <a:ext cx="1162050" cy="666750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1567645" y="2880469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3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Ⅳ</a:t>
              </a:r>
              <a:endPara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제목 5"/>
          <p:cNvSpPr>
            <a:spLocks noGrp="1"/>
          </p:cNvSpPr>
          <p:nvPr/>
        </p:nvSpPr>
        <p:spPr>
          <a:xfrm>
            <a:off x="4518546" y="1887646"/>
            <a:ext cx="4775241" cy="248108"/>
          </a:xfrm>
          <a:prstGeom prst="rect">
            <a:avLst/>
          </a:prstGeom>
        </p:spPr>
        <p:txBody>
          <a:bodyPr vert="horz" lIns="101834" tIns="50915" rIns="101834" bIns="50915" rtlCol="0" anchor="t">
            <a:noAutofit/>
            <a:scene3d>
              <a:camera prst="orthographicFront"/>
              <a:lightRig rig="threePt" dir="t"/>
            </a:scene3d>
            <a:sp3d>
              <a:bevelT w="0"/>
              <a:contourClr>
                <a:schemeClr val="tx2">
                  <a:lumMod val="50000"/>
                </a:schemeClr>
              </a:contourClr>
            </a:sp3d>
          </a:bodyPr>
          <a:lstStyle>
            <a:lvl1pPr algn="l" defTabSz="914275" rtl="0" eaLnBrk="1" latinLnBrk="1" hangingPunct="1">
              <a:spcBef>
                <a:spcPct val="0"/>
              </a:spcBef>
              <a:buNone/>
              <a:defRPr sz="2600" b="0" kern="1200" cap="none" spc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  <a:cs typeface="+mj-cs"/>
              </a:defRPr>
            </a:lvl1pPr>
          </a:lstStyle>
          <a:p>
            <a:pPr algn="r">
              <a:spcBef>
                <a:spcPts val="500"/>
              </a:spcBef>
            </a:pPr>
            <a:r>
              <a:rPr lang="ko-KR" altLang="en-US" sz="1800" b="1" spc="-67" dirty="0" err="1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학군교</a:t>
            </a:r>
            <a:r>
              <a:rPr lang="ko-KR" altLang="en-US" sz="1800" b="1" spc="-67" dirty="0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교육정보종합시스템 </a:t>
            </a:r>
            <a:r>
              <a:rPr lang="en-US" altLang="ko-KR" sz="1800" b="1" spc="-67" dirty="0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SW </a:t>
            </a:r>
            <a:r>
              <a:rPr lang="ko-KR" altLang="en-US" sz="1800" b="1" spc="-67" dirty="0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개발 사업</a:t>
            </a:r>
          </a:p>
        </p:txBody>
      </p:sp>
    </p:spTree>
    <p:extLst>
      <p:ext uri="{BB962C8B-B14F-4D97-AF65-F5344CB8AC3E}">
        <p14:creationId xmlns:p14="http://schemas.microsoft.com/office/powerpoint/2010/main" val="229636805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129" y="2336357"/>
            <a:ext cx="3517148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사업을 이해하고 구축에 전념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2275266" y="2645163"/>
            <a:ext cx="3683439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사업의 이해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226679" y="2271043"/>
            <a:ext cx="901815" cy="102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6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6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1754699" y="2522051"/>
            <a:ext cx="901815" cy="718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4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4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9190567" y="648226"/>
            <a:ext cx="901815" cy="48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500" dirty="0">
              <a:solidFill>
                <a:prstClr val="white">
                  <a:lumMod val="50000"/>
                </a:prst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9774767" y="648226"/>
            <a:ext cx="901815" cy="48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500" dirty="0">
              <a:solidFill>
                <a:prstClr val="white">
                  <a:lumMod val="50000"/>
                </a:prst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10333559" y="648226"/>
            <a:ext cx="512242" cy="48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  <a:scene3d>
              <a:camera prst="orthographicFront"/>
              <a:lightRig rig="threePt" dir="t"/>
            </a:scene3d>
            <a:sp3d contourW="31750">
              <a:bevelT w="0" h="19050"/>
              <a:extrusionClr>
                <a:schemeClr val="accent1">
                  <a:lumMod val="50000"/>
                </a:schemeClr>
              </a:extrusionClr>
              <a:contourClr>
                <a:schemeClr val="bg1"/>
              </a:contourClr>
            </a:sp3d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500" dirty="0">
              <a:solidFill>
                <a:prstClr val="white">
                  <a:lumMod val="50000"/>
                </a:prst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텍스트 개체 틀 36">
            <a:extLst>
              <a:ext uri="{FF2B5EF4-FFF2-40B4-BE49-F238E27FC236}">
                <a16:creationId xmlns:a16="http://schemas.microsoft.com/office/drawing/2014/main" xmlns="" id="{A146270E-951E-4964-A00C-1AA23BB4BEB3}"/>
              </a:ext>
            </a:extLst>
          </p:cNvPr>
          <p:cNvSpPr txBox="1">
            <a:spLocks/>
          </p:cNvSpPr>
          <p:nvPr/>
        </p:nvSpPr>
        <p:spPr>
          <a:xfrm>
            <a:off x="3437157" y="3997967"/>
            <a:ext cx="230672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사업의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배경 및 목적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텍스트 개체 틀 36">
            <a:extLst>
              <a:ext uri="{FF2B5EF4-FFF2-40B4-BE49-F238E27FC236}">
                <a16:creationId xmlns:a16="http://schemas.microsoft.com/office/drawing/2014/main" xmlns="" id="{C1F1E065-5AA7-4102-A920-78E4F5842294}"/>
              </a:ext>
            </a:extLst>
          </p:cNvPr>
          <p:cNvSpPr txBox="1">
            <a:spLocks/>
          </p:cNvSpPr>
          <p:nvPr/>
        </p:nvSpPr>
        <p:spPr>
          <a:xfrm>
            <a:off x="3437157" y="4534540"/>
            <a:ext cx="13673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사업의 범위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414CDE31-F8FE-4CA4-AB46-74F38616A9DC}"/>
              </a:ext>
            </a:extLst>
          </p:cNvPr>
          <p:cNvGrpSpPr/>
          <p:nvPr/>
        </p:nvGrpSpPr>
        <p:grpSpPr>
          <a:xfrm>
            <a:off x="2678972" y="3969135"/>
            <a:ext cx="545242" cy="365436"/>
            <a:chOff x="2678971" y="3665215"/>
            <a:chExt cx="545242" cy="365436"/>
          </a:xfrm>
        </p:grpSpPr>
        <p:sp>
          <p:nvSpPr>
            <p:cNvPr id="17" name="양쪽 모서리가 둥근 사각형 18">
              <a:extLst>
                <a:ext uri="{FF2B5EF4-FFF2-40B4-BE49-F238E27FC236}">
                  <a16:creationId xmlns:a16="http://schemas.microsoft.com/office/drawing/2014/main" xmlns="" id="{3C6C7F96-6221-4EA0-9FB9-0447EC6D0F33}"/>
                </a:ext>
              </a:extLst>
            </p:cNvPr>
            <p:cNvSpPr/>
            <p:nvPr/>
          </p:nvSpPr>
          <p:spPr>
            <a:xfrm rot="16200000">
              <a:off x="2768874" y="3575312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3D6DA62B-D9BB-460C-B40D-26D06A14AE13}"/>
                </a:ext>
              </a:extLst>
            </p:cNvPr>
            <p:cNvSpPr txBox="1"/>
            <p:nvPr/>
          </p:nvSpPr>
          <p:spPr>
            <a:xfrm>
              <a:off x="2856457" y="3715861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01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E60D8051-8336-455F-9850-0E34D5DE337F}"/>
              </a:ext>
            </a:extLst>
          </p:cNvPr>
          <p:cNvGrpSpPr/>
          <p:nvPr/>
        </p:nvGrpSpPr>
        <p:grpSpPr>
          <a:xfrm>
            <a:off x="2678972" y="4505710"/>
            <a:ext cx="545242" cy="365436"/>
            <a:chOff x="2678971" y="4201790"/>
            <a:chExt cx="545242" cy="365436"/>
          </a:xfrm>
        </p:grpSpPr>
        <p:sp>
          <p:nvSpPr>
            <p:cNvPr id="20" name="양쪽 모서리가 둥근 사각형 34">
              <a:extLst>
                <a:ext uri="{FF2B5EF4-FFF2-40B4-BE49-F238E27FC236}">
                  <a16:creationId xmlns:a16="http://schemas.microsoft.com/office/drawing/2014/main" xmlns="" id="{3982DE21-88A5-492E-99A2-BF13ACAD26B3}"/>
                </a:ext>
              </a:extLst>
            </p:cNvPr>
            <p:cNvSpPr/>
            <p:nvPr/>
          </p:nvSpPr>
          <p:spPr>
            <a:xfrm rot="16200000">
              <a:off x="2768874" y="4111887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E6CC9763-AB88-4B8B-8010-AD2F658F3E03}"/>
                </a:ext>
              </a:extLst>
            </p:cNvPr>
            <p:cNvSpPr txBox="1"/>
            <p:nvPr/>
          </p:nvSpPr>
          <p:spPr>
            <a:xfrm>
              <a:off x="2856457" y="4252436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02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21C09BB7-E5BD-4490-AD84-CA1FE0E54E9E}"/>
              </a:ext>
            </a:extLst>
          </p:cNvPr>
          <p:cNvGrpSpPr/>
          <p:nvPr/>
        </p:nvGrpSpPr>
        <p:grpSpPr>
          <a:xfrm>
            <a:off x="2678972" y="5042285"/>
            <a:ext cx="2125546" cy="365436"/>
            <a:chOff x="2678971" y="4738365"/>
            <a:chExt cx="2125546" cy="365436"/>
          </a:xfrm>
        </p:grpSpPr>
        <p:sp>
          <p:nvSpPr>
            <p:cNvPr id="24" name="텍스트 개체 틀 36">
              <a:extLst>
                <a:ext uri="{FF2B5EF4-FFF2-40B4-BE49-F238E27FC236}">
                  <a16:creationId xmlns:a16="http://schemas.microsoft.com/office/drawing/2014/main" xmlns="" id="{FACCF037-9E6D-461B-9460-E8ED051A8F73}"/>
                </a:ext>
              </a:extLst>
            </p:cNvPr>
            <p:cNvSpPr txBox="1">
              <a:spLocks/>
            </p:cNvSpPr>
            <p:nvPr/>
          </p:nvSpPr>
          <p:spPr>
            <a:xfrm>
              <a:off x="3437155" y="4767197"/>
              <a:ext cx="136736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사업의 특징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xmlns="" id="{17AE4BE3-86C9-41B8-906A-E6E1FA36AC57}"/>
                </a:ext>
              </a:extLst>
            </p:cNvPr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26" name="양쪽 모서리가 둥근 사각형 37">
                <a:extLst>
                  <a:ext uri="{FF2B5EF4-FFF2-40B4-BE49-F238E27FC236}">
                    <a16:creationId xmlns:a16="http://schemas.microsoft.com/office/drawing/2014/main" xmlns="" id="{F8DBC188-F707-458D-94D4-9A14F5F73A0E}"/>
                  </a:ext>
                </a:extLst>
              </p:cNvPr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B9B288CB-98F6-405E-AB8A-328AAFA844CB}"/>
                  </a:ext>
                </a:extLst>
              </p:cNvPr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03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28" name="자유형 47">
            <a:extLst>
              <a:ext uri="{FF2B5EF4-FFF2-40B4-BE49-F238E27FC236}">
                <a16:creationId xmlns:a16="http://schemas.microsoft.com/office/drawing/2014/main" xmlns="" id="{136572FC-7EC7-4FA3-9352-73813BB625A6}"/>
              </a:ext>
            </a:extLst>
          </p:cNvPr>
          <p:cNvSpPr/>
          <p:nvPr/>
        </p:nvSpPr>
        <p:spPr>
          <a:xfrm>
            <a:off x="3224216" y="440852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" name="자유형 48">
            <a:extLst>
              <a:ext uri="{FF2B5EF4-FFF2-40B4-BE49-F238E27FC236}">
                <a16:creationId xmlns:a16="http://schemas.microsoft.com/office/drawing/2014/main" xmlns="" id="{27A12CF0-43E2-438A-98E5-68F1F5C1C4E1}"/>
              </a:ext>
            </a:extLst>
          </p:cNvPr>
          <p:cNvSpPr/>
          <p:nvPr/>
        </p:nvSpPr>
        <p:spPr>
          <a:xfrm>
            <a:off x="3224216" y="496097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자유형 49">
            <a:extLst>
              <a:ext uri="{FF2B5EF4-FFF2-40B4-BE49-F238E27FC236}">
                <a16:creationId xmlns:a16="http://schemas.microsoft.com/office/drawing/2014/main" xmlns="" id="{D4EE1C4E-56C6-4E3A-A93A-82A5A24C38A4}"/>
              </a:ext>
            </a:extLst>
          </p:cNvPr>
          <p:cNvSpPr/>
          <p:nvPr/>
        </p:nvSpPr>
        <p:spPr>
          <a:xfrm>
            <a:off x="3224216" y="549437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200154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72868" y="248650"/>
            <a:ext cx="9878290" cy="6966539"/>
            <a:chOff x="318763" y="248649"/>
            <a:chExt cx="10392470" cy="6966539"/>
          </a:xfrm>
        </p:grpSpPr>
        <p:grpSp>
          <p:nvGrpSpPr>
            <p:cNvPr id="39" name="그룹 38"/>
            <p:cNvGrpSpPr/>
            <p:nvPr/>
          </p:nvGrpSpPr>
          <p:grpSpPr>
            <a:xfrm>
              <a:off x="333530" y="2471358"/>
              <a:ext cx="923772" cy="2543062"/>
              <a:chOff x="225220" y="2471358"/>
              <a:chExt cx="1140388" cy="2543062"/>
            </a:xfrm>
          </p:grpSpPr>
          <p:sp>
            <p:nvSpPr>
              <p:cNvPr id="40" name="자유형 39"/>
              <p:cNvSpPr/>
              <p:nvPr/>
            </p:nvSpPr>
            <p:spPr>
              <a:xfrm>
                <a:off x="225220" y="4968701"/>
                <a:ext cx="1140388" cy="45719"/>
              </a:xfrm>
              <a:custGeom>
                <a:avLst/>
                <a:gdLst>
                  <a:gd name="connsiteX0" fmla="*/ 0 w 9075174"/>
                  <a:gd name="connsiteY0" fmla="*/ 0 h 0"/>
                  <a:gd name="connsiteX1" fmla="*/ 9075174 w 9075174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075174">
                    <a:moveTo>
                      <a:pt x="0" y="0"/>
                    </a:moveTo>
                    <a:lnTo>
                      <a:pt x="9075174" y="0"/>
                    </a:lnTo>
                  </a:path>
                </a:pathLst>
              </a:custGeom>
              <a:noFill/>
              <a:ln w="28575">
                <a:solidFill>
                  <a:srgbClr val="C0C0C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ctr" defTabSz="1431125"/>
                <a:endParaRPr lang="ko-KR" altLang="en-US" sz="2835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1" name="자유형 40"/>
              <p:cNvSpPr/>
              <p:nvPr/>
            </p:nvSpPr>
            <p:spPr>
              <a:xfrm>
                <a:off x="225220" y="2471358"/>
                <a:ext cx="1140388" cy="45719"/>
              </a:xfrm>
              <a:custGeom>
                <a:avLst/>
                <a:gdLst>
                  <a:gd name="connsiteX0" fmla="*/ 0 w 9075174"/>
                  <a:gd name="connsiteY0" fmla="*/ 0 h 0"/>
                  <a:gd name="connsiteX1" fmla="*/ 9075174 w 9075174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075174">
                    <a:moveTo>
                      <a:pt x="0" y="0"/>
                    </a:moveTo>
                    <a:lnTo>
                      <a:pt x="9075174" y="0"/>
                    </a:lnTo>
                  </a:path>
                </a:pathLst>
              </a:custGeom>
              <a:noFill/>
              <a:ln w="28575">
                <a:solidFill>
                  <a:srgbClr val="C0C0C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ctr" defTabSz="1431125"/>
                <a:endParaRPr lang="ko-KR" altLang="en-US" sz="2835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pic>
          <p:nvPicPr>
            <p:cNvPr id="42" name="Picture 2" descr="D:\02.Work\0612_경봉\psd작업\김해 작업_03-2-01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74096"/>
            <a:stretch/>
          </p:blipFill>
          <p:spPr bwMode="auto">
            <a:xfrm>
              <a:off x="1485395" y="769926"/>
              <a:ext cx="8937815" cy="3124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3" name="그룹 42"/>
            <p:cNvGrpSpPr/>
            <p:nvPr/>
          </p:nvGrpSpPr>
          <p:grpSpPr>
            <a:xfrm>
              <a:off x="318763" y="248649"/>
              <a:ext cx="2698283" cy="779014"/>
              <a:chOff x="318763" y="248649"/>
              <a:chExt cx="2698283" cy="779013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318763" y="568948"/>
                <a:ext cx="194347" cy="458714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51968">
                  <a:defRPr/>
                </a:pPr>
                <a:endParaRPr lang="ko-KR" altLang="en-US" sz="2381" b="1" dirty="0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321774" y="248649"/>
                <a:ext cx="2695272" cy="371512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defPPr>
                  <a:defRPr lang="ko-KR"/>
                </a:defPPr>
                <a:lvl1pPr defTabSz="1084296" fontAlgn="auto">
                  <a:spcBef>
                    <a:spcPts val="0"/>
                  </a:spcBef>
                  <a:spcAft>
                    <a:spcPts val="0"/>
                  </a:spcAft>
                  <a:defRPr sz="1600">
                    <a:solidFill>
                      <a:srgbClr val="9FA7B3"/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defTabSz="1051968">
                  <a:defRPr/>
                </a:pPr>
                <a:r>
                  <a:rPr lang="en-US" altLang="ko-KR" sz="1814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1. </a:t>
                </a:r>
                <a:r>
                  <a:rPr lang="ko-KR" altLang="en-US" sz="1814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사업의 배경 및 목적</a:t>
                </a: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545093" y="1346905"/>
              <a:ext cx="458712" cy="523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accent1">
                    <a:lumMod val="75000"/>
                  </a:schemeClr>
                </a:contourClr>
              </a:sp3d>
            </a:bodyPr>
            <a:lstStyle>
              <a:defPPr>
                <a:defRPr lang="ko-KR"/>
              </a:defPPr>
              <a:lvl1pPr marL="0" defTabSz="1067745" eaLnBrk="1" latinLnBrk="1" hangingPunct="1">
                <a:defRPr sz="2100">
                  <a:latin typeface="+mn-lt"/>
                  <a:ea typeface="+mn-ea"/>
                </a:defRPr>
              </a:lvl1pPr>
              <a:lvl2pPr marL="509313" defTabSz="1018624" eaLnBrk="1" latinLnBrk="1" hangingPunct="1">
                <a:defRPr sz="2000">
                  <a:latin typeface="+mn-lt"/>
                  <a:ea typeface="+mn-ea"/>
                </a:defRPr>
              </a:lvl2pPr>
              <a:lvl3pPr marL="1018624" defTabSz="1018624" eaLnBrk="1" latinLnBrk="1" hangingPunct="1">
                <a:defRPr sz="2000">
                  <a:latin typeface="+mn-lt"/>
                  <a:ea typeface="+mn-ea"/>
                </a:defRPr>
              </a:lvl3pPr>
              <a:lvl4pPr marL="1527939" defTabSz="1018624" eaLnBrk="1" latinLnBrk="1" hangingPunct="1">
                <a:defRPr sz="2000">
                  <a:latin typeface="+mn-lt"/>
                  <a:ea typeface="+mn-ea"/>
                </a:defRPr>
              </a:lvl4pPr>
              <a:lvl5pPr marL="2037251" defTabSz="1018624" eaLnBrk="1" latinLnBrk="1" hangingPunct="1">
                <a:defRPr sz="2000">
                  <a:latin typeface="+mn-lt"/>
                  <a:ea typeface="+mn-ea"/>
                </a:defRPr>
              </a:lvl5pPr>
              <a:lvl6pPr marL="2546565" defTabSz="1018624">
                <a:defRPr sz="2000">
                  <a:latin typeface="+mn-lt"/>
                  <a:ea typeface="+mn-ea"/>
                </a:defRPr>
              </a:lvl6pPr>
              <a:lvl7pPr marL="3055879" defTabSz="1018624">
                <a:defRPr sz="2000">
                  <a:latin typeface="+mn-lt"/>
                  <a:ea typeface="+mn-ea"/>
                </a:defRPr>
              </a:lvl7pPr>
              <a:lvl8pPr marL="3565187" defTabSz="1018624">
                <a:defRPr sz="2000">
                  <a:latin typeface="+mn-lt"/>
                  <a:ea typeface="+mn-ea"/>
                </a:defRPr>
              </a:lvl8pPr>
              <a:lvl9pPr marL="4074502" defTabSz="1018624">
                <a:defRPr sz="2000">
                  <a:latin typeface="+mn-lt"/>
                  <a:ea typeface="+mn-ea"/>
                </a:defRPr>
              </a:lvl9pPr>
            </a:lstStyle>
            <a:p>
              <a:pPr algn="r" defTabSz="1208337"/>
              <a:r>
                <a:rPr lang="ko-KR" altLang="en-US" sz="1701" kern="0" dirty="0">
                  <a:solidFill>
                    <a:srgbClr val="4F81BD">
                      <a:lumMod val="75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추진</a:t>
              </a:r>
              <a:endParaRPr lang="en-US" altLang="ko-KR" sz="1701" kern="0" dirty="0">
                <a:solidFill>
                  <a:srgbClr val="4F81BD">
                    <a:lumMod val="75000"/>
                  </a:srgb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r" defTabSz="1208337"/>
              <a:r>
                <a:rPr lang="ko-KR" altLang="en-US" sz="1701" kern="0" dirty="0">
                  <a:solidFill>
                    <a:srgbClr val="4F81BD">
                      <a:lumMod val="75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목적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66071" y="5600754"/>
              <a:ext cx="458713" cy="785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accent1">
                    <a:lumMod val="75000"/>
                  </a:schemeClr>
                </a:contourClr>
              </a:sp3d>
            </a:bodyPr>
            <a:lstStyle>
              <a:defPPr>
                <a:defRPr lang="ko-KR"/>
              </a:defPPr>
              <a:lvl1pPr marL="0" defTabSz="1067745" eaLnBrk="1" latinLnBrk="1" hangingPunct="1">
                <a:defRPr sz="2100">
                  <a:latin typeface="+mn-lt"/>
                  <a:ea typeface="+mn-ea"/>
                </a:defRPr>
              </a:lvl1pPr>
              <a:lvl2pPr marL="509313" defTabSz="1018624" eaLnBrk="1" latinLnBrk="1" hangingPunct="1">
                <a:defRPr sz="2000">
                  <a:latin typeface="+mn-lt"/>
                  <a:ea typeface="+mn-ea"/>
                </a:defRPr>
              </a:lvl2pPr>
              <a:lvl3pPr marL="1018624" defTabSz="1018624" eaLnBrk="1" latinLnBrk="1" hangingPunct="1">
                <a:defRPr sz="2000">
                  <a:latin typeface="+mn-lt"/>
                  <a:ea typeface="+mn-ea"/>
                </a:defRPr>
              </a:lvl3pPr>
              <a:lvl4pPr marL="1527939" defTabSz="1018624" eaLnBrk="1" latinLnBrk="1" hangingPunct="1">
                <a:defRPr sz="2000">
                  <a:latin typeface="+mn-lt"/>
                  <a:ea typeface="+mn-ea"/>
                </a:defRPr>
              </a:lvl4pPr>
              <a:lvl5pPr marL="2037251" defTabSz="1018624" eaLnBrk="1" latinLnBrk="1" hangingPunct="1">
                <a:defRPr sz="2000">
                  <a:latin typeface="+mn-lt"/>
                  <a:ea typeface="+mn-ea"/>
                </a:defRPr>
              </a:lvl5pPr>
              <a:lvl6pPr marL="2546565" defTabSz="1018624">
                <a:defRPr sz="2000">
                  <a:latin typeface="+mn-lt"/>
                  <a:ea typeface="+mn-ea"/>
                </a:defRPr>
              </a:lvl6pPr>
              <a:lvl7pPr marL="3055879" defTabSz="1018624">
                <a:defRPr sz="2000">
                  <a:latin typeface="+mn-lt"/>
                  <a:ea typeface="+mn-ea"/>
                </a:defRPr>
              </a:lvl7pPr>
              <a:lvl8pPr marL="3565187" defTabSz="1018624">
                <a:defRPr sz="2000">
                  <a:latin typeface="+mn-lt"/>
                  <a:ea typeface="+mn-ea"/>
                </a:defRPr>
              </a:lvl8pPr>
              <a:lvl9pPr marL="4074502" defTabSz="1018624">
                <a:defRPr sz="2000">
                  <a:latin typeface="+mn-lt"/>
                  <a:ea typeface="+mn-ea"/>
                </a:defRPr>
              </a:lvl9pPr>
            </a:lstStyle>
            <a:p>
              <a:pPr algn="ctr" defTabSz="1208337"/>
              <a:r>
                <a:rPr lang="ko-KR" altLang="en-US" sz="1701" kern="0" dirty="0">
                  <a:solidFill>
                    <a:srgbClr val="4F81BD">
                      <a:lumMod val="75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배경</a:t>
              </a:r>
              <a:endParaRPr lang="en-US" altLang="ko-KR" sz="1701" kern="0" dirty="0">
                <a:solidFill>
                  <a:srgbClr val="4F81BD">
                    <a:lumMod val="75000"/>
                  </a:srgb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defTabSz="1208337"/>
              <a:r>
                <a:rPr lang="ko-KR" altLang="en-US" sz="1701" kern="0" dirty="0">
                  <a:solidFill>
                    <a:srgbClr val="4F81BD">
                      <a:lumMod val="75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및</a:t>
              </a:r>
              <a:endParaRPr lang="en-US" altLang="ko-KR" sz="1701" kern="0" dirty="0">
                <a:solidFill>
                  <a:srgbClr val="4F81BD">
                    <a:lumMod val="75000"/>
                  </a:srgb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defTabSz="1208337"/>
              <a:r>
                <a:rPr lang="ko-KR" altLang="en-US" sz="1701" kern="0" dirty="0">
                  <a:solidFill>
                    <a:srgbClr val="4F81BD">
                      <a:lumMod val="75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현황</a:t>
              </a:r>
            </a:p>
          </p:txBody>
        </p:sp>
        <p:sp>
          <p:nvSpPr>
            <p:cNvPr id="52" name="모서리가 둥근 직사각형 146"/>
            <p:cNvSpPr>
              <a:spLocks noChangeArrowheads="1"/>
            </p:cNvSpPr>
            <p:nvPr/>
          </p:nvSpPr>
          <p:spPr bwMode="auto">
            <a:xfrm>
              <a:off x="1564047" y="5435398"/>
              <a:ext cx="2890892" cy="177979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8E8E8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3688" tIns="51843" rIns="103688" bIns="51843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887066"/>
              <a:endParaRPr lang="ko-KR" altLang="en-US" sz="12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3" name="모서리가 둥근 직사각형 146"/>
            <p:cNvSpPr>
              <a:spLocks noChangeArrowheads="1"/>
            </p:cNvSpPr>
            <p:nvPr/>
          </p:nvSpPr>
          <p:spPr bwMode="auto">
            <a:xfrm>
              <a:off x="1552362" y="5544764"/>
              <a:ext cx="2902576" cy="1208023"/>
            </a:xfrm>
            <a:prstGeom prst="rect">
              <a:avLst/>
            </a:prstGeom>
            <a:noFill/>
          </p:spPr>
          <p:txBody>
            <a:bodyPr wrap="square" rIns="40825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 최신 기술 반영</a:t>
              </a: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다양한 운영체제 지원</a:t>
              </a: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웹표준을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준수한 시스템 개발로 운영 및 관리의 효율성 증대</a:t>
              </a: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국방부의 표준보안정책  적용</a:t>
              </a:r>
            </a:p>
          </p:txBody>
        </p:sp>
        <p:sp>
          <p:nvSpPr>
            <p:cNvPr id="54" name="모서리가 둥근 직사각형 146"/>
            <p:cNvSpPr>
              <a:spLocks noChangeArrowheads="1"/>
            </p:cNvSpPr>
            <p:nvPr/>
          </p:nvSpPr>
          <p:spPr bwMode="auto">
            <a:xfrm>
              <a:off x="1564047" y="5041698"/>
              <a:ext cx="2890892" cy="461421"/>
            </a:xfrm>
            <a:prstGeom prst="roundRect">
              <a:avLst>
                <a:gd name="adj" fmla="val 0"/>
              </a:avLst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96" tIns="51848" rIns="103696" bIns="51848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34799"/>
              <a:endParaRPr lang="ko-KR" altLang="en-US" sz="238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5" name="모서리가 둥근 직사각형 146"/>
            <p:cNvSpPr>
              <a:spLocks noChangeArrowheads="1"/>
            </p:cNvSpPr>
            <p:nvPr/>
          </p:nvSpPr>
          <p:spPr bwMode="auto">
            <a:xfrm>
              <a:off x="1974861" y="5150664"/>
              <a:ext cx="2069264" cy="256179"/>
            </a:xfrm>
            <a:prstGeom prst="roundRect">
              <a:avLst>
                <a:gd name="adj" fmla="val 9449"/>
              </a:avLst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886186" latinLnBrk="0">
                <a:spcBef>
                  <a:spcPts val="485"/>
                </a:spcBef>
                <a:buClr>
                  <a:srgbClr val="0066CC"/>
                </a:buClr>
                <a:buSzPct val="110000"/>
              </a:pPr>
              <a:r>
                <a:rPr lang="ko-KR" altLang="en-US" sz="1588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prstClr val="white"/>
                  </a:solidFill>
                  <a:effectLst>
                    <a:glow>
                      <a:prstClr val="white"/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표준화된 서비스 제공</a:t>
              </a:r>
            </a:p>
          </p:txBody>
        </p:sp>
        <p:sp>
          <p:nvSpPr>
            <p:cNvPr id="56" name="모서리가 둥근 직사각형 146"/>
            <p:cNvSpPr>
              <a:spLocks noChangeArrowheads="1"/>
            </p:cNvSpPr>
            <p:nvPr/>
          </p:nvSpPr>
          <p:spPr bwMode="auto">
            <a:xfrm>
              <a:off x="4605307" y="5435398"/>
              <a:ext cx="2890892" cy="177979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8E8E8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3688" tIns="51843" rIns="103688" bIns="51843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887066"/>
              <a:endParaRPr lang="ko-KR" altLang="en-US" sz="238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7" name="모서리가 둥근 직사각형 146"/>
            <p:cNvSpPr>
              <a:spLocks noChangeArrowheads="1"/>
            </p:cNvSpPr>
            <p:nvPr/>
          </p:nvSpPr>
          <p:spPr bwMode="auto">
            <a:xfrm>
              <a:off x="4648061" y="5544764"/>
              <a:ext cx="2848138" cy="1646605"/>
            </a:xfrm>
            <a:prstGeom prst="rect">
              <a:avLst/>
            </a:prstGeom>
            <a:noFill/>
          </p:spPr>
          <p:txBody>
            <a:bodyPr wrap="square" rIns="40825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 기반의 전산화 시스템으로 업무절차 전환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업무 소요시간 단축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교육훈련의 절차 및 특성 반영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운용자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및 사용자의 관점 고려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전산화에 따른 기존업무 절차 영향고려</a:t>
              </a:r>
            </a:p>
          </p:txBody>
        </p:sp>
        <p:sp>
          <p:nvSpPr>
            <p:cNvPr id="58" name="모서리가 둥근 직사각형 146"/>
            <p:cNvSpPr>
              <a:spLocks noChangeArrowheads="1"/>
            </p:cNvSpPr>
            <p:nvPr/>
          </p:nvSpPr>
          <p:spPr bwMode="auto">
            <a:xfrm>
              <a:off x="4605307" y="5041698"/>
              <a:ext cx="2890892" cy="461421"/>
            </a:xfrm>
            <a:prstGeom prst="roundRect">
              <a:avLst>
                <a:gd name="adj" fmla="val 0"/>
              </a:avLst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96" tIns="51848" rIns="103696" bIns="51848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34799"/>
              <a:endParaRPr lang="ko-KR" altLang="en-US" sz="238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9" name="모서리가 둥근 직사각형 146"/>
            <p:cNvSpPr>
              <a:spLocks noChangeArrowheads="1"/>
            </p:cNvSpPr>
            <p:nvPr/>
          </p:nvSpPr>
          <p:spPr bwMode="auto">
            <a:xfrm>
              <a:off x="5265715" y="5150664"/>
              <a:ext cx="1570077" cy="256179"/>
            </a:xfrm>
            <a:prstGeom prst="roundRect">
              <a:avLst>
                <a:gd name="adj" fmla="val 9449"/>
              </a:avLst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886186" latinLnBrk="0">
                <a:spcBef>
                  <a:spcPts val="485"/>
                </a:spcBef>
                <a:buClr>
                  <a:srgbClr val="0066CC"/>
                </a:buClr>
                <a:buSzPct val="110000"/>
              </a:pPr>
              <a:r>
                <a:rPr lang="ko-KR" altLang="en-US" sz="1588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prstClr val="white"/>
                  </a:solidFill>
                  <a:effectLst>
                    <a:glow>
                      <a:prstClr val="white"/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업무효율성 개선</a:t>
              </a:r>
            </a:p>
          </p:txBody>
        </p:sp>
        <p:sp>
          <p:nvSpPr>
            <p:cNvPr id="60" name="모서리가 둥근 직사각형 146"/>
            <p:cNvSpPr>
              <a:spLocks noChangeArrowheads="1"/>
            </p:cNvSpPr>
            <p:nvPr/>
          </p:nvSpPr>
          <p:spPr bwMode="auto">
            <a:xfrm>
              <a:off x="7614890" y="5435398"/>
              <a:ext cx="2890892" cy="177979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8E8E8"/>
                </a:gs>
                <a:gs pos="100000">
                  <a:schemeClr val="bg1">
                    <a:lumMod val="9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3688" tIns="51843" rIns="103688" bIns="51843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887066"/>
              <a:endParaRPr lang="ko-KR" altLang="en-US" sz="238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1" name="모서리가 둥근 직사각형 146"/>
            <p:cNvSpPr>
              <a:spLocks noChangeArrowheads="1"/>
            </p:cNvSpPr>
            <p:nvPr/>
          </p:nvSpPr>
          <p:spPr bwMode="auto">
            <a:xfrm>
              <a:off x="7614891" y="5544764"/>
              <a:ext cx="2869661" cy="1608133"/>
            </a:xfrm>
            <a:prstGeom prst="rect">
              <a:avLst/>
            </a:prstGeom>
            <a:noFill/>
          </p:spPr>
          <p:txBody>
            <a:bodyPr wrap="square" rIns="40825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군 학사행정 업무의 특성 사전검토</a:t>
              </a: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다수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다양한 사용자 그룹 요구충족 고려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전문기술 적용에 의한 시스템의 최대성능 보장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2498" indent="-172498" defTabSz="1035909" fontAlgn="base" latinLnBrk="0">
                <a:spcBef>
                  <a:spcPts val="291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endParaRPr kumimoji="1"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</p:txBody>
        </p:sp>
        <p:sp>
          <p:nvSpPr>
            <p:cNvPr id="62" name="모서리가 둥근 직사각형 146"/>
            <p:cNvSpPr>
              <a:spLocks noChangeArrowheads="1"/>
            </p:cNvSpPr>
            <p:nvPr/>
          </p:nvSpPr>
          <p:spPr bwMode="auto">
            <a:xfrm>
              <a:off x="7614890" y="5041698"/>
              <a:ext cx="2890892" cy="461421"/>
            </a:xfrm>
            <a:prstGeom prst="roundRect">
              <a:avLst>
                <a:gd name="adj" fmla="val 0"/>
              </a:avLst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3696" tIns="51848" rIns="103696" bIns="51848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34799"/>
              <a:endParaRPr lang="ko-KR" altLang="en-US" sz="238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3" name="모서리가 둥근 직사각형 62"/>
            <p:cNvSpPr>
              <a:spLocks noChangeArrowheads="1"/>
            </p:cNvSpPr>
            <p:nvPr/>
          </p:nvSpPr>
          <p:spPr bwMode="auto">
            <a:xfrm>
              <a:off x="8275303" y="5150664"/>
              <a:ext cx="1570077" cy="256179"/>
            </a:xfrm>
            <a:prstGeom prst="roundRect">
              <a:avLst>
                <a:gd name="adj" fmla="val 9449"/>
              </a:avLst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886186" latinLnBrk="0">
                <a:spcBef>
                  <a:spcPts val="485"/>
                </a:spcBef>
                <a:buClr>
                  <a:srgbClr val="0066CC"/>
                </a:buClr>
                <a:buSzPct val="110000"/>
              </a:pPr>
              <a:r>
                <a:rPr lang="ko-KR" altLang="en-US" sz="1588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prstClr val="white"/>
                  </a:solidFill>
                  <a:effectLst>
                    <a:glow>
                      <a:prstClr val="white"/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사용자 환경개선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45093" y="3349843"/>
              <a:ext cx="458712" cy="523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accent1">
                    <a:lumMod val="75000"/>
                  </a:schemeClr>
                </a:contourClr>
              </a:sp3d>
            </a:bodyPr>
            <a:lstStyle>
              <a:defPPr>
                <a:defRPr lang="ko-KR"/>
              </a:defPPr>
              <a:lvl1pPr marL="0" defTabSz="1067745" eaLnBrk="1" latinLnBrk="1" hangingPunct="1">
                <a:defRPr sz="2100">
                  <a:latin typeface="+mn-lt"/>
                  <a:ea typeface="+mn-ea"/>
                </a:defRPr>
              </a:lvl1pPr>
              <a:lvl2pPr marL="509313" defTabSz="1018624" eaLnBrk="1" latinLnBrk="1" hangingPunct="1">
                <a:defRPr sz="2000">
                  <a:latin typeface="+mn-lt"/>
                  <a:ea typeface="+mn-ea"/>
                </a:defRPr>
              </a:lvl2pPr>
              <a:lvl3pPr marL="1018624" defTabSz="1018624" eaLnBrk="1" latinLnBrk="1" hangingPunct="1">
                <a:defRPr sz="2000">
                  <a:latin typeface="+mn-lt"/>
                  <a:ea typeface="+mn-ea"/>
                </a:defRPr>
              </a:lvl3pPr>
              <a:lvl4pPr marL="1527939" defTabSz="1018624" eaLnBrk="1" latinLnBrk="1" hangingPunct="1">
                <a:defRPr sz="2000">
                  <a:latin typeface="+mn-lt"/>
                  <a:ea typeface="+mn-ea"/>
                </a:defRPr>
              </a:lvl4pPr>
              <a:lvl5pPr marL="2037251" defTabSz="1018624" eaLnBrk="1" latinLnBrk="1" hangingPunct="1">
                <a:defRPr sz="2000">
                  <a:latin typeface="+mn-lt"/>
                  <a:ea typeface="+mn-ea"/>
                </a:defRPr>
              </a:lvl5pPr>
              <a:lvl6pPr marL="2546565" defTabSz="1018624">
                <a:defRPr sz="2000">
                  <a:latin typeface="+mn-lt"/>
                  <a:ea typeface="+mn-ea"/>
                </a:defRPr>
              </a:lvl6pPr>
              <a:lvl7pPr marL="3055879" defTabSz="1018624">
                <a:defRPr sz="2000">
                  <a:latin typeface="+mn-lt"/>
                  <a:ea typeface="+mn-ea"/>
                </a:defRPr>
              </a:lvl7pPr>
              <a:lvl8pPr marL="3565187" defTabSz="1018624">
                <a:defRPr sz="2000">
                  <a:latin typeface="+mn-lt"/>
                  <a:ea typeface="+mn-ea"/>
                </a:defRPr>
              </a:lvl8pPr>
              <a:lvl9pPr marL="4074502" defTabSz="1018624">
                <a:defRPr sz="2000">
                  <a:latin typeface="+mn-lt"/>
                  <a:ea typeface="+mn-ea"/>
                </a:defRPr>
              </a:lvl9pPr>
            </a:lstStyle>
            <a:p>
              <a:pPr algn="r" defTabSz="1208337"/>
              <a:r>
                <a:rPr lang="ko-KR" altLang="en-US" sz="1701" kern="0" dirty="0">
                  <a:solidFill>
                    <a:srgbClr val="4F81BD">
                      <a:lumMod val="75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추진</a:t>
              </a:r>
              <a:endParaRPr lang="en-US" altLang="ko-KR" sz="1701" kern="0" dirty="0">
                <a:solidFill>
                  <a:srgbClr val="4F81BD">
                    <a:lumMod val="75000"/>
                  </a:srgb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r" defTabSz="1208337"/>
              <a:r>
                <a:rPr lang="ko-KR" altLang="en-US" sz="1701" kern="0" dirty="0">
                  <a:solidFill>
                    <a:srgbClr val="4F81BD">
                      <a:lumMod val="75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방향</a:t>
              </a:r>
            </a:p>
          </p:txBody>
        </p:sp>
        <p:pic>
          <p:nvPicPr>
            <p:cNvPr id="65" name="Picture 10" descr="C:\진영\프로젝트\PNG모으기\화살표2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flipV="1">
              <a:off x="2937990" y="2011065"/>
              <a:ext cx="5033321" cy="653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7" name="Picture 346" descr="3"/>
            <p:cNvPicPr>
              <a:picLocks noChangeAspect="1" noChangeArrowheads="1"/>
            </p:cNvPicPr>
            <p:nvPr/>
          </p:nvPicPr>
          <p:blipFill>
            <a:blip r:embed="rId7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587" y="4772529"/>
              <a:ext cx="273654" cy="154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8" name="그룹 67"/>
            <p:cNvGrpSpPr/>
            <p:nvPr/>
          </p:nvGrpSpPr>
          <p:grpSpPr>
            <a:xfrm rot="5400000">
              <a:off x="-1965342" y="3869885"/>
              <a:ext cx="6481697" cy="180204"/>
              <a:chOff x="459148" y="5274297"/>
              <a:chExt cx="1080000" cy="107815"/>
            </a:xfrm>
          </p:grpSpPr>
          <p:pic>
            <p:nvPicPr>
              <p:cNvPr id="69" name="Picture 125" descr="악세사리"/>
              <p:cNvPicPr>
                <a:picLocks noChangeAspect="1" noChangeArrowheads="1"/>
              </p:cNvPicPr>
              <p:nvPr/>
            </p:nvPicPr>
            <p:blipFill>
              <a:blip r:embed="rId8" cstate="print">
                <a:lum bright="-6000" contrast="1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>
                <a:off x="459148" y="5274297"/>
                <a:ext cx="1080000" cy="107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0" name="Picture 125" descr="악세사리"/>
              <p:cNvPicPr>
                <a:picLocks noChangeAspect="1" noChangeArrowheads="1"/>
              </p:cNvPicPr>
              <p:nvPr/>
            </p:nvPicPr>
            <p:blipFill>
              <a:blip r:embed="rId8" cstate="print">
                <a:lum bright="-6000" contrast="1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>
                <a:off x="459148" y="5274297"/>
                <a:ext cx="1080000" cy="107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1" name="자유형 70"/>
            <p:cNvSpPr/>
            <p:nvPr/>
          </p:nvSpPr>
          <p:spPr>
            <a:xfrm>
              <a:off x="1415846" y="2471359"/>
              <a:ext cx="9075174" cy="0"/>
            </a:xfrm>
            <a:custGeom>
              <a:avLst/>
              <a:gdLst>
                <a:gd name="connsiteX0" fmla="*/ 0 w 9075174"/>
                <a:gd name="connsiteY0" fmla="*/ 0 h 0"/>
                <a:gd name="connsiteX1" fmla="*/ 9075174 w 907517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5174">
                  <a:moveTo>
                    <a:pt x="0" y="0"/>
                  </a:moveTo>
                  <a:lnTo>
                    <a:pt x="9075174" y="0"/>
                  </a:lnTo>
                </a:path>
              </a:pathLst>
            </a:custGeom>
            <a:noFill/>
            <a:ln w="12700">
              <a:solidFill>
                <a:srgbClr val="C0C0C0"/>
              </a:solidFill>
              <a:prstDash val="dash"/>
              <a:round/>
              <a:headEnd/>
              <a:tailEnd/>
            </a:ln>
            <a:effectLst>
              <a:outerShdw dist="12700" dir="5400000" algn="ctr" rotWithShape="0">
                <a:schemeClr val="bg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3615" tIns="51806" rIns="103615" bIns="51806" rtlCol="0" anchor="ctr"/>
            <a:lstStyle/>
            <a:p>
              <a:pPr algn="ctr" defTabSz="1431125"/>
              <a:endParaRPr lang="ko-KR" altLang="en-US" sz="2835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" name="자유형 71"/>
            <p:cNvSpPr/>
            <p:nvPr/>
          </p:nvSpPr>
          <p:spPr>
            <a:xfrm>
              <a:off x="1415846" y="4988797"/>
              <a:ext cx="9075174" cy="0"/>
            </a:xfrm>
            <a:custGeom>
              <a:avLst/>
              <a:gdLst>
                <a:gd name="connsiteX0" fmla="*/ 0 w 9075174"/>
                <a:gd name="connsiteY0" fmla="*/ 0 h 0"/>
                <a:gd name="connsiteX1" fmla="*/ 9075174 w 907517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5174">
                  <a:moveTo>
                    <a:pt x="0" y="0"/>
                  </a:moveTo>
                  <a:lnTo>
                    <a:pt x="9075174" y="0"/>
                  </a:lnTo>
                </a:path>
              </a:pathLst>
            </a:custGeom>
            <a:noFill/>
            <a:ln w="12700">
              <a:solidFill>
                <a:srgbClr val="C0C0C0"/>
              </a:solidFill>
              <a:prstDash val="dash"/>
              <a:round/>
              <a:headEnd/>
              <a:tailEnd/>
            </a:ln>
            <a:effectLst>
              <a:outerShdw dist="12700" dir="5400000" algn="ctr" rotWithShape="0">
                <a:schemeClr val="bg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3615" tIns="51806" rIns="103615" bIns="51806" rtlCol="0" anchor="ctr"/>
            <a:lstStyle/>
            <a:p>
              <a:pPr algn="ctr" defTabSz="1431125"/>
              <a:endParaRPr lang="ko-KR" altLang="en-US" sz="2835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73" name="Picture 346" descr="3"/>
            <p:cNvPicPr>
              <a:picLocks noChangeAspect="1" noChangeArrowheads="1"/>
            </p:cNvPicPr>
            <p:nvPr/>
          </p:nvPicPr>
          <p:blipFill>
            <a:blip r:embed="rId7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587" y="2268313"/>
              <a:ext cx="273654" cy="154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직사각형 73"/>
            <p:cNvSpPr/>
            <p:nvPr/>
          </p:nvSpPr>
          <p:spPr>
            <a:xfrm>
              <a:off x="488822" y="2912988"/>
              <a:ext cx="9662707" cy="296684"/>
            </a:xfrm>
            <a:prstGeom prst="rect">
              <a:avLst/>
            </a:prstGeom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517401" lvl="1" algn="ctr" defTabSz="1034799">
                <a:defRPr/>
              </a:pPr>
              <a:r>
                <a:rPr lang="ko-KR" altLang="en-US" sz="1928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최신 기술 기반의 시스템 구축</a:t>
              </a:r>
            </a:p>
          </p:txBody>
        </p:sp>
        <p:pic>
          <p:nvPicPr>
            <p:cNvPr id="75" name="그림 74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8888" y="3576347"/>
              <a:ext cx="9272345" cy="1451937"/>
            </a:xfrm>
            <a:prstGeom prst="rect">
              <a:avLst/>
            </a:prstGeom>
          </p:spPr>
        </p:pic>
        <p:sp>
          <p:nvSpPr>
            <p:cNvPr id="76" name="TextBox 75"/>
            <p:cNvSpPr txBox="1"/>
            <p:nvPr/>
          </p:nvSpPr>
          <p:spPr>
            <a:xfrm>
              <a:off x="4179600" y="3907340"/>
              <a:ext cx="1689541" cy="418833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defTabSz="913421" latinLnBrk="0">
                <a:spcBef>
                  <a:spcPts val="0"/>
                </a:spcBef>
                <a:buClr>
                  <a:srgbClr val="0066CC"/>
                </a:buClr>
                <a:buSzPct val="110000"/>
                <a:defRPr sz="1500">
                  <a:ln>
                    <a:noFill/>
                  </a:ln>
                  <a:solidFill>
                    <a:schemeClr val="bg1"/>
                  </a:solidFill>
                  <a:effectLst/>
                  <a:latin typeface="Rix모던고딕 EB" pitchFamily="18" charset="-127"/>
                  <a:ea typeface="Rix모던고딕 EB" pitchFamily="18" charset="-127"/>
                </a:defRPr>
              </a:lvl1pPr>
            </a:lstStyle>
            <a:p>
              <a:r>
                <a:rPr lang="ko-KR" altLang="en-US" sz="1361" dirty="0" err="1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웹기반의</a:t>
              </a:r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endParaRPr lang="en-US" altLang="ko-KR" sz="136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종합시스템 구축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071655" y="3861515"/>
              <a:ext cx="1817614" cy="482953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defTabSz="913421" latinLnBrk="0">
                <a:spcBef>
                  <a:spcPts val="500"/>
                </a:spcBef>
                <a:buClr>
                  <a:srgbClr val="0066CC"/>
                </a:buClr>
                <a:buSzPct val="110000"/>
                <a:defRPr sz="1600">
                  <a:ln>
                    <a:gradFill>
                      <a:gsLst>
                        <a:gs pos="100000">
                          <a:schemeClr val="bg1">
                            <a:alpha val="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Rix모던고딕 EB" pitchFamily="18" charset="-127"/>
                  <a:ea typeface="Rix모던고딕 EB" pitchFamily="18" charset="-127"/>
                </a:defRPr>
              </a:lvl1pPr>
            </a:lstStyle>
            <a:p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현행 수작업 위주의</a:t>
              </a:r>
              <a:endParaRPr lang="en-US" altLang="ko-KR" sz="136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제한사항 극복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275544" y="3796686"/>
              <a:ext cx="1799386" cy="628249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defTabSz="913421" latinLnBrk="0">
                <a:spcBef>
                  <a:spcPts val="0"/>
                </a:spcBef>
                <a:buClr>
                  <a:srgbClr val="0066CC"/>
                </a:buClr>
                <a:buSzPct val="110000"/>
                <a:defRPr sz="1500">
                  <a:ln>
                    <a:noFill/>
                  </a:ln>
                  <a:solidFill>
                    <a:schemeClr val="bg1"/>
                  </a:solidFill>
                  <a:effectLst/>
                  <a:latin typeface="Rix모던고딕 EB" pitchFamily="18" charset="-127"/>
                  <a:ea typeface="Rix모던고딕 EB" pitchFamily="18" charset="-127"/>
                </a:defRPr>
              </a:lvl1pPr>
            </a:lstStyle>
            <a:p>
              <a:r>
                <a:rPr lang="ko-KR" altLang="en-US" sz="1361" dirty="0" err="1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반응형</a:t>
              </a:r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웹 기반</a:t>
              </a:r>
              <a:endParaRPr lang="en-US" altLang="ko-KR" sz="136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교육정보종합 </a:t>
              </a:r>
              <a:endParaRPr lang="en-US" altLang="ko-KR" sz="136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시스템 개발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198245" y="3901173"/>
              <a:ext cx="1799386" cy="418833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defTabSz="913421" latinLnBrk="0">
                <a:spcBef>
                  <a:spcPts val="0"/>
                </a:spcBef>
                <a:buClr>
                  <a:srgbClr val="0066CC"/>
                </a:buClr>
                <a:buSzPct val="110000"/>
                <a:defRPr sz="1500">
                  <a:ln>
                    <a:noFill/>
                  </a:ln>
                  <a:solidFill>
                    <a:schemeClr val="bg1"/>
                  </a:solidFill>
                  <a:effectLst/>
                  <a:latin typeface="Rix모던고딕 EB" pitchFamily="18" charset="-127"/>
                  <a:ea typeface="Rix모던고딕 EB" pitchFamily="18" charset="-127"/>
                </a:defRPr>
              </a:lvl1pPr>
            </a:lstStyle>
            <a:p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학습관리체계</a:t>
              </a:r>
              <a:r>
                <a:rPr lang="en-US" altLang="ko-KR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(LMS)</a:t>
              </a:r>
            </a:p>
            <a:p>
              <a:r>
                <a:rPr lang="ko-KR" altLang="en-US" sz="1361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업무 편의성 보장</a:t>
              </a:r>
            </a:p>
          </p:txBody>
        </p:sp>
      </p:grpSp>
      <p:pic>
        <p:nvPicPr>
          <p:cNvPr id="50" name="Picture 37" descr="57_1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663126" y="6849098"/>
            <a:ext cx="667383" cy="613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" name="직사각형 79"/>
          <p:cNvSpPr/>
          <p:nvPr/>
        </p:nvSpPr>
        <p:spPr bwMode="auto">
          <a:xfrm>
            <a:off x="2718346" y="1204687"/>
            <a:ext cx="5616624" cy="80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spcBef>
                <a:spcPts val="300"/>
              </a:spcBef>
              <a:defRPr/>
            </a:pPr>
            <a:r>
              <a:rPr kumimoji="1" lang="ko-KR" altLang="en-US" sz="16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후보생 획득</a:t>
            </a:r>
            <a:r>
              <a:rPr kumimoji="1" lang="en-US" altLang="ko-KR" sz="16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~</a:t>
            </a:r>
            <a:r>
              <a:rPr kumimoji="1" lang="ko-KR" altLang="en-US" sz="16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임관 업무의 종합관리가 가능한</a:t>
            </a:r>
            <a:endParaRPr kumimoji="1" lang="en-US" altLang="ko-KR" sz="1600" kern="0" dirty="0">
              <a:solidFill>
                <a:prstClr val="black">
                  <a:lumMod val="85000"/>
                  <a:lumOff val="15000"/>
                </a:prstClr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  <a:p>
            <a:pPr algn="ctr" latinLnBrk="0">
              <a:spcBef>
                <a:spcPts val="300"/>
              </a:spcBef>
              <a:defRPr/>
            </a:pPr>
            <a:r>
              <a:rPr lang="ko-KR" altLang="en-US" sz="2800" dirty="0">
                <a:ln w="11430"/>
                <a:solidFill>
                  <a:srgbClr val="10216A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  <a:sym typeface="Monotype Sorts" pitchFamily="2" charset="2"/>
              </a:rPr>
              <a:t>최적의</a:t>
            </a:r>
            <a:r>
              <a:rPr lang="en-US" altLang="ko-KR" sz="2800" dirty="0">
                <a:ln w="11430"/>
                <a:solidFill>
                  <a:srgbClr val="10216A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  <a:sym typeface="Monotype Sorts" pitchFamily="2" charset="2"/>
              </a:rPr>
              <a:t> </a:t>
            </a:r>
            <a:r>
              <a:rPr lang="ko-KR" altLang="en-US" sz="2800" dirty="0">
                <a:ln w="11430"/>
                <a:solidFill>
                  <a:srgbClr val="10216A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  <a:sym typeface="Monotype Sorts" pitchFamily="2" charset="2"/>
              </a:rPr>
              <a:t>교육정보종합시스템 구축</a:t>
            </a:r>
          </a:p>
        </p:txBody>
      </p:sp>
    </p:spTree>
    <p:extLst>
      <p:ext uri="{BB962C8B-B14F-4D97-AF65-F5344CB8AC3E}">
        <p14:creationId xmlns:p14="http://schemas.microsoft.com/office/powerpoint/2010/main" val="1449344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69" descr="110707 copy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4" cstate="print"/>
          <a:srcRect l="58519" b="20480"/>
          <a:stretch/>
        </p:blipFill>
        <p:spPr bwMode="gray">
          <a:xfrm>
            <a:off x="7091318" y="1336064"/>
            <a:ext cx="3045089" cy="1301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5" name="그룹 84"/>
          <p:cNvGrpSpPr/>
          <p:nvPr/>
        </p:nvGrpSpPr>
        <p:grpSpPr>
          <a:xfrm>
            <a:off x="572868" y="248650"/>
            <a:ext cx="5646641" cy="843822"/>
            <a:chOff x="318763" y="248649"/>
            <a:chExt cx="5940555" cy="843823"/>
          </a:xfrm>
        </p:grpSpPr>
        <p:grpSp>
          <p:nvGrpSpPr>
            <p:cNvPr id="86" name="그룹 85"/>
            <p:cNvGrpSpPr/>
            <p:nvPr/>
          </p:nvGrpSpPr>
          <p:grpSpPr>
            <a:xfrm>
              <a:off x="318763" y="248649"/>
              <a:ext cx="1603781" cy="779015"/>
              <a:chOff x="318763" y="248649"/>
              <a:chExt cx="1603781" cy="779014"/>
            </a:xfrm>
          </p:grpSpPr>
          <p:sp>
            <p:nvSpPr>
              <p:cNvPr id="88" name="TextBox 87"/>
              <p:cNvSpPr txBox="1"/>
              <p:nvPr/>
            </p:nvSpPr>
            <p:spPr>
              <a:xfrm>
                <a:off x="318763" y="568948"/>
                <a:ext cx="194347" cy="458715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51968">
                  <a:defRPr/>
                </a:pPr>
                <a:endParaRPr lang="ko-KR" altLang="en-US" sz="2381" b="1" spc="-145" dirty="0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321774" y="248649"/>
                <a:ext cx="1600770" cy="336695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defTabSz="1051968">
                  <a:defRPr/>
                </a:pPr>
                <a:r>
                  <a:rPr lang="en-US" altLang="ko-KR" sz="1588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2. </a:t>
                </a:r>
                <a:r>
                  <a:rPr lang="ko-KR" altLang="en-US" sz="1588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사업의 범위</a:t>
                </a:r>
              </a:p>
            </p:txBody>
          </p:sp>
        </p:grpSp>
        <p:sp>
          <p:nvSpPr>
            <p:cNvPr id="87" name="TextBox 86"/>
            <p:cNvSpPr txBox="1"/>
            <p:nvPr/>
          </p:nvSpPr>
          <p:spPr>
            <a:xfrm>
              <a:off x="318764" y="568950"/>
              <a:ext cx="5940554" cy="523522"/>
            </a:xfrm>
            <a:prstGeom prst="rect">
              <a:avLst/>
            </a:prstGeom>
            <a:noFill/>
          </p:spPr>
          <p:txBody>
            <a:bodyPr wrap="none" lIns="103615" tIns="51806" rIns="103615" bIns="51806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34799">
                <a:defRPr/>
              </a:pPr>
              <a:r>
                <a:rPr lang="ko-KR" altLang="en-US" sz="2722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교육정보종합 시스템 </a:t>
              </a:r>
              <a:r>
                <a:rPr lang="en-US" altLang="ko-KR" sz="2722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SW </a:t>
              </a:r>
              <a:r>
                <a:rPr lang="ko-KR" altLang="en-US" sz="2722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개발 사업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685363" y="1944365"/>
            <a:ext cx="7307394" cy="602466"/>
            <a:chOff x="733323" y="1798350"/>
            <a:chExt cx="7687754" cy="735932"/>
          </a:xfrm>
        </p:grpSpPr>
        <p:sp>
          <p:nvSpPr>
            <p:cNvPr id="28" name="AutoShape 83"/>
            <p:cNvSpPr>
              <a:spLocks noChangeArrowheads="1"/>
            </p:cNvSpPr>
            <p:nvPr/>
          </p:nvSpPr>
          <p:spPr bwMode="auto">
            <a:xfrm rot="16200000">
              <a:off x="4540991" y="-1345804"/>
              <a:ext cx="725853" cy="7034319"/>
            </a:xfrm>
            <a:prstGeom prst="rect">
              <a:avLst/>
            </a:prstGeom>
            <a:gradFill>
              <a:gsLst>
                <a:gs pos="125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40793" rIns="0" bIns="0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defTabSz="1290660" eaLnBrk="0" hangingPunct="0"/>
              <a:endParaRPr lang="ko-KR" altLang="en-US" sz="907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9" name="AutoShape 83"/>
            <p:cNvSpPr>
              <a:spLocks noChangeArrowheads="1"/>
            </p:cNvSpPr>
            <p:nvPr/>
          </p:nvSpPr>
          <p:spPr bwMode="auto">
            <a:xfrm rot="16200000">
              <a:off x="1110880" y="1420793"/>
              <a:ext cx="725853" cy="1480967"/>
            </a:xfrm>
            <a:prstGeom prst="round2SameRect">
              <a:avLst/>
            </a:prstGeom>
            <a:solidFill>
              <a:srgbClr val="A6C7EC"/>
            </a:solidFill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3615" tIns="51806" rIns="103615" bIns="51806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887066"/>
              <a:endParaRPr lang="ko-KR" altLang="en-US" sz="238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220912" y="1826033"/>
              <a:ext cx="5977917" cy="6714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04862" indent="-83234" defTabSz="887764" fontAlgn="ctr">
                <a:spcBef>
                  <a:spcPts val="291"/>
                </a:spcBef>
                <a:spcAft>
                  <a:spcPct val="0"/>
                </a:spcAft>
                <a:buClr>
                  <a:srgbClr val="808080"/>
                </a:buClr>
                <a:buSzPct val="80000"/>
                <a:buFont typeface="Arial" pitchFamily="34" charset="0"/>
                <a:buChar char="•"/>
                <a:defRPr/>
              </a:pPr>
              <a:r>
                <a:rPr lang="ko-KR" altLang="en-US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교육정보종합 시스템 </a:t>
              </a:r>
              <a:r>
                <a:rPr lang="en-US" altLang="ko-KR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SW </a:t>
              </a:r>
              <a:r>
                <a:rPr lang="ko-KR" altLang="en-US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개발</a:t>
              </a:r>
            </a:p>
            <a:p>
              <a:pPr marL="104862" indent="-83234" defTabSz="887764" fontAlgn="ctr">
                <a:spcBef>
                  <a:spcPts val="291"/>
                </a:spcBef>
                <a:spcAft>
                  <a:spcPct val="0"/>
                </a:spcAft>
                <a:buClr>
                  <a:srgbClr val="808080"/>
                </a:buClr>
                <a:buSzPct val="80000"/>
                <a:buFont typeface="Arial" pitchFamily="34" charset="0"/>
                <a:buChar char="•"/>
                <a:defRPr/>
              </a:pPr>
              <a:r>
                <a:rPr lang="ko-KR" altLang="en-US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국방인사정보체계와 후보생 신상정보 연동</a:t>
              </a:r>
            </a:p>
          </p:txBody>
        </p:sp>
        <p:sp>
          <p:nvSpPr>
            <p:cNvPr id="31" name="Text Box 140"/>
            <p:cNvSpPr txBox="1">
              <a:spLocks noChangeArrowheads="1"/>
            </p:cNvSpPr>
            <p:nvPr/>
          </p:nvSpPr>
          <p:spPr bwMode="auto">
            <a:xfrm>
              <a:off x="908214" y="2033372"/>
              <a:ext cx="1141721" cy="298496"/>
            </a:xfrm>
            <a:prstGeom prst="rect">
              <a:avLst/>
            </a:prstGeom>
            <a:extLst/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defTabSz="914400" latinLnBrk="0">
                <a:buClr>
                  <a:prstClr val="white"/>
                </a:buClr>
                <a:buSzPct val="80000"/>
                <a:buFont typeface="Wingdings" pitchFamily="2" charset="2"/>
                <a:buNone/>
                <a:defRPr sz="1800">
                  <a:solidFill>
                    <a:prstClr val="black"/>
                  </a:solidFill>
                  <a:latin typeface="Rix모던고딕 B" pitchFamily="18" charset="-127"/>
                  <a:ea typeface="Rix모던고딕 B" pitchFamily="18" charset="-127"/>
                </a:defRPr>
              </a:lvl1pPr>
              <a:lvl2pPr marL="457200" defTabSz="914400">
                <a:defRPr sz="1800"/>
              </a:lvl2pPr>
              <a:lvl3pPr marL="914400" defTabSz="914400">
                <a:defRPr sz="1800"/>
              </a:lvl3pPr>
              <a:lvl4pPr marL="1371600" defTabSz="914400">
                <a:defRPr sz="1800"/>
              </a:lvl4pPr>
              <a:lvl5pPr marL="1828800" defTabSz="914400">
                <a:defRPr sz="1800"/>
              </a:lvl5pPr>
              <a:lvl6pPr marL="2286000" defTabSz="914400">
                <a:defRPr sz="1800"/>
              </a:lvl6pPr>
              <a:lvl7pPr marL="2743200" defTabSz="914400">
                <a:defRPr sz="1800"/>
              </a:lvl7pPr>
              <a:lvl8pPr marL="3200400" defTabSz="914400">
                <a:defRPr sz="1800"/>
              </a:lvl8pPr>
              <a:lvl9pPr marL="3657600" defTabSz="914400">
                <a:defRPr sz="1800"/>
              </a:lvl9pPr>
            </a:lstStyle>
            <a:p>
              <a:r>
                <a:rPr lang="ko-KR" altLang="en-US" sz="1588" dirty="0">
                  <a:latin typeface="굴림" panose="020B0600000101010101" pitchFamily="50" charset="-127"/>
                  <a:ea typeface="굴림" panose="020B0600000101010101" pitchFamily="50" charset="-127"/>
                </a:rPr>
                <a:t>서비스 범위</a:t>
              </a:r>
              <a:endParaRPr lang="en-US" altLang="ko-KR" sz="1588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685363" y="1325836"/>
            <a:ext cx="7307394" cy="602466"/>
            <a:chOff x="733323" y="1798350"/>
            <a:chExt cx="7687754" cy="735932"/>
          </a:xfrm>
        </p:grpSpPr>
        <p:sp>
          <p:nvSpPr>
            <p:cNvPr id="33" name="AutoShape 83"/>
            <p:cNvSpPr>
              <a:spLocks noChangeArrowheads="1"/>
            </p:cNvSpPr>
            <p:nvPr/>
          </p:nvSpPr>
          <p:spPr bwMode="auto">
            <a:xfrm rot="16200000">
              <a:off x="4540991" y="-1345804"/>
              <a:ext cx="725853" cy="7034319"/>
            </a:xfrm>
            <a:prstGeom prst="rect">
              <a:avLst/>
            </a:prstGeom>
            <a:gradFill>
              <a:gsLst>
                <a:gs pos="125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40793" rIns="0" bIns="0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defTabSz="1290660" eaLnBrk="0" hangingPunct="0"/>
              <a:endParaRPr lang="ko-KR" altLang="en-US" sz="907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4" name="AutoShape 83"/>
            <p:cNvSpPr>
              <a:spLocks noChangeArrowheads="1"/>
            </p:cNvSpPr>
            <p:nvPr/>
          </p:nvSpPr>
          <p:spPr bwMode="auto">
            <a:xfrm rot="16200000">
              <a:off x="1110880" y="1420793"/>
              <a:ext cx="725853" cy="1480967"/>
            </a:xfrm>
            <a:prstGeom prst="round2SameRect">
              <a:avLst/>
            </a:prstGeom>
            <a:solidFill>
              <a:srgbClr val="A6C7EC"/>
            </a:solidFill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3615" tIns="51806" rIns="103615" bIns="51806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887066"/>
              <a:endParaRPr lang="ko-KR" altLang="en-US" sz="238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220912" y="1977435"/>
              <a:ext cx="5977917" cy="36859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104862" indent="-83234" defTabSz="887764" fontAlgn="ctr">
                <a:spcBef>
                  <a:spcPts val="291"/>
                </a:spcBef>
                <a:spcAft>
                  <a:spcPct val="0"/>
                </a:spcAft>
                <a:buClr>
                  <a:srgbClr val="808080"/>
                </a:buClr>
                <a:buSzPct val="80000"/>
                <a:buFont typeface="Arial" pitchFamily="34" charset="0"/>
                <a:buChar char="•"/>
                <a:defRPr/>
              </a:pPr>
              <a:r>
                <a:rPr lang="ko-KR" altLang="en-US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계약 후</a:t>
              </a:r>
              <a:r>
                <a:rPr lang="en-US" altLang="ko-KR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(’18.11.19) ~ ’19. 12</a:t>
              </a:r>
              <a:r>
                <a:rPr lang="ko-KR" altLang="en-US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월</a:t>
              </a:r>
              <a:r>
                <a:rPr lang="en-US" altLang="ko-KR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약 </a:t>
              </a:r>
              <a:r>
                <a:rPr lang="en-US" altLang="ko-KR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14</a:t>
              </a:r>
              <a:r>
                <a:rPr lang="ko-KR" altLang="en-US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개월</a:t>
              </a:r>
              <a:r>
                <a:rPr lang="en-US" altLang="ko-KR" sz="1361" spc="-49" dirty="0"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endParaRPr lang="ko-KR" altLang="en-US" sz="1361" spc="-49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6" name="Text Box 140"/>
            <p:cNvSpPr txBox="1">
              <a:spLocks noChangeArrowheads="1"/>
            </p:cNvSpPr>
            <p:nvPr/>
          </p:nvSpPr>
          <p:spPr bwMode="auto">
            <a:xfrm>
              <a:off x="908214" y="2033372"/>
              <a:ext cx="1141721" cy="298496"/>
            </a:xfrm>
            <a:prstGeom prst="rect">
              <a:avLst/>
            </a:prstGeom>
            <a:extLst/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defTabSz="914400" latinLnBrk="0">
                <a:buClr>
                  <a:prstClr val="white"/>
                </a:buClr>
                <a:buSzPct val="80000"/>
                <a:buFont typeface="Wingdings" pitchFamily="2" charset="2"/>
                <a:buNone/>
                <a:defRPr sz="1800">
                  <a:solidFill>
                    <a:prstClr val="black"/>
                  </a:solidFill>
                  <a:latin typeface="Rix모던고딕 B" pitchFamily="18" charset="-127"/>
                  <a:ea typeface="Rix모던고딕 B" pitchFamily="18" charset="-127"/>
                </a:defRPr>
              </a:lvl1pPr>
              <a:lvl2pPr marL="457200" defTabSz="914400">
                <a:defRPr sz="1800"/>
              </a:lvl2pPr>
              <a:lvl3pPr marL="914400" defTabSz="914400">
                <a:defRPr sz="1800"/>
              </a:lvl3pPr>
              <a:lvl4pPr marL="1371600" defTabSz="914400">
                <a:defRPr sz="1800"/>
              </a:lvl4pPr>
              <a:lvl5pPr marL="1828800" defTabSz="914400">
                <a:defRPr sz="1800"/>
              </a:lvl5pPr>
              <a:lvl6pPr marL="2286000" defTabSz="914400">
                <a:defRPr sz="1800"/>
              </a:lvl6pPr>
              <a:lvl7pPr marL="2743200" defTabSz="914400">
                <a:defRPr sz="1800"/>
              </a:lvl7pPr>
              <a:lvl8pPr marL="3200400" defTabSz="914400">
                <a:defRPr sz="1800"/>
              </a:lvl8pPr>
              <a:lvl9pPr marL="3657600" defTabSz="914400">
                <a:defRPr sz="1800"/>
              </a:lvl9pPr>
            </a:lstStyle>
            <a:p>
              <a:r>
                <a:rPr lang="ko-KR" altLang="en-US" sz="1588" dirty="0">
                  <a:latin typeface="굴림" panose="020B0600000101010101" pitchFamily="50" charset="-127"/>
                  <a:ea typeface="굴림" panose="020B0600000101010101" pitchFamily="50" charset="-127"/>
                </a:rPr>
                <a:t>시간적 범위</a:t>
              </a:r>
              <a:endParaRPr lang="en-US" altLang="ko-KR" sz="1588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685363" y="3096493"/>
            <a:ext cx="9737839" cy="4116826"/>
            <a:chOff x="198015" y="1507194"/>
            <a:chExt cx="8753897" cy="3293678"/>
          </a:xfrm>
        </p:grpSpPr>
        <p:pic>
          <p:nvPicPr>
            <p:cNvPr id="40" name="Picture 5" descr="그림100 copy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-439979" y="2878506"/>
              <a:ext cx="3293676" cy="55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5" descr="그림100 copy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6302014" y="2878505"/>
              <a:ext cx="3293677" cy="55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2" name="그룹 41"/>
            <p:cNvGrpSpPr/>
            <p:nvPr/>
          </p:nvGrpSpPr>
          <p:grpSpPr>
            <a:xfrm>
              <a:off x="1320846" y="1553309"/>
              <a:ext cx="6491327" cy="3247562"/>
              <a:chOff x="3960589" y="2286298"/>
              <a:chExt cx="9578876" cy="6208496"/>
            </a:xfrm>
          </p:grpSpPr>
          <p:sp>
            <p:nvSpPr>
              <p:cNvPr id="278" name="AutoShape 3"/>
              <p:cNvSpPr>
                <a:spLocks noChangeArrowheads="1"/>
              </p:cNvSpPr>
              <p:nvPr/>
            </p:nvSpPr>
            <p:spPr bwMode="auto">
              <a:xfrm>
                <a:off x="3960589" y="2286298"/>
                <a:ext cx="9578876" cy="6208496"/>
              </a:xfrm>
              <a:prstGeom prst="roundRect">
                <a:avLst>
                  <a:gd name="adj" fmla="val 143"/>
                </a:avLst>
              </a:prstGeom>
              <a:solidFill>
                <a:srgbClr val="FFFFFF"/>
              </a:solidFill>
              <a:ln w="12700" algn="ctr">
                <a:solidFill>
                  <a:srgbClr val="6A9FC6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lIns="90000" tIns="46800" rIns="10800" bIns="46800"/>
              <a:lstStyle>
                <a:lvl1pPr marL="71438" indent="-714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71438" marR="0" lvl="0" indent="-71438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66666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ko-KR" altLang="ko-KR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279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3963765" y="2286298"/>
                <a:ext cx="9566372" cy="252412"/>
              </a:xfrm>
              <a:prstGeom prst="roundRect">
                <a:avLst>
                  <a:gd name="adj" fmla="val 10000"/>
                </a:avLst>
              </a:prstGeom>
              <a:blipFill dpi="0" rotWithShape="1">
                <a:blip r:embed="rId6"/>
                <a:srcRect/>
                <a:stretch>
                  <a:fillRect/>
                </a:stretch>
              </a:blipFill>
              <a:ln w="6350" algn="ctr">
                <a:solidFill>
                  <a:srgbClr val="2E6BA1"/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F4D7C"/>
                </a:outerShdw>
              </a:effectLst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ctr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학군교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 교육정보종합시스템</a:t>
                </a:r>
              </a:p>
            </p:txBody>
          </p:sp>
        </p:grpSp>
        <p:sp>
          <p:nvSpPr>
            <p:cNvPr id="43" name="LcShp 28" descr="어두운 상향 대각선"/>
            <p:cNvSpPr>
              <a:spLocks noChangeArrowheads="1"/>
            </p:cNvSpPr>
            <p:nvPr/>
          </p:nvSpPr>
          <p:spPr bwMode="auto">
            <a:xfrm>
              <a:off x="1398743" y="4267706"/>
              <a:ext cx="6329263" cy="465453"/>
            </a:xfrm>
            <a:prstGeom prst="roundRect">
              <a:avLst>
                <a:gd name="adj" fmla="val 5000"/>
              </a:avLst>
            </a:prstGeom>
            <a:pattFill prst="dkUpDiag">
              <a:fgClr>
                <a:srgbClr val="EAEAEA"/>
              </a:fgClr>
              <a:bgClr>
                <a:srgbClr val="FFFFFF"/>
              </a:bgClr>
            </a:pattFill>
            <a:ln w="10160" algn="ctr">
              <a:solidFill>
                <a:srgbClr val="B2B2B2"/>
              </a:solidFill>
              <a:round/>
              <a:headEnd/>
              <a:tailEnd/>
            </a:ln>
            <a:effectLst>
              <a:outerShdw dist="3592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>
              <a:lvl1pPr marL="71438" indent="-714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71438" marR="0" lvl="0" indent="-714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ko-KR" altLang="ko-KR" sz="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44" name="그룹 43"/>
            <p:cNvGrpSpPr/>
            <p:nvPr/>
          </p:nvGrpSpPr>
          <p:grpSpPr>
            <a:xfrm>
              <a:off x="266356" y="1553309"/>
              <a:ext cx="807612" cy="917284"/>
              <a:chOff x="544513" y="2937276"/>
              <a:chExt cx="1250835" cy="1235498"/>
            </a:xfrm>
          </p:grpSpPr>
          <p:grpSp>
            <p:nvGrpSpPr>
              <p:cNvPr id="267" name="그룹 266"/>
              <p:cNvGrpSpPr/>
              <p:nvPr/>
            </p:nvGrpSpPr>
            <p:grpSpPr>
              <a:xfrm>
                <a:off x="544513" y="2937276"/>
                <a:ext cx="1250835" cy="1235498"/>
                <a:chOff x="13175058" y="3854666"/>
                <a:chExt cx="1295400" cy="1279517"/>
              </a:xfrm>
            </p:grpSpPr>
            <p:grpSp>
              <p:nvGrpSpPr>
                <p:cNvPr id="269" name="그룹 268"/>
                <p:cNvGrpSpPr/>
                <p:nvPr/>
              </p:nvGrpSpPr>
              <p:grpSpPr>
                <a:xfrm>
                  <a:off x="13175058" y="3854666"/>
                  <a:ext cx="1295400" cy="1279517"/>
                  <a:chOff x="3600549" y="4374530"/>
                  <a:chExt cx="1368152" cy="1279517"/>
                </a:xfrm>
              </p:grpSpPr>
              <p:sp>
                <p:nvSpPr>
                  <p:cNvPr id="276" name="모서리가 둥근 직사각형 275"/>
                  <p:cNvSpPr/>
                  <p:nvPr/>
                </p:nvSpPr>
                <p:spPr>
                  <a:xfrm>
                    <a:off x="3600549" y="4374530"/>
                    <a:ext cx="1368152" cy="1279517"/>
                  </a:xfrm>
                  <a:prstGeom prst="roundRect">
                    <a:avLst>
                      <a:gd name="adj" fmla="val 1381"/>
                    </a:avLst>
                  </a:prstGeom>
                  <a:solidFill>
                    <a:srgbClr val="FFFFFF"/>
                  </a:solidFill>
                  <a:ln w="12700" algn="ctr">
                    <a:solidFill>
                      <a:srgbClr val="6A9FC6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DDDDDD"/>
                    </a:outerShdw>
                  </a:effectLst>
                </p:spPr>
                <p:txBody>
                  <a:bodyPr lIns="90000" tIns="46800" rIns="10800" bIns="46800"/>
                  <a:lstStyle/>
                  <a:p>
                    <a:pPr marL="71438" marR="0" lvl="0" indent="-71438" defTabSz="914400" eaLnBrk="0" fontAlgn="auto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666666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7" name="모서리가 둥근 직사각형 276"/>
                  <p:cNvSpPr/>
                  <p:nvPr/>
                </p:nvSpPr>
                <p:spPr>
                  <a:xfrm>
                    <a:off x="3600549" y="4377952"/>
                    <a:ext cx="1368152" cy="186417"/>
                  </a:xfrm>
                  <a:prstGeom prst="roundRect">
                    <a:avLst>
                      <a:gd name="adj" fmla="val 6085"/>
                    </a:avLst>
                  </a:prstGeom>
                  <a:blipFill dpi="0" rotWithShape="1">
                    <a:blip r:embed="rId7"/>
                    <a:srcRect/>
                    <a:stretch>
                      <a:fillRect/>
                    </a:stretch>
                  </a:blipFill>
                  <a:ln w="6350" algn="ctr">
                    <a:solidFill>
                      <a:srgbClr val="80B8DA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eaLnBrk="0" fontAlgn="auto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Arial" panose="020B0604020202020204" pitchFamily="34" charset="0"/>
                      </a:rPr>
                      <a:t>교관</a:t>
                    </a:r>
                    <a:r>
                      <a:rPr kumimoji="0" lang="en-US" altLang="ko-KR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Arial" panose="020B0604020202020204" pitchFamily="34" charset="0"/>
                      </a:rPr>
                      <a:t>/</a:t>
                    </a:r>
                    <a:r>
                      <a:rPr kumimoji="0" lang="ko-KR" altLang="en-US" sz="600" b="0" i="0" u="none" strike="noStrike" kern="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Arial" panose="020B0604020202020204" pitchFamily="34" charset="0"/>
                      </a:rPr>
                      <a:t>운용자</a:t>
                    </a:r>
                    <a:endParaRPr kumimoji="0" lang="ko-KR" altLang="en-US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endParaRPr>
                  </a:p>
                </p:txBody>
              </p:sp>
            </p:grpSp>
            <p:pic>
              <p:nvPicPr>
                <p:cNvPr id="270" name="Picture 479" descr="악세사리"/>
                <p:cNvPicPr preferRelativeResize="0">
                  <a:picLocks noChangeArrowheads="1"/>
                </p:cNvPicPr>
                <p:nvPr/>
              </p:nvPicPr>
              <p:blipFill>
                <a:blip r:embed="rId8" cstate="print">
                  <a:lum bright="24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3817" b="19212"/>
                <a:stretch>
                  <a:fillRect/>
                </a:stretch>
              </p:blipFill>
              <p:spPr bwMode="gray">
                <a:xfrm rot="5400000">
                  <a:off x="13738300" y="4258047"/>
                  <a:ext cx="168916" cy="1184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71" name="그룹 270"/>
                <p:cNvGrpSpPr/>
                <p:nvPr/>
              </p:nvGrpSpPr>
              <p:grpSpPr>
                <a:xfrm>
                  <a:off x="13443649" y="4339062"/>
                  <a:ext cx="758218" cy="482640"/>
                  <a:chOff x="13443649" y="4339062"/>
                  <a:chExt cx="758218" cy="482640"/>
                </a:xfrm>
              </p:grpSpPr>
              <p:grpSp>
                <p:nvGrpSpPr>
                  <p:cNvPr id="272" name="Group 97"/>
                  <p:cNvGrpSpPr>
                    <a:grpSpLocks/>
                  </p:cNvGrpSpPr>
                  <p:nvPr/>
                </p:nvGrpSpPr>
                <p:grpSpPr bwMode="auto">
                  <a:xfrm>
                    <a:off x="13443649" y="4449199"/>
                    <a:ext cx="758218" cy="372503"/>
                    <a:chOff x="-879" y="4798"/>
                    <a:chExt cx="616" cy="312"/>
                  </a:xfrm>
                </p:grpSpPr>
                <p:sp>
                  <p:nvSpPr>
                    <p:cNvPr id="274" name="AutoShape 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860" y="4863"/>
                      <a:ext cx="579" cy="247"/>
                    </a:xfrm>
                    <a:prstGeom prst="roundRect">
                      <a:avLst>
                        <a:gd name="adj" fmla="val 20653"/>
                      </a:avLst>
                    </a:prstGeom>
                    <a:gradFill rotWithShape="1">
                      <a:gsLst>
                        <a:gs pos="0">
                          <a:srgbClr val="C0C0C0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mpd="dbl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101919" tIns="50960" rIns="101919" bIns="50960" anchor="ctr"/>
                    <a:lstStyle>
                      <a:lvl1pPr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019175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pic>
                  <p:nvPicPr>
                    <p:cNvPr id="275" name="Picture 99" descr="1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9" cstate="print">
                      <a:grayscl/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-879" y="4798"/>
                      <a:ext cx="616" cy="2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pic>
                <p:nvPicPr>
                  <p:cNvPr id="273" name="Picture 348" descr="017 [Converted]-04-01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3698289" y="4339062"/>
                    <a:ext cx="348573" cy="2789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pic>
            <p:nvPicPr>
              <p:cNvPr id="268" name="그림 209" descr="군인아이콘 무계급.png"/>
              <p:cNvPicPr>
                <a:picLocks noChangeAspect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830288" y="3296022"/>
                <a:ext cx="321079" cy="3635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45" name="그룹 44"/>
            <p:cNvGrpSpPr/>
            <p:nvPr/>
          </p:nvGrpSpPr>
          <p:grpSpPr>
            <a:xfrm>
              <a:off x="1672438" y="4309315"/>
              <a:ext cx="639798" cy="373886"/>
              <a:chOff x="3183492" y="6608856"/>
              <a:chExt cx="887156" cy="503590"/>
            </a:xfrm>
          </p:grpSpPr>
          <p:pic>
            <p:nvPicPr>
              <p:cNvPr id="265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66" name="TextBox 265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체계운영 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46" name="그룹 45"/>
            <p:cNvGrpSpPr/>
            <p:nvPr/>
          </p:nvGrpSpPr>
          <p:grpSpPr>
            <a:xfrm>
              <a:off x="2315633" y="4309315"/>
              <a:ext cx="639798" cy="373886"/>
              <a:chOff x="3183492" y="6608856"/>
              <a:chExt cx="887156" cy="503590"/>
            </a:xfrm>
          </p:grpSpPr>
          <p:pic>
            <p:nvPicPr>
              <p:cNvPr id="263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64" name="TextBox 263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운용환경 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47" name="그룹 46"/>
            <p:cNvGrpSpPr/>
            <p:nvPr/>
          </p:nvGrpSpPr>
          <p:grpSpPr>
            <a:xfrm>
              <a:off x="2958828" y="4309315"/>
              <a:ext cx="639798" cy="373886"/>
              <a:chOff x="3183492" y="6608856"/>
              <a:chExt cx="887156" cy="503590"/>
            </a:xfrm>
          </p:grpSpPr>
          <p:pic>
            <p:nvPicPr>
              <p:cNvPr id="261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62" name="TextBox 261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시스템정보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</a:t>
                </a:r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48" name="그룹 47"/>
            <p:cNvGrpSpPr/>
            <p:nvPr/>
          </p:nvGrpSpPr>
          <p:grpSpPr>
            <a:xfrm>
              <a:off x="3602023" y="4309315"/>
              <a:ext cx="639798" cy="373886"/>
              <a:chOff x="3183492" y="6608856"/>
              <a:chExt cx="887156" cy="503590"/>
            </a:xfrm>
          </p:grpSpPr>
          <p:pic>
            <p:nvPicPr>
              <p:cNvPr id="259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60" name="TextBox 259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사용자정보 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49" name="그룹 48"/>
            <p:cNvGrpSpPr/>
            <p:nvPr/>
          </p:nvGrpSpPr>
          <p:grpSpPr>
            <a:xfrm>
              <a:off x="4245219" y="4309315"/>
              <a:ext cx="639798" cy="373886"/>
              <a:chOff x="3183492" y="6608856"/>
              <a:chExt cx="887156" cy="503590"/>
            </a:xfrm>
          </p:grpSpPr>
          <p:pic>
            <p:nvPicPr>
              <p:cNvPr id="257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58" name="TextBox 257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훈련정보 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51" name="그룹 50"/>
            <p:cNvGrpSpPr/>
            <p:nvPr/>
          </p:nvGrpSpPr>
          <p:grpSpPr>
            <a:xfrm>
              <a:off x="4888414" y="4309315"/>
              <a:ext cx="639798" cy="373886"/>
              <a:chOff x="3183492" y="6608856"/>
              <a:chExt cx="887156" cy="503590"/>
            </a:xfrm>
          </p:grpSpPr>
          <p:pic>
            <p:nvPicPr>
              <p:cNvPr id="255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56" name="TextBox 255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교육정보 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52" name="그룹 51"/>
            <p:cNvGrpSpPr/>
            <p:nvPr/>
          </p:nvGrpSpPr>
          <p:grpSpPr>
            <a:xfrm>
              <a:off x="5531609" y="4309315"/>
              <a:ext cx="639798" cy="373886"/>
              <a:chOff x="3183492" y="6608856"/>
              <a:chExt cx="887156" cy="503590"/>
            </a:xfrm>
          </p:grpSpPr>
          <p:pic>
            <p:nvPicPr>
              <p:cNvPr id="253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54" name="TextBox 253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평가정보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53" name="그룹 52"/>
            <p:cNvGrpSpPr/>
            <p:nvPr/>
          </p:nvGrpSpPr>
          <p:grpSpPr>
            <a:xfrm>
              <a:off x="6174804" y="4309315"/>
              <a:ext cx="639798" cy="373886"/>
              <a:chOff x="3183492" y="6608856"/>
              <a:chExt cx="887156" cy="503590"/>
            </a:xfrm>
          </p:grpSpPr>
          <p:pic>
            <p:nvPicPr>
              <p:cNvPr id="251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52" name="TextBox 251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물자정보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6817999" y="4309315"/>
              <a:ext cx="639798" cy="373886"/>
              <a:chOff x="3183492" y="6608856"/>
              <a:chExt cx="887156" cy="503590"/>
            </a:xfrm>
          </p:grpSpPr>
          <p:pic>
            <p:nvPicPr>
              <p:cNvPr id="249" name="그림 3" descr="Untitled-1.png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183492" y="6608856"/>
                <a:ext cx="887156" cy="5035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50" name="TextBox 249"/>
              <p:cNvSpPr txBox="1"/>
              <p:nvPr/>
            </p:nvSpPr>
            <p:spPr>
              <a:xfrm>
                <a:off x="3331355" y="6792114"/>
                <a:ext cx="576323" cy="1658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기타 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Database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57" name="LcShp 28" descr="어두운 상향 대각선"/>
            <p:cNvSpPr>
              <a:spLocks noChangeArrowheads="1"/>
            </p:cNvSpPr>
            <p:nvPr/>
          </p:nvSpPr>
          <p:spPr bwMode="auto">
            <a:xfrm>
              <a:off x="1398743" y="4263280"/>
              <a:ext cx="207723" cy="465779"/>
            </a:xfrm>
            <a:prstGeom prst="roundRect">
              <a:avLst>
                <a:gd name="adj" fmla="val 10000"/>
              </a:avLst>
            </a:prstGeom>
            <a:blipFill dpi="0" rotWithShape="1">
              <a:blip r:embed="rId13"/>
              <a:srcRect/>
              <a:stretch>
                <a:fillRect/>
              </a:stretch>
            </a:blipFill>
            <a:ln w="6350" algn="ctr">
              <a:solidFill>
                <a:srgbClr val="518EBB"/>
              </a:solidFill>
              <a:round/>
              <a:headEnd/>
              <a:tailEnd/>
            </a:ln>
            <a:effectLst>
              <a:outerShdw dist="12700" dir="5400000" algn="ctr" rotWithShape="0">
                <a:srgbClr val="2E6BA1"/>
              </a:outerShdw>
            </a:effectLst>
          </p:spPr>
          <p:txBody>
            <a:bodyPr lIns="36000" tIns="36000" rIns="36000" bIns="36000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FFFFFF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DB</a:t>
              </a:r>
              <a:endParaRPr kumimoji="0" lang="ko-KR" altLang="en-US" sz="800" kern="0" dirty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8" name="LcShp 28" descr="어두운 상향 대각선"/>
            <p:cNvSpPr>
              <a:spLocks noChangeArrowheads="1"/>
            </p:cNvSpPr>
            <p:nvPr/>
          </p:nvSpPr>
          <p:spPr bwMode="auto">
            <a:xfrm>
              <a:off x="7526554" y="4263280"/>
              <a:ext cx="207723" cy="465779"/>
            </a:xfrm>
            <a:prstGeom prst="roundRect">
              <a:avLst>
                <a:gd name="adj" fmla="val 10000"/>
              </a:avLst>
            </a:prstGeom>
            <a:blipFill dpi="0" rotWithShape="1">
              <a:blip r:embed="rId13"/>
              <a:srcRect/>
              <a:stretch>
                <a:fillRect/>
              </a:stretch>
            </a:blipFill>
            <a:ln w="6350" algn="ctr">
              <a:solidFill>
                <a:srgbClr val="518EBB"/>
              </a:solidFill>
              <a:round/>
              <a:headEnd/>
              <a:tailEnd/>
            </a:ln>
            <a:effectLst>
              <a:outerShdw dist="12700" dir="5400000" algn="ctr" rotWithShape="0">
                <a:srgbClr val="2E6BA1"/>
              </a:outerShdw>
            </a:effectLst>
          </p:spPr>
          <p:txBody>
            <a:bodyPr lIns="36000" tIns="36000" rIns="36000" bIns="36000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FFFFFF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DB</a:t>
              </a:r>
              <a:endParaRPr kumimoji="0" lang="ko-KR" altLang="en-US" sz="800" kern="0" dirty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8082532" y="1553309"/>
              <a:ext cx="807612" cy="917284"/>
              <a:chOff x="12650256" y="2937276"/>
              <a:chExt cx="1250835" cy="1235498"/>
            </a:xfrm>
          </p:grpSpPr>
          <p:grpSp>
            <p:nvGrpSpPr>
              <p:cNvPr id="238" name="그룹 237"/>
              <p:cNvGrpSpPr/>
              <p:nvPr/>
            </p:nvGrpSpPr>
            <p:grpSpPr>
              <a:xfrm>
                <a:off x="12650256" y="2937276"/>
                <a:ext cx="1250835" cy="1235498"/>
                <a:chOff x="13175058" y="3854666"/>
                <a:chExt cx="1295400" cy="1279517"/>
              </a:xfrm>
            </p:grpSpPr>
            <p:grpSp>
              <p:nvGrpSpPr>
                <p:cNvPr id="240" name="그룹 239"/>
                <p:cNvGrpSpPr/>
                <p:nvPr/>
              </p:nvGrpSpPr>
              <p:grpSpPr>
                <a:xfrm>
                  <a:off x="13175058" y="3854666"/>
                  <a:ext cx="1295400" cy="1279517"/>
                  <a:chOff x="3600549" y="4374530"/>
                  <a:chExt cx="1368152" cy="1279517"/>
                </a:xfrm>
              </p:grpSpPr>
              <p:sp>
                <p:nvSpPr>
                  <p:cNvPr id="247" name="모서리가 둥근 직사각형 246"/>
                  <p:cNvSpPr/>
                  <p:nvPr/>
                </p:nvSpPr>
                <p:spPr>
                  <a:xfrm>
                    <a:off x="3600549" y="4374530"/>
                    <a:ext cx="1368152" cy="1279517"/>
                  </a:xfrm>
                  <a:prstGeom prst="roundRect">
                    <a:avLst>
                      <a:gd name="adj" fmla="val 1381"/>
                    </a:avLst>
                  </a:prstGeom>
                  <a:solidFill>
                    <a:srgbClr val="FFFFFF"/>
                  </a:solidFill>
                  <a:ln w="12700" algn="ctr">
                    <a:solidFill>
                      <a:srgbClr val="6A9FC6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DDDDDD"/>
                    </a:outerShdw>
                  </a:effectLst>
                </p:spPr>
                <p:txBody>
                  <a:bodyPr lIns="90000" tIns="46800" rIns="10800" bIns="46800"/>
                  <a:lstStyle/>
                  <a:p>
                    <a:pPr marL="71438" marR="0" lvl="0" indent="-71438" defTabSz="914400" eaLnBrk="0" fontAlgn="auto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666666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48" name="모서리가 둥근 직사각형 247"/>
                  <p:cNvSpPr/>
                  <p:nvPr/>
                </p:nvSpPr>
                <p:spPr>
                  <a:xfrm>
                    <a:off x="3600549" y="4377952"/>
                    <a:ext cx="1368152" cy="186417"/>
                  </a:xfrm>
                  <a:prstGeom prst="roundRect">
                    <a:avLst>
                      <a:gd name="adj" fmla="val 6085"/>
                    </a:avLst>
                  </a:prstGeom>
                  <a:blipFill dpi="0" rotWithShape="1">
                    <a:blip r:embed="rId7"/>
                    <a:srcRect/>
                    <a:stretch>
                      <a:fillRect/>
                    </a:stretch>
                  </a:blipFill>
                  <a:ln w="6350" algn="ctr">
                    <a:solidFill>
                      <a:srgbClr val="80B8DA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eaLnBrk="0" fontAlgn="auto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Arial" panose="020B0604020202020204" pitchFamily="34" charset="0"/>
                      </a:rPr>
                      <a:t>후보생</a:t>
                    </a:r>
                    <a:r>
                      <a:rPr kumimoji="0" lang="en-US" altLang="ko-KR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Arial" panose="020B0604020202020204" pitchFamily="34" charset="0"/>
                      </a:rPr>
                      <a:t>/</a:t>
                    </a:r>
                    <a:r>
                      <a:rPr kumimoji="0" lang="ko-KR" altLang="en-US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Arial" panose="020B0604020202020204" pitchFamily="34" charset="0"/>
                      </a:rPr>
                      <a:t>사용자</a:t>
                    </a:r>
                  </a:p>
                </p:txBody>
              </p:sp>
            </p:grpSp>
            <p:pic>
              <p:nvPicPr>
                <p:cNvPr id="241" name="Picture 479" descr="악세사리"/>
                <p:cNvPicPr preferRelativeResize="0">
                  <a:picLocks noChangeArrowheads="1"/>
                </p:cNvPicPr>
                <p:nvPr/>
              </p:nvPicPr>
              <p:blipFill>
                <a:blip r:embed="rId8" cstate="print">
                  <a:lum bright="24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3817" b="19212"/>
                <a:stretch>
                  <a:fillRect/>
                </a:stretch>
              </p:blipFill>
              <p:spPr bwMode="gray">
                <a:xfrm rot="5400000">
                  <a:off x="13738300" y="4258047"/>
                  <a:ext cx="168916" cy="1184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42" name="그룹 241"/>
                <p:cNvGrpSpPr/>
                <p:nvPr/>
              </p:nvGrpSpPr>
              <p:grpSpPr>
                <a:xfrm>
                  <a:off x="13443649" y="4339062"/>
                  <a:ext cx="758218" cy="482640"/>
                  <a:chOff x="13443649" y="4339062"/>
                  <a:chExt cx="758218" cy="482640"/>
                </a:xfrm>
              </p:grpSpPr>
              <p:grpSp>
                <p:nvGrpSpPr>
                  <p:cNvPr id="243" name="Group 97"/>
                  <p:cNvGrpSpPr>
                    <a:grpSpLocks/>
                  </p:cNvGrpSpPr>
                  <p:nvPr/>
                </p:nvGrpSpPr>
                <p:grpSpPr bwMode="auto">
                  <a:xfrm>
                    <a:off x="13443649" y="4449199"/>
                    <a:ext cx="758218" cy="372503"/>
                    <a:chOff x="-879" y="4798"/>
                    <a:chExt cx="616" cy="312"/>
                  </a:xfrm>
                </p:grpSpPr>
                <p:sp>
                  <p:nvSpPr>
                    <p:cNvPr id="245" name="AutoShape 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860" y="4863"/>
                      <a:ext cx="579" cy="247"/>
                    </a:xfrm>
                    <a:prstGeom prst="roundRect">
                      <a:avLst>
                        <a:gd name="adj" fmla="val 20653"/>
                      </a:avLst>
                    </a:prstGeom>
                    <a:gradFill rotWithShape="1">
                      <a:gsLst>
                        <a:gs pos="0">
                          <a:srgbClr val="C0C0C0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mpd="dbl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101919" tIns="50960" rIns="101919" bIns="50960" anchor="ctr"/>
                    <a:lstStyle>
                      <a:lvl1pPr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defTabSz="1019175"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defTabSz="10191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019175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pic>
                  <p:nvPicPr>
                    <p:cNvPr id="246" name="Picture 99" descr="1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9" cstate="print">
                      <a:grayscl/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-879" y="4798"/>
                      <a:ext cx="616" cy="2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pic>
                <p:nvPicPr>
                  <p:cNvPr id="244" name="Picture 348" descr="017 [Converted]-04-01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3698289" y="4339062"/>
                    <a:ext cx="348573" cy="2789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pic>
            <p:nvPicPr>
              <p:cNvPr id="239" name="그림 209" descr="군인아이콘 무계급.png"/>
              <p:cNvPicPr>
                <a:picLocks noChangeAspect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12936031" y="3296022"/>
                <a:ext cx="321079" cy="3635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60" name="LcShp 28" descr="어두운 상향 대각선"/>
            <p:cNvSpPr>
              <a:spLocks noChangeArrowheads="1"/>
            </p:cNvSpPr>
            <p:nvPr/>
          </p:nvSpPr>
          <p:spPr bwMode="auto">
            <a:xfrm>
              <a:off x="1411256" y="1812571"/>
              <a:ext cx="5235978" cy="237473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 algn="ctr">
              <a:solidFill>
                <a:srgbClr val="6A9FC6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/>
            <a:lstStyle>
              <a:lvl1pPr marL="71438" indent="-714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71438" marR="0" lvl="0" indent="-71438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6666"/>
                </a:buClr>
                <a:buSzTx/>
                <a:buFontTx/>
                <a:buNone/>
                <a:tabLst/>
                <a:defRPr/>
              </a:pPr>
              <a:endParaRPr kumimoji="1" lang="ko-KR" altLang="ko-KR" sz="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61" name="LcShp 28" descr="어두운 상향 대각선"/>
            <p:cNvSpPr>
              <a:spLocks noChangeArrowheads="1"/>
            </p:cNvSpPr>
            <p:nvPr/>
          </p:nvSpPr>
          <p:spPr bwMode="auto">
            <a:xfrm>
              <a:off x="2559588" y="1812570"/>
              <a:ext cx="2903119" cy="180954"/>
            </a:xfrm>
            <a:prstGeom prst="roundRect">
              <a:avLst>
                <a:gd name="adj" fmla="val 10000"/>
              </a:avLst>
            </a:prstGeom>
            <a:blipFill dpi="0" rotWithShape="1">
              <a:blip r:embed="rId13"/>
              <a:srcRect/>
              <a:stretch>
                <a:fillRect/>
              </a:stretch>
            </a:blipFill>
            <a:ln w="6350" algn="ctr">
              <a:solidFill>
                <a:srgbClr val="518EBB"/>
              </a:solidFill>
              <a:round/>
              <a:headEnd/>
              <a:tailEnd/>
            </a:ln>
            <a:effectLst>
              <a:outerShdw dist="12700" dir="5400000" algn="ctr" rotWithShape="0">
                <a:srgbClr val="2E6BA1"/>
              </a:outerShdw>
            </a:effectLst>
          </p:spPr>
          <p:txBody>
            <a:bodyPr lIns="36000" tIns="36000" rIns="36000" bIns="36000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FFFFFF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응용시스템</a:t>
              </a:r>
            </a:p>
          </p:txBody>
        </p:sp>
        <p:sp>
          <p:nvSpPr>
            <p:cNvPr id="6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209296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코드 및 환경관리</a:t>
              </a:r>
            </a:p>
          </p:txBody>
        </p:sp>
        <p:sp>
          <p:nvSpPr>
            <p:cNvPr id="6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209296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시스템 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·</a:t>
              </a: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권한관리</a:t>
              </a:r>
            </a:p>
          </p:txBody>
        </p:sp>
        <p:sp>
          <p:nvSpPr>
            <p:cNvPr id="6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209296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선발관리</a:t>
              </a:r>
            </a:p>
          </p:txBody>
        </p:sp>
        <p:sp>
          <p:nvSpPr>
            <p:cNvPr id="6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209296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신상관리</a:t>
              </a:r>
            </a:p>
          </p:txBody>
        </p:sp>
        <p:sp>
          <p:nvSpPr>
            <p:cNvPr id="66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209296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후보생관리</a:t>
              </a:r>
            </a:p>
          </p:txBody>
        </p:sp>
        <p:sp>
          <p:nvSpPr>
            <p:cNvPr id="6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209296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징계 및 처벌관리</a:t>
              </a:r>
            </a:p>
          </p:txBody>
        </p:sp>
        <p:sp>
          <p:nvSpPr>
            <p:cNvPr id="6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209296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대학 학사관리</a:t>
              </a:r>
            </a:p>
          </p:txBody>
        </p:sp>
        <p:sp>
          <p:nvSpPr>
            <p:cNvPr id="69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2092690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임관종합평가</a:t>
              </a:r>
            </a:p>
          </p:txBody>
        </p:sp>
        <p:sp>
          <p:nvSpPr>
            <p:cNvPr id="7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391857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교육계획</a:t>
              </a:r>
            </a:p>
          </p:txBody>
        </p:sp>
        <p:sp>
          <p:nvSpPr>
            <p:cNvPr id="7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391857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교육준비</a:t>
              </a:r>
            </a:p>
          </p:txBody>
        </p:sp>
        <p:sp>
          <p:nvSpPr>
            <p:cNvPr id="7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391857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훈련지원</a:t>
              </a:r>
            </a:p>
          </p:txBody>
        </p:sp>
        <p:sp>
          <p:nvSpPr>
            <p:cNvPr id="7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391857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교육실시</a:t>
              </a:r>
            </a:p>
          </p:txBody>
        </p:sp>
        <p:sp>
          <p:nvSpPr>
            <p:cNvPr id="7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391857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훈련관리</a:t>
              </a:r>
            </a:p>
          </p:txBody>
        </p:sp>
        <p:sp>
          <p:nvSpPr>
            <p:cNvPr id="7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391857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평가</a:t>
              </a:r>
            </a:p>
          </p:txBody>
        </p:sp>
        <p:sp>
          <p:nvSpPr>
            <p:cNvPr id="7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391857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물자관리</a:t>
              </a:r>
            </a:p>
          </p:txBody>
        </p:sp>
        <p:sp>
          <p:nvSpPr>
            <p:cNvPr id="7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3918306"/>
              <a:ext cx="583287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기타</a:t>
              </a:r>
            </a:p>
          </p:txBody>
        </p:sp>
        <p:grpSp>
          <p:nvGrpSpPr>
            <p:cNvPr id="79" name="Group 123"/>
            <p:cNvGrpSpPr>
              <a:grpSpLocks/>
            </p:cNvGrpSpPr>
            <p:nvPr/>
          </p:nvGrpSpPr>
          <p:grpSpPr bwMode="auto">
            <a:xfrm>
              <a:off x="1469105" y="2822617"/>
              <a:ext cx="5131841" cy="952330"/>
              <a:chOff x="454" y="4400"/>
              <a:chExt cx="3991" cy="808"/>
            </a:xfrm>
          </p:grpSpPr>
          <p:grpSp>
            <p:nvGrpSpPr>
              <p:cNvPr id="229" name="Group 124"/>
              <p:cNvGrpSpPr>
                <a:grpSpLocks/>
              </p:cNvGrpSpPr>
              <p:nvPr/>
            </p:nvGrpSpPr>
            <p:grpSpPr bwMode="auto">
              <a:xfrm>
                <a:off x="454" y="4400"/>
                <a:ext cx="3991" cy="808"/>
                <a:chOff x="454" y="4400"/>
                <a:chExt cx="3991" cy="808"/>
              </a:xfrm>
            </p:grpSpPr>
            <p:sp>
              <p:nvSpPr>
                <p:cNvPr id="236" name="AutoShape 212"/>
                <p:cNvSpPr>
                  <a:spLocks noChangeArrowheads="1"/>
                </p:cNvSpPr>
                <p:nvPr/>
              </p:nvSpPr>
              <p:spPr bwMode="auto">
                <a:xfrm>
                  <a:off x="454" y="4658"/>
                  <a:ext cx="3991" cy="550"/>
                </a:xfrm>
                <a:prstGeom prst="roundRect">
                  <a:avLst>
                    <a:gd name="adj" fmla="val 16667"/>
                  </a:avLst>
                </a:prstGeom>
                <a:gradFill rotWithShape="1">
                  <a:gsLst>
                    <a:gs pos="0">
                      <a:srgbClr val="DCDCDC"/>
                    </a:gs>
                    <a:gs pos="100000">
                      <a:srgbClr val="DCDCDC">
                        <a:gamma/>
                        <a:tint val="0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/>
              </p:spPr>
              <p:txBody>
                <a:bodyPr wrap="none" lIns="0" tIns="0" rIns="0" bIns="0" anchor="ctr"/>
                <a:lstStyle/>
                <a:p>
                  <a:pPr algn="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400" b="0" kern="0" dirty="0">
                    <a:solidFill>
                      <a:sysClr val="windowText" lastClr="000000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37" name="AutoShape 165"/>
                <p:cNvSpPr>
                  <a:spLocks noChangeArrowheads="1"/>
                </p:cNvSpPr>
                <p:nvPr/>
              </p:nvSpPr>
              <p:spPr bwMode="auto">
                <a:xfrm flipV="1">
                  <a:off x="454" y="4400"/>
                  <a:ext cx="3991" cy="23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DCDCDC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ffectLst/>
                <a:extLst/>
              </p:spPr>
              <p:txBody>
                <a:bodyPr rot="10800000" wrap="none" lIns="0" tIns="0" rIns="0" bIns="0" anchor="ctr"/>
                <a:lstStyle/>
                <a:p>
                  <a:pPr algn="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400" b="0" kern="0" dirty="0">
                    <a:solidFill>
                      <a:sysClr val="windowText" lastClr="000000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  <p:grpSp>
            <p:nvGrpSpPr>
              <p:cNvPr id="230" name="Group 127"/>
              <p:cNvGrpSpPr>
                <a:grpSpLocks/>
              </p:cNvGrpSpPr>
              <p:nvPr/>
            </p:nvGrpSpPr>
            <p:grpSpPr bwMode="auto">
              <a:xfrm>
                <a:off x="839" y="4591"/>
                <a:ext cx="105" cy="112"/>
                <a:chOff x="862" y="4591"/>
                <a:chExt cx="105" cy="112"/>
              </a:xfrm>
            </p:grpSpPr>
            <p:pic>
              <p:nvPicPr>
                <p:cNvPr id="234" name="Picture 1045" descr="펼침 다이어리_철"/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540" t="43071" r="34369" b="55069"/>
                <a:stretch>
                  <a:fillRect/>
                </a:stretch>
              </p:blipFill>
              <p:spPr bwMode="auto">
                <a:xfrm rot="-5185679">
                  <a:off x="830" y="4623"/>
                  <a:ext cx="112" cy="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5" name="Picture 1045" descr="펼침 다이어리_철"/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540" t="43071" r="34369" b="55069"/>
                <a:stretch>
                  <a:fillRect/>
                </a:stretch>
              </p:blipFill>
              <p:spPr bwMode="auto">
                <a:xfrm rot="-5185679">
                  <a:off x="888" y="4623"/>
                  <a:ext cx="112" cy="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31" name="Group 130"/>
              <p:cNvGrpSpPr>
                <a:grpSpLocks/>
              </p:cNvGrpSpPr>
              <p:nvPr/>
            </p:nvGrpSpPr>
            <p:grpSpPr bwMode="auto">
              <a:xfrm>
                <a:off x="4022" y="4591"/>
                <a:ext cx="105" cy="112"/>
                <a:chOff x="862" y="4591"/>
                <a:chExt cx="105" cy="112"/>
              </a:xfrm>
            </p:grpSpPr>
            <p:pic>
              <p:nvPicPr>
                <p:cNvPr id="232" name="Picture 1045" descr="펼침 다이어리_철"/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540" t="43071" r="34369" b="55069"/>
                <a:stretch>
                  <a:fillRect/>
                </a:stretch>
              </p:blipFill>
              <p:spPr bwMode="auto">
                <a:xfrm rot="-5185679">
                  <a:off x="830" y="4623"/>
                  <a:ext cx="112" cy="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3" name="Picture 1045" descr="펼침 다이어리_철"/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540" t="43071" r="34369" b="55069"/>
                <a:stretch>
                  <a:fillRect/>
                </a:stretch>
              </p:blipFill>
              <p:spPr bwMode="auto">
                <a:xfrm rot="-5185679">
                  <a:off x="888" y="4623"/>
                  <a:ext cx="112" cy="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8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23544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코드 관리</a:t>
              </a:r>
            </a:p>
          </p:txBody>
        </p:sp>
        <p:sp>
          <p:nvSpPr>
            <p:cNvPr id="8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23544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시스템 관리</a:t>
              </a:r>
            </a:p>
          </p:txBody>
        </p:sp>
        <p:sp>
          <p:nvSpPr>
            <p:cNvPr id="8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23544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모집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홍보</a:t>
              </a:r>
            </a:p>
          </p:txBody>
        </p:sp>
        <p:sp>
          <p:nvSpPr>
            <p:cNvPr id="8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23544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과정별 관리</a:t>
              </a:r>
            </a:p>
          </p:txBody>
        </p:sp>
        <p:sp>
          <p:nvSpPr>
            <p:cNvPr id="8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23544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유형별 관리</a:t>
              </a:r>
            </a:p>
          </p:txBody>
        </p:sp>
        <p:sp>
          <p:nvSpPr>
            <p:cNvPr id="9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23544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징계 관리</a:t>
              </a:r>
            </a:p>
          </p:txBody>
        </p:sp>
        <p:sp>
          <p:nvSpPr>
            <p:cNvPr id="9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23544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졸업 관리</a:t>
              </a:r>
            </a:p>
          </p:txBody>
        </p:sp>
        <p:sp>
          <p:nvSpPr>
            <p:cNvPr id="9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2354274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평가</a:t>
              </a:r>
            </a:p>
          </p:txBody>
        </p:sp>
        <p:sp>
          <p:nvSpPr>
            <p:cNvPr id="9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251424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환경 관리</a:t>
              </a:r>
            </a:p>
          </p:txBody>
        </p:sp>
        <p:sp>
          <p:nvSpPr>
            <p:cNvPr id="9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251424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권한 관리</a:t>
              </a:r>
            </a:p>
          </p:txBody>
        </p:sp>
        <p:sp>
          <p:nvSpPr>
            <p:cNvPr id="9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251424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기초자료 관리</a:t>
              </a:r>
            </a:p>
          </p:txBody>
        </p:sp>
        <p:sp>
          <p:nvSpPr>
            <p:cNvPr id="96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251424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군장학생 관리</a:t>
              </a:r>
            </a:p>
          </p:txBody>
        </p:sp>
        <p:sp>
          <p:nvSpPr>
            <p:cNvPr id="9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251424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상벌점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9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251424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경고관리</a:t>
              </a:r>
            </a:p>
          </p:txBody>
        </p:sp>
        <p:sp>
          <p:nvSpPr>
            <p:cNvPr id="10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251424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학적변동</a:t>
              </a: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 관리</a:t>
              </a:r>
            </a:p>
          </p:txBody>
        </p:sp>
        <p:sp>
          <p:nvSpPr>
            <p:cNvPr id="10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2514061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평가결과</a:t>
              </a:r>
            </a:p>
          </p:txBody>
        </p:sp>
        <p:sp>
          <p:nvSpPr>
            <p:cNvPr id="10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2680868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사용자 관리</a:t>
              </a:r>
            </a:p>
          </p:txBody>
        </p:sp>
        <p:sp>
          <p:nvSpPr>
            <p:cNvPr id="106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2680868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1</a:t>
              </a: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차 선발 관리</a:t>
              </a:r>
            </a:p>
          </p:txBody>
        </p:sp>
        <p:sp>
          <p:nvSpPr>
            <p:cNvPr id="10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2680868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예비후보생 관리</a:t>
              </a:r>
            </a:p>
          </p:txBody>
        </p:sp>
        <p:sp>
          <p:nvSpPr>
            <p:cNvPr id="109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2680868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리더십 평가</a:t>
              </a:r>
            </a:p>
          </p:txBody>
        </p:sp>
        <p:sp>
          <p:nvSpPr>
            <p:cNvPr id="11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2680868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징계 및 처벌관리</a:t>
              </a:r>
            </a:p>
          </p:txBody>
        </p:sp>
        <p:sp>
          <p:nvSpPr>
            <p:cNvPr id="11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2680868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생활 관리</a:t>
              </a:r>
            </a:p>
          </p:txBody>
        </p:sp>
        <p:sp>
          <p:nvSpPr>
            <p:cNvPr id="11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2680684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Q&amp;A </a:t>
              </a: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관리</a:t>
              </a:r>
            </a:p>
          </p:txBody>
        </p:sp>
        <p:sp>
          <p:nvSpPr>
            <p:cNvPr id="11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284065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284065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284065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6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284065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2840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0420" y="284065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9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3480" y="2680868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학군단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교관 코드</a:t>
              </a:r>
            </a:p>
          </p:txBody>
        </p:sp>
        <p:sp>
          <p:nvSpPr>
            <p:cNvPr id="12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284065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2840656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3386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훈련계획</a:t>
              </a:r>
            </a:p>
          </p:txBody>
        </p:sp>
        <p:sp>
          <p:nvSpPr>
            <p:cNvPr id="12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3386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평가점검표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3386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훈련자원</a:t>
              </a:r>
            </a:p>
          </p:txBody>
        </p:sp>
        <p:sp>
          <p:nvSpPr>
            <p:cNvPr id="12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3386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상황일지</a:t>
              </a:r>
            </a:p>
          </p:txBody>
        </p:sp>
        <p:sp>
          <p:nvSpPr>
            <p:cNvPr id="126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3386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정보통신장비</a:t>
              </a:r>
            </a:p>
          </p:txBody>
        </p:sp>
        <p:sp>
          <p:nvSpPr>
            <p:cNvPr id="12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3386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보고서</a:t>
              </a:r>
            </a:p>
          </p:txBody>
        </p:sp>
        <p:sp>
          <p:nvSpPr>
            <p:cNvPr id="12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338647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시설물 관리</a:t>
              </a:r>
            </a:p>
          </p:txBody>
        </p:sp>
        <p:sp>
          <p:nvSpPr>
            <p:cNvPr id="129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3386287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원격 평가</a:t>
              </a:r>
            </a:p>
          </p:txBody>
        </p:sp>
        <p:sp>
          <p:nvSpPr>
            <p:cNvPr id="13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35462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과정별 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DTP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35462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교관 교육준비</a:t>
              </a:r>
            </a:p>
          </p:txBody>
        </p:sp>
        <p:sp>
          <p:nvSpPr>
            <p:cNvPr id="13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35462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>
                  <a:latin typeface="굴림" panose="020B0600000101010101" pitchFamily="50" charset="-127"/>
                  <a:ea typeface="굴림" panose="020B0600000101010101" pitchFamily="50" charset="-127"/>
                </a:rPr>
                <a:t>훈련물자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35462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상황보고</a:t>
              </a:r>
            </a:p>
          </p:txBody>
        </p:sp>
        <p:sp>
          <p:nvSpPr>
            <p:cNvPr id="13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35462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중수관편성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35462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성적</a:t>
              </a:r>
            </a:p>
          </p:txBody>
        </p:sp>
        <p:sp>
          <p:nvSpPr>
            <p:cNvPr id="136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354625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훈련물자</a:t>
              </a:r>
            </a:p>
          </p:txBody>
        </p:sp>
        <p:sp>
          <p:nvSpPr>
            <p:cNvPr id="13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3546075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성적 합산</a:t>
              </a:r>
            </a:p>
          </p:txBody>
        </p:sp>
        <p:sp>
          <p:nvSpPr>
            <p:cNvPr id="13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1086" y="371288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교육 대상자 종합</a:t>
              </a:r>
            </a:p>
          </p:txBody>
        </p:sp>
        <p:sp>
          <p:nvSpPr>
            <p:cNvPr id="139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371288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교보재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371288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군사학</a:t>
              </a:r>
            </a:p>
          </p:txBody>
        </p:sp>
        <p:sp>
          <p:nvSpPr>
            <p:cNvPr id="14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371288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전투편성표</a:t>
              </a:r>
            </a:p>
          </p:txBody>
        </p:sp>
        <p:sp>
          <p:nvSpPr>
            <p:cNvPr id="14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371288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평가</a:t>
              </a:r>
            </a:p>
          </p:txBody>
        </p:sp>
        <p:sp>
          <p:nvSpPr>
            <p:cNvPr id="14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371288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교범 관리</a:t>
              </a:r>
            </a:p>
          </p:txBody>
        </p:sp>
        <p:sp>
          <p:nvSpPr>
            <p:cNvPr id="14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3712697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대상자 명부 관리</a:t>
              </a:r>
            </a:p>
          </p:txBody>
        </p:sp>
        <p:sp>
          <p:nvSpPr>
            <p:cNvPr id="14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3480" y="3712882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연간부대운영계획</a:t>
              </a:r>
            </a:p>
          </p:txBody>
        </p:sp>
        <p:sp>
          <p:nvSpPr>
            <p:cNvPr id="146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769356" y="322704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065897" y="322704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4714167" y="322704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9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5362437" y="322704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50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010708" y="3226864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5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2120420" y="322704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5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72816" y="322704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5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3417626" y="3227049"/>
              <a:ext cx="583287" cy="141966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…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154" name="그룹 153"/>
            <p:cNvGrpSpPr/>
            <p:nvPr/>
          </p:nvGrpSpPr>
          <p:grpSpPr bwMode="gray">
            <a:xfrm>
              <a:off x="427497" y="3283517"/>
              <a:ext cx="769886" cy="460760"/>
              <a:chOff x="2088592" y="6685820"/>
              <a:chExt cx="2004248" cy="620602"/>
            </a:xfrm>
          </p:grpSpPr>
          <p:grpSp>
            <p:nvGrpSpPr>
              <p:cNvPr id="223" name="그룹 222"/>
              <p:cNvGrpSpPr/>
              <p:nvPr/>
            </p:nvGrpSpPr>
            <p:grpSpPr bwMode="gray">
              <a:xfrm>
                <a:off x="2088592" y="6685820"/>
                <a:ext cx="2004248" cy="620602"/>
                <a:chOff x="864245" y="4021833"/>
                <a:chExt cx="2004248" cy="620602"/>
              </a:xfrm>
            </p:grpSpPr>
            <p:grpSp>
              <p:nvGrpSpPr>
                <p:cNvPr id="225" name="Group 172"/>
                <p:cNvGrpSpPr>
                  <a:grpSpLocks/>
                </p:cNvGrpSpPr>
                <p:nvPr/>
              </p:nvGrpSpPr>
              <p:grpSpPr bwMode="gray">
                <a:xfrm>
                  <a:off x="864245" y="4075803"/>
                  <a:ext cx="2004248" cy="566632"/>
                  <a:chOff x="460" y="4215"/>
                  <a:chExt cx="1088" cy="417"/>
                </a:xfrm>
              </p:grpSpPr>
              <p:sp>
                <p:nvSpPr>
                  <p:cNvPr id="227" name="LcS37" descr="도형-28"/>
                  <p:cNvSpPr>
                    <a:spLocks noChangeArrowheads="1"/>
                  </p:cNvSpPr>
                  <p:nvPr/>
                </p:nvSpPr>
                <p:spPr bwMode="gray">
                  <a:xfrm flipV="1">
                    <a:off x="473" y="4215"/>
                    <a:ext cx="1063" cy="23"/>
                  </a:xfrm>
                  <a:custGeom>
                    <a:avLst/>
                    <a:gdLst>
                      <a:gd name="T0" fmla="*/ 105684033 w 21600"/>
                      <a:gd name="T1" fmla="*/ 19 h 21600"/>
                      <a:gd name="T2" fmla="*/ 105684033 w 21600"/>
                      <a:gd name="T3" fmla="*/ 37 h 21600"/>
                      <a:gd name="T4" fmla="*/ 2933620 w 21600"/>
                      <a:gd name="T5" fmla="*/ 19 h 21600"/>
                      <a:gd name="T6" fmla="*/ 105684033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1971 w 21600"/>
                      <a:gd name="T13" fmla="*/ 1878 h 21600"/>
                      <a:gd name="T14" fmla="*/ 19629 w 21600"/>
                      <a:gd name="T15" fmla="*/ 19722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324" y="21600"/>
                        </a:lnTo>
                        <a:lnTo>
                          <a:pt x="2127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 dpi="0" rotWithShape="1">
                    <a:blip r:embed="rId15"/>
                    <a:srcRect/>
                    <a:stretch>
                      <a:fillRect/>
                    </a:stretch>
                  </a:blipFill>
                  <a:ln w="6350" cap="flat" cmpd="sng" algn="ctr">
                    <a:solidFill>
                      <a:srgbClr val="80B8DA"/>
                    </a:solidFill>
                    <a:prstDash val="solid"/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6941" dir="2700000" algn="ctr" rotWithShape="0">
                            <a:srgbClr val="EAEAEA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228" name="Rectangle 174"/>
                  <p:cNvSpPr>
                    <a:spLocks noChangeArrowheads="1"/>
                  </p:cNvSpPr>
                  <p:nvPr/>
                </p:nvSpPr>
                <p:spPr bwMode="gray">
                  <a:xfrm>
                    <a:off x="460" y="4255"/>
                    <a:ext cx="1088" cy="377"/>
                  </a:xfrm>
                  <a:prstGeom prst="rect">
                    <a:avLst/>
                  </a:prstGeom>
                  <a:gradFill rotWithShape="1">
                    <a:gsLst>
                      <a:gs pos="70000">
                        <a:srgbClr val="F5F5F5"/>
                      </a:gs>
                      <a:gs pos="0">
                        <a:srgbClr val="EAEAEA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635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1pPr>
                    <a:lvl2pPr marL="742950" indent="-28575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2pPr>
                    <a:lvl3pPr marL="11430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3pPr>
                    <a:lvl4pPr marL="16002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4pPr>
                    <a:lvl5pPr marL="20574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9pPr>
                  </a:lstStyle>
                  <a:p>
                    <a:pPr marL="0" marR="0" lvl="0" indent="0" algn="just" defTabSz="914400" eaLnBrk="0" fontAlgn="auto" latinLnBrk="0" hangingPunct="0">
                      <a:lnSpc>
                        <a:spcPct val="110000"/>
                      </a:lnSpc>
                      <a:spcBef>
                        <a:spcPct val="25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ko-KR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pic>
              <p:nvPicPr>
                <p:cNvPr id="226" name="Picture 19" descr="sq copy"/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 rot="5400000">
                  <a:off x="1764769" y="3825965"/>
                  <a:ext cx="203200" cy="5949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24" name="Rectangle 78"/>
              <p:cNvSpPr>
                <a:spLocks noChangeArrowheads="1"/>
              </p:cNvSpPr>
              <p:nvPr/>
            </p:nvSpPr>
            <p:spPr bwMode="gray">
              <a:xfrm>
                <a:off x="2154019" y="6858054"/>
                <a:ext cx="1873395" cy="303839"/>
              </a:xfrm>
              <a:prstGeom prst="roundRect">
                <a:avLst/>
              </a:prstGeom>
              <a:pattFill prst="dkUpDiag">
                <a:fgClr>
                  <a:srgbClr val="EAEAEA"/>
                </a:fgClr>
                <a:bgClr>
                  <a:srgbClr val="FFFFFF"/>
                </a:bgClr>
              </a:pattFill>
              <a:ln w="10160" algn="ctr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1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체계관리</a:t>
                </a:r>
              </a:p>
            </p:txBody>
          </p:sp>
        </p:grpSp>
        <p:grpSp>
          <p:nvGrpSpPr>
            <p:cNvPr id="155" name="그룹 154"/>
            <p:cNvGrpSpPr/>
            <p:nvPr/>
          </p:nvGrpSpPr>
          <p:grpSpPr bwMode="gray">
            <a:xfrm>
              <a:off x="427497" y="3663856"/>
              <a:ext cx="769886" cy="460760"/>
              <a:chOff x="2088592" y="6685820"/>
              <a:chExt cx="2004248" cy="620602"/>
            </a:xfrm>
          </p:grpSpPr>
          <p:grpSp>
            <p:nvGrpSpPr>
              <p:cNvPr id="217" name="그룹 216"/>
              <p:cNvGrpSpPr/>
              <p:nvPr/>
            </p:nvGrpSpPr>
            <p:grpSpPr bwMode="gray">
              <a:xfrm>
                <a:off x="2088592" y="6685820"/>
                <a:ext cx="2004248" cy="620602"/>
                <a:chOff x="864245" y="4021833"/>
                <a:chExt cx="2004248" cy="620602"/>
              </a:xfrm>
            </p:grpSpPr>
            <p:grpSp>
              <p:nvGrpSpPr>
                <p:cNvPr id="219" name="Group 172"/>
                <p:cNvGrpSpPr>
                  <a:grpSpLocks/>
                </p:cNvGrpSpPr>
                <p:nvPr/>
              </p:nvGrpSpPr>
              <p:grpSpPr bwMode="gray">
                <a:xfrm>
                  <a:off x="864245" y="4075803"/>
                  <a:ext cx="2004248" cy="566632"/>
                  <a:chOff x="460" y="4215"/>
                  <a:chExt cx="1088" cy="417"/>
                </a:xfrm>
              </p:grpSpPr>
              <p:sp>
                <p:nvSpPr>
                  <p:cNvPr id="221" name="LcS37" descr="도형-28"/>
                  <p:cNvSpPr>
                    <a:spLocks noChangeArrowheads="1"/>
                  </p:cNvSpPr>
                  <p:nvPr/>
                </p:nvSpPr>
                <p:spPr bwMode="gray">
                  <a:xfrm flipV="1">
                    <a:off x="473" y="4215"/>
                    <a:ext cx="1063" cy="23"/>
                  </a:xfrm>
                  <a:custGeom>
                    <a:avLst/>
                    <a:gdLst>
                      <a:gd name="T0" fmla="*/ 105684033 w 21600"/>
                      <a:gd name="T1" fmla="*/ 19 h 21600"/>
                      <a:gd name="T2" fmla="*/ 105684033 w 21600"/>
                      <a:gd name="T3" fmla="*/ 37 h 21600"/>
                      <a:gd name="T4" fmla="*/ 2933620 w 21600"/>
                      <a:gd name="T5" fmla="*/ 19 h 21600"/>
                      <a:gd name="T6" fmla="*/ 105684033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1971 w 21600"/>
                      <a:gd name="T13" fmla="*/ 1878 h 21600"/>
                      <a:gd name="T14" fmla="*/ 19629 w 21600"/>
                      <a:gd name="T15" fmla="*/ 19722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324" y="21600"/>
                        </a:lnTo>
                        <a:lnTo>
                          <a:pt x="2127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 dpi="0" rotWithShape="1">
                    <a:blip r:embed="rId15"/>
                    <a:srcRect/>
                    <a:stretch>
                      <a:fillRect/>
                    </a:stretch>
                  </a:blipFill>
                  <a:ln w="6350" cap="flat" cmpd="sng" algn="ctr">
                    <a:solidFill>
                      <a:srgbClr val="80B8DA"/>
                    </a:solidFill>
                    <a:prstDash val="solid"/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6941" dir="2700000" algn="ctr" rotWithShape="0">
                            <a:srgbClr val="EAEAEA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222" name="Rectangle 174"/>
                  <p:cNvSpPr>
                    <a:spLocks noChangeArrowheads="1"/>
                  </p:cNvSpPr>
                  <p:nvPr/>
                </p:nvSpPr>
                <p:spPr bwMode="gray">
                  <a:xfrm>
                    <a:off x="460" y="4255"/>
                    <a:ext cx="1088" cy="377"/>
                  </a:xfrm>
                  <a:prstGeom prst="rect">
                    <a:avLst/>
                  </a:prstGeom>
                  <a:gradFill rotWithShape="1">
                    <a:gsLst>
                      <a:gs pos="70000">
                        <a:srgbClr val="F5F5F5"/>
                      </a:gs>
                      <a:gs pos="0">
                        <a:srgbClr val="EAEAEA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635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1pPr>
                    <a:lvl2pPr marL="742950" indent="-28575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2pPr>
                    <a:lvl3pPr marL="11430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3pPr>
                    <a:lvl4pPr marL="16002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4pPr>
                    <a:lvl5pPr marL="20574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9pPr>
                  </a:lstStyle>
                  <a:p>
                    <a:pPr marL="0" marR="0" lvl="0" indent="0" algn="just" defTabSz="914400" eaLnBrk="0" fontAlgn="auto" latinLnBrk="0" hangingPunct="0">
                      <a:lnSpc>
                        <a:spcPct val="110000"/>
                      </a:lnSpc>
                      <a:spcBef>
                        <a:spcPct val="25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ko-KR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pic>
              <p:nvPicPr>
                <p:cNvPr id="220" name="Picture 19" descr="sq copy"/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 rot="5400000">
                  <a:off x="1764769" y="3825965"/>
                  <a:ext cx="203200" cy="5949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18" name="Rectangle 78"/>
              <p:cNvSpPr>
                <a:spLocks noChangeArrowheads="1"/>
              </p:cNvSpPr>
              <p:nvPr/>
            </p:nvSpPr>
            <p:spPr bwMode="gray">
              <a:xfrm>
                <a:off x="2154019" y="6858054"/>
                <a:ext cx="1873395" cy="303839"/>
              </a:xfrm>
              <a:prstGeom prst="roundRect">
                <a:avLst/>
              </a:prstGeom>
              <a:pattFill prst="dkUpDiag">
                <a:fgClr>
                  <a:srgbClr val="EAEAEA"/>
                </a:fgClr>
                <a:bgClr>
                  <a:srgbClr val="FFFFFF"/>
                </a:bgClr>
              </a:pattFill>
              <a:ln w="10160" algn="ctr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1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선발관리</a:t>
                </a:r>
              </a:p>
            </p:txBody>
          </p:sp>
        </p:grpSp>
        <p:grpSp>
          <p:nvGrpSpPr>
            <p:cNvPr id="156" name="그룹 155"/>
            <p:cNvGrpSpPr/>
            <p:nvPr/>
          </p:nvGrpSpPr>
          <p:grpSpPr bwMode="gray">
            <a:xfrm>
              <a:off x="427497" y="4065048"/>
              <a:ext cx="769886" cy="460760"/>
              <a:chOff x="2088592" y="6685820"/>
              <a:chExt cx="2004248" cy="620602"/>
            </a:xfrm>
          </p:grpSpPr>
          <p:grpSp>
            <p:nvGrpSpPr>
              <p:cNvPr id="211" name="그룹 210"/>
              <p:cNvGrpSpPr/>
              <p:nvPr/>
            </p:nvGrpSpPr>
            <p:grpSpPr bwMode="gray">
              <a:xfrm>
                <a:off x="2088592" y="6685820"/>
                <a:ext cx="2004248" cy="620602"/>
                <a:chOff x="864245" y="4021833"/>
                <a:chExt cx="2004248" cy="620602"/>
              </a:xfrm>
            </p:grpSpPr>
            <p:grpSp>
              <p:nvGrpSpPr>
                <p:cNvPr id="213" name="Group 172"/>
                <p:cNvGrpSpPr>
                  <a:grpSpLocks/>
                </p:cNvGrpSpPr>
                <p:nvPr/>
              </p:nvGrpSpPr>
              <p:grpSpPr bwMode="gray">
                <a:xfrm>
                  <a:off x="864245" y="4075803"/>
                  <a:ext cx="2004248" cy="566632"/>
                  <a:chOff x="460" y="4215"/>
                  <a:chExt cx="1088" cy="417"/>
                </a:xfrm>
              </p:grpSpPr>
              <p:sp>
                <p:nvSpPr>
                  <p:cNvPr id="215" name="LcS37" descr="도형-28"/>
                  <p:cNvSpPr>
                    <a:spLocks noChangeArrowheads="1"/>
                  </p:cNvSpPr>
                  <p:nvPr/>
                </p:nvSpPr>
                <p:spPr bwMode="gray">
                  <a:xfrm flipV="1">
                    <a:off x="473" y="4215"/>
                    <a:ext cx="1063" cy="23"/>
                  </a:xfrm>
                  <a:custGeom>
                    <a:avLst/>
                    <a:gdLst>
                      <a:gd name="T0" fmla="*/ 105684033 w 21600"/>
                      <a:gd name="T1" fmla="*/ 19 h 21600"/>
                      <a:gd name="T2" fmla="*/ 105684033 w 21600"/>
                      <a:gd name="T3" fmla="*/ 37 h 21600"/>
                      <a:gd name="T4" fmla="*/ 2933620 w 21600"/>
                      <a:gd name="T5" fmla="*/ 19 h 21600"/>
                      <a:gd name="T6" fmla="*/ 105684033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1971 w 21600"/>
                      <a:gd name="T13" fmla="*/ 1878 h 21600"/>
                      <a:gd name="T14" fmla="*/ 19629 w 21600"/>
                      <a:gd name="T15" fmla="*/ 19722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324" y="21600"/>
                        </a:lnTo>
                        <a:lnTo>
                          <a:pt x="2127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 dpi="0" rotWithShape="1">
                    <a:blip r:embed="rId15"/>
                    <a:srcRect/>
                    <a:stretch>
                      <a:fillRect/>
                    </a:stretch>
                  </a:blipFill>
                  <a:ln w="6350" cap="flat" cmpd="sng" algn="ctr">
                    <a:solidFill>
                      <a:srgbClr val="80B8DA"/>
                    </a:solidFill>
                    <a:prstDash val="solid"/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6941" dir="2700000" algn="ctr" rotWithShape="0">
                            <a:srgbClr val="EAEAEA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216" name="Rectangle 174"/>
                  <p:cNvSpPr>
                    <a:spLocks noChangeArrowheads="1"/>
                  </p:cNvSpPr>
                  <p:nvPr/>
                </p:nvSpPr>
                <p:spPr bwMode="gray">
                  <a:xfrm>
                    <a:off x="460" y="4255"/>
                    <a:ext cx="1088" cy="377"/>
                  </a:xfrm>
                  <a:prstGeom prst="rect">
                    <a:avLst/>
                  </a:prstGeom>
                  <a:gradFill rotWithShape="1">
                    <a:gsLst>
                      <a:gs pos="70000">
                        <a:srgbClr val="F5F5F5"/>
                      </a:gs>
                      <a:gs pos="0">
                        <a:srgbClr val="EAEAEA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635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1pPr>
                    <a:lvl2pPr marL="742950" indent="-28575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2pPr>
                    <a:lvl3pPr marL="11430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3pPr>
                    <a:lvl4pPr marL="16002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4pPr>
                    <a:lvl5pPr marL="20574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9pPr>
                  </a:lstStyle>
                  <a:p>
                    <a:pPr marL="0" marR="0" lvl="0" indent="0" algn="just" defTabSz="914400" eaLnBrk="0" fontAlgn="auto" latinLnBrk="0" hangingPunct="0">
                      <a:lnSpc>
                        <a:spcPct val="110000"/>
                      </a:lnSpc>
                      <a:spcBef>
                        <a:spcPct val="25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ko-KR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pic>
              <p:nvPicPr>
                <p:cNvPr id="214" name="Picture 19" descr="sq copy"/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 rot="5400000">
                  <a:off x="1764769" y="3825965"/>
                  <a:ext cx="203200" cy="5949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12" name="Rectangle 78"/>
              <p:cNvSpPr>
                <a:spLocks noChangeArrowheads="1"/>
              </p:cNvSpPr>
              <p:nvPr/>
            </p:nvSpPr>
            <p:spPr bwMode="gray">
              <a:xfrm>
                <a:off x="2154019" y="6858054"/>
                <a:ext cx="1873395" cy="303839"/>
              </a:xfrm>
              <a:prstGeom prst="roundRect">
                <a:avLst/>
              </a:prstGeom>
              <a:pattFill prst="dkUpDiag">
                <a:fgClr>
                  <a:srgbClr val="EAEAEA"/>
                </a:fgClr>
                <a:bgClr>
                  <a:srgbClr val="FFFFFF"/>
                </a:bgClr>
              </a:pattFill>
              <a:ln w="10160" algn="ctr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1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학적관리</a:t>
                </a:r>
                <a:endPara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endParaRPr>
              </a:p>
            </p:txBody>
          </p:sp>
        </p:grpSp>
        <p:grpSp>
          <p:nvGrpSpPr>
            <p:cNvPr id="157" name="그룹 156"/>
            <p:cNvGrpSpPr/>
            <p:nvPr/>
          </p:nvGrpSpPr>
          <p:grpSpPr bwMode="gray">
            <a:xfrm>
              <a:off x="7949020" y="3283517"/>
              <a:ext cx="760267" cy="460760"/>
              <a:chOff x="2088592" y="6685820"/>
              <a:chExt cx="2004248" cy="620602"/>
            </a:xfrm>
          </p:grpSpPr>
          <p:grpSp>
            <p:nvGrpSpPr>
              <p:cNvPr id="205" name="그룹 204"/>
              <p:cNvGrpSpPr/>
              <p:nvPr/>
            </p:nvGrpSpPr>
            <p:grpSpPr bwMode="gray">
              <a:xfrm>
                <a:off x="2088592" y="6685820"/>
                <a:ext cx="2004248" cy="620602"/>
                <a:chOff x="864245" y="4021833"/>
                <a:chExt cx="2004248" cy="620602"/>
              </a:xfrm>
            </p:grpSpPr>
            <p:grpSp>
              <p:nvGrpSpPr>
                <p:cNvPr id="207" name="Group 172"/>
                <p:cNvGrpSpPr>
                  <a:grpSpLocks/>
                </p:cNvGrpSpPr>
                <p:nvPr/>
              </p:nvGrpSpPr>
              <p:grpSpPr bwMode="gray">
                <a:xfrm>
                  <a:off x="864245" y="4075803"/>
                  <a:ext cx="2004248" cy="566632"/>
                  <a:chOff x="460" y="4215"/>
                  <a:chExt cx="1088" cy="417"/>
                </a:xfrm>
              </p:grpSpPr>
              <p:sp>
                <p:nvSpPr>
                  <p:cNvPr id="209" name="LcS37" descr="도형-28"/>
                  <p:cNvSpPr>
                    <a:spLocks noChangeArrowheads="1"/>
                  </p:cNvSpPr>
                  <p:nvPr/>
                </p:nvSpPr>
                <p:spPr bwMode="gray">
                  <a:xfrm flipV="1">
                    <a:off x="473" y="4215"/>
                    <a:ext cx="1063" cy="23"/>
                  </a:xfrm>
                  <a:custGeom>
                    <a:avLst/>
                    <a:gdLst>
                      <a:gd name="T0" fmla="*/ 105684033 w 21600"/>
                      <a:gd name="T1" fmla="*/ 19 h 21600"/>
                      <a:gd name="T2" fmla="*/ 105684033 w 21600"/>
                      <a:gd name="T3" fmla="*/ 37 h 21600"/>
                      <a:gd name="T4" fmla="*/ 2933620 w 21600"/>
                      <a:gd name="T5" fmla="*/ 19 h 21600"/>
                      <a:gd name="T6" fmla="*/ 105684033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1971 w 21600"/>
                      <a:gd name="T13" fmla="*/ 1878 h 21600"/>
                      <a:gd name="T14" fmla="*/ 19629 w 21600"/>
                      <a:gd name="T15" fmla="*/ 19722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324" y="21600"/>
                        </a:lnTo>
                        <a:lnTo>
                          <a:pt x="2127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 dpi="0" rotWithShape="1">
                    <a:blip r:embed="rId15"/>
                    <a:srcRect/>
                    <a:stretch>
                      <a:fillRect/>
                    </a:stretch>
                  </a:blipFill>
                  <a:ln w="6350" cap="flat" cmpd="sng" algn="ctr">
                    <a:solidFill>
                      <a:srgbClr val="80B8DA"/>
                    </a:solidFill>
                    <a:prstDash val="solid"/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6941" dir="2700000" algn="ctr" rotWithShape="0">
                            <a:srgbClr val="EAEAEA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210" name="Rectangle 174"/>
                  <p:cNvSpPr>
                    <a:spLocks noChangeArrowheads="1"/>
                  </p:cNvSpPr>
                  <p:nvPr/>
                </p:nvSpPr>
                <p:spPr bwMode="gray">
                  <a:xfrm>
                    <a:off x="460" y="4255"/>
                    <a:ext cx="1088" cy="377"/>
                  </a:xfrm>
                  <a:prstGeom prst="rect">
                    <a:avLst/>
                  </a:prstGeom>
                  <a:gradFill rotWithShape="1">
                    <a:gsLst>
                      <a:gs pos="70000">
                        <a:srgbClr val="F5F5F5"/>
                      </a:gs>
                      <a:gs pos="0">
                        <a:srgbClr val="EAEAEA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635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1pPr>
                    <a:lvl2pPr marL="742950" indent="-28575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2pPr>
                    <a:lvl3pPr marL="11430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3pPr>
                    <a:lvl4pPr marL="16002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4pPr>
                    <a:lvl5pPr marL="20574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9pPr>
                  </a:lstStyle>
                  <a:p>
                    <a:pPr marL="0" marR="0" lvl="0" indent="0" algn="just" defTabSz="914400" eaLnBrk="0" fontAlgn="auto" latinLnBrk="0" hangingPunct="0">
                      <a:lnSpc>
                        <a:spcPct val="110000"/>
                      </a:lnSpc>
                      <a:spcBef>
                        <a:spcPct val="25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ko-KR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pic>
              <p:nvPicPr>
                <p:cNvPr id="208" name="Picture 19" descr="sq copy"/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 rot="5400000">
                  <a:off x="1764769" y="3825965"/>
                  <a:ext cx="203200" cy="5949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06" name="Rectangle 78"/>
              <p:cNvSpPr>
                <a:spLocks noChangeArrowheads="1"/>
              </p:cNvSpPr>
              <p:nvPr/>
            </p:nvSpPr>
            <p:spPr bwMode="gray">
              <a:xfrm>
                <a:off x="2154019" y="6858054"/>
                <a:ext cx="1873395" cy="303839"/>
              </a:xfrm>
              <a:prstGeom prst="roundRect">
                <a:avLst/>
              </a:prstGeom>
              <a:pattFill prst="dkUpDiag">
                <a:fgClr>
                  <a:srgbClr val="EAEAEA"/>
                </a:fgClr>
                <a:bgClr>
                  <a:srgbClr val="FFFFFF"/>
                </a:bgClr>
              </a:pattFill>
              <a:ln w="10160" algn="ctr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1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교육관리</a:t>
                </a:r>
                <a:r>
                  <a:rPr kumimoji="0" lang="en-US" altLang="ko-KR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/</a:t>
                </a:r>
                <a:r>
                  <a:rPr kumimoji="0" lang="ko-KR" altLang="en-US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지휘훈육</a:t>
                </a:r>
              </a:p>
            </p:txBody>
          </p:sp>
        </p:grpSp>
        <p:grpSp>
          <p:nvGrpSpPr>
            <p:cNvPr id="158" name="그룹 157"/>
            <p:cNvGrpSpPr/>
            <p:nvPr/>
          </p:nvGrpSpPr>
          <p:grpSpPr bwMode="gray">
            <a:xfrm>
              <a:off x="7949020" y="3663856"/>
              <a:ext cx="760267" cy="460760"/>
              <a:chOff x="2088592" y="6685820"/>
              <a:chExt cx="2004248" cy="620602"/>
            </a:xfrm>
          </p:grpSpPr>
          <p:grpSp>
            <p:nvGrpSpPr>
              <p:cNvPr id="199" name="그룹 198"/>
              <p:cNvGrpSpPr/>
              <p:nvPr/>
            </p:nvGrpSpPr>
            <p:grpSpPr bwMode="gray">
              <a:xfrm>
                <a:off x="2088592" y="6685820"/>
                <a:ext cx="2004248" cy="620602"/>
                <a:chOff x="864245" y="4021833"/>
                <a:chExt cx="2004248" cy="620602"/>
              </a:xfrm>
            </p:grpSpPr>
            <p:grpSp>
              <p:nvGrpSpPr>
                <p:cNvPr id="201" name="Group 172"/>
                <p:cNvGrpSpPr>
                  <a:grpSpLocks/>
                </p:cNvGrpSpPr>
                <p:nvPr/>
              </p:nvGrpSpPr>
              <p:grpSpPr bwMode="gray">
                <a:xfrm>
                  <a:off x="864245" y="4075803"/>
                  <a:ext cx="2004248" cy="566632"/>
                  <a:chOff x="460" y="4215"/>
                  <a:chExt cx="1088" cy="417"/>
                </a:xfrm>
              </p:grpSpPr>
              <p:sp>
                <p:nvSpPr>
                  <p:cNvPr id="203" name="LcS37" descr="도형-28"/>
                  <p:cNvSpPr>
                    <a:spLocks noChangeArrowheads="1"/>
                  </p:cNvSpPr>
                  <p:nvPr/>
                </p:nvSpPr>
                <p:spPr bwMode="gray">
                  <a:xfrm flipV="1">
                    <a:off x="473" y="4215"/>
                    <a:ext cx="1063" cy="23"/>
                  </a:xfrm>
                  <a:custGeom>
                    <a:avLst/>
                    <a:gdLst>
                      <a:gd name="T0" fmla="*/ 105684033 w 21600"/>
                      <a:gd name="T1" fmla="*/ 19 h 21600"/>
                      <a:gd name="T2" fmla="*/ 105684033 w 21600"/>
                      <a:gd name="T3" fmla="*/ 37 h 21600"/>
                      <a:gd name="T4" fmla="*/ 2933620 w 21600"/>
                      <a:gd name="T5" fmla="*/ 19 h 21600"/>
                      <a:gd name="T6" fmla="*/ 105684033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1971 w 21600"/>
                      <a:gd name="T13" fmla="*/ 1878 h 21600"/>
                      <a:gd name="T14" fmla="*/ 19629 w 21600"/>
                      <a:gd name="T15" fmla="*/ 19722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324" y="21600"/>
                        </a:lnTo>
                        <a:lnTo>
                          <a:pt x="2127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 dpi="0" rotWithShape="1">
                    <a:blip r:embed="rId15"/>
                    <a:srcRect/>
                    <a:stretch>
                      <a:fillRect/>
                    </a:stretch>
                  </a:blipFill>
                  <a:ln w="6350" cap="flat" cmpd="sng" algn="ctr">
                    <a:solidFill>
                      <a:srgbClr val="80B8DA"/>
                    </a:solidFill>
                    <a:prstDash val="solid"/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6941" dir="2700000" algn="ctr" rotWithShape="0">
                            <a:srgbClr val="EAEAEA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204" name="Rectangle 174"/>
                  <p:cNvSpPr>
                    <a:spLocks noChangeArrowheads="1"/>
                  </p:cNvSpPr>
                  <p:nvPr/>
                </p:nvSpPr>
                <p:spPr bwMode="gray">
                  <a:xfrm>
                    <a:off x="460" y="4255"/>
                    <a:ext cx="1088" cy="377"/>
                  </a:xfrm>
                  <a:prstGeom prst="rect">
                    <a:avLst/>
                  </a:prstGeom>
                  <a:gradFill rotWithShape="1">
                    <a:gsLst>
                      <a:gs pos="70000">
                        <a:srgbClr val="F5F5F5"/>
                      </a:gs>
                      <a:gs pos="0">
                        <a:srgbClr val="EAEAEA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635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1pPr>
                    <a:lvl2pPr marL="742950" indent="-28575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2pPr>
                    <a:lvl3pPr marL="11430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3pPr>
                    <a:lvl4pPr marL="16002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4pPr>
                    <a:lvl5pPr marL="20574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9pPr>
                  </a:lstStyle>
                  <a:p>
                    <a:pPr marL="0" marR="0" lvl="0" indent="0" algn="just" defTabSz="914400" eaLnBrk="0" fontAlgn="auto" latinLnBrk="0" hangingPunct="0">
                      <a:lnSpc>
                        <a:spcPct val="110000"/>
                      </a:lnSpc>
                      <a:spcBef>
                        <a:spcPct val="25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ko-KR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pic>
              <p:nvPicPr>
                <p:cNvPr id="202" name="Picture 19" descr="sq copy"/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 rot="5400000">
                  <a:off x="1764769" y="3825965"/>
                  <a:ext cx="203200" cy="5949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00" name="Rectangle 78"/>
              <p:cNvSpPr>
                <a:spLocks noChangeArrowheads="1"/>
              </p:cNvSpPr>
              <p:nvPr/>
            </p:nvSpPr>
            <p:spPr bwMode="gray">
              <a:xfrm>
                <a:off x="2154019" y="6858054"/>
                <a:ext cx="1873395" cy="303839"/>
              </a:xfrm>
              <a:prstGeom prst="roundRect">
                <a:avLst/>
              </a:prstGeom>
              <a:pattFill prst="dkUpDiag">
                <a:fgClr>
                  <a:srgbClr val="EAEAEA"/>
                </a:fgClr>
                <a:bgClr>
                  <a:srgbClr val="FFFFFF"/>
                </a:bgClr>
              </a:pattFill>
              <a:ln w="10160" algn="ctr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1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후보생행정</a:t>
                </a:r>
              </a:p>
            </p:txBody>
          </p:sp>
        </p:grpSp>
        <p:grpSp>
          <p:nvGrpSpPr>
            <p:cNvPr id="159" name="그룹 158"/>
            <p:cNvGrpSpPr/>
            <p:nvPr/>
          </p:nvGrpSpPr>
          <p:grpSpPr bwMode="gray">
            <a:xfrm>
              <a:off x="7949020" y="4065048"/>
              <a:ext cx="760267" cy="460760"/>
              <a:chOff x="2088592" y="6685820"/>
              <a:chExt cx="2004248" cy="620602"/>
            </a:xfrm>
          </p:grpSpPr>
          <p:grpSp>
            <p:nvGrpSpPr>
              <p:cNvPr id="193" name="그룹 192"/>
              <p:cNvGrpSpPr/>
              <p:nvPr/>
            </p:nvGrpSpPr>
            <p:grpSpPr bwMode="gray">
              <a:xfrm>
                <a:off x="2088592" y="6685820"/>
                <a:ext cx="2004248" cy="620602"/>
                <a:chOff x="864245" y="4021833"/>
                <a:chExt cx="2004248" cy="620602"/>
              </a:xfrm>
            </p:grpSpPr>
            <p:grpSp>
              <p:nvGrpSpPr>
                <p:cNvPr id="195" name="Group 172"/>
                <p:cNvGrpSpPr>
                  <a:grpSpLocks/>
                </p:cNvGrpSpPr>
                <p:nvPr/>
              </p:nvGrpSpPr>
              <p:grpSpPr bwMode="gray">
                <a:xfrm>
                  <a:off x="864245" y="4075803"/>
                  <a:ext cx="2004248" cy="566632"/>
                  <a:chOff x="460" y="4215"/>
                  <a:chExt cx="1088" cy="417"/>
                </a:xfrm>
              </p:grpSpPr>
              <p:sp>
                <p:nvSpPr>
                  <p:cNvPr id="197" name="LcS37" descr="도형-28"/>
                  <p:cNvSpPr>
                    <a:spLocks noChangeArrowheads="1"/>
                  </p:cNvSpPr>
                  <p:nvPr/>
                </p:nvSpPr>
                <p:spPr bwMode="gray">
                  <a:xfrm flipV="1">
                    <a:off x="473" y="4215"/>
                    <a:ext cx="1063" cy="23"/>
                  </a:xfrm>
                  <a:custGeom>
                    <a:avLst/>
                    <a:gdLst>
                      <a:gd name="T0" fmla="*/ 105684033 w 21600"/>
                      <a:gd name="T1" fmla="*/ 19 h 21600"/>
                      <a:gd name="T2" fmla="*/ 105684033 w 21600"/>
                      <a:gd name="T3" fmla="*/ 37 h 21600"/>
                      <a:gd name="T4" fmla="*/ 2933620 w 21600"/>
                      <a:gd name="T5" fmla="*/ 19 h 21600"/>
                      <a:gd name="T6" fmla="*/ 105684033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1971 w 21600"/>
                      <a:gd name="T13" fmla="*/ 1878 h 21600"/>
                      <a:gd name="T14" fmla="*/ 19629 w 21600"/>
                      <a:gd name="T15" fmla="*/ 19722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324" y="21600"/>
                        </a:lnTo>
                        <a:lnTo>
                          <a:pt x="2127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 dpi="0" rotWithShape="1">
                    <a:blip r:embed="rId15"/>
                    <a:srcRect/>
                    <a:stretch>
                      <a:fillRect/>
                    </a:stretch>
                  </a:blipFill>
                  <a:ln w="6350" cap="flat" cmpd="sng" algn="ctr">
                    <a:solidFill>
                      <a:srgbClr val="80B8DA"/>
                    </a:solidFill>
                    <a:prstDash val="solid"/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6941" dir="2700000" algn="ctr" rotWithShape="0">
                            <a:srgbClr val="EAEAEA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198" name="Rectangle 174"/>
                  <p:cNvSpPr>
                    <a:spLocks noChangeArrowheads="1"/>
                  </p:cNvSpPr>
                  <p:nvPr/>
                </p:nvSpPr>
                <p:spPr bwMode="gray">
                  <a:xfrm>
                    <a:off x="460" y="4255"/>
                    <a:ext cx="1088" cy="377"/>
                  </a:xfrm>
                  <a:prstGeom prst="rect">
                    <a:avLst/>
                  </a:prstGeom>
                  <a:gradFill rotWithShape="1">
                    <a:gsLst>
                      <a:gs pos="70000">
                        <a:srgbClr val="F5F5F5"/>
                      </a:gs>
                      <a:gs pos="0">
                        <a:srgbClr val="EAEAEA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635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1pPr>
                    <a:lvl2pPr marL="742950" indent="-28575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2pPr>
                    <a:lvl3pPr marL="11430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3pPr>
                    <a:lvl4pPr marL="16002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4pPr>
                    <a:lvl5pPr marL="2057400" indent="-228600"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defRPr>
                    </a:lvl9pPr>
                  </a:lstStyle>
                  <a:p>
                    <a:pPr marL="0" marR="0" lvl="0" indent="0" algn="just" defTabSz="914400" eaLnBrk="0" fontAlgn="auto" latinLnBrk="0" hangingPunct="0">
                      <a:lnSpc>
                        <a:spcPct val="110000"/>
                      </a:lnSpc>
                      <a:spcBef>
                        <a:spcPct val="25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ko-KR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pic>
              <p:nvPicPr>
                <p:cNvPr id="196" name="Picture 19" descr="sq copy"/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 rot="5400000">
                  <a:off x="1764769" y="3825965"/>
                  <a:ext cx="203200" cy="5949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94" name="Rectangle 78"/>
              <p:cNvSpPr>
                <a:spLocks noChangeArrowheads="1"/>
              </p:cNvSpPr>
              <p:nvPr/>
            </p:nvSpPr>
            <p:spPr bwMode="gray">
              <a:xfrm>
                <a:off x="2154019" y="6858054"/>
                <a:ext cx="1873395" cy="303839"/>
              </a:xfrm>
              <a:prstGeom prst="roundRect">
                <a:avLst/>
              </a:prstGeom>
              <a:pattFill prst="dkUpDiag">
                <a:fgClr>
                  <a:srgbClr val="EAEAEA"/>
                </a:fgClr>
                <a:bgClr>
                  <a:srgbClr val="FFFFFF"/>
                </a:bgClr>
              </a:pattFill>
              <a:ln w="10160" algn="ctr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1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  <a:sym typeface="Monotype Sorts"/>
                  </a:rPr>
                  <a:t>훈육업무</a:t>
                </a:r>
              </a:p>
            </p:txBody>
          </p:sp>
        </p:grpSp>
        <p:cxnSp>
          <p:nvCxnSpPr>
            <p:cNvPr id="160" name="꺾인 연결선 159"/>
            <p:cNvCxnSpPr>
              <a:stCxn id="276" idx="2"/>
            </p:cNvCxnSpPr>
            <p:nvPr/>
          </p:nvCxnSpPr>
          <p:spPr bwMode="auto">
            <a:xfrm rot="16200000" flipH="1">
              <a:off x="846041" y="2294715"/>
              <a:ext cx="184940" cy="536697"/>
            </a:xfrm>
            <a:prstGeom prst="bentConnector2">
              <a:avLst/>
            </a:prstGeom>
            <a:noFill/>
            <a:ln w="127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1" name="꺾인 연결선 160"/>
            <p:cNvCxnSpPr>
              <a:stCxn id="247" idx="2"/>
            </p:cNvCxnSpPr>
            <p:nvPr/>
          </p:nvCxnSpPr>
          <p:spPr bwMode="auto">
            <a:xfrm rot="5400000">
              <a:off x="8119694" y="2310776"/>
              <a:ext cx="206826" cy="526461"/>
            </a:xfrm>
            <a:prstGeom prst="bentConnector2">
              <a:avLst/>
            </a:prstGeom>
            <a:noFill/>
            <a:ln w="127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62" name="자유형 161"/>
            <p:cNvSpPr/>
            <p:nvPr/>
          </p:nvSpPr>
          <p:spPr>
            <a:xfrm>
              <a:off x="342043" y="2481147"/>
              <a:ext cx="854512" cy="481726"/>
            </a:xfrm>
            <a:custGeom>
              <a:avLst/>
              <a:gdLst>
                <a:gd name="connsiteX0" fmla="*/ 1323474 w 1323474"/>
                <a:gd name="connsiteY0" fmla="*/ 938464 h 938464"/>
                <a:gd name="connsiteX1" fmla="*/ 0 w 1323474"/>
                <a:gd name="connsiteY1" fmla="*/ 938464 h 938464"/>
                <a:gd name="connsiteX2" fmla="*/ 0 w 1323474"/>
                <a:gd name="connsiteY2" fmla="*/ 0 h 93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3474" h="938464">
                  <a:moveTo>
                    <a:pt x="1323474" y="938464"/>
                  </a:moveTo>
                  <a:lnTo>
                    <a:pt x="0" y="938464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1392238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" b="0" i="0" u="none" strike="noStrike" cap="none" normalizeH="0" baseline="0">
                <a:ln>
                  <a:noFill/>
                </a:ln>
                <a:solidFill>
                  <a:srgbClr val="4D4D4D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3" name="자유형 162"/>
            <p:cNvSpPr/>
            <p:nvPr/>
          </p:nvSpPr>
          <p:spPr>
            <a:xfrm flipH="1">
              <a:off x="7982725" y="2481147"/>
              <a:ext cx="819784" cy="481726"/>
            </a:xfrm>
            <a:custGeom>
              <a:avLst/>
              <a:gdLst>
                <a:gd name="connsiteX0" fmla="*/ 1323474 w 1323474"/>
                <a:gd name="connsiteY0" fmla="*/ 938464 h 938464"/>
                <a:gd name="connsiteX1" fmla="*/ 0 w 1323474"/>
                <a:gd name="connsiteY1" fmla="*/ 938464 h 938464"/>
                <a:gd name="connsiteX2" fmla="*/ 0 w 1323474"/>
                <a:gd name="connsiteY2" fmla="*/ 0 h 93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3474" h="938464">
                  <a:moveTo>
                    <a:pt x="1323474" y="938464"/>
                  </a:moveTo>
                  <a:lnTo>
                    <a:pt x="0" y="938464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1392238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" b="0" i="0" u="none" strike="noStrike" cap="none" normalizeH="0" baseline="0">
                <a:ln>
                  <a:noFill/>
                </a:ln>
                <a:solidFill>
                  <a:srgbClr val="4D4D4D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97362" y="2678409"/>
              <a:ext cx="883359" cy="17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교육계획표</a:t>
              </a:r>
              <a:r>
                <a:rPr lang="en-US" altLang="ko-KR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수업진도표</a:t>
              </a:r>
              <a:r>
                <a:rPr lang="en-US" altLang="ko-KR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</a:t>
              </a:r>
            </a:p>
            <a:p>
              <a:r>
                <a:rPr lang="ko-KR" altLang="en-US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성적입력</a:t>
              </a:r>
              <a:r>
                <a:rPr lang="en-US" altLang="ko-KR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처리</a:t>
              </a:r>
              <a:r>
                <a:rPr lang="en-US" altLang="ko-KR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의견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30906" y="2963309"/>
              <a:ext cx="883359" cy="17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교육성적</a:t>
              </a:r>
              <a:r>
                <a:rPr lang="en-US" altLang="ko-KR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훈육평가</a:t>
              </a:r>
              <a:r>
                <a:rPr lang="en-US" altLang="ko-KR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</a:t>
              </a:r>
            </a:p>
            <a:p>
              <a:pPr algn="r"/>
              <a:r>
                <a:rPr lang="ko-KR" altLang="en-US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교육훈련지원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680465" y="2664265"/>
              <a:ext cx="883359" cy="17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적성평가</a:t>
              </a:r>
              <a:r>
                <a:rPr lang="en-US" altLang="ko-KR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</a:t>
              </a:r>
            </a:p>
            <a:p>
              <a:pPr algn="r"/>
              <a:r>
                <a:rPr lang="ko-KR" altLang="en-US" sz="4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개인신상정보 입력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7965569" y="2963309"/>
              <a:ext cx="883359" cy="17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교육계획표</a:t>
              </a:r>
              <a:r>
                <a:rPr lang="en-US" altLang="ko-KR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성적 및</a:t>
              </a:r>
              <a:endParaRPr lang="en-US" altLang="ko-KR" sz="400" dirty="0">
                <a:solidFill>
                  <a:schemeClr val="accent2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ko-KR" altLang="en-US" sz="400" dirty="0">
                  <a:solidFill>
                    <a:schemeClr val="accent2">
                      <a:lumMod val="7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각종현황 조회</a:t>
              </a:r>
            </a:p>
          </p:txBody>
        </p:sp>
        <p:cxnSp>
          <p:nvCxnSpPr>
            <p:cNvPr id="168" name="직선 연결선 167"/>
            <p:cNvCxnSpPr/>
            <p:nvPr/>
          </p:nvCxnSpPr>
          <p:spPr bwMode="auto">
            <a:xfrm>
              <a:off x="1172095" y="3528253"/>
              <a:ext cx="138021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9" name="직선 연결선 168"/>
            <p:cNvCxnSpPr/>
            <p:nvPr/>
          </p:nvCxnSpPr>
          <p:spPr bwMode="auto">
            <a:xfrm>
              <a:off x="1172095" y="3912823"/>
              <a:ext cx="138021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0" name="직선 연결선 169"/>
            <p:cNvCxnSpPr/>
            <p:nvPr/>
          </p:nvCxnSpPr>
          <p:spPr bwMode="auto">
            <a:xfrm>
              <a:off x="1172095" y="4302194"/>
              <a:ext cx="138021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grpSp>
          <p:nvGrpSpPr>
            <p:cNvPr id="171" name="Group 715"/>
            <p:cNvGrpSpPr>
              <a:grpSpLocks/>
            </p:cNvGrpSpPr>
            <p:nvPr/>
          </p:nvGrpSpPr>
          <p:grpSpPr bwMode="auto">
            <a:xfrm>
              <a:off x="198015" y="3318825"/>
              <a:ext cx="227088" cy="1135503"/>
              <a:chOff x="124" y="2392"/>
              <a:chExt cx="591" cy="2448"/>
            </a:xfrm>
          </p:grpSpPr>
          <p:sp>
            <p:nvSpPr>
              <p:cNvPr id="191" name="AutoShape 273"/>
              <p:cNvSpPr>
                <a:spLocks noChangeArrowheads="1"/>
              </p:cNvSpPr>
              <p:nvPr/>
            </p:nvSpPr>
            <p:spPr bwMode="auto">
              <a:xfrm>
                <a:off x="248" y="2392"/>
                <a:ext cx="377" cy="2448"/>
              </a:xfrm>
              <a:prstGeom prst="upDownArrow">
                <a:avLst>
                  <a:gd name="adj1" fmla="val 67926"/>
                  <a:gd name="adj2" fmla="val 82881"/>
                </a:avLst>
              </a:prstGeom>
              <a:gradFill flip="none" rotWithShape="1">
                <a:gsLst>
                  <a:gs pos="51000">
                    <a:schemeClr val="accent2">
                      <a:lumMod val="20000"/>
                      <a:lumOff val="80000"/>
                    </a:schemeClr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  <a:gs pos="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  <a:tileRect/>
              </a:gradFill>
              <a:ln w="6350"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3059" tIns="33059" rIns="33059" bIns="33059" anchor="ctr"/>
              <a:lstStyle/>
              <a:p>
                <a:pPr algn="ctr" defTabSz="1003275" latinLnBrk="0">
                  <a:lnSpc>
                    <a:spcPts val="918"/>
                  </a:lnSpc>
                  <a:buClr>
                    <a:srgbClr val="3271AA"/>
                  </a:buClr>
                  <a:buSzPct val="140000"/>
                  <a:tabLst>
                    <a:tab pos="748312" algn="l"/>
                  </a:tabLst>
                </a:pPr>
                <a:endParaRPr lang="ko-KR" altLang="en-US" sz="400" kern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92" name="Text Box 290"/>
              <p:cNvSpPr txBox="1">
                <a:spLocks noChangeArrowheads="1"/>
              </p:cNvSpPr>
              <p:nvPr/>
            </p:nvSpPr>
            <p:spPr bwMode="auto">
              <a:xfrm>
                <a:off x="124" y="2887"/>
                <a:ext cx="591" cy="9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02830" tIns="51416" rIns="102830" bIns="51416">
                <a:spAutoFit/>
              </a:bodyPr>
              <a:lstStyle>
                <a:lvl1pPr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51435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02870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54305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요구기능</a:t>
                </a:r>
              </a:p>
            </p:txBody>
          </p:sp>
        </p:grpSp>
        <p:cxnSp>
          <p:nvCxnSpPr>
            <p:cNvPr id="172" name="직선 연결선 171"/>
            <p:cNvCxnSpPr/>
            <p:nvPr/>
          </p:nvCxnSpPr>
          <p:spPr bwMode="auto">
            <a:xfrm>
              <a:off x="7829725" y="3528253"/>
              <a:ext cx="138021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3" name="직선 연결선 172"/>
            <p:cNvCxnSpPr/>
            <p:nvPr/>
          </p:nvCxnSpPr>
          <p:spPr bwMode="auto">
            <a:xfrm>
              <a:off x="7829725" y="3912823"/>
              <a:ext cx="138021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4" name="직선 연결선 173"/>
            <p:cNvCxnSpPr/>
            <p:nvPr/>
          </p:nvCxnSpPr>
          <p:spPr bwMode="auto">
            <a:xfrm>
              <a:off x="7829725" y="4302194"/>
              <a:ext cx="138021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grpSp>
          <p:nvGrpSpPr>
            <p:cNvPr id="175" name="Group 715"/>
            <p:cNvGrpSpPr>
              <a:grpSpLocks/>
            </p:cNvGrpSpPr>
            <p:nvPr/>
          </p:nvGrpSpPr>
          <p:grpSpPr bwMode="auto">
            <a:xfrm>
              <a:off x="8724824" y="3318825"/>
              <a:ext cx="227088" cy="1135503"/>
              <a:chOff x="124" y="2392"/>
              <a:chExt cx="591" cy="2448"/>
            </a:xfrm>
          </p:grpSpPr>
          <p:sp>
            <p:nvSpPr>
              <p:cNvPr id="189" name="AutoShape 273"/>
              <p:cNvSpPr>
                <a:spLocks noChangeArrowheads="1"/>
              </p:cNvSpPr>
              <p:nvPr/>
            </p:nvSpPr>
            <p:spPr bwMode="auto">
              <a:xfrm>
                <a:off x="248" y="2392"/>
                <a:ext cx="377" cy="2448"/>
              </a:xfrm>
              <a:prstGeom prst="upDownArrow">
                <a:avLst>
                  <a:gd name="adj1" fmla="val 67926"/>
                  <a:gd name="adj2" fmla="val 82881"/>
                </a:avLst>
              </a:prstGeom>
              <a:gradFill flip="none" rotWithShape="1">
                <a:gsLst>
                  <a:gs pos="51000">
                    <a:schemeClr val="accent6">
                      <a:lumMod val="20000"/>
                      <a:lumOff val="80000"/>
                    </a:schemeClr>
                  </a:gs>
                  <a:gs pos="100000">
                    <a:schemeClr val="accent6">
                      <a:lumMod val="40000"/>
                      <a:lumOff val="60000"/>
                    </a:schemeClr>
                  </a:gs>
                  <a:gs pos="0">
                    <a:schemeClr val="accent6">
                      <a:lumMod val="40000"/>
                      <a:lumOff val="60000"/>
                    </a:schemeClr>
                  </a:gs>
                </a:gsLst>
                <a:lin ang="5400000" scaled="1"/>
                <a:tileRect/>
              </a:gradFill>
              <a:ln w="6350"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3059" tIns="33059" rIns="33059" bIns="33059" anchor="ctr"/>
              <a:lstStyle/>
              <a:p>
                <a:pPr algn="ctr" defTabSz="1003275" latinLnBrk="0">
                  <a:lnSpc>
                    <a:spcPts val="918"/>
                  </a:lnSpc>
                  <a:buClr>
                    <a:srgbClr val="3271AA"/>
                  </a:buClr>
                  <a:buSzPct val="140000"/>
                  <a:tabLst>
                    <a:tab pos="748312" algn="l"/>
                  </a:tabLst>
                </a:pPr>
                <a:endParaRPr lang="ko-KR" altLang="en-US" sz="400" kern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90" name="Text Box 290"/>
              <p:cNvSpPr txBox="1">
                <a:spLocks noChangeArrowheads="1"/>
              </p:cNvSpPr>
              <p:nvPr/>
            </p:nvSpPr>
            <p:spPr bwMode="auto">
              <a:xfrm>
                <a:off x="124" y="2887"/>
                <a:ext cx="591" cy="9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02830" tIns="51416" rIns="102830" bIns="51416">
                <a:spAutoFit/>
              </a:bodyPr>
              <a:lstStyle>
                <a:lvl1pPr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51435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02870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54305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요구기능</a:t>
                </a:r>
              </a:p>
            </p:txBody>
          </p:sp>
        </p:grpSp>
        <p:grpSp>
          <p:nvGrpSpPr>
            <p:cNvPr id="176" name="그룹 175"/>
            <p:cNvGrpSpPr/>
            <p:nvPr/>
          </p:nvGrpSpPr>
          <p:grpSpPr>
            <a:xfrm>
              <a:off x="6683860" y="1814714"/>
              <a:ext cx="1045707" cy="2372585"/>
              <a:chOff x="7424987" y="7477785"/>
              <a:chExt cx="4828578" cy="1910342"/>
            </a:xfrm>
          </p:grpSpPr>
          <p:sp>
            <p:nvSpPr>
              <p:cNvPr id="187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7424987" y="7477785"/>
                <a:ext cx="4828578" cy="1910342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12700" algn="ctr">
                <a:solidFill>
                  <a:srgbClr val="6A9FC6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lIns="90000" tIns="46800" rIns="10800" bIns="46800"/>
              <a:lstStyle>
                <a:lvl1pPr marL="71438" indent="-71438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71438" marR="0" lvl="0" indent="-71438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6666"/>
                  </a:buClr>
                  <a:buSzTx/>
                  <a:buFontTx/>
                  <a:buNone/>
                  <a:tabLst/>
                  <a:defRPr/>
                </a:pPr>
                <a:endParaRPr kumimoji="1" lang="ko-KR" altLang="ko-KR" sz="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188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7966298" y="7480870"/>
                <a:ext cx="3747227" cy="153271"/>
              </a:xfrm>
              <a:prstGeom prst="roundRect">
                <a:avLst>
                  <a:gd name="adj" fmla="val 10000"/>
                </a:avLst>
              </a:prstGeom>
              <a:blipFill dpi="0" rotWithShape="1">
                <a:blip r:embed="rId13"/>
                <a:srcRect/>
                <a:stretch>
                  <a:fillRect/>
                </a:stretch>
              </a:blipFill>
              <a:ln w="6350" algn="ctr">
                <a:solidFill>
                  <a:srgbClr val="518EBB"/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2E6BA1"/>
                </a:outerShdw>
              </a:effectLst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0" fontAlgn="ctr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kern="0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연계</a:t>
                </a:r>
                <a:r>
                  <a:rPr kumimoji="0" lang="en-US" altLang="ko-KR" sz="800" kern="0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(</a:t>
                </a:r>
                <a:r>
                  <a:rPr kumimoji="0" lang="ko-KR" altLang="en-US" sz="800" kern="0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연동</a:t>
                </a:r>
                <a:r>
                  <a:rPr kumimoji="0" lang="en-US" altLang="ko-KR" sz="800" kern="0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)</a:t>
                </a:r>
                <a:r>
                  <a:rPr kumimoji="0" lang="ko-KR" altLang="en-US" sz="800" kern="0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 시스템</a:t>
                </a:r>
              </a:p>
            </p:txBody>
          </p:sp>
        </p:grpSp>
        <p:sp>
          <p:nvSpPr>
            <p:cNvPr id="17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718260" y="2091184"/>
              <a:ext cx="973441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외부 연계 시스템</a:t>
              </a:r>
            </a:p>
          </p:txBody>
        </p:sp>
        <p:sp>
          <p:nvSpPr>
            <p:cNvPr id="17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718260" y="3916800"/>
              <a:ext cx="973441" cy="2078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anchor="ctr"/>
            <a:lstStyle>
              <a:defPPr>
                <a:defRPr lang="ko-KR"/>
              </a:defPPr>
              <a:lvl1pPr marL="0" algn="ctr" defTabSz="1043056" eaLnBrk="0" latinLnBrk="0" hangingPunct="0">
                <a:tabLst>
                  <a:tab pos="2692400" algn="l"/>
                  <a:tab pos="5648325" algn="l"/>
                </a:tabLst>
                <a:defRPr sz="900">
                  <a:ln w="11430">
                    <a:noFill/>
                  </a:ln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defTabSz="914400" eaLnBrk="1" hangingPunct="1">
                <a:defRPr sz="1800"/>
              </a:lvl2pPr>
              <a:lvl3pPr defTabSz="914400" eaLnBrk="1" hangingPunct="1">
                <a:defRPr sz="1800"/>
              </a:lvl3pPr>
              <a:lvl4pPr defTabSz="914400" eaLnBrk="1" hangingPunct="1">
                <a:defRPr sz="1800"/>
              </a:lvl4pPr>
              <a:lvl5pPr defTabSz="914400" eaLnBrk="1" hangingPunct="1">
                <a:defRPr sz="1800"/>
              </a:lvl5pPr>
              <a:lvl6pPr>
                <a:defRPr sz="1800"/>
              </a:lvl6pPr>
              <a:lvl7pPr>
                <a:defRPr sz="1800"/>
              </a:lvl7pPr>
              <a:lvl8pPr>
                <a:defRPr sz="1800"/>
              </a:lvl8pPr>
              <a:lvl9pPr>
                <a:defRPr sz="1800"/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내부 연계 시스템</a:t>
              </a:r>
            </a:p>
          </p:txBody>
        </p:sp>
        <p:pic>
          <p:nvPicPr>
            <p:cNvPr id="179" name="Picture 3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8260" y="2899672"/>
              <a:ext cx="955064" cy="717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0" name="Picture 2" descr="êµ­ë°©ì¸ì¬ì²´ê³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9202" y="2357128"/>
              <a:ext cx="937971" cy="630506"/>
            </a:xfrm>
            <a:prstGeom prst="roundRect">
              <a:avLst>
                <a:gd name="adj" fmla="val 3063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  <a:extLst/>
          </p:spPr>
        </p:pic>
        <p:sp>
          <p:nvSpPr>
            <p:cNvPr id="18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724520" y="3387919"/>
              <a:ext cx="660893" cy="466744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교관평가용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5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모바일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5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테블릿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</p:txBody>
        </p:sp>
        <p:sp>
          <p:nvSpPr>
            <p:cNvPr id="182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6724521" y="3230254"/>
              <a:ext cx="939136" cy="138577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6350">
              <a:solidFill>
                <a:schemeClr val="accent1">
                  <a:lumMod val="9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 sz="900" kern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 Bold" pitchFamily="50" charset="-127"/>
                  <a:ea typeface="나눔고딕 Bold" pitchFamily="50" charset="-127"/>
                  <a:cs typeface="Arial" pitchFamily="34" charset="0"/>
                </a:defRPr>
              </a:lvl1pPr>
              <a:lvl2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2pPr>
              <a:lvl3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3pPr>
              <a:lvl4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4pPr>
              <a:lvl5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5pPr>
              <a:lvl6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6pPr>
              <a:lvl7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7pPr>
              <a:lvl8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8pPr>
              <a:lvl9pPr>
                <a:defRPr>
                  <a:solidFill>
                    <a:srgbClr val="4D4D4D"/>
                  </a:solidFill>
                  <a:latin typeface="Arial Narrow" pitchFamily="34" charset="0"/>
                  <a:ea typeface="맑은 고딕" pitchFamily="50" charset="-127"/>
                </a:defRPr>
              </a:lvl9pPr>
            </a:lstStyle>
            <a:p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학교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시설정보체계</a:t>
              </a:r>
              <a:r>
                <a:rPr lang="en-US" altLang="ko-KR" sz="500" dirty="0">
                  <a:latin typeface="굴림" panose="020B0600000101010101" pitchFamily="50" charset="-127"/>
                  <a:ea typeface="굴림" panose="020B0600000101010101" pitchFamily="50" charset="-127"/>
                </a:rPr>
                <a:t>(FMS)</a:t>
              </a:r>
              <a:endParaRPr lang="ko-KR" altLang="en-US" sz="5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183" name="그룹 182"/>
            <p:cNvGrpSpPr/>
            <p:nvPr/>
          </p:nvGrpSpPr>
          <p:grpSpPr>
            <a:xfrm>
              <a:off x="7409387" y="3386399"/>
              <a:ext cx="261852" cy="477143"/>
              <a:chOff x="11055424" y="5195966"/>
              <a:chExt cx="517921" cy="841023"/>
            </a:xfrm>
          </p:grpSpPr>
          <p:pic>
            <p:nvPicPr>
              <p:cNvPr id="185" name="Picture 2" descr="C:\Users\JinhaHwang\Desktop\모바일_일간.png"/>
              <p:cNvPicPr>
                <a:picLocks noChangeAspect="1" noChangeArrowheads="1"/>
              </p:cNvPicPr>
              <p:nvPr/>
            </p:nvPicPr>
            <p:blipFill rotWithShape="1"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90" t="1429" r="15417" b="1565"/>
              <a:stretch/>
            </p:blipFill>
            <p:spPr bwMode="gray">
              <a:xfrm>
                <a:off x="11055424" y="5195966"/>
                <a:ext cx="517921" cy="8410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6" name="직사각형 185"/>
              <p:cNvSpPr/>
              <p:nvPr/>
            </p:nvSpPr>
            <p:spPr>
              <a:xfrm>
                <a:off x="11085100" y="5310499"/>
                <a:ext cx="328463" cy="173610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1392238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200" b="0" i="0" u="none" strike="noStrike" cap="none" normalizeH="0" baseline="0">
                  <a:ln>
                    <a:noFill/>
                  </a:ln>
                  <a:solidFill>
                    <a:srgbClr val="4D4D4D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184" name="TextBox 183"/>
            <p:cNvSpPr txBox="1"/>
            <p:nvPr/>
          </p:nvSpPr>
          <p:spPr>
            <a:xfrm rot="19974653">
              <a:off x="6862240" y="2591980"/>
              <a:ext cx="702620" cy="13543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FF"/>
              </a:solidFill>
              <a:prstDash val="sysDot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kern="0" dirty="0">
                  <a:ln w="11430"/>
                  <a:solidFill>
                    <a:schemeClr val="tx1">
                      <a:lumMod val="75000"/>
                      <a:lumOff val="2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국방인사정보체계</a:t>
              </a:r>
            </a:p>
          </p:txBody>
        </p:sp>
      </p:grpSp>
      <p:sp>
        <p:nvSpPr>
          <p:cNvPr id="288" name="직사각형 287"/>
          <p:cNvSpPr/>
          <p:nvPr/>
        </p:nvSpPr>
        <p:spPr bwMode="auto">
          <a:xfrm>
            <a:off x="761386" y="2661288"/>
            <a:ext cx="7810866" cy="458036"/>
          </a:xfrm>
          <a:prstGeom prst="rect">
            <a:avLst/>
          </a:prstGeom>
          <a:gradFill flip="none" rotWithShape="1">
            <a:gsLst>
              <a:gs pos="0">
                <a:srgbClr val="CDE2FB">
                  <a:alpha val="0"/>
                </a:srgbClr>
              </a:gs>
              <a:gs pos="0">
                <a:srgbClr val="CDE2FB"/>
              </a:gs>
              <a:gs pos="68000">
                <a:srgbClr val="CDE2FB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456805" lvl="1" defTabSz="913607" latinLnBrk="0"/>
            <a:endParaRPr lang="ko-KR" altLang="en-US" sz="18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4" name="직사각형 293"/>
          <p:cNvSpPr/>
          <p:nvPr/>
        </p:nvSpPr>
        <p:spPr bwMode="auto">
          <a:xfrm>
            <a:off x="761387" y="2661288"/>
            <a:ext cx="362871" cy="458036"/>
          </a:xfrm>
          <a:prstGeom prst="rect">
            <a:avLst/>
          </a:prstGeom>
          <a:gradFill flip="none" rotWithShape="1">
            <a:gsLst>
              <a:gs pos="2000">
                <a:srgbClr val="66A31D"/>
              </a:gs>
              <a:gs pos="92000">
                <a:srgbClr val="92D050"/>
              </a:gs>
              <a:gs pos="100000">
                <a:srgbClr val="66A31D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456805" lvl="1" defTabSz="913607" latinLnBrk="0"/>
            <a:endParaRPr lang="ko-KR" altLang="en-US" sz="18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0" name="모서리가 둥근 직사각형 289"/>
          <p:cNvSpPr/>
          <p:nvPr/>
        </p:nvSpPr>
        <p:spPr>
          <a:xfrm>
            <a:off x="1383599" y="2743117"/>
            <a:ext cx="1692771" cy="279678"/>
          </a:xfrm>
          <a:prstGeom prst="roundRect">
            <a:avLst>
              <a:gd name="adj" fmla="val 2561"/>
            </a:avLst>
          </a:prstGeom>
          <a:noFill/>
          <a:ln w="9525" algn="ctr">
            <a:noFill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indent="-76141" defTabSz="912701" latinLnBrk="0"/>
            <a:r>
              <a:rPr lang="ko-KR" altLang="en-US" sz="18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목표체계 구성도</a:t>
            </a:r>
          </a:p>
        </p:txBody>
      </p:sp>
      <p:sp>
        <p:nvSpPr>
          <p:cNvPr id="291" name="직사각형 290"/>
          <p:cNvSpPr/>
          <p:nvPr/>
        </p:nvSpPr>
        <p:spPr bwMode="auto">
          <a:xfrm rot="2700000">
            <a:off x="1218557" y="2810537"/>
            <a:ext cx="59765" cy="59766"/>
          </a:xfrm>
          <a:prstGeom prst="rect">
            <a:avLst/>
          </a:prstGeom>
          <a:solidFill>
            <a:srgbClr val="899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913607" latinLnBrk="0">
              <a:defRPr/>
            </a:pPr>
            <a:endParaRPr lang="ko-KR" altLang="en-US" sz="16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2" name="직사각형 291"/>
          <p:cNvSpPr/>
          <p:nvPr/>
        </p:nvSpPr>
        <p:spPr bwMode="auto">
          <a:xfrm rot="2700000">
            <a:off x="1218557" y="2901382"/>
            <a:ext cx="59765" cy="59766"/>
          </a:xfrm>
          <a:prstGeom prst="rect">
            <a:avLst/>
          </a:prstGeom>
          <a:solidFill>
            <a:srgbClr val="899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913607" latinLnBrk="0">
              <a:defRPr/>
            </a:pPr>
            <a:endParaRPr lang="ko-KR" altLang="en-US" sz="16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3" name="직사각형 292"/>
          <p:cNvSpPr/>
          <p:nvPr/>
        </p:nvSpPr>
        <p:spPr bwMode="auto">
          <a:xfrm rot="2700000">
            <a:off x="1259197" y="2855959"/>
            <a:ext cx="59766" cy="59767"/>
          </a:xfrm>
          <a:prstGeom prst="rect">
            <a:avLst/>
          </a:prstGeom>
          <a:solidFill>
            <a:srgbClr val="C7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913607" latinLnBrk="0">
              <a:defRPr/>
            </a:pPr>
            <a:endParaRPr lang="ko-KR" altLang="en-US" sz="16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616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/>
          <p:cNvGrpSpPr/>
          <p:nvPr/>
        </p:nvGrpSpPr>
        <p:grpSpPr>
          <a:xfrm>
            <a:off x="1252450" y="5793612"/>
            <a:ext cx="7810866" cy="1316306"/>
            <a:chOff x="1252450" y="4469977"/>
            <a:chExt cx="7810866" cy="1316306"/>
          </a:xfrm>
        </p:grpSpPr>
        <p:sp>
          <p:nvSpPr>
            <p:cNvPr id="53" name="직사각형 52"/>
            <p:cNvSpPr/>
            <p:nvPr/>
          </p:nvSpPr>
          <p:spPr bwMode="auto">
            <a:xfrm>
              <a:off x="1252450" y="4469977"/>
              <a:ext cx="7810866" cy="458036"/>
            </a:xfrm>
            <a:prstGeom prst="rect">
              <a:avLst/>
            </a:prstGeom>
            <a:gradFill flip="none" rotWithShape="1">
              <a:gsLst>
                <a:gs pos="0">
                  <a:srgbClr val="CDE2FB">
                    <a:alpha val="0"/>
                  </a:srgbClr>
                </a:gs>
                <a:gs pos="0">
                  <a:srgbClr val="CDE2FB"/>
                </a:gs>
                <a:gs pos="68000">
                  <a:srgbClr val="CDE2FB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456805" lvl="1" defTabSz="913607" latinLnBrk="0"/>
              <a:endParaRPr lang="ko-KR" altLang="en-US" sz="18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57" name="그룹 56"/>
            <p:cNvGrpSpPr/>
            <p:nvPr/>
          </p:nvGrpSpPr>
          <p:grpSpPr>
            <a:xfrm>
              <a:off x="1252451" y="4469977"/>
              <a:ext cx="557618" cy="458036"/>
              <a:chOff x="1252451" y="4469977"/>
              <a:chExt cx="557618" cy="458036"/>
            </a:xfrm>
          </p:grpSpPr>
          <p:sp>
            <p:nvSpPr>
              <p:cNvPr id="77" name="직사각형 76"/>
              <p:cNvSpPr/>
              <p:nvPr/>
            </p:nvSpPr>
            <p:spPr bwMode="auto">
              <a:xfrm>
                <a:off x="1252451" y="4469977"/>
                <a:ext cx="557618" cy="458036"/>
              </a:xfrm>
              <a:prstGeom prst="rect">
                <a:avLst/>
              </a:prstGeom>
              <a:gradFill flip="none" rotWithShape="1">
                <a:gsLst>
                  <a:gs pos="2000">
                    <a:srgbClr val="66A31D"/>
                  </a:gs>
                  <a:gs pos="92000">
                    <a:srgbClr val="92D050"/>
                  </a:gs>
                  <a:gs pos="100000">
                    <a:srgbClr val="66A31D"/>
                  </a:gs>
                </a:gsLst>
                <a:lin ang="5400000" scaled="1"/>
                <a:tileRect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456805" lvl="1" defTabSz="913607" latinLnBrk="0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88" name="직사각형 87"/>
              <p:cNvSpPr/>
              <p:nvPr/>
            </p:nvSpPr>
            <p:spPr>
              <a:xfrm>
                <a:off x="1330045" y="4494606"/>
                <a:ext cx="368691" cy="38472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latinLnBrk="0"/>
                <a:r>
                  <a:rPr lang="en-US" altLang="ko-KR" sz="25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04</a:t>
                </a:r>
                <a:endParaRPr lang="ko-KR" altLang="en-US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61" name="모서리가 둥근 직사각형 60"/>
            <p:cNvSpPr/>
            <p:nvPr/>
          </p:nvSpPr>
          <p:spPr>
            <a:xfrm>
              <a:off x="2097551" y="4551806"/>
              <a:ext cx="1461939" cy="279678"/>
            </a:xfrm>
            <a:prstGeom prst="roundRect">
              <a:avLst>
                <a:gd name="adj" fmla="val 2561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innerShdw blurRad="50800">
                <a:schemeClr val="bg1">
                  <a:lumMod val="50000"/>
                </a:schemeClr>
              </a:innerShdw>
            </a:effec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indent="-76141" defTabSz="912701" latinLnBrk="0"/>
              <a:r>
                <a:rPr lang="ko-KR" altLang="en-US" sz="18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사업관리 측면</a:t>
              </a:r>
            </a:p>
          </p:txBody>
        </p:sp>
        <p:sp>
          <p:nvSpPr>
            <p:cNvPr id="65" name="직사각형 64"/>
            <p:cNvSpPr/>
            <p:nvPr/>
          </p:nvSpPr>
          <p:spPr bwMode="auto">
            <a:xfrm rot="2700000">
              <a:off x="1932509" y="4619226"/>
              <a:ext cx="59765" cy="59766"/>
            </a:xfrm>
            <a:prstGeom prst="rect">
              <a:avLst/>
            </a:prstGeom>
            <a:solidFill>
              <a:srgbClr val="899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3607" latinLnBrk="0">
                <a:defRPr/>
              </a:pPr>
              <a:endParaRPr lang="ko-KR" altLang="en-US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 bwMode="auto">
            <a:xfrm rot="2700000">
              <a:off x="1932509" y="4710071"/>
              <a:ext cx="59765" cy="59766"/>
            </a:xfrm>
            <a:prstGeom prst="rect">
              <a:avLst/>
            </a:prstGeom>
            <a:solidFill>
              <a:srgbClr val="899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3607" latinLnBrk="0">
                <a:defRPr/>
              </a:pPr>
              <a:endParaRPr lang="ko-KR" altLang="en-US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 bwMode="auto">
            <a:xfrm rot="2700000">
              <a:off x="1973149" y="4664648"/>
              <a:ext cx="59766" cy="59767"/>
            </a:xfrm>
            <a:prstGeom prst="rect">
              <a:avLst/>
            </a:prstGeom>
            <a:solidFill>
              <a:srgbClr val="C700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3607" latinLnBrk="0">
                <a:defRPr/>
              </a:pPr>
              <a:endParaRPr lang="ko-KR" altLang="en-US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2112495" y="5056013"/>
              <a:ext cx="5440592" cy="730270"/>
            </a:xfrm>
            <a:prstGeom prst="roundRect">
              <a:avLst>
                <a:gd name="adj" fmla="val 2561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innerShdw blurRad="50800">
                <a:schemeClr val="bg1">
                  <a:lumMod val="50000"/>
                </a:schemeClr>
              </a:innerShdw>
            </a:effec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분석 단계부터 검수까지 사업 전 과정 관련 부서와 적극협조 필요 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개발 초기단계부터 철저한 품질 관리체계 구축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국방 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CBD 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방법론을 적용하여 개발 및 산출물 작성</a:t>
              </a: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1252450" y="2780623"/>
            <a:ext cx="8298179" cy="1061232"/>
            <a:chOff x="1252450" y="2689260"/>
            <a:chExt cx="8298179" cy="1061232"/>
          </a:xfrm>
        </p:grpSpPr>
        <p:grpSp>
          <p:nvGrpSpPr>
            <p:cNvPr id="95" name="그룹 94"/>
            <p:cNvGrpSpPr/>
            <p:nvPr/>
          </p:nvGrpSpPr>
          <p:grpSpPr>
            <a:xfrm>
              <a:off x="1252450" y="2689260"/>
              <a:ext cx="7810866" cy="458036"/>
              <a:chOff x="1252450" y="2689260"/>
              <a:chExt cx="7810866" cy="458036"/>
            </a:xfrm>
          </p:grpSpPr>
          <p:sp>
            <p:nvSpPr>
              <p:cNvPr id="97" name="직사각형 96"/>
              <p:cNvSpPr/>
              <p:nvPr/>
            </p:nvSpPr>
            <p:spPr bwMode="auto">
              <a:xfrm>
                <a:off x="1252450" y="2689260"/>
                <a:ext cx="7810866" cy="458036"/>
              </a:xfrm>
              <a:prstGeom prst="rect">
                <a:avLst/>
              </a:prstGeom>
              <a:gradFill flip="none" rotWithShape="1">
                <a:gsLst>
                  <a:gs pos="0">
                    <a:srgbClr val="CDE2FB">
                      <a:alpha val="0"/>
                    </a:srgbClr>
                  </a:gs>
                  <a:gs pos="0">
                    <a:srgbClr val="CDE2FB"/>
                  </a:gs>
                  <a:gs pos="68000">
                    <a:srgbClr val="CDE2FB"/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456805" lvl="1" defTabSz="913607" latinLnBrk="0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98" name="직사각형 97"/>
              <p:cNvSpPr/>
              <p:nvPr/>
            </p:nvSpPr>
            <p:spPr bwMode="auto">
              <a:xfrm>
                <a:off x="1252451" y="2689260"/>
                <a:ext cx="557618" cy="458036"/>
              </a:xfrm>
              <a:prstGeom prst="rect">
                <a:avLst/>
              </a:prstGeom>
              <a:gradFill flip="none" rotWithShape="1">
                <a:gsLst>
                  <a:gs pos="2000">
                    <a:srgbClr val="66A31D"/>
                  </a:gs>
                  <a:gs pos="92000">
                    <a:srgbClr val="92D050"/>
                  </a:gs>
                  <a:gs pos="100000">
                    <a:srgbClr val="66A31D"/>
                  </a:gs>
                </a:gsLst>
                <a:lin ang="5400000" scaled="1"/>
                <a:tileRect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456805" lvl="1" defTabSz="913607" latinLnBrk="0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1330045" y="2713889"/>
                <a:ext cx="368691" cy="38472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latinLnBrk="0"/>
                <a:r>
                  <a:rPr lang="en-US" altLang="ko-KR" sz="25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02</a:t>
                </a:r>
                <a:endParaRPr lang="ko-KR" altLang="en-US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00" name="모서리가 둥근 직사각형 99"/>
              <p:cNvSpPr/>
              <p:nvPr/>
            </p:nvSpPr>
            <p:spPr>
              <a:xfrm>
                <a:off x="2097551" y="2771089"/>
                <a:ext cx="1769715" cy="279678"/>
              </a:xfrm>
              <a:prstGeom prst="roundRect">
                <a:avLst>
                  <a:gd name="adj" fmla="val 2561"/>
                </a:avLst>
              </a:prstGeom>
              <a:noFill/>
              <a:ln w="9525" algn="ctr">
                <a:noFill/>
                <a:round/>
                <a:headEnd/>
                <a:tailEnd/>
              </a:ln>
              <a:effectLst>
                <a:innerShdw blurRad="50800">
                  <a:schemeClr val="bg1">
                    <a:lumMod val="50000"/>
                  </a:schemeClr>
                </a:innerShdw>
              </a:effectLst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indent="-76141" defTabSz="912701" latinLnBrk="0"/>
                <a:r>
                  <a:rPr lang="ko-KR" altLang="en-US" sz="18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서비스 제공 측면</a:t>
                </a:r>
              </a:p>
            </p:txBody>
          </p:sp>
          <p:sp>
            <p:nvSpPr>
              <p:cNvPr id="101" name="직사각형 100"/>
              <p:cNvSpPr/>
              <p:nvPr/>
            </p:nvSpPr>
            <p:spPr bwMode="auto">
              <a:xfrm rot="2700000">
                <a:off x="1932509" y="2838509"/>
                <a:ext cx="59765" cy="59766"/>
              </a:xfrm>
              <a:prstGeom prst="rect">
                <a:avLst/>
              </a:prstGeom>
              <a:solidFill>
                <a:srgbClr val="899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913607" latinLnBrk="0">
                  <a:defRPr/>
                </a:pPr>
                <a:endParaRPr lang="ko-KR" altLang="en-US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 bwMode="auto">
              <a:xfrm rot="2700000">
                <a:off x="1932509" y="2929354"/>
                <a:ext cx="59765" cy="59766"/>
              </a:xfrm>
              <a:prstGeom prst="rect">
                <a:avLst/>
              </a:prstGeom>
              <a:solidFill>
                <a:srgbClr val="899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913607" latinLnBrk="0">
                  <a:defRPr/>
                </a:pPr>
                <a:endParaRPr lang="ko-KR" altLang="en-US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 bwMode="auto">
              <a:xfrm rot="2700000">
                <a:off x="1973149" y="2883931"/>
                <a:ext cx="59766" cy="59767"/>
              </a:xfrm>
              <a:prstGeom prst="rect">
                <a:avLst/>
              </a:prstGeom>
              <a:solidFill>
                <a:srgbClr val="C700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913607" latinLnBrk="0">
                  <a:defRPr/>
                </a:pPr>
                <a:endParaRPr lang="ko-KR" altLang="en-US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96" name="모서리가 둥근 직사각형 95"/>
            <p:cNvSpPr/>
            <p:nvPr/>
          </p:nvSpPr>
          <p:spPr>
            <a:xfrm>
              <a:off x="2136740" y="3276593"/>
              <a:ext cx="7413889" cy="473899"/>
            </a:xfrm>
            <a:prstGeom prst="roundRect">
              <a:avLst>
                <a:gd name="adj" fmla="val 2561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innerShdw blurRad="50800">
                <a:schemeClr val="bg1">
                  <a:lumMod val="50000"/>
                </a:schemeClr>
              </a:innerShdw>
            </a:effec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현 홈페이지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교육정보종합 업무의 개선방안 도출 및 최신 웹 </a:t>
              </a:r>
              <a:r>
                <a:rPr kumimoji="1" lang="ko-KR" altLang="en-US" sz="14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트렌드를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반영한 디자인 적용</a:t>
              </a:r>
            </a:p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다양한 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O/S 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및 브라우저 지원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4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보안성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충족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1252450" y="1368301"/>
            <a:ext cx="7810866" cy="1010453"/>
            <a:chOff x="1252450" y="1798907"/>
            <a:chExt cx="7810866" cy="1010453"/>
          </a:xfrm>
        </p:grpSpPr>
        <p:grpSp>
          <p:nvGrpSpPr>
            <p:cNvPr id="105" name="그룹 104"/>
            <p:cNvGrpSpPr/>
            <p:nvPr/>
          </p:nvGrpSpPr>
          <p:grpSpPr>
            <a:xfrm>
              <a:off x="1252450" y="1798907"/>
              <a:ext cx="7810866" cy="458036"/>
              <a:chOff x="1252450" y="1798907"/>
              <a:chExt cx="7810866" cy="458036"/>
            </a:xfrm>
          </p:grpSpPr>
          <p:sp>
            <p:nvSpPr>
              <p:cNvPr id="107" name="직사각형 106"/>
              <p:cNvSpPr/>
              <p:nvPr/>
            </p:nvSpPr>
            <p:spPr bwMode="auto">
              <a:xfrm>
                <a:off x="1252450" y="1798907"/>
                <a:ext cx="7810866" cy="458036"/>
              </a:xfrm>
              <a:prstGeom prst="rect">
                <a:avLst/>
              </a:prstGeom>
              <a:gradFill flip="none" rotWithShape="1">
                <a:gsLst>
                  <a:gs pos="0">
                    <a:srgbClr val="CDE2FB">
                      <a:alpha val="0"/>
                    </a:srgbClr>
                  </a:gs>
                  <a:gs pos="0">
                    <a:srgbClr val="CDE2FB"/>
                  </a:gs>
                  <a:gs pos="68000">
                    <a:srgbClr val="CDE2FB"/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456805" lvl="1" defTabSz="913607" latinLnBrk="0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08" name="그룹 107"/>
              <p:cNvGrpSpPr/>
              <p:nvPr/>
            </p:nvGrpSpPr>
            <p:grpSpPr>
              <a:xfrm>
                <a:off x="1252451" y="1798907"/>
                <a:ext cx="557618" cy="458036"/>
                <a:chOff x="1252451" y="1798907"/>
                <a:chExt cx="557618" cy="458036"/>
              </a:xfrm>
            </p:grpSpPr>
            <p:sp>
              <p:nvSpPr>
                <p:cNvPr id="113" name="직사각형 112"/>
                <p:cNvSpPr/>
                <p:nvPr/>
              </p:nvSpPr>
              <p:spPr bwMode="auto">
                <a:xfrm>
                  <a:off x="1252451" y="1798907"/>
                  <a:ext cx="557618" cy="458036"/>
                </a:xfrm>
                <a:prstGeom prst="rect">
                  <a:avLst/>
                </a:prstGeom>
                <a:gradFill flip="none" rotWithShape="1">
                  <a:gsLst>
                    <a:gs pos="2000">
                      <a:srgbClr val="66A31D"/>
                    </a:gs>
                    <a:gs pos="92000">
                      <a:srgbClr val="92D050"/>
                    </a:gs>
                    <a:gs pos="100000">
                      <a:srgbClr val="66A31D"/>
                    </a:gs>
                  </a:gsLst>
                  <a:lin ang="5400000" scaled="1"/>
                  <a:tileRect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marL="456805" lvl="1" defTabSz="913607" latinLnBrk="0"/>
                  <a:endParaRPr lang="ko-KR" altLang="en-US" sz="18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14" name="직사각형 113"/>
                <p:cNvSpPr/>
                <p:nvPr/>
              </p:nvSpPr>
              <p:spPr>
                <a:xfrm>
                  <a:off x="1330045" y="1823536"/>
                  <a:ext cx="368691" cy="384721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latinLnBrk="0"/>
                  <a:r>
                    <a:rPr lang="en-US" altLang="ko-KR" sz="25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01</a:t>
                  </a:r>
                  <a:endParaRPr lang="ko-KR" altLang="en-US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  <p:sp>
            <p:nvSpPr>
              <p:cNvPr id="109" name="모서리가 둥근 직사각형 108"/>
              <p:cNvSpPr/>
              <p:nvPr/>
            </p:nvSpPr>
            <p:spPr>
              <a:xfrm>
                <a:off x="2097551" y="1880736"/>
                <a:ext cx="1769715" cy="279678"/>
              </a:xfrm>
              <a:prstGeom prst="roundRect">
                <a:avLst>
                  <a:gd name="adj" fmla="val 2561"/>
                </a:avLst>
              </a:prstGeom>
              <a:noFill/>
              <a:ln w="9525" algn="ctr">
                <a:noFill/>
                <a:round/>
                <a:headEnd/>
                <a:tailEnd/>
              </a:ln>
              <a:effectLst>
                <a:innerShdw blurRad="50800">
                  <a:schemeClr val="bg1">
                    <a:lumMod val="50000"/>
                  </a:schemeClr>
                </a:innerShdw>
              </a:effectLst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indent="-76141" defTabSz="912701" latinLnBrk="0"/>
                <a:r>
                  <a:rPr lang="ko-KR" altLang="en-US" sz="18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사업에 대한 이해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 bwMode="auto">
              <a:xfrm rot="2700000">
                <a:off x="1932509" y="1948156"/>
                <a:ext cx="59765" cy="59766"/>
              </a:xfrm>
              <a:prstGeom prst="rect">
                <a:avLst/>
              </a:prstGeom>
              <a:solidFill>
                <a:srgbClr val="899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913607" latinLnBrk="0">
                  <a:defRPr/>
                </a:pPr>
                <a:endParaRPr lang="ko-KR" altLang="en-US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11" name="직사각형 110"/>
              <p:cNvSpPr/>
              <p:nvPr/>
            </p:nvSpPr>
            <p:spPr bwMode="auto">
              <a:xfrm rot="2700000">
                <a:off x="1932509" y="2039001"/>
                <a:ext cx="59765" cy="59766"/>
              </a:xfrm>
              <a:prstGeom prst="rect">
                <a:avLst/>
              </a:prstGeom>
              <a:solidFill>
                <a:srgbClr val="899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913607" latinLnBrk="0">
                  <a:defRPr/>
                </a:pPr>
                <a:endParaRPr lang="ko-KR" altLang="en-US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12" name="직사각형 111"/>
              <p:cNvSpPr/>
              <p:nvPr/>
            </p:nvSpPr>
            <p:spPr bwMode="auto">
              <a:xfrm rot="2700000">
                <a:off x="1973149" y="1993578"/>
                <a:ext cx="59766" cy="59767"/>
              </a:xfrm>
              <a:prstGeom prst="rect">
                <a:avLst/>
              </a:prstGeom>
              <a:solidFill>
                <a:srgbClr val="C700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913607" latinLnBrk="0">
                  <a:defRPr/>
                </a:pPr>
                <a:endParaRPr lang="ko-KR" altLang="en-US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106" name="모서리가 둥근 직사각형 105"/>
            <p:cNvSpPr/>
            <p:nvPr/>
          </p:nvSpPr>
          <p:spPr>
            <a:xfrm>
              <a:off x="2150650" y="2335461"/>
              <a:ext cx="6755054" cy="473899"/>
            </a:xfrm>
            <a:prstGeom prst="roundRect">
              <a:avLst>
                <a:gd name="adj" fmla="val 2561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innerShdw blurRad="50800">
                <a:schemeClr val="bg1">
                  <a:lumMod val="50000"/>
                </a:schemeClr>
              </a:innerShdw>
            </a:effec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학군교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후보생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전국 학군단 등 다수 사용자 그룹의 서비스 이용 품질 만족도 충족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최신 기술 및 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IT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환경 변화에 대응한 사용자 이용 환경 개선 및 모바일 서비스 지원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1252450" y="4181906"/>
            <a:ext cx="7810866" cy="1290851"/>
            <a:chOff x="1252450" y="3797213"/>
            <a:chExt cx="7810866" cy="1290851"/>
          </a:xfrm>
        </p:grpSpPr>
        <p:sp>
          <p:nvSpPr>
            <p:cNvPr id="116" name="직사각형 115"/>
            <p:cNvSpPr/>
            <p:nvPr/>
          </p:nvSpPr>
          <p:spPr bwMode="auto">
            <a:xfrm>
              <a:off x="1252450" y="3797213"/>
              <a:ext cx="7810866" cy="458036"/>
            </a:xfrm>
            <a:prstGeom prst="rect">
              <a:avLst/>
            </a:prstGeom>
            <a:gradFill flip="none" rotWithShape="1">
              <a:gsLst>
                <a:gs pos="0">
                  <a:srgbClr val="CDE2FB">
                    <a:alpha val="0"/>
                  </a:srgbClr>
                </a:gs>
                <a:gs pos="0">
                  <a:srgbClr val="CDE2FB"/>
                </a:gs>
                <a:gs pos="68000">
                  <a:srgbClr val="CDE2FB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456805" lvl="1" defTabSz="913607" latinLnBrk="0"/>
              <a:endParaRPr lang="ko-KR" altLang="en-US" sz="18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1252451" y="3797213"/>
              <a:ext cx="557618" cy="458036"/>
              <a:chOff x="1252451" y="3579617"/>
              <a:chExt cx="557618" cy="458036"/>
            </a:xfrm>
          </p:grpSpPr>
          <p:sp>
            <p:nvSpPr>
              <p:cNvPr id="123" name="직사각형 122"/>
              <p:cNvSpPr/>
              <p:nvPr/>
            </p:nvSpPr>
            <p:spPr bwMode="auto">
              <a:xfrm>
                <a:off x="1252451" y="3579617"/>
                <a:ext cx="557618" cy="458036"/>
              </a:xfrm>
              <a:prstGeom prst="rect">
                <a:avLst/>
              </a:prstGeom>
              <a:gradFill flip="none" rotWithShape="1">
                <a:gsLst>
                  <a:gs pos="2000">
                    <a:srgbClr val="66A31D"/>
                  </a:gs>
                  <a:gs pos="92000">
                    <a:srgbClr val="92D050"/>
                  </a:gs>
                  <a:gs pos="100000">
                    <a:srgbClr val="66A31D"/>
                  </a:gs>
                </a:gsLst>
                <a:lin ang="5400000" scaled="1"/>
                <a:tileRect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456805" lvl="1" defTabSz="913607" latinLnBrk="0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24" name="직사각형 123"/>
              <p:cNvSpPr/>
              <p:nvPr/>
            </p:nvSpPr>
            <p:spPr>
              <a:xfrm>
                <a:off x="1330045" y="3604246"/>
                <a:ext cx="368691" cy="38472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latinLnBrk="0"/>
                <a:r>
                  <a:rPr lang="en-US" altLang="ko-KR" sz="25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03</a:t>
                </a:r>
                <a:endParaRPr lang="ko-KR" altLang="en-US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118" name="모서리가 둥근 직사각형 117"/>
            <p:cNvSpPr/>
            <p:nvPr/>
          </p:nvSpPr>
          <p:spPr>
            <a:xfrm>
              <a:off x="2097551" y="3879042"/>
              <a:ext cx="2308324" cy="279678"/>
            </a:xfrm>
            <a:prstGeom prst="roundRect">
              <a:avLst>
                <a:gd name="adj" fmla="val 2561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innerShdw blurRad="50800">
                <a:schemeClr val="bg1">
                  <a:lumMod val="50000"/>
                </a:schemeClr>
              </a:innerShdw>
            </a:effec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indent="-76141" defTabSz="912701" latinLnBrk="0"/>
              <a:r>
                <a:rPr lang="ko-KR" altLang="en-US" sz="18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적용 기술에 대한 이해</a:t>
              </a:r>
            </a:p>
          </p:txBody>
        </p:sp>
        <p:sp>
          <p:nvSpPr>
            <p:cNvPr id="119" name="직사각형 118"/>
            <p:cNvSpPr/>
            <p:nvPr/>
          </p:nvSpPr>
          <p:spPr bwMode="auto">
            <a:xfrm rot="2700000">
              <a:off x="1932509" y="3946462"/>
              <a:ext cx="59765" cy="59766"/>
            </a:xfrm>
            <a:prstGeom prst="rect">
              <a:avLst/>
            </a:prstGeom>
            <a:solidFill>
              <a:srgbClr val="899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3607" latinLnBrk="0">
                <a:defRPr/>
              </a:pPr>
              <a:endParaRPr lang="ko-KR" altLang="en-US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0" name="직사각형 119"/>
            <p:cNvSpPr/>
            <p:nvPr/>
          </p:nvSpPr>
          <p:spPr bwMode="auto">
            <a:xfrm rot="2700000">
              <a:off x="1932509" y="4037307"/>
              <a:ext cx="59765" cy="59766"/>
            </a:xfrm>
            <a:prstGeom prst="rect">
              <a:avLst/>
            </a:prstGeom>
            <a:solidFill>
              <a:srgbClr val="899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3607" latinLnBrk="0">
                <a:defRPr/>
              </a:pPr>
              <a:endParaRPr lang="ko-KR" altLang="en-US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1" name="직사각형 120"/>
            <p:cNvSpPr/>
            <p:nvPr/>
          </p:nvSpPr>
          <p:spPr bwMode="auto">
            <a:xfrm rot="2700000">
              <a:off x="1973149" y="3991884"/>
              <a:ext cx="59766" cy="59767"/>
            </a:xfrm>
            <a:prstGeom prst="rect">
              <a:avLst/>
            </a:prstGeom>
            <a:solidFill>
              <a:srgbClr val="C700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3607" latinLnBrk="0">
                <a:defRPr/>
              </a:pPr>
              <a:endParaRPr lang="ko-KR" altLang="en-US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2136315" y="4357794"/>
              <a:ext cx="5977598" cy="730270"/>
            </a:xfrm>
            <a:prstGeom prst="roundRect">
              <a:avLst>
                <a:gd name="adj" fmla="val 2561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innerShdw blurRad="50800">
                <a:schemeClr val="bg1">
                  <a:lumMod val="50000"/>
                </a:schemeClr>
              </a:innerShdw>
            </a:effec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 표준 및 </a:t>
              </a:r>
              <a:r>
                <a:rPr kumimoji="1" lang="ko-KR" altLang="en-US" sz="14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접근성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향상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취약점 보완 등으로 표준화 준수 및 호환성 확보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국방정보기술 준</a:t>
              </a:r>
              <a:r>
                <a:rPr kumimoji="1" lang="en-US" altLang="ko-KR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(DITA) </a:t>
              </a: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적용 및 표준화 지침 준수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7660" indent="-177660" defTabSz="1066904" fontAlgn="base" latinLnBrk="0">
                <a:spcBef>
                  <a:spcPts val="3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Blip>
                  <a:blip r:embed="rId2"/>
                </a:buBlip>
              </a:pPr>
              <a:r>
                <a:rPr kumimoji="1" lang="ko-KR" altLang="en-US" sz="14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행정안전부의 전자정부표준프레임워크 적용 개발</a:t>
              </a:r>
              <a:endParaRPr kumimoji="1" lang="en-US" altLang="ko-KR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572868" y="248650"/>
            <a:ext cx="8782114" cy="843822"/>
            <a:chOff x="318763" y="248649"/>
            <a:chExt cx="9239235" cy="843823"/>
          </a:xfrm>
        </p:grpSpPr>
        <p:grpSp>
          <p:nvGrpSpPr>
            <p:cNvPr id="126" name="그룹 125"/>
            <p:cNvGrpSpPr/>
            <p:nvPr/>
          </p:nvGrpSpPr>
          <p:grpSpPr>
            <a:xfrm>
              <a:off x="318763" y="248649"/>
              <a:ext cx="1603781" cy="779015"/>
              <a:chOff x="318763" y="248649"/>
              <a:chExt cx="1603781" cy="779014"/>
            </a:xfrm>
          </p:grpSpPr>
          <p:sp>
            <p:nvSpPr>
              <p:cNvPr id="128" name="TextBox 127"/>
              <p:cNvSpPr txBox="1"/>
              <p:nvPr/>
            </p:nvSpPr>
            <p:spPr>
              <a:xfrm>
                <a:off x="318763" y="568948"/>
                <a:ext cx="194347" cy="458715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51968">
                  <a:defRPr/>
                </a:pPr>
                <a:endParaRPr lang="ko-KR" altLang="en-US" sz="2381" b="1" spc="-145" dirty="0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321774" y="248649"/>
                <a:ext cx="1600770" cy="336695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defTabSz="1051968">
                  <a:defRPr/>
                </a:pPr>
                <a:r>
                  <a:rPr lang="en-US" altLang="ko-KR" sz="1588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3. </a:t>
                </a:r>
                <a:r>
                  <a:rPr lang="ko-KR" altLang="en-US" sz="1588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사업의 특징</a:t>
                </a:r>
              </a:p>
            </p:txBody>
          </p:sp>
        </p:grpSp>
        <p:sp>
          <p:nvSpPr>
            <p:cNvPr id="127" name="TextBox 126"/>
            <p:cNvSpPr txBox="1"/>
            <p:nvPr/>
          </p:nvSpPr>
          <p:spPr>
            <a:xfrm>
              <a:off x="318764" y="568950"/>
              <a:ext cx="9239234" cy="523522"/>
            </a:xfrm>
            <a:prstGeom prst="rect">
              <a:avLst/>
            </a:prstGeom>
            <a:noFill/>
          </p:spPr>
          <p:txBody>
            <a:bodyPr wrap="none" lIns="103615" tIns="51806" rIns="103615" bIns="51806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34799">
                <a:defRPr/>
              </a:pPr>
              <a:r>
                <a:rPr lang="ko-KR" altLang="en-US" sz="2722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후보생 획득부터 임관까지 업무의 표준화된 서비스 제공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293270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127" y="2336357"/>
            <a:ext cx="4626426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본 사업을 성공적으로 수행하기 위한</a:t>
            </a:r>
            <a:r>
              <a:rPr lang="en-US" altLang="ko-KR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2275266" y="2645163"/>
            <a:ext cx="6287907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사업추진 전략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226679" y="2271043"/>
            <a:ext cx="901815" cy="1026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6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6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1849949" y="2522051"/>
            <a:ext cx="901815" cy="718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4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4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190559" y="648222"/>
            <a:ext cx="1655243" cy="487626"/>
            <a:chOff x="9190558" y="648221"/>
            <a:chExt cx="1655243" cy="487626"/>
          </a:xfrm>
        </p:grpSpPr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91905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9774758" y="648221"/>
              <a:ext cx="901815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Ⅲ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10333559" y="648221"/>
              <a:ext cx="512242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Ⅳ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1" name="텍스트 개체 틀 36"/>
          <p:cNvSpPr txBox="1">
            <a:spLocks/>
          </p:cNvSpPr>
          <p:nvPr/>
        </p:nvSpPr>
        <p:spPr>
          <a:xfrm>
            <a:off x="3437157" y="3997967"/>
            <a:ext cx="162384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사전분석 완료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텍스트 개체 틀 36"/>
          <p:cNvSpPr txBox="1">
            <a:spLocks/>
          </p:cNvSpPr>
          <p:nvPr/>
        </p:nvSpPr>
        <p:spPr>
          <a:xfrm>
            <a:off x="3437157" y="4534540"/>
            <a:ext cx="307616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사용자 편의성 최우선 고려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2678972" y="3969135"/>
            <a:ext cx="545242" cy="365436"/>
            <a:chOff x="2678971" y="3665215"/>
            <a:chExt cx="545242" cy="365436"/>
          </a:xfrm>
        </p:grpSpPr>
        <p:sp>
          <p:nvSpPr>
            <p:cNvPr id="19" name="양쪽 모서리가 둥근 사각형 18"/>
            <p:cNvSpPr/>
            <p:nvPr/>
          </p:nvSpPr>
          <p:spPr>
            <a:xfrm rot="16200000">
              <a:off x="2768874" y="3575312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56457" y="3715861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01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2678972" y="4505710"/>
            <a:ext cx="545242" cy="365436"/>
            <a:chOff x="2678971" y="4201790"/>
            <a:chExt cx="545242" cy="365436"/>
          </a:xfrm>
        </p:grpSpPr>
        <p:sp>
          <p:nvSpPr>
            <p:cNvPr id="35" name="양쪽 모서리가 둥근 사각형 34"/>
            <p:cNvSpPr/>
            <p:nvPr/>
          </p:nvSpPr>
          <p:spPr>
            <a:xfrm rot="16200000">
              <a:off x="2768874" y="4111887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56457" y="4252436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02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2678972" y="5042285"/>
            <a:ext cx="3504129" cy="365436"/>
            <a:chOff x="2678971" y="4738365"/>
            <a:chExt cx="3504129" cy="365436"/>
          </a:xfrm>
        </p:grpSpPr>
        <p:sp>
          <p:nvSpPr>
            <p:cNvPr id="18" name="텍스트 개체 틀 36"/>
            <p:cNvSpPr txBox="1">
              <a:spLocks/>
            </p:cNvSpPr>
            <p:nvPr/>
          </p:nvSpPr>
          <p:spPr>
            <a:xfrm>
              <a:off x="3437155" y="4767197"/>
              <a:ext cx="274594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효율적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•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안정적 사업관리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54" name="그룹 53"/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38" name="양쪽 모서리가 둥근 사각형 37"/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03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48" name="자유형 47"/>
          <p:cNvSpPr/>
          <p:nvPr/>
        </p:nvSpPr>
        <p:spPr>
          <a:xfrm>
            <a:off x="3224216" y="440852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3224216" y="496097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0" name="자유형 49"/>
          <p:cNvSpPr/>
          <p:nvPr/>
        </p:nvSpPr>
        <p:spPr>
          <a:xfrm>
            <a:off x="3224216" y="549437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2688413" y="5594735"/>
            <a:ext cx="3504129" cy="365436"/>
            <a:chOff x="2678971" y="4738365"/>
            <a:chExt cx="3504129" cy="365436"/>
          </a:xfrm>
        </p:grpSpPr>
        <p:sp>
          <p:nvSpPr>
            <p:cNvPr id="28" name="텍스트 개체 틀 36"/>
            <p:cNvSpPr txBox="1">
              <a:spLocks/>
            </p:cNvSpPr>
            <p:nvPr/>
          </p:nvSpPr>
          <p:spPr>
            <a:xfrm>
              <a:off x="3437155" y="4767197"/>
              <a:ext cx="274594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국방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•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유사체계 구축경험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29" name="그룹 28"/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30" name="양쪽 모서리가 둥근 사각형 29"/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04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32" name="자유형 31"/>
          <p:cNvSpPr/>
          <p:nvPr/>
        </p:nvSpPr>
        <p:spPr>
          <a:xfrm>
            <a:off x="3233657" y="604682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883539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/>
          <p:cNvSpPr/>
          <p:nvPr/>
        </p:nvSpPr>
        <p:spPr bwMode="auto">
          <a:xfrm>
            <a:off x="3611142" y="1372305"/>
            <a:ext cx="6879534" cy="58188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3607">
              <a:defRPr/>
            </a:pPr>
            <a:r>
              <a:rPr lang="en-US" altLang="ko-KR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0" name="직사각형 139"/>
          <p:cNvSpPr/>
          <p:nvPr/>
        </p:nvSpPr>
        <p:spPr bwMode="auto">
          <a:xfrm>
            <a:off x="414091" y="1507319"/>
            <a:ext cx="3190228" cy="5550139"/>
          </a:xfrm>
          <a:prstGeom prst="rect">
            <a:avLst/>
          </a:prstGeom>
          <a:solidFill>
            <a:schemeClr val="bg1"/>
          </a:solidFill>
          <a:ln w="12700">
            <a:solidFill>
              <a:srgbClr val="84B2E4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1" name="직사각형 140"/>
          <p:cNvSpPr/>
          <p:nvPr/>
        </p:nvSpPr>
        <p:spPr bwMode="auto">
          <a:xfrm>
            <a:off x="414091" y="1507320"/>
            <a:ext cx="3197051" cy="395288"/>
          </a:xfrm>
          <a:prstGeom prst="rect">
            <a:avLst/>
          </a:prstGeom>
          <a:gradFill flip="none" rotWithShape="1">
            <a:gsLst>
              <a:gs pos="0">
                <a:srgbClr val="72A6E0"/>
              </a:gs>
              <a:gs pos="98000">
                <a:srgbClr val="2C79CE"/>
              </a:gs>
              <a:gs pos="100000">
                <a:srgbClr val="2D417B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3378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 bwMode="auto">
          <a:xfrm>
            <a:off x="1345206" y="1563516"/>
            <a:ext cx="1384996" cy="276999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913681">
              <a:defRPr/>
            </a:pP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핵심성공요소</a:t>
            </a:r>
            <a:endParaRPr lang="en-US" altLang="ko-KR" sz="1800" dirty="0">
              <a:solidFill>
                <a:prstClr val="white"/>
              </a:solidFill>
              <a:effectLst>
                <a:glow rad="63500">
                  <a:srgbClr val="1F497D">
                    <a:lumMod val="60000"/>
                    <a:lumOff val="40000"/>
                  </a:srgbClr>
                </a:glo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414092" y="7014593"/>
            <a:ext cx="3197050" cy="45719"/>
          </a:xfrm>
          <a:prstGeom prst="rect">
            <a:avLst/>
          </a:prstGeom>
          <a:solidFill>
            <a:srgbClr val="84B2E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marL="0" lvl="1" indent="-142751" algn="ctr" defTabSz="913607">
              <a:lnSpc>
                <a:spcPct val="110000"/>
              </a:lnSpc>
              <a:buClr>
                <a:sysClr val="windowText" lastClr="000000"/>
              </a:buClr>
              <a:tabLst>
                <a:tab pos="5643425" algn="l"/>
              </a:tabLst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4" name="사다리꼴 143"/>
          <p:cNvSpPr/>
          <p:nvPr/>
        </p:nvSpPr>
        <p:spPr bwMode="auto">
          <a:xfrm flipV="1">
            <a:off x="273050" y="1513677"/>
            <a:ext cx="6469062" cy="23813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615124" y="2055384"/>
            <a:ext cx="2770966" cy="705353"/>
            <a:chOff x="681461" y="2052260"/>
            <a:chExt cx="2770966" cy="852163"/>
          </a:xfrm>
        </p:grpSpPr>
        <p:grpSp>
          <p:nvGrpSpPr>
            <p:cNvPr id="158" name="그룹 157"/>
            <p:cNvGrpSpPr/>
            <p:nvPr/>
          </p:nvGrpSpPr>
          <p:grpSpPr>
            <a:xfrm>
              <a:off x="835445" y="2208916"/>
              <a:ext cx="2616982" cy="695507"/>
              <a:chOff x="635599" y="4134533"/>
              <a:chExt cx="2616982" cy="798337"/>
            </a:xfrm>
          </p:grpSpPr>
          <p:sp>
            <p:nvSpPr>
              <p:cNvPr id="301" name="AutoShape 1285" descr="그림4"/>
              <p:cNvSpPr>
                <a:spLocks noChangeArrowheads="1"/>
              </p:cNvSpPr>
              <p:nvPr/>
            </p:nvSpPr>
            <p:spPr bwMode="auto">
              <a:xfrm flipH="1">
                <a:off x="635599" y="4134533"/>
                <a:ext cx="2616982" cy="798337"/>
              </a:xfrm>
              <a:prstGeom prst="snip1Rect">
                <a:avLst>
                  <a:gd name="adj" fmla="val 35682"/>
                </a:avLst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defTabSz="913607"/>
                <a:endParaRPr lang="ko-KR" altLang="en-US" sz="16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02" name="직사각형 301"/>
              <p:cNvSpPr/>
              <p:nvPr/>
            </p:nvSpPr>
            <p:spPr>
              <a:xfrm>
                <a:off x="1058565" y="4415084"/>
                <a:ext cx="1973297" cy="311129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/>
                </a:pPr>
                <a:r>
                  <a:rPr kumimoji="1" lang="ko-KR" altLang="en-US" sz="14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rPr>
                  <a:t>사업에 대한 명확한 이해</a:t>
                </a:r>
              </a:p>
            </p:txBody>
          </p:sp>
        </p:grpSp>
        <p:grpSp>
          <p:nvGrpSpPr>
            <p:cNvPr id="161" name="그룹 160"/>
            <p:cNvGrpSpPr/>
            <p:nvPr/>
          </p:nvGrpSpPr>
          <p:grpSpPr>
            <a:xfrm>
              <a:off x="681461" y="2052260"/>
              <a:ext cx="451067" cy="469353"/>
              <a:chOff x="555273" y="1947885"/>
              <a:chExt cx="451067" cy="469353"/>
            </a:xfrm>
          </p:grpSpPr>
          <p:pic>
            <p:nvPicPr>
              <p:cNvPr id="295" name="Picture 2" descr="C:\Users\young\Desktop\그림3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5273" y="1947885"/>
                <a:ext cx="451067" cy="4693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6" name="직사각형 295"/>
              <p:cNvSpPr/>
              <p:nvPr/>
            </p:nvSpPr>
            <p:spPr>
              <a:xfrm>
                <a:off x="691170" y="1997098"/>
                <a:ext cx="133050" cy="33465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  <a:contourClr>
                    <a:schemeClr val="bg1"/>
                  </a:contourClr>
                </a:sp3d>
              </a:bodyPr>
              <a:lstStyle/>
              <a:p>
                <a:pPr algn="ctr">
                  <a:spcAft>
                    <a:spcPct val="0"/>
                  </a:spcAft>
                </a:pPr>
                <a:r>
                  <a:rPr lang="en-US" altLang="ko-KR" sz="18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1</a:t>
                </a:r>
              </a:p>
            </p:txBody>
          </p:sp>
        </p:grpSp>
      </p:grpSp>
      <p:grpSp>
        <p:nvGrpSpPr>
          <p:cNvPr id="12" name="그룹 11"/>
          <p:cNvGrpSpPr/>
          <p:nvPr/>
        </p:nvGrpSpPr>
        <p:grpSpPr>
          <a:xfrm>
            <a:off x="615124" y="2856344"/>
            <a:ext cx="2770966" cy="707073"/>
            <a:chOff x="681461" y="3010831"/>
            <a:chExt cx="2770966" cy="854241"/>
          </a:xfrm>
        </p:grpSpPr>
        <p:grpSp>
          <p:nvGrpSpPr>
            <p:cNvPr id="157" name="그룹 156"/>
            <p:cNvGrpSpPr/>
            <p:nvPr/>
          </p:nvGrpSpPr>
          <p:grpSpPr>
            <a:xfrm>
              <a:off x="835445" y="3169565"/>
              <a:ext cx="2616982" cy="695507"/>
              <a:chOff x="635599" y="4134533"/>
              <a:chExt cx="2616982" cy="798337"/>
            </a:xfrm>
          </p:grpSpPr>
          <p:sp>
            <p:nvSpPr>
              <p:cNvPr id="303" name="AutoShape 1285" descr="그림4"/>
              <p:cNvSpPr>
                <a:spLocks noChangeArrowheads="1"/>
              </p:cNvSpPr>
              <p:nvPr/>
            </p:nvSpPr>
            <p:spPr bwMode="auto">
              <a:xfrm flipH="1">
                <a:off x="635599" y="4134533"/>
                <a:ext cx="2616982" cy="798337"/>
              </a:xfrm>
              <a:prstGeom prst="snip1Rect">
                <a:avLst>
                  <a:gd name="adj" fmla="val 35682"/>
                </a:avLst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defTabSz="913607"/>
                <a:endParaRPr lang="ko-KR" altLang="en-US" sz="16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04" name="직사각형 303"/>
              <p:cNvSpPr/>
              <p:nvPr/>
            </p:nvSpPr>
            <p:spPr>
              <a:xfrm>
                <a:off x="1011308" y="4394495"/>
                <a:ext cx="2048638" cy="311129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/>
                </a:pPr>
                <a:r>
                  <a:rPr kumimoji="1" lang="ko-KR" altLang="en-US" sz="14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rPr>
                  <a:t>국방 정책</a:t>
                </a:r>
                <a:r>
                  <a:rPr kumimoji="1" lang="en-US" altLang="ko-KR" sz="14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rPr>
                  <a:t>/</a:t>
                </a:r>
                <a:r>
                  <a:rPr kumimoji="1" lang="ko-KR" altLang="en-US" sz="14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rPr>
                  <a:t>지침 준수 역량</a:t>
                </a:r>
              </a:p>
            </p:txBody>
          </p:sp>
        </p:grpSp>
        <p:grpSp>
          <p:nvGrpSpPr>
            <p:cNvPr id="162" name="그룹 161"/>
            <p:cNvGrpSpPr/>
            <p:nvPr/>
          </p:nvGrpSpPr>
          <p:grpSpPr>
            <a:xfrm>
              <a:off x="681461" y="3010831"/>
              <a:ext cx="451067" cy="469353"/>
              <a:chOff x="555273" y="1947885"/>
              <a:chExt cx="451067" cy="469353"/>
            </a:xfrm>
          </p:grpSpPr>
          <p:pic>
            <p:nvPicPr>
              <p:cNvPr id="293" name="Picture 2" descr="C:\Users\young\Desktop\그림3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5273" y="1947885"/>
                <a:ext cx="451067" cy="4693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4" name="직사각형 293"/>
              <p:cNvSpPr/>
              <p:nvPr/>
            </p:nvSpPr>
            <p:spPr>
              <a:xfrm>
                <a:off x="691170" y="1997098"/>
                <a:ext cx="133050" cy="33465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  <a:contourClr>
                    <a:schemeClr val="bg1"/>
                  </a:contourClr>
                </a:sp3d>
              </a:bodyPr>
              <a:lstStyle/>
              <a:p>
                <a:pPr algn="ctr">
                  <a:spcAft>
                    <a:spcPct val="0"/>
                  </a:spcAft>
                </a:pPr>
                <a:r>
                  <a:rPr lang="en-US" altLang="ko-KR" sz="18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2</a:t>
                </a:r>
              </a:p>
            </p:txBody>
          </p:sp>
        </p:grpSp>
      </p:grpSp>
      <p:grpSp>
        <p:nvGrpSpPr>
          <p:cNvPr id="13" name="그룹 12"/>
          <p:cNvGrpSpPr/>
          <p:nvPr/>
        </p:nvGrpSpPr>
        <p:grpSpPr>
          <a:xfrm>
            <a:off x="615124" y="3659024"/>
            <a:ext cx="2770966" cy="699068"/>
            <a:chOff x="681461" y="3981151"/>
            <a:chExt cx="2770966" cy="844570"/>
          </a:xfrm>
        </p:grpSpPr>
        <p:grpSp>
          <p:nvGrpSpPr>
            <p:cNvPr id="156" name="그룹 155"/>
            <p:cNvGrpSpPr/>
            <p:nvPr/>
          </p:nvGrpSpPr>
          <p:grpSpPr>
            <a:xfrm>
              <a:off x="835445" y="4130214"/>
              <a:ext cx="2616982" cy="695507"/>
              <a:chOff x="635599" y="4134533"/>
              <a:chExt cx="2616982" cy="798337"/>
            </a:xfrm>
          </p:grpSpPr>
          <p:sp>
            <p:nvSpPr>
              <p:cNvPr id="306" name="AutoShape 1285" descr="그림4"/>
              <p:cNvSpPr>
                <a:spLocks noChangeArrowheads="1"/>
              </p:cNvSpPr>
              <p:nvPr/>
            </p:nvSpPr>
            <p:spPr bwMode="auto">
              <a:xfrm flipH="1">
                <a:off x="635599" y="4134533"/>
                <a:ext cx="2616982" cy="798337"/>
              </a:xfrm>
              <a:prstGeom prst="snip1Rect">
                <a:avLst>
                  <a:gd name="adj" fmla="val 35682"/>
                </a:avLst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defTabSz="913607"/>
                <a:endParaRPr lang="ko-KR" altLang="en-US" sz="16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19" name="직사각형 418"/>
              <p:cNvSpPr/>
              <p:nvPr/>
            </p:nvSpPr>
            <p:spPr>
              <a:xfrm>
                <a:off x="928653" y="4409910"/>
                <a:ext cx="2212144" cy="311129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/>
                </a:pPr>
                <a:r>
                  <a:rPr kumimoji="1" lang="ko-KR" altLang="en-US" sz="14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rPr>
                  <a:t>최적의 사업 수행 조직 구성</a:t>
                </a:r>
              </a:p>
            </p:txBody>
          </p:sp>
        </p:grpSp>
        <p:grpSp>
          <p:nvGrpSpPr>
            <p:cNvPr id="163" name="그룹 162"/>
            <p:cNvGrpSpPr/>
            <p:nvPr/>
          </p:nvGrpSpPr>
          <p:grpSpPr>
            <a:xfrm>
              <a:off x="681461" y="3981151"/>
              <a:ext cx="451067" cy="469353"/>
              <a:chOff x="555273" y="1965995"/>
              <a:chExt cx="451067" cy="469353"/>
            </a:xfrm>
          </p:grpSpPr>
          <p:pic>
            <p:nvPicPr>
              <p:cNvPr id="291" name="Picture 2" descr="C:\Users\young\Desktop\그림3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5273" y="1965995"/>
                <a:ext cx="451067" cy="4693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2" name="직사각형 291"/>
              <p:cNvSpPr/>
              <p:nvPr/>
            </p:nvSpPr>
            <p:spPr>
              <a:xfrm>
                <a:off x="691170" y="2015208"/>
                <a:ext cx="133050" cy="33465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  <a:contourClr>
                    <a:schemeClr val="bg1"/>
                  </a:contourClr>
                </a:sp3d>
              </a:bodyPr>
              <a:lstStyle/>
              <a:p>
                <a:pPr algn="ctr">
                  <a:spcAft>
                    <a:spcPct val="0"/>
                  </a:spcAft>
                </a:pPr>
                <a:r>
                  <a:rPr lang="en-US" altLang="ko-KR" sz="18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3</a:t>
                </a: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605651" y="4387921"/>
            <a:ext cx="2780439" cy="749245"/>
            <a:chOff x="671988" y="4881179"/>
            <a:chExt cx="2780439" cy="905191"/>
          </a:xfrm>
        </p:grpSpPr>
        <p:grpSp>
          <p:nvGrpSpPr>
            <p:cNvPr id="159" name="그룹 158"/>
            <p:cNvGrpSpPr/>
            <p:nvPr/>
          </p:nvGrpSpPr>
          <p:grpSpPr>
            <a:xfrm>
              <a:off x="835445" y="5090863"/>
              <a:ext cx="2616982" cy="695507"/>
              <a:chOff x="635599" y="4134533"/>
              <a:chExt cx="2616982" cy="798337"/>
            </a:xfrm>
          </p:grpSpPr>
          <p:sp>
            <p:nvSpPr>
              <p:cNvPr id="299" name="AutoShape 1285" descr="그림4"/>
              <p:cNvSpPr>
                <a:spLocks noChangeArrowheads="1"/>
              </p:cNvSpPr>
              <p:nvPr/>
            </p:nvSpPr>
            <p:spPr bwMode="auto">
              <a:xfrm flipH="1">
                <a:off x="635599" y="4134533"/>
                <a:ext cx="2616982" cy="798337"/>
              </a:xfrm>
              <a:prstGeom prst="snip1Rect">
                <a:avLst>
                  <a:gd name="adj" fmla="val 35682"/>
                </a:avLst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defTabSz="913607"/>
                <a:endParaRPr lang="ko-KR" altLang="en-US" sz="16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00" name="직사각형 299"/>
              <p:cNvSpPr/>
              <p:nvPr/>
            </p:nvSpPr>
            <p:spPr>
              <a:xfrm>
                <a:off x="846165" y="4405722"/>
                <a:ext cx="2391680" cy="311129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/>
                </a:pPr>
                <a:r>
                  <a:rPr kumimoji="1" lang="ko-KR" altLang="en-US" sz="14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rPr>
                  <a:t>유사사업 경험 우수 인력 참여</a:t>
                </a:r>
              </a:p>
            </p:txBody>
          </p:sp>
        </p:grpSp>
        <p:grpSp>
          <p:nvGrpSpPr>
            <p:cNvPr id="164" name="그룹 163"/>
            <p:cNvGrpSpPr/>
            <p:nvPr/>
          </p:nvGrpSpPr>
          <p:grpSpPr>
            <a:xfrm>
              <a:off x="671988" y="4881179"/>
              <a:ext cx="451067" cy="469353"/>
              <a:chOff x="545800" y="1886525"/>
              <a:chExt cx="451067" cy="469353"/>
            </a:xfrm>
          </p:grpSpPr>
          <p:pic>
            <p:nvPicPr>
              <p:cNvPr id="289" name="Picture 2" descr="C:\Users\young\Desktop\그림3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5800" y="1886525"/>
                <a:ext cx="451067" cy="4693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0" name="직사각형 289"/>
              <p:cNvSpPr/>
              <p:nvPr/>
            </p:nvSpPr>
            <p:spPr>
              <a:xfrm>
                <a:off x="699556" y="1958832"/>
                <a:ext cx="133050" cy="33465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  <a:contourClr>
                    <a:schemeClr val="bg1"/>
                  </a:contourClr>
                </a:sp3d>
              </a:bodyPr>
              <a:lstStyle/>
              <a:p>
                <a:pPr algn="ctr">
                  <a:spcAft>
                    <a:spcPct val="0"/>
                  </a:spcAft>
                </a:pPr>
                <a:r>
                  <a:rPr lang="en-US" altLang="ko-KR" sz="18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4</a:t>
                </a:r>
              </a:p>
            </p:txBody>
          </p:sp>
        </p:grpSp>
      </p:grpSp>
      <p:grpSp>
        <p:nvGrpSpPr>
          <p:cNvPr id="15" name="그룹 14"/>
          <p:cNvGrpSpPr/>
          <p:nvPr/>
        </p:nvGrpSpPr>
        <p:grpSpPr>
          <a:xfrm>
            <a:off x="615124" y="5232770"/>
            <a:ext cx="2770966" cy="720446"/>
            <a:chOff x="681461" y="5876623"/>
            <a:chExt cx="2770966" cy="870397"/>
          </a:xfrm>
        </p:grpSpPr>
        <p:grpSp>
          <p:nvGrpSpPr>
            <p:cNvPr id="9" name="그룹 8"/>
            <p:cNvGrpSpPr/>
            <p:nvPr/>
          </p:nvGrpSpPr>
          <p:grpSpPr>
            <a:xfrm>
              <a:off x="835445" y="6051513"/>
              <a:ext cx="2616982" cy="695507"/>
              <a:chOff x="835445" y="5929077"/>
              <a:chExt cx="2616982" cy="695507"/>
            </a:xfrm>
          </p:grpSpPr>
          <p:sp>
            <p:nvSpPr>
              <p:cNvPr id="297" name="AutoShape 1285" descr="그림4"/>
              <p:cNvSpPr>
                <a:spLocks noChangeArrowheads="1"/>
              </p:cNvSpPr>
              <p:nvPr/>
            </p:nvSpPr>
            <p:spPr bwMode="auto">
              <a:xfrm flipH="1">
                <a:off x="835445" y="5929077"/>
                <a:ext cx="2616982" cy="695507"/>
              </a:xfrm>
              <a:prstGeom prst="snip1Rect">
                <a:avLst>
                  <a:gd name="adj" fmla="val 35682"/>
                </a:avLst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defTabSz="913607"/>
                <a:endParaRPr lang="ko-KR" altLang="en-US" sz="18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8" name="직사각형 297"/>
              <p:cNvSpPr/>
              <p:nvPr/>
            </p:nvSpPr>
            <p:spPr>
              <a:xfrm>
                <a:off x="1143529" y="6170199"/>
                <a:ext cx="2162450" cy="260286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defRPr/>
                </a:pPr>
                <a:r>
                  <a: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안정적 인력관리 방안 수립</a:t>
                </a:r>
              </a:p>
            </p:txBody>
          </p:sp>
        </p:grpSp>
        <p:grpSp>
          <p:nvGrpSpPr>
            <p:cNvPr id="165" name="그룹 164"/>
            <p:cNvGrpSpPr/>
            <p:nvPr/>
          </p:nvGrpSpPr>
          <p:grpSpPr>
            <a:xfrm>
              <a:off x="681461" y="5876623"/>
              <a:ext cx="451067" cy="469353"/>
              <a:chOff x="555273" y="1933592"/>
              <a:chExt cx="451067" cy="469353"/>
            </a:xfrm>
          </p:grpSpPr>
          <p:pic>
            <p:nvPicPr>
              <p:cNvPr id="287" name="Picture 2" descr="C:\Users\young\Desktop\그림3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5273" y="1933592"/>
                <a:ext cx="451067" cy="4693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8" name="직사각형 287"/>
              <p:cNvSpPr/>
              <p:nvPr/>
            </p:nvSpPr>
            <p:spPr>
              <a:xfrm>
                <a:off x="691170" y="2015219"/>
                <a:ext cx="133050" cy="33465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  <a:contourClr>
                    <a:schemeClr val="bg1"/>
                  </a:contourClr>
                </a:sp3d>
              </a:bodyPr>
              <a:lstStyle/>
              <a:p>
                <a:pPr algn="ctr">
                  <a:spcAft>
                    <a:spcPct val="0"/>
                  </a:spcAft>
                </a:pPr>
                <a:r>
                  <a:rPr lang="en-US" altLang="ko-KR" sz="18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5</a:t>
                </a:r>
              </a:p>
            </p:txBody>
          </p:sp>
        </p:grpSp>
      </p:grpSp>
      <p:sp>
        <p:nvSpPr>
          <p:cNvPr id="429" name="TextBox 428"/>
          <p:cNvSpPr txBox="1"/>
          <p:nvPr/>
        </p:nvSpPr>
        <p:spPr>
          <a:xfrm>
            <a:off x="318767" y="568950"/>
            <a:ext cx="8008780" cy="523145"/>
          </a:xfrm>
          <a:prstGeom prst="rect">
            <a:avLst/>
          </a:prstGeom>
          <a:noFill/>
        </p:spPr>
        <p:txBody>
          <a:bodyPr wrap="none" lIns="91369" tIns="45683" rIns="91369" bIns="45683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1083443">
              <a:defRPr/>
            </a:pPr>
            <a:r>
              <a:rPr lang="ko-KR" altLang="en-US" sz="2800" b="1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성공적인 교육정보종합 </a:t>
            </a:r>
            <a:r>
              <a:rPr lang="en-US" altLang="ko-KR" sz="2800" b="1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SW </a:t>
            </a:r>
            <a:r>
              <a:rPr lang="ko-KR" altLang="en-US" sz="2800" b="1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개발을 위한 추진전략</a:t>
            </a:r>
          </a:p>
        </p:txBody>
      </p:sp>
      <p:grpSp>
        <p:nvGrpSpPr>
          <p:cNvPr id="130" name="그룹 129"/>
          <p:cNvGrpSpPr/>
          <p:nvPr/>
        </p:nvGrpSpPr>
        <p:grpSpPr>
          <a:xfrm>
            <a:off x="3607361" y="1372304"/>
            <a:ext cx="6883315" cy="5818819"/>
            <a:chOff x="6740525" y="1557337"/>
            <a:chExt cx="2890838" cy="5818819"/>
          </a:xfrm>
        </p:grpSpPr>
        <p:sp>
          <p:nvSpPr>
            <p:cNvPr id="132" name="직사각형 131"/>
            <p:cNvSpPr/>
            <p:nvPr/>
          </p:nvSpPr>
          <p:spPr bwMode="auto">
            <a:xfrm>
              <a:off x="6742113" y="7330118"/>
              <a:ext cx="2889250" cy="46038"/>
            </a:xfrm>
            <a:prstGeom prst="rect">
              <a:avLst/>
            </a:prstGeom>
            <a:solidFill>
              <a:srgbClr val="4371BB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lvl="1" indent="-142751" algn="ctr" defTabSz="913607">
                <a:lnSpc>
                  <a:spcPct val="110000"/>
                </a:lnSpc>
                <a:buClr>
                  <a:sysClr val="windowText" lastClr="000000"/>
                </a:buClr>
                <a:tabLst>
                  <a:tab pos="5643425" algn="l"/>
                </a:tabLst>
                <a:defRPr/>
              </a:pPr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133" name="그룹 180"/>
            <p:cNvGrpSpPr>
              <a:grpSpLocks/>
            </p:cNvGrpSpPr>
            <p:nvPr/>
          </p:nvGrpSpPr>
          <p:grpSpPr bwMode="auto">
            <a:xfrm>
              <a:off x="6740525" y="1557337"/>
              <a:ext cx="2890838" cy="414337"/>
              <a:chOff x="6742259" y="1556792"/>
              <a:chExt cx="2890620" cy="414452"/>
            </a:xfrm>
          </p:grpSpPr>
          <p:sp>
            <p:nvSpPr>
              <p:cNvPr id="134" name="직사각형 133"/>
              <p:cNvSpPr/>
              <p:nvPr/>
            </p:nvSpPr>
            <p:spPr>
              <a:xfrm>
                <a:off x="6742259" y="1556792"/>
                <a:ext cx="2890620" cy="414452"/>
              </a:xfrm>
              <a:prstGeom prst="rect">
                <a:avLst/>
              </a:prstGeom>
              <a:gradFill flip="none" rotWithShape="1">
                <a:gsLst>
                  <a:gs pos="0">
                    <a:srgbClr val="4371BB"/>
                  </a:gs>
                  <a:gs pos="96000">
                    <a:srgbClr val="335791"/>
                  </a:gs>
                  <a:gs pos="97000">
                    <a:srgbClr val="2B4877"/>
                  </a:gs>
                </a:gsLst>
                <a:lin ang="5400000" scaled="1"/>
                <a:tileRect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607">
                  <a:defRPr/>
                </a:pPr>
                <a:endParaRPr lang="ko-KR" altLang="en-US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36" name="사다리꼴 135"/>
              <p:cNvSpPr/>
              <p:nvPr/>
            </p:nvSpPr>
            <p:spPr>
              <a:xfrm flipV="1">
                <a:off x="6747022" y="1563144"/>
                <a:ext cx="2879508" cy="25407"/>
              </a:xfrm>
              <a:prstGeom prst="trapezoid">
                <a:avLst/>
              </a:prstGeom>
              <a:gradFill flip="none" rotWithShape="1">
                <a:gsLst>
                  <a:gs pos="0">
                    <a:schemeClr val="bg1">
                      <a:alpha val="70000"/>
                    </a:schemeClr>
                  </a:gs>
                  <a:gs pos="76000">
                    <a:schemeClr val="bg1">
                      <a:alpha val="29000"/>
                    </a:schemeClr>
                  </a:gs>
                  <a:gs pos="92000">
                    <a:schemeClr val="bg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607">
                  <a:defRPr/>
                </a:pPr>
                <a:endParaRPr lang="ko-KR" altLang="en-US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7803978" y="1603601"/>
                <a:ext cx="766746" cy="267840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marL="0" lvl="1" indent="-142751" algn="ctr" defTabSz="913681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3425" algn="l"/>
                  </a:tabLst>
                  <a:defRPr/>
                </a:pPr>
                <a:r>
                  <a:rPr lang="en-US" altLang="ko-KR" sz="1800" dirty="0">
                    <a:solidFill>
                      <a:prstClr val="white"/>
                    </a:solidFill>
                    <a:effectLst>
                      <a:glow rad="63500">
                        <a:srgbClr val="4F81BD">
                          <a:lumMod val="75000"/>
                        </a:srgb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4</a:t>
                </a:r>
                <a:r>
                  <a:rPr lang="ko-KR" altLang="en-US" sz="1800" dirty="0">
                    <a:solidFill>
                      <a:prstClr val="white"/>
                    </a:solidFill>
                    <a:effectLst>
                      <a:glow rad="63500">
                        <a:srgbClr val="4F81BD">
                          <a:lumMod val="75000"/>
                        </a:srgb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대</a:t>
                </a:r>
                <a:r>
                  <a:rPr lang="en-US" altLang="ko-KR" sz="1800" dirty="0">
                    <a:solidFill>
                      <a:prstClr val="white"/>
                    </a:solidFill>
                    <a:effectLst>
                      <a:glow rad="63500">
                        <a:srgbClr val="4F81BD">
                          <a:lumMod val="75000"/>
                        </a:srgb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ko-KR" altLang="en-US" sz="1800" dirty="0">
                    <a:solidFill>
                      <a:prstClr val="white"/>
                    </a:solidFill>
                    <a:effectLst>
                      <a:glow rad="63500">
                        <a:srgbClr val="4F81BD">
                          <a:lumMod val="75000"/>
                        </a:srgb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핵심추진전략</a:t>
                </a:r>
              </a:p>
            </p:txBody>
          </p:sp>
        </p:grpSp>
      </p:grpSp>
      <p:grpSp>
        <p:nvGrpSpPr>
          <p:cNvPr id="3" name="그룹 2"/>
          <p:cNvGrpSpPr/>
          <p:nvPr/>
        </p:nvGrpSpPr>
        <p:grpSpPr>
          <a:xfrm>
            <a:off x="3798466" y="1978558"/>
            <a:ext cx="6580027" cy="1018575"/>
            <a:chOff x="3798466" y="1978558"/>
            <a:chExt cx="6580027" cy="1018575"/>
          </a:xfrm>
        </p:grpSpPr>
        <p:sp>
          <p:nvSpPr>
            <p:cNvPr id="318" name="양쪽 모서리가 둥근 사각형 317"/>
            <p:cNvSpPr/>
            <p:nvPr/>
          </p:nvSpPr>
          <p:spPr>
            <a:xfrm rot="5400000" flipH="1">
              <a:off x="7046486" y="-852819"/>
              <a:ext cx="376825" cy="626095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DE2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914327"/>
              <a:endPara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319" name="그룹 318"/>
            <p:cNvGrpSpPr/>
            <p:nvPr/>
          </p:nvGrpSpPr>
          <p:grpSpPr>
            <a:xfrm>
              <a:off x="4881621" y="2581497"/>
              <a:ext cx="5496872" cy="285117"/>
              <a:chOff x="8607381" y="4127002"/>
              <a:chExt cx="5174841" cy="250235"/>
            </a:xfrm>
          </p:grpSpPr>
          <p:sp>
            <p:nvSpPr>
              <p:cNvPr id="331" name="AutoShape 27"/>
              <p:cNvSpPr>
                <a:spLocks noChangeArrowheads="1"/>
              </p:cNvSpPr>
              <p:nvPr/>
            </p:nvSpPr>
            <p:spPr bwMode="auto">
              <a:xfrm>
                <a:off x="8607381" y="4149305"/>
                <a:ext cx="811068" cy="20562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 dir="135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5004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pic>
            <p:nvPicPr>
              <p:cNvPr id="332" name="Picture 29" descr="Action text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bright="100000" contrast="66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8681140" y="4188119"/>
                <a:ext cx="362990" cy="106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33" name="직사각형 71"/>
              <p:cNvSpPr>
                <a:spLocks noChangeArrowheads="1"/>
              </p:cNvSpPr>
              <p:nvPr/>
            </p:nvSpPr>
            <p:spPr bwMode="auto">
              <a:xfrm>
                <a:off x="9090933" y="4165560"/>
                <a:ext cx="221957" cy="17558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ko-KR" sz="1300" spc="-158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산돌신문제비B"/>
                  </a:rPr>
                  <a:t>1-1</a:t>
                </a:r>
              </a:p>
            </p:txBody>
          </p:sp>
          <p:sp>
            <p:nvSpPr>
              <p:cNvPr id="334" name="AutoShape 27"/>
              <p:cNvSpPr>
                <a:spLocks noChangeArrowheads="1"/>
              </p:cNvSpPr>
              <p:nvPr/>
            </p:nvSpPr>
            <p:spPr bwMode="auto">
              <a:xfrm>
                <a:off x="9340878" y="4127002"/>
                <a:ext cx="2778982" cy="2502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93958" indent="-93634" algn="ctr" defTabSz="1553330" eaLnBrk="0" latinLnBrk="0" hangingPunct="0">
                  <a:buClr>
                    <a:schemeClr val="bg1">
                      <a:lumMod val="50000"/>
                    </a:schemeClr>
                  </a:buClr>
                  <a:buSzPct val="90000"/>
                </a:pPr>
                <a:endPara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35" name="Text Box 461"/>
              <p:cNvSpPr txBox="1">
                <a:spLocks noChangeArrowheads="1"/>
              </p:cNvSpPr>
              <p:nvPr/>
            </p:nvSpPr>
            <p:spPr bwMode="auto">
              <a:xfrm>
                <a:off x="9406946" y="4181427"/>
                <a:ext cx="4375276" cy="1485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squar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분석 및 설계 전문가 중심으로 업체자체 선행연구 실시</a:t>
                </a:r>
              </a:p>
            </p:txBody>
          </p:sp>
        </p:grpSp>
        <p:sp>
          <p:nvSpPr>
            <p:cNvPr id="320" name="TextBox 319"/>
            <p:cNvSpPr txBox="1"/>
            <p:nvPr/>
          </p:nvSpPr>
          <p:spPr>
            <a:xfrm>
              <a:off x="5858739" y="2141330"/>
              <a:ext cx="2989601" cy="215444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사업기간 내 완벽한 시스템 구축 보장</a:t>
              </a:r>
            </a:p>
          </p:txBody>
        </p:sp>
        <p:sp>
          <p:nvSpPr>
            <p:cNvPr id="321" name="직사각형 320"/>
            <p:cNvSpPr/>
            <p:nvPr/>
          </p:nvSpPr>
          <p:spPr>
            <a:xfrm>
              <a:off x="4940916" y="2126214"/>
              <a:ext cx="820738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tx1">
                    <a:lumMod val="95000"/>
                    <a:lumOff val="5000"/>
                  </a:schemeClr>
                </a:contourClr>
              </a:sp3d>
            </a:bodyPr>
            <a:lstStyle/>
            <a:p>
              <a:r>
                <a:rPr lang="ko-KR" altLang="en-US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사전분석</a:t>
              </a:r>
              <a:endParaRPr lang="en-US" altLang="ko-KR" sz="1600" dirty="0">
                <a:solidFill>
                  <a:srgbClr val="FF66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22" name="양쪽 모서리가 둥근 사각형 321"/>
            <p:cNvSpPr/>
            <p:nvPr/>
          </p:nvSpPr>
          <p:spPr>
            <a:xfrm rot="16200000">
              <a:off x="3911624" y="1936537"/>
              <a:ext cx="416376" cy="64269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432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323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930179" y="1978558"/>
              <a:ext cx="866477" cy="1018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4" name="TextBox 323"/>
            <p:cNvSpPr txBox="1"/>
            <p:nvPr/>
          </p:nvSpPr>
          <p:spPr>
            <a:xfrm>
              <a:off x="3919706" y="2136342"/>
              <a:ext cx="28212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</a:p>
          </p:txBody>
        </p:sp>
      </p:grpSp>
      <p:grpSp>
        <p:nvGrpSpPr>
          <p:cNvPr id="387" name="그룹 386"/>
          <p:cNvGrpSpPr/>
          <p:nvPr/>
        </p:nvGrpSpPr>
        <p:grpSpPr>
          <a:xfrm>
            <a:off x="615124" y="6048822"/>
            <a:ext cx="2750766" cy="734032"/>
            <a:chOff x="681461" y="5860209"/>
            <a:chExt cx="2750766" cy="886811"/>
          </a:xfrm>
        </p:grpSpPr>
        <p:grpSp>
          <p:nvGrpSpPr>
            <p:cNvPr id="388" name="그룹 387"/>
            <p:cNvGrpSpPr/>
            <p:nvPr/>
          </p:nvGrpSpPr>
          <p:grpSpPr>
            <a:xfrm>
              <a:off x="835445" y="6051513"/>
              <a:ext cx="2596782" cy="695507"/>
              <a:chOff x="835445" y="5929077"/>
              <a:chExt cx="2596782" cy="695507"/>
            </a:xfrm>
          </p:grpSpPr>
          <p:sp>
            <p:nvSpPr>
              <p:cNvPr id="392" name="AutoShape 1285" descr="그림4"/>
              <p:cNvSpPr>
                <a:spLocks noChangeArrowheads="1"/>
              </p:cNvSpPr>
              <p:nvPr/>
            </p:nvSpPr>
            <p:spPr bwMode="auto">
              <a:xfrm flipH="1">
                <a:off x="835445" y="5929077"/>
                <a:ext cx="2596782" cy="695507"/>
              </a:xfrm>
              <a:prstGeom prst="snip1Rect">
                <a:avLst>
                  <a:gd name="adj" fmla="val 35682"/>
                </a:avLst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defTabSz="913607"/>
                <a:endParaRPr lang="ko-KR" altLang="en-US" sz="18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93" name="직사각형 392"/>
              <p:cNvSpPr/>
              <p:nvPr/>
            </p:nvSpPr>
            <p:spPr>
              <a:xfrm>
                <a:off x="1098307" y="6193705"/>
                <a:ext cx="2162450" cy="260286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defRPr/>
                </a:pPr>
                <a:r>
                  <a: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철저한 품질검증 방안 수립</a:t>
                </a:r>
              </a:p>
            </p:txBody>
          </p:sp>
        </p:grpSp>
        <p:grpSp>
          <p:nvGrpSpPr>
            <p:cNvPr id="389" name="그룹 388"/>
            <p:cNvGrpSpPr/>
            <p:nvPr/>
          </p:nvGrpSpPr>
          <p:grpSpPr>
            <a:xfrm>
              <a:off x="681461" y="5860209"/>
              <a:ext cx="451067" cy="469353"/>
              <a:chOff x="555273" y="1917178"/>
              <a:chExt cx="451067" cy="469353"/>
            </a:xfrm>
          </p:grpSpPr>
          <p:pic>
            <p:nvPicPr>
              <p:cNvPr id="390" name="Picture 2" descr="C:\Users\young\Desktop\그림3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5273" y="1917178"/>
                <a:ext cx="451067" cy="4693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1" name="직사각형 390"/>
              <p:cNvSpPr/>
              <p:nvPr/>
            </p:nvSpPr>
            <p:spPr>
              <a:xfrm>
                <a:off x="691170" y="1997110"/>
                <a:ext cx="133050" cy="33465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  <a:contourClr>
                    <a:schemeClr val="bg1"/>
                  </a:contourClr>
                </a:sp3d>
              </a:bodyPr>
              <a:lstStyle/>
              <a:p>
                <a:pPr algn="ctr">
                  <a:spcAft>
                    <a:spcPct val="0"/>
                  </a:spcAft>
                </a:pPr>
                <a:r>
                  <a:rPr lang="en-US" altLang="ko-KR" sz="18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6</a:t>
                </a:r>
              </a:p>
            </p:txBody>
          </p:sp>
        </p:grpSp>
      </p:grpSp>
      <p:pic>
        <p:nvPicPr>
          <p:cNvPr id="135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3668883" y="1392299"/>
            <a:ext cx="793732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416634" y="1509231"/>
            <a:ext cx="793732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3798466" y="5904805"/>
            <a:ext cx="6751283" cy="1066646"/>
            <a:chOff x="3856664" y="5904805"/>
            <a:chExt cx="6751283" cy="1066646"/>
          </a:xfrm>
        </p:grpSpPr>
        <p:sp>
          <p:nvSpPr>
            <p:cNvPr id="128" name="양쪽 모서리가 둥근 사각형 127"/>
            <p:cNvSpPr/>
            <p:nvPr/>
          </p:nvSpPr>
          <p:spPr>
            <a:xfrm rot="5400000" flipH="1">
              <a:off x="7080074" y="3090992"/>
              <a:ext cx="380965" cy="621587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DE2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914327"/>
              <a:endPara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953008" y="6075524"/>
              <a:ext cx="1973297" cy="215444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defTabSz="1048373">
                <a:buClr>
                  <a:srgbClr val="5F5F5F"/>
                </a:buClr>
                <a:defRPr sz="1300">
                  <a:latin typeface="Rix모던고딕 EB" panose="02020603020101020101" pitchFamily="18" charset="-127"/>
                  <a:ea typeface="Rix모던고딕 EB" panose="02020603020101020101" pitchFamily="18" charset="-127"/>
                </a:defRPr>
              </a:lvl1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분야별 개발 전문가 투입</a:t>
              </a: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4999114" y="6058115"/>
              <a:ext cx="1827423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tx1">
                    <a:lumMod val="95000"/>
                    <a:lumOff val="5000"/>
                  </a:schemeClr>
                </a:contourClr>
              </a:sp3d>
            </a:bodyPr>
            <a:lstStyle/>
            <a:p>
              <a:r>
                <a:rPr lang="ko-KR" altLang="en-US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국방</a:t>
              </a:r>
              <a:r>
                <a:rPr lang="en-US" altLang="ko-KR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•</a:t>
              </a:r>
              <a:r>
                <a:rPr lang="ko-KR" altLang="en-US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유사체계 경험</a:t>
              </a:r>
              <a:endParaRPr lang="en-US" altLang="ko-KR" sz="1600" dirty="0">
                <a:solidFill>
                  <a:srgbClr val="FF66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" name="양쪽 모서리가 둥근 사각형 142"/>
            <p:cNvSpPr/>
            <p:nvPr/>
          </p:nvSpPr>
          <p:spPr>
            <a:xfrm rot="16200000">
              <a:off x="3969822" y="5859879"/>
              <a:ext cx="416376" cy="64269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432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3977904" y="6059684"/>
              <a:ext cx="28212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</a:p>
          </p:txBody>
        </p:sp>
        <p:grpSp>
          <p:nvGrpSpPr>
            <p:cNvPr id="147" name="그룹 146"/>
            <p:cNvGrpSpPr/>
            <p:nvPr/>
          </p:nvGrpSpPr>
          <p:grpSpPr>
            <a:xfrm>
              <a:off x="4936790" y="6504409"/>
              <a:ext cx="5671157" cy="285117"/>
              <a:chOff x="8607381" y="8258206"/>
              <a:chExt cx="5338913" cy="250235"/>
            </a:xfrm>
          </p:grpSpPr>
          <p:sp>
            <p:nvSpPr>
              <p:cNvPr id="150" name="AutoShape 27"/>
              <p:cNvSpPr>
                <a:spLocks noChangeArrowheads="1"/>
              </p:cNvSpPr>
              <p:nvPr/>
            </p:nvSpPr>
            <p:spPr bwMode="auto">
              <a:xfrm>
                <a:off x="8607381" y="8280509"/>
                <a:ext cx="811068" cy="20562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 dir="135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5004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pic>
            <p:nvPicPr>
              <p:cNvPr id="151" name="Picture 29" descr="Action text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bright="100000" contrast="66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8681140" y="8314731"/>
                <a:ext cx="362990" cy="106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52" name="직사각형 71"/>
              <p:cNvSpPr>
                <a:spLocks noChangeArrowheads="1"/>
              </p:cNvSpPr>
              <p:nvPr/>
            </p:nvSpPr>
            <p:spPr bwMode="auto">
              <a:xfrm>
                <a:off x="9090926" y="8299279"/>
                <a:ext cx="221957" cy="17558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ko-KR" sz="1300" spc="-158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산돌신문제비B"/>
                  </a:rPr>
                  <a:t>4-1</a:t>
                </a:r>
              </a:p>
            </p:txBody>
          </p:sp>
          <p:sp>
            <p:nvSpPr>
              <p:cNvPr id="153" name="AutoShape 27"/>
              <p:cNvSpPr>
                <a:spLocks noChangeArrowheads="1"/>
              </p:cNvSpPr>
              <p:nvPr/>
            </p:nvSpPr>
            <p:spPr bwMode="auto">
              <a:xfrm>
                <a:off x="9340878" y="8258206"/>
                <a:ext cx="2778981" cy="2502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93958" indent="-93634" algn="ctr" defTabSz="1553330" eaLnBrk="0" latinLnBrk="0" hangingPunct="0">
                  <a:buClr>
                    <a:schemeClr val="bg1">
                      <a:lumMod val="50000"/>
                    </a:schemeClr>
                  </a:buClr>
                  <a:buSzPct val="90000"/>
                </a:pPr>
                <a:endPara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54" name="Text Box 461"/>
              <p:cNvSpPr txBox="1">
                <a:spLocks noChangeArrowheads="1"/>
              </p:cNvSpPr>
              <p:nvPr/>
            </p:nvSpPr>
            <p:spPr bwMode="auto">
              <a:xfrm>
                <a:off x="9406946" y="8299505"/>
                <a:ext cx="4539348" cy="15475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defPPr>
                  <a:defRPr lang="ko-KR"/>
                </a:defPPr>
                <a:lvl1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 kumimoji="1" sz="1200" kern="0">
                    <a:solidFill>
                      <a:prstClr val="black"/>
                    </a:solidFill>
                    <a:latin typeface="+mn-ea"/>
                    <a:cs typeface="Times New Roman" pitchFamily="18" charset="0"/>
                  </a:defRPr>
                </a:lvl1pPr>
              </a:lstStyle>
              <a:p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사업 수행에 최적화된 컨소시엄 구성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(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국방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IT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전문기업 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+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웹 개발 전문기업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)</a:t>
                </a:r>
                <a:endParaRPr lang="ko-KR" altLang="en-US" sz="11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148" name="TextBox 147"/>
            <p:cNvSpPr txBox="1"/>
            <p:nvPr/>
          </p:nvSpPr>
          <p:spPr>
            <a:xfrm>
              <a:off x="3977904" y="6802174"/>
              <a:ext cx="28212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</a:p>
          </p:txBody>
        </p:sp>
        <p:pic>
          <p:nvPicPr>
            <p:cNvPr id="155" name="Picture 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006870" y="5904805"/>
              <a:ext cx="865155" cy="948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그룹 6"/>
          <p:cNvGrpSpPr/>
          <p:nvPr/>
        </p:nvGrpSpPr>
        <p:grpSpPr>
          <a:xfrm>
            <a:off x="3798466" y="3131943"/>
            <a:ext cx="6580028" cy="1282786"/>
            <a:chOff x="3798466" y="3181847"/>
            <a:chExt cx="6580028" cy="1282786"/>
          </a:xfrm>
        </p:grpSpPr>
        <p:sp>
          <p:nvSpPr>
            <p:cNvPr id="337" name="양쪽 모서리가 둥근 사각형 336"/>
            <p:cNvSpPr/>
            <p:nvPr/>
          </p:nvSpPr>
          <p:spPr>
            <a:xfrm rot="5400000" flipH="1">
              <a:off x="7037187" y="341173"/>
              <a:ext cx="395421" cy="626095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DE2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914327"/>
              <a:endPara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6030714" y="3355470"/>
              <a:ext cx="2930289" cy="215444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defTabSz="1048373">
                <a:buClr>
                  <a:srgbClr val="5F5F5F"/>
                </a:buClr>
                <a:defRPr sz="1300">
                  <a:latin typeface="Rix모던고딕 EB" panose="02020603020101020101" pitchFamily="18" charset="-127"/>
                  <a:ea typeface="Rix모던고딕 EB" panose="02020603020101020101" pitchFamily="18" charset="-127"/>
                </a:defRPr>
              </a:lvl1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시스템 사용자의 편의성 최우선 고려</a:t>
              </a:r>
            </a:p>
          </p:txBody>
        </p:sp>
        <p:sp>
          <p:nvSpPr>
            <p:cNvPr id="339" name="직사각형 338"/>
            <p:cNvSpPr/>
            <p:nvPr/>
          </p:nvSpPr>
          <p:spPr>
            <a:xfrm>
              <a:off x="4940916" y="3342565"/>
              <a:ext cx="1094852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tx1">
                    <a:lumMod val="95000"/>
                    <a:lumOff val="5000"/>
                  </a:schemeClr>
                </a:contourClr>
              </a:sp3d>
            </a:bodyPr>
            <a:lstStyle/>
            <a:p>
              <a:r>
                <a:rPr lang="ko-KR" altLang="en-US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편의성 향상</a:t>
              </a:r>
            </a:p>
          </p:txBody>
        </p:sp>
        <p:sp>
          <p:nvSpPr>
            <p:cNvPr id="340" name="양쪽 모서리가 둥근 사각형 339"/>
            <p:cNvSpPr/>
            <p:nvPr/>
          </p:nvSpPr>
          <p:spPr>
            <a:xfrm rot="16200000">
              <a:off x="3911624" y="3139825"/>
              <a:ext cx="416376" cy="64269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432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341" name="Picture 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930180" y="3181847"/>
              <a:ext cx="866476" cy="1018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2" name="TextBox 341"/>
            <p:cNvSpPr txBox="1"/>
            <p:nvPr/>
          </p:nvSpPr>
          <p:spPr>
            <a:xfrm>
              <a:off x="3919706" y="3339629"/>
              <a:ext cx="28212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</a:p>
          </p:txBody>
        </p:sp>
        <p:grpSp>
          <p:nvGrpSpPr>
            <p:cNvPr id="343" name="그룹 342"/>
            <p:cNvGrpSpPr/>
            <p:nvPr/>
          </p:nvGrpSpPr>
          <p:grpSpPr>
            <a:xfrm>
              <a:off x="4878584" y="3793704"/>
              <a:ext cx="5486790" cy="285117"/>
              <a:chOff x="8607381" y="5412097"/>
              <a:chExt cx="5165350" cy="250235"/>
            </a:xfrm>
          </p:grpSpPr>
          <p:sp>
            <p:nvSpPr>
              <p:cNvPr id="356" name="AutoShape 27"/>
              <p:cNvSpPr>
                <a:spLocks noChangeArrowheads="1"/>
              </p:cNvSpPr>
              <p:nvPr/>
            </p:nvSpPr>
            <p:spPr bwMode="auto">
              <a:xfrm>
                <a:off x="8607381" y="5434400"/>
                <a:ext cx="811068" cy="20562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 dir="135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5004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pic>
            <p:nvPicPr>
              <p:cNvPr id="357" name="Picture 29" descr="Action text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bright="100000" contrast="66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8681140" y="5468622"/>
                <a:ext cx="362990" cy="106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58" name="직사각형 71"/>
              <p:cNvSpPr>
                <a:spLocks noChangeArrowheads="1"/>
              </p:cNvSpPr>
              <p:nvPr/>
            </p:nvSpPr>
            <p:spPr bwMode="auto">
              <a:xfrm>
                <a:off x="9090927" y="5445932"/>
                <a:ext cx="221958" cy="17558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ko-KR" sz="1300" spc="-158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산돌신문제비B"/>
                  </a:rPr>
                  <a:t>2-1</a:t>
                </a:r>
              </a:p>
            </p:txBody>
          </p:sp>
          <p:sp>
            <p:nvSpPr>
              <p:cNvPr id="359" name="AutoShape 27"/>
              <p:cNvSpPr>
                <a:spLocks noChangeArrowheads="1"/>
              </p:cNvSpPr>
              <p:nvPr/>
            </p:nvSpPr>
            <p:spPr bwMode="auto">
              <a:xfrm>
                <a:off x="9340878" y="5412097"/>
                <a:ext cx="2778982" cy="2502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93958" indent="-93634" algn="ctr" defTabSz="1553330" eaLnBrk="0" latinLnBrk="0" hangingPunct="0">
                  <a:buClr>
                    <a:schemeClr val="bg1">
                      <a:lumMod val="50000"/>
                    </a:schemeClr>
                  </a:buClr>
                  <a:buSzPct val="90000"/>
                </a:pPr>
                <a:endPara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60" name="Text Box 461"/>
              <p:cNvSpPr txBox="1">
                <a:spLocks noChangeArrowheads="1"/>
              </p:cNvSpPr>
              <p:nvPr/>
            </p:nvSpPr>
            <p:spPr bwMode="auto">
              <a:xfrm>
                <a:off x="9406946" y="5453396"/>
                <a:ext cx="4365785" cy="16072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squar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defPPr>
                  <a:defRPr lang="ko-KR"/>
                </a:defPPr>
                <a:lvl1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 kumimoji="1" sz="1200" kern="0">
                    <a:solidFill>
                      <a:prstClr val="black"/>
                    </a:solidFill>
                    <a:latin typeface="+mn-ea"/>
                    <a:cs typeface="Times New Roman" pitchFamily="18" charset="0"/>
                  </a:defRPr>
                </a:lvl1pPr>
              </a:lstStyle>
              <a:p>
                <a:pPr>
                  <a:defRPr/>
                </a:pP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학습관리체계 특성 반영 및 사용자 중심의 교육정보종합시스템 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SW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구현</a:t>
                </a:r>
              </a:p>
            </p:txBody>
          </p:sp>
        </p:grpSp>
        <p:sp>
          <p:nvSpPr>
            <p:cNvPr id="353" name="직사각형 71"/>
            <p:cNvSpPr>
              <a:spLocks noChangeArrowheads="1"/>
            </p:cNvSpPr>
            <p:nvPr/>
          </p:nvSpPr>
          <p:spPr bwMode="auto">
            <a:xfrm>
              <a:off x="5392250" y="4228026"/>
              <a:ext cx="235770" cy="20005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300" spc="-158" dirty="0">
                  <a:solidFill>
                    <a:srgbClr val="FFFFFF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산돌신문제비B"/>
                </a:rPr>
                <a:t>2-2</a:t>
              </a:r>
            </a:p>
          </p:txBody>
        </p:sp>
        <p:grpSp>
          <p:nvGrpSpPr>
            <p:cNvPr id="285" name="그룹 284"/>
            <p:cNvGrpSpPr/>
            <p:nvPr/>
          </p:nvGrpSpPr>
          <p:grpSpPr>
            <a:xfrm>
              <a:off x="4891704" y="4168772"/>
              <a:ext cx="5486790" cy="295861"/>
              <a:chOff x="8607381" y="5402667"/>
              <a:chExt cx="5165350" cy="259665"/>
            </a:xfrm>
          </p:grpSpPr>
          <p:sp>
            <p:nvSpPr>
              <p:cNvPr id="286" name="AutoShape 27"/>
              <p:cNvSpPr>
                <a:spLocks noChangeArrowheads="1"/>
              </p:cNvSpPr>
              <p:nvPr/>
            </p:nvSpPr>
            <p:spPr bwMode="auto">
              <a:xfrm>
                <a:off x="8607381" y="5402667"/>
                <a:ext cx="811068" cy="20562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 dir="135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5004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pic>
            <p:nvPicPr>
              <p:cNvPr id="305" name="Picture 29" descr="Action text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bright="100000" contrast="66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8681140" y="5441004"/>
                <a:ext cx="362990" cy="106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07" name="직사각형 71"/>
              <p:cNvSpPr>
                <a:spLocks noChangeArrowheads="1"/>
              </p:cNvSpPr>
              <p:nvPr/>
            </p:nvSpPr>
            <p:spPr bwMode="auto">
              <a:xfrm>
                <a:off x="9090927" y="5418712"/>
                <a:ext cx="221958" cy="17558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ko-KR" sz="1300" spc="-158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산돌신문제비B"/>
                  </a:rPr>
                  <a:t>2-2</a:t>
                </a:r>
              </a:p>
            </p:txBody>
          </p:sp>
          <p:sp>
            <p:nvSpPr>
              <p:cNvPr id="308" name="AutoShape 27"/>
              <p:cNvSpPr>
                <a:spLocks noChangeArrowheads="1"/>
              </p:cNvSpPr>
              <p:nvPr/>
            </p:nvSpPr>
            <p:spPr bwMode="auto">
              <a:xfrm>
                <a:off x="9340878" y="5412097"/>
                <a:ext cx="2778982" cy="2502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93958" indent="-93634" algn="ctr" defTabSz="1553330" eaLnBrk="0" latinLnBrk="0" hangingPunct="0">
                  <a:buClr>
                    <a:schemeClr val="bg1">
                      <a:lumMod val="50000"/>
                    </a:schemeClr>
                  </a:buClr>
                  <a:buSzPct val="90000"/>
                </a:pPr>
                <a:endPara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09" name="Text Box 461"/>
              <p:cNvSpPr txBox="1">
                <a:spLocks noChangeArrowheads="1"/>
              </p:cNvSpPr>
              <p:nvPr/>
            </p:nvSpPr>
            <p:spPr bwMode="auto">
              <a:xfrm>
                <a:off x="9406946" y="5413125"/>
                <a:ext cx="4365785" cy="16072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squar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defPPr>
                  <a:defRPr lang="ko-KR"/>
                </a:defPPr>
                <a:lvl1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 kumimoji="1" sz="1200" kern="0">
                    <a:solidFill>
                      <a:prstClr val="black"/>
                    </a:solidFill>
                    <a:latin typeface="+mn-ea"/>
                    <a:cs typeface="Times New Roman" pitchFamily="18" charset="0"/>
                  </a:defRPr>
                </a:lvl1pPr>
              </a:lstStyle>
              <a:p>
                <a:pPr>
                  <a:defRPr/>
                </a:pP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업무 자동화 시스템 구축으로 사용자 맞춤형 설계 및 반영</a:t>
                </a:r>
              </a:p>
            </p:txBody>
          </p:sp>
        </p:grpSp>
      </p:grpSp>
      <p:grpSp>
        <p:nvGrpSpPr>
          <p:cNvPr id="16" name="그룹 15"/>
          <p:cNvGrpSpPr/>
          <p:nvPr/>
        </p:nvGrpSpPr>
        <p:grpSpPr>
          <a:xfrm>
            <a:off x="3798466" y="4549539"/>
            <a:ext cx="6521830" cy="1220455"/>
            <a:chOff x="3798466" y="4628477"/>
            <a:chExt cx="6521830" cy="1220455"/>
          </a:xfrm>
        </p:grpSpPr>
        <p:sp>
          <p:nvSpPr>
            <p:cNvPr id="362" name="양쪽 모서리가 둥근 사각형 361"/>
            <p:cNvSpPr/>
            <p:nvPr/>
          </p:nvSpPr>
          <p:spPr>
            <a:xfrm rot="5400000" flipH="1">
              <a:off x="7021876" y="1821247"/>
              <a:ext cx="380965" cy="621587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DE2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defTabSz="914327"/>
              <a:endPara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7252130" y="4829876"/>
              <a:ext cx="2587247" cy="215444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defTabSz="1048373">
                <a:buClr>
                  <a:srgbClr val="5F5F5F"/>
                </a:buClr>
                <a:defRPr sz="1300">
                  <a:latin typeface="Rix모던고딕 EB" panose="02020603020101020101" pitchFamily="18" charset="-127"/>
                  <a:ea typeface="Rix모던고딕 EB" panose="02020603020101020101" pitchFamily="18" charset="-127"/>
                </a:defRPr>
              </a:lvl1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국방사업의 개발 정책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지침 준수</a:t>
              </a:r>
            </a:p>
          </p:txBody>
        </p:sp>
        <p:sp>
          <p:nvSpPr>
            <p:cNvPr id="364" name="직사각형 363"/>
            <p:cNvSpPr/>
            <p:nvPr/>
          </p:nvSpPr>
          <p:spPr>
            <a:xfrm>
              <a:off x="4940916" y="4812467"/>
              <a:ext cx="2228174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tx1">
                    <a:lumMod val="95000"/>
                    <a:lumOff val="5000"/>
                  </a:schemeClr>
                </a:contourClr>
              </a:sp3d>
            </a:bodyPr>
            <a:lstStyle/>
            <a:p>
              <a:r>
                <a:rPr lang="ko-KR" altLang="en-US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효율적</a:t>
              </a:r>
              <a:r>
                <a:rPr lang="en-US" altLang="ko-KR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•</a:t>
              </a:r>
              <a:r>
                <a:rPr lang="ko-KR" altLang="en-US" sz="1600" dirty="0">
                  <a:solidFill>
                    <a:srgbClr val="FF66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안정적 사업관리</a:t>
              </a:r>
            </a:p>
          </p:txBody>
        </p:sp>
        <p:sp>
          <p:nvSpPr>
            <p:cNvPr id="365" name="양쪽 모서리가 둥근 사각형 364"/>
            <p:cNvSpPr/>
            <p:nvPr/>
          </p:nvSpPr>
          <p:spPr>
            <a:xfrm rot="16200000">
              <a:off x="3911624" y="4590134"/>
              <a:ext cx="416376" cy="64269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432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66" name="TextBox 365"/>
            <p:cNvSpPr txBox="1"/>
            <p:nvPr/>
          </p:nvSpPr>
          <p:spPr>
            <a:xfrm>
              <a:off x="3919706" y="4789939"/>
              <a:ext cx="28212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</a:p>
          </p:txBody>
        </p:sp>
        <p:grpSp>
          <p:nvGrpSpPr>
            <p:cNvPr id="367" name="그룹 366"/>
            <p:cNvGrpSpPr/>
            <p:nvPr/>
          </p:nvGrpSpPr>
          <p:grpSpPr>
            <a:xfrm>
              <a:off x="4878589" y="5234663"/>
              <a:ext cx="3914263" cy="285117"/>
              <a:chOff x="8607381" y="8258206"/>
              <a:chExt cx="3684947" cy="250235"/>
            </a:xfrm>
          </p:grpSpPr>
          <p:sp>
            <p:nvSpPr>
              <p:cNvPr id="382" name="AutoShape 27"/>
              <p:cNvSpPr>
                <a:spLocks noChangeArrowheads="1"/>
              </p:cNvSpPr>
              <p:nvPr/>
            </p:nvSpPr>
            <p:spPr bwMode="auto">
              <a:xfrm>
                <a:off x="8607381" y="8280509"/>
                <a:ext cx="811068" cy="20562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 dir="135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5004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pic>
            <p:nvPicPr>
              <p:cNvPr id="383" name="Picture 29" descr="Action text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bright="100000" contrast="66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8681140" y="8314731"/>
                <a:ext cx="362990" cy="106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84" name="직사각형 71"/>
              <p:cNvSpPr>
                <a:spLocks noChangeArrowheads="1"/>
              </p:cNvSpPr>
              <p:nvPr/>
            </p:nvSpPr>
            <p:spPr bwMode="auto">
              <a:xfrm>
                <a:off x="9090927" y="8295386"/>
                <a:ext cx="221957" cy="17558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ko-KR" sz="1300" spc="-158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산돌신문제비B"/>
                  </a:rPr>
                  <a:t>3-1</a:t>
                </a:r>
              </a:p>
            </p:txBody>
          </p:sp>
          <p:sp>
            <p:nvSpPr>
              <p:cNvPr id="385" name="AutoShape 27"/>
              <p:cNvSpPr>
                <a:spLocks noChangeArrowheads="1"/>
              </p:cNvSpPr>
              <p:nvPr/>
            </p:nvSpPr>
            <p:spPr bwMode="auto">
              <a:xfrm>
                <a:off x="9340878" y="8258206"/>
                <a:ext cx="2778981" cy="2502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93958" indent="-93634" algn="ctr" defTabSz="1553330" eaLnBrk="0" latinLnBrk="0" hangingPunct="0">
                  <a:buClr>
                    <a:schemeClr val="bg1">
                      <a:lumMod val="50000"/>
                    </a:schemeClr>
                  </a:buClr>
                  <a:buSzPct val="90000"/>
                </a:pPr>
                <a:endPara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86" name="Text Box 461"/>
              <p:cNvSpPr txBox="1">
                <a:spLocks noChangeArrowheads="1"/>
              </p:cNvSpPr>
              <p:nvPr/>
            </p:nvSpPr>
            <p:spPr bwMode="auto">
              <a:xfrm>
                <a:off x="9406945" y="8299505"/>
                <a:ext cx="2885383" cy="15475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defPPr>
                  <a:defRPr lang="ko-KR"/>
                </a:defPPr>
                <a:lvl1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 kumimoji="1" sz="1200" kern="0">
                    <a:solidFill>
                      <a:prstClr val="black"/>
                    </a:solidFill>
                    <a:latin typeface="+mn-ea"/>
                    <a:cs typeface="Times New Roman" pitchFamily="18" charset="0"/>
                  </a:defRPr>
                </a:lvl1pPr>
              </a:lstStyle>
              <a:p>
                <a:pPr>
                  <a:defRPr/>
                </a:pP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국방 개발방법론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국방 정책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/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지침 준수 역량 적용</a:t>
                </a:r>
              </a:p>
            </p:txBody>
          </p:sp>
        </p:grpSp>
        <p:sp>
          <p:nvSpPr>
            <p:cNvPr id="369" name="TextBox 368"/>
            <p:cNvSpPr txBox="1"/>
            <p:nvPr/>
          </p:nvSpPr>
          <p:spPr>
            <a:xfrm>
              <a:off x="3919706" y="5532429"/>
              <a:ext cx="28212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</a:p>
          </p:txBody>
        </p:sp>
        <p:pic>
          <p:nvPicPr>
            <p:cNvPr id="370" name="Picture 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947546" y="4628477"/>
              <a:ext cx="866476" cy="1018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11" name="그룹 310"/>
            <p:cNvGrpSpPr/>
            <p:nvPr/>
          </p:nvGrpSpPr>
          <p:grpSpPr>
            <a:xfrm>
              <a:off x="4877842" y="5563815"/>
              <a:ext cx="5307272" cy="285117"/>
              <a:chOff x="8607381" y="8258206"/>
              <a:chExt cx="4996347" cy="250235"/>
            </a:xfrm>
          </p:grpSpPr>
          <p:sp>
            <p:nvSpPr>
              <p:cNvPr id="312" name="AutoShape 27"/>
              <p:cNvSpPr>
                <a:spLocks noChangeArrowheads="1"/>
              </p:cNvSpPr>
              <p:nvPr/>
            </p:nvSpPr>
            <p:spPr bwMode="auto">
              <a:xfrm>
                <a:off x="8607381" y="8280509"/>
                <a:ext cx="811068" cy="20562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 dir="135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5004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pic>
            <p:nvPicPr>
              <p:cNvPr id="313" name="Picture 29" descr="Action text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bright="100000" contrast="66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8681140" y="8314731"/>
                <a:ext cx="362990" cy="106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14" name="직사각형 71"/>
              <p:cNvSpPr>
                <a:spLocks noChangeArrowheads="1"/>
              </p:cNvSpPr>
              <p:nvPr/>
            </p:nvSpPr>
            <p:spPr bwMode="auto">
              <a:xfrm>
                <a:off x="9090926" y="8290821"/>
                <a:ext cx="221957" cy="17558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ko-KR" sz="1300" spc="-158" dirty="0">
                    <a:solidFill>
                      <a:srgbClr val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산돌신문제비B"/>
                  </a:rPr>
                  <a:t>3-2</a:t>
                </a:r>
              </a:p>
            </p:txBody>
          </p:sp>
          <p:sp>
            <p:nvSpPr>
              <p:cNvPr id="315" name="AutoShape 27"/>
              <p:cNvSpPr>
                <a:spLocks noChangeArrowheads="1"/>
              </p:cNvSpPr>
              <p:nvPr/>
            </p:nvSpPr>
            <p:spPr bwMode="auto">
              <a:xfrm>
                <a:off x="9340878" y="8258206"/>
                <a:ext cx="2778981" cy="2502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93958" indent="-93634" algn="ctr" defTabSz="1553330" eaLnBrk="0" latinLnBrk="0" hangingPunct="0">
                  <a:buClr>
                    <a:schemeClr val="bg1">
                      <a:lumMod val="50000"/>
                    </a:schemeClr>
                  </a:buClr>
                  <a:buSzPct val="90000"/>
                </a:pPr>
                <a:endPara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16" name="Text Box 461"/>
              <p:cNvSpPr txBox="1">
                <a:spLocks noChangeArrowheads="1"/>
              </p:cNvSpPr>
              <p:nvPr/>
            </p:nvSpPr>
            <p:spPr bwMode="auto">
              <a:xfrm>
                <a:off x="9406944" y="8299498"/>
                <a:ext cx="4196784" cy="15475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defPPr>
                  <a:defRPr lang="ko-KR"/>
                </a:defPPr>
                <a:lvl1pPr defTabSz="1066904" fontAlgn="base" latinLnBrk="0">
                  <a:lnSpc>
                    <a:spcPct val="12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777777"/>
                  </a:buClr>
                  <a:buSzPct val="65000"/>
                  <a:defRPr kumimoji="1" sz="1200" kern="0">
                    <a:solidFill>
                      <a:prstClr val="black"/>
                    </a:solidFill>
                    <a:latin typeface="+mn-ea"/>
                    <a:cs typeface="Times New Roman" pitchFamily="18" charset="0"/>
                  </a:defRPr>
                </a:lvl1pPr>
              </a:lstStyle>
              <a:p>
                <a:pPr>
                  <a:defRPr/>
                </a:pP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기술표준화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(DITA),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공통운용환경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(COE),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데이터공유환경</a:t>
                </a:r>
                <a:r>
                  <a:rPr lang="en-US" altLang="ko-KR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(SHADE) </a:t>
                </a:r>
                <a:r>
                  <a: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준수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0357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129" y="2336357"/>
            <a:ext cx="3517148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사업을 이해하고 구축에 전념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9190559" y="648222"/>
            <a:ext cx="1655243" cy="487626"/>
            <a:chOff x="9190558" y="648221"/>
            <a:chExt cx="1655243" cy="487626"/>
          </a:xfrm>
        </p:grpSpPr>
        <p:sp>
          <p:nvSpPr>
            <p:cNvPr id="26" name="Text Box 18"/>
            <p:cNvSpPr txBox="1">
              <a:spLocks noChangeArrowheads="1"/>
            </p:cNvSpPr>
            <p:nvPr/>
          </p:nvSpPr>
          <p:spPr bwMode="auto">
            <a:xfrm>
              <a:off x="91905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9774758" y="648221"/>
              <a:ext cx="901815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Ⅲ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10333559" y="648221"/>
              <a:ext cx="512242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Ⅳ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2259258" y="2645163"/>
            <a:ext cx="2189214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사전분석</a:t>
            </a:r>
            <a:endParaRPr lang="en-US" altLang="ko-KR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텍스트 개체 틀 36"/>
          <p:cNvSpPr txBox="1">
            <a:spLocks/>
          </p:cNvSpPr>
          <p:nvPr/>
        </p:nvSpPr>
        <p:spPr>
          <a:xfrm>
            <a:off x="4086498" y="2913411"/>
            <a:ext cx="2781211" cy="200055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marL="0" indent="0" algn="l" defTabSz="1019190" rtl="0" eaLnBrk="1" latinLnBrk="1" hangingPunct="1">
              <a:spcBef>
                <a:spcPts val="0"/>
              </a:spcBef>
              <a:buFontTx/>
              <a:buNone/>
              <a:defRPr sz="2000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828092" indent="-318497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98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58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317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277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236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196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1559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47546">
              <a:buClr>
                <a:srgbClr val="5F5F5F"/>
              </a:buClr>
              <a:defRPr/>
            </a:pPr>
            <a:r>
              <a:rPr lang="ko-KR" altLang="en-US" sz="13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사업기간 내 완벽한 시스템 구축 보장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2385587" y="3638565"/>
            <a:ext cx="6006718" cy="282539"/>
            <a:chOff x="2208777" y="5217210"/>
            <a:chExt cx="6006718" cy="282539"/>
          </a:xfrm>
        </p:grpSpPr>
        <p:grpSp>
          <p:nvGrpSpPr>
            <p:cNvPr id="32" name="그룹 31"/>
            <p:cNvGrpSpPr/>
            <p:nvPr/>
          </p:nvGrpSpPr>
          <p:grpSpPr>
            <a:xfrm>
              <a:off x="2208777" y="5217210"/>
              <a:ext cx="943998" cy="282539"/>
              <a:chOff x="2208777" y="5217210"/>
              <a:chExt cx="943998" cy="282539"/>
            </a:xfrm>
          </p:grpSpPr>
          <p:sp>
            <p:nvSpPr>
              <p:cNvPr id="44" name="양쪽 모서리가 둥근 사각형 43"/>
              <p:cNvSpPr/>
              <p:nvPr/>
            </p:nvSpPr>
            <p:spPr>
              <a:xfrm rot="16200000">
                <a:off x="2546130" y="4879857"/>
                <a:ext cx="269292" cy="94399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>
                  <a:schemeClr val="tx1">
                    <a:lumMod val="75000"/>
                    <a:lumOff val="25000"/>
                    <a:alpha val="92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3780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grpSp>
            <p:nvGrpSpPr>
              <p:cNvPr id="45" name="그룹 44"/>
              <p:cNvGrpSpPr/>
              <p:nvPr/>
            </p:nvGrpSpPr>
            <p:grpSpPr>
              <a:xfrm>
                <a:off x="2381329" y="5222750"/>
                <a:ext cx="719055" cy="276999"/>
                <a:chOff x="2283296" y="5246449"/>
                <a:chExt cx="719055" cy="276999"/>
              </a:xfrm>
            </p:grpSpPr>
            <p:pic>
              <p:nvPicPr>
                <p:cNvPr id="46" name="Picture 29" descr="Action text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lum bright="100000" contrast="66000"/>
                  <a:grayscl/>
                </a:blip>
                <a:srcRect/>
                <a:stretch>
                  <a:fillRect/>
                </a:stretch>
              </p:blipFill>
              <p:spPr bwMode="auto">
                <a:xfrm>
                  <a:off x="2283296" y="5303764"/>
                  <a:ext cx="392994" cy="1149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47" name="직사각형 71"/>
                <p:cNvSpPr>
                  <a:spLocks noChangeArrowheads="1"/>
                </p:cNvSpPr>
                <p:nvPr/>
              </p:nvSpPr>
              <p:spPr bwMode="auto">
                <a:xfrm>
                  <a:off x="2652767" y="5246449"/>
                  <a:ext cx="349584" cy="276999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ko-KR" sz="1800" spc="-158" dirty="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산돌신문제비B"/>
                    </a:rPr>
                    <a:t>1-1</a:t>
                  </a:r>
                </a:p>
              </p:txBody>
            </p:sp>
          </p:grpSp>
        </p:grpSp>
        <p:sp>
          <p:nvSpPr>
            <p:cNvPr id="43" name="Text Box 461"/>
            <p:cNvSpPr txBox="1">
              <a:spLocks noChangeArrowheads="1"/>
            </p:cNvSpPr>
            <p:nvPr/>
          </p:nvSpPr>
          <p:spPr bwMode="auto">
            <a:xfrm>
              <a:off x="3218934" y="5228745"/>
              <a:ext cx="4996561" cy="24622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>
                <a:defRPr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defRPr>
              </a:lvl1pPr>
            </a:lstStyle>
            <a:p>
              <a:r>
                <a:rPr lang="ko-KR" altLang="en-US" dirty="0">
                  <a:latin typeface="굴림" panose="020B0600000101010101" pitchFamily="50" charset="-127"/>
                  <a:ea typeface="굴림" panose="020B0600000101010101" pitchFamily="50" charset="-127"/>
                </a:rPr>
                <a:t>분석 및 설계 전문가 중심으로 업체자체 선행연구 실시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1287888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838633" y="271486"/>
            <a:ext cx="8226826" cy="797799"/>
            <a:chOff x="684361" y="328636"/>
            <a:chExt cx="8226826" cy="797799"/>
          </a:xfrm>
        </p:grpSpPr>
        <p:grpSp>
          <p:nvGrpSpPr>
            <p:cNvPr id="2" name="그룹 1"/>
            <p:cNvGrpSpPr/>
            <p:nvPr/>
          </p:nvGrpSpPr>
          <p:grpSpPr>
            <a:xfrm>
              <a:off x="684361" y="359216"/>
              <a:ext cx="307778" cy="674807"/>
              <a:chOff x="753806" y="359216"/>
              <a:chExt cx="307778" cy="674807"/>
            </a:xfrm>
          </p:grpSpPr>
          <p:sp>
            <p:nvSpPr>
              <p:cNvPr id="99" name="직사각형 98"/>
              <p:cNvSpPr/>
              <p:nvPr/>
            </p:nvSpPr>
            <p:spPr bwMode="auto">
              <a:xfrm>
                <a:off x="753806" y="359216"/>
                <a:ext cx="307778" cy="18466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ko-KR" altLang="en-US" sz="12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전략</a:t>
                </a:r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 bwMode="auto">
              <a:xfrm>
                <a:off x="786656" y="603136"/>
                <a:ext cx="211597" cy="43088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en-US" altLang="ko-KR" sz="2800" dirty="0">
                    <a:solidFill>
                      <a:srgbClr val="9BBB59">
                        <a:lumMod val="40000"/>
                        <a:lumOff val="60000"/>
                      </a:srgb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1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1373546" y="603215"/>
              <a:ext cx="7537641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2800" b="1" spc="-150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유사시스템  구축 노하우에 기반한  사전분석 완료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6557" y="328636"/>
              <a:ext cx="6223178" cy="584775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defTabSz="1084296" fontAlgn="auto">
                <a:spcBef>
                  <a:spcPts val="0"/>
                </a:spcBef>
                <a:spcAft>
                  <a:spcPts val="0"/>
                </a:spcAft>
                <a:defRPr sz="1600">
                  <a:solidFill>
                    <a:srgbClr val="9FA7B3"/>
                  </a:solidFill>
                  <a:latin typeface="나눔고딕 ExtraBold" pitchFamily="50" charset="-127"/>
                  <a:ea typeface="나눔고딕 ExtraBold" pitchFamily="50" charset="-127"/>
                </a:defRPr>
              </a:lvl1pPr>
            </a:lstStyle>
            <a:p>
              <a:r>
                <a:rPr lang="en-US" altLang="ko-KR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Action1-1 </a:t>
              </a: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분석 및 설계 전문가 중심으로 업체자체 선행연구 실시</a:t>
              </a:r>
            </a:p>
            <a:p>
              <a:endPara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90" name="AutoShape 105"/>
          <p:cNvSpPr>
            <a:spLocks noChangeArrowheads="1"/>
          </p:cNvSpPr>
          <p:nvPr/>
        </p:nvSpPr>
        <p:spPr bwMode="auto">
          <a:xfrm>
            <a:off x="733344" y="3770639"/>
            <a:ext cx="9617850" cy="322647"/>
          </a:xfrm>
          <a:prstGeom prst="triangle">
            <a:avLst>
              <a:gd name="adj" fmla="val 49027"/>
            </a:avLst>
          </a:prstGeom>
          <a:gradFill rotWithShape="1">
            <a:gsLst>
              <a:gs pos="0">
                <a:srgbClr val="808080">
                  <a:alpha val="53000"/>
                </a:srgbClr>
              </a:gs>
              <a:gs pos="100000">
                <a:srgbClr val="FFFFFF">
                  <a:alpha val="2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/>
            <a:endParaRPr lang="ko-KR" altLang="ko-KR" sz="18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1" name="Freeform 241"/>
          <p:cNvSpPr>
            <a:spLocks/>
          </p:cNvSpPr>
          <p:nvPr/>
        </p:nvSpPr>
        <p:spPr bwMode="auto">
          <a:xfrm flipV="1">
            <a:off x="3542846" y="6223702"/>
            <a:ext cx="3737871" cy="587348"/>
          </a:xfrm>
          <a:custGeom>
            <a:avLst/>
            <a:gdLst>
              <a:gd name="T0" fmla="*/ 0 w 3456"/>
              <a:gd name="T1" fmla="*/ 2147483647 h 225"/>
              <a:gd name="T2" fmla="*/ 2147483647 w 3456"/>
              <a:gd name="T3" fmla="*/ 0 h 225"/>
              <a:gd name="T4" fmla="*/ 2147483647 w 3456"/>
              <a:gd name="T5" fmla="*/ 0 h 225"/>
              <a:gd name="T6" fmla="*/ 2147483647 w 3456"/>
              <a:gd name="T7" fmla="*/ 2147483647 h 225"/>
              <a:gd name="T8" fmla="*/ 0 w 3456"/>
              <a:gd name="T9" fmla="*/ 2147483647 h 2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56"/>
              <a:gd name="T16" fmla="*/ 0 h 225"/>
              <a:gd name="T17" fmla="*/ 3456 w 3456"/>
              <a:gd name="T18" fmla="*/ 225 h 225"/>
              <a:gd name="connsiteX0" fmla="*/ 0 w 3456"/>
              <a:gd name="connsiteY0" fmla="*/ 225 h 225"/>
              <a:gd name="connsiteX1" fmla="*/ 111 w 3456"/>
              <a:gd name="connsiteY1" fmla="*/ 0 h 225"/>
              <a:gd name="connsiteX2" fmla="*/ 3066 w 3456"/>
              <a:gd name="connsiteY2" fmla="*/ 0 h 225"/>
              <a:gd name="connsiteX3" fmla="*/ 3456 w 3456"/>
              <a:gd name="connsiteY3" fmla="*/ 225 h 225"/>
              <a:gd name="connsiteX4" fmla="*/ 0 w 3456"/>
              <a:gd name="connsiteY4" fmla="*/ 225 h 225"/>
              <a:gd name="connsiteX0" fmla="*/ 0 w 3456"/>
              <a:gd name="connsiteY0" fmla="*/ 225 h 225"/>
              <a:gd name="connsiteX1" fmla="*/ 397 w 3456"/>
              <a:gd name="connsiteY1" fmla="*/ 0 h 225"/>
              <a:gd name="connsiteX2" fmla="*/ 3066 w 3456"/>
              <a:gd name="connsiteY2" fmla="*/ 0 h 225"/>
              <a:gd name="connsiteX3" fmla="*/ 3456 w 3456"/>
              <a:gd name="connsiteY3" fmla="*/ 225 h 225"/>
              <a:gd name="connsiteX4" fmla="*/ 0 w 3456"/>
              <a:gd name="connsiteY4" fmla="*/ 225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" h="225">
                <a:moveTo>
                  <a:pt x="0" y="225"/>
                </a:moveTo>
                <a:cubicBezTo>
                  <a:pt x="471" y="96"/>
                  <a:pt x="397" y="0"/>
                  <a:pt x="397" y="0"/>
                </a:cubicBezTo>
                <a:lnTo>
                  <a:pt x="3066" y="0"/>
                </a:lnTo>
                <a:cubicBezTo>
                  <a:pt x="3066" y="0"/>
                  <a:pt x="3068" y="115"/>
                  <a:pt x="3456" y="225"/>
                </a:cubicBezTo>
                <a:lnTo>
                  <a:pt x="0" y="225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1">
                  <a:lumMod val="75000"/>
                  <a:alpha val="65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defTabSz="1043056" latinLnBrk="0">
              <a:defRPr/>
            </a:pPr>
            <a:endParaRPr lang="ko-KR" altLang="en-US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302376" y="6662097"/>
            <a:ext cx="2200563" cy="4616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algn="ctr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39725" indent="-339725" algn="ctr" defTabSz="1042988" eaLnBrk="0" latinLnBrk="0" hangingPunct="0">
              <a:buClr>
                <a:srgbClr val="0000FF"/>
              </a:buClr>
              <a:buSzPct val="140000"/>
              <a:tabLst>
                <a:tab pos="5648325" algn="l"/>
              </a:tabLst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  <a:sym typeface="Monotype Sorts"/>
              </a:rPr>
              <a:t>개발사</a:t>
            </a: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굴림" panose="020B0600000101010101" pitchFamily="50" charset="-127"/>
              <a:ea typeface="굴림" panose="020B0600000101010101" pitchFamily="50" charset="-127"/>
              <a:cs typeface="Arial" pitchFamily="34" charset="0"/>
              <a:sym typeface="Monotype Sorts"/>
            </a:endParaRPr>
          </a:p>
        </p:txBody>
      </p:sp>
      <p:sp>
        <p:nvSpPr>
          <p:cNvPr id="193" name="직사각형 192"/>
          <p:cNvSpPr/>
          <p:nvPr/>
        </p:nvSpPr>
        <p:spPr bwMode="auto">
          <a:xfrm>
            <a:off x="1002333" y="1368303"/>
            <a:ext cx="8773267" cy="24023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01600" lvl="1" indent="-101600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</a:pPr>
            <a:endParaRPr lang="ko-KR" altLang="en-US" sz="1000" dirty="0" err="1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sp>
        <p:nvSpPr>
          <p:cNvPr id="194" name="Rectangle 88"/>
          <p:cNvSpPr>
            <a:spLocks noChangeArrowheads="1"/>
          </p:cNvSpPr>
          <p:nvPr/>
        </p:nvSpPr>
        <p:spPr bwMode="auto">
          <a:xfrm>
            <a:off x="1002333" y="1368301"/>
            <a:ext cx="8774149" cy="4451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pPr algn="ctr" defTabSz="1043056" eaLnBrk="0" latinLnBrk="0" hangingPunct="0">
              <a:tabLst>
                <a:tab pos="2692400" algn="l"/>
                <a:tab pos="5648325" algn="l"/>
              </a:tabLst>
            </a:pPr>
            <a:r>
              <a:rPr lang="ko-KR" altLang="en-US" sz="1200" dirty="0">
                <a:ln w="11430"/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유사체계 </a:t>
            </a:r>
            <a:r>
              <a:rPr lang="ko-KR" altLang="en-US" sz="1200">
                <a:ln w="11430"/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구축 노하우 활용</a:t>
            </a:r>
            <a:r>
              <a:rPr lang="en-US" altLang="ko-KR" sz="1200">
                <a:ln w="11430"/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 </a:t>
            </a:r>
            <a:r>
              <a:rPr lang="ko-KR" altLang="en-US" sz="1200" dirty="0">
                <a:ln w="11430"/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사전준비 완료</a:t>
            </a:r>
          </a:p>
        </p:txBody>
      </p:sp>
      <p:grpSp>
        <p:nvGrpSpPr>
          <p:cNvPr id="214" name="그룹 213"/>
          <p:cNvGrpSpPr/>
          <p:nvPr/>
        </p:nvGrpSpPr>
        <p:grpSpPr>
          <a:xfrm>
            <a:off x="3547448" y="4045231"/>
            <a:ext cx="3705962" cy="2181337"/>
            <a:chOff x="2259501" y="4323936"/>
            <a:chExt cx="2432628" cy="1495839"/>
          </a:xfrm>
        </p:grpSpPr>
        <p:sp>
          <p:nvSpPr>
            <p:cNvPr id="291" name="직사각형 290"/>
            <p:cNvSpPr/>
            <p:nvPr/>
          </p:nvSpPr>
          <p:spPr bwMode="auto">
            <a:xfrm>
              <a:off x="2259501" y="4323936"/>
              <a:ext cx="2431916" cy="149583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01600" lvl="1" indent="-101600" eaLnBrk="0" latinLnBrk="0" hangingPunct="0">
                <a:lnSpc>
                  <a:spcPct val="110000"/>
                </a:lnSpc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000" dirty="0" err="1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92" name="Rectangle 88"/>
            <p:cNvSpPr>
              <a:spLocks noChangeArrowheads="1"/>
            </p:cNvSpPr>
            <p:nvPr/>
          </p:nvSpPr>
          <p:spPr bwMode="auto">
            <a:xfrm>
              <a:off x="2259968" y="4323936"/>
              <a:ext cx="2432161" cy="3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ko-KR" altLang="en-US" sz="1200" dirty="0">
                  <a:ln w="11430"/>
                  <a:solidFill>
                    <a:srgbClr val="FFFF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표준화 </a:t>
              </a:r>
              <a:r>
                <a:rPr lang="en-US" altLang="ko-KR" sz="1200" dirty="0">
                  <a:ln w="11430"/>
                  <a:solidFill>
                    <a:srgbClr val="FFFF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Gap </a:t>
              </a:r>
              <a:r>
                <a:rPr lang="ko-KR" altLang="en-US" sz="1200" dirty="0">
                  <a:ln w="11430"/>
                  <a:solidFill>
                    <a:srgbClr val="FFFF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분석</a:t>
              </a:r>
            </a:p>
          </p:txBody>
        </p:sp>
        <p:sp>
          <p:nvSpPr>
            <p:cNvPr id="293" name="Rectangle 88"/>
            <p:cNvSpPr>
              <a:spLocks noChangeArrowheads="1"/>
            </p:cNvSpPr>
            <p:nvPr/>
          </p:nvSpPr>
          <p:spPr bwMode="auto">
            <a:xfrm>
              <a:off x="2387873" y="4747090"/>
              <a:ext cx="2172689" cy="1826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339725" lvl="1" indent="-339725" defTabSz="1042988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     프로세스 표준화 </a:t>
              </a:r>
              <a:r>
                <a:rPr kumimoji="1" lang="en-US" altLang="ko-KR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: </a:t>
              </a: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기존업무 프로세서 반영</a:t>
              </a:r>
            </a:p>
          </p:txBody>
        </p:sp>
        <p:sp>
          <p:nvSpPr>
            <p:cNvPr id="294" name="Rectangle 88"/>
            <p:cNvSpPr>
              <a:spLocks noChangeArrowheads="1"/>
            </p:cNvSpPr>
            <p:nvPr/>
          </p:nvSpPr>
          <p:spPr bwMode="auto">
            <a:xfrm>
              <a:off x="2351880" y="5004266"/>
              <a:ext cx="2208682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339725" lvl="1" indent="-339725" defTabSz="1042988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1" lang="en-US" altLang="ko-KR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      DB </a:t>
              </a: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표준 분석 </a:t>
              </a:r>
              <a:r>
                <a:rPr kumimoji="1" lang="en-US" altLang="ko-KR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: </a:t>
              </a: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기존자료 특성 반영</a:t>
              </a:r>
            </a:p>
          </p:txBody>
        </p:sp>
        <p:sp>
          <p:nvSpPr>
            <p:cNvPr id="295" name="Rectangle 88"/>
            <p:cNvSpPr>
              <a:spLocks noChangeArrowheads="1"/>
            </p:cNvSpPr>
            <p:nvPr/>
          </p:nvSpPr>
          <p:spPr bwMode="auto">
            <a:xfrm>
              <a:off x="2351880" y="5256678"/>
              <a:ext cx="2208682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339725" lvl="1" indent="-339725" defTabSz="1042988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      기술표준 </a:t>
              </a:r>
              <a:r>
                <a:rPr kumimoji="1" lang="en-US" altLang="ko-KR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: </a:t>
              </a: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기존업무 </a:t>
              </a:r>
              <a:r>
                <a:rPr kumimoji="1" lang="en-US" altLang="ko-KR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100% </a:t>
              </a: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수용</a:t>
              </a:r>
            </a:p>
          </p:txBody>
        </p:sp>
        <p:sp>
          <p:nvSpPr>
            <p:cNvPr id="296" name="Rectangle 88"/>
            <p:cNvSpPr>
              <a:spLocks noChangeArrowheads="1"/>
            </p:cNvSpPr>
            <p:nvPr/>
          </p:nvSpPr>
          <p:spPr bwMode="auto">
            <a:xfrm>
              <a:off x="2351880" y="5528140"/>
              <a:ext cx="2208682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339725" lvl="1" indent="-339725" defTabSz="1042988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      개발표준 </a:t>
              </a:r>
              <a:r>
                <a:rPr kumimoji="1" lang="en-US" altLang="ko-KR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: Gap  </a:t>
              </a: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분석 추가</a:t>
              </a:r>
              <a:r>
                <a:rPr kumimoji="1" lang="en-US" altLang="ko-KR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, </a:t>
              </a:r>
              <a:r>
                <a:rPr kumimoji="1" lang="ko-KR" altLang="en-US" sz="8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화면 별도</a:t>
              </a:r>
            </a:p>
          </p:txBody>
        </p:sp>
      </p:grpSp>
      <p:grpSp>
        <p:nvGrpSpPr>
          <p:cNvPr id="215" name="그룹 214"/>
          <p:cNvGrpSpPr/>
          <p:nvPr/>
        </p:nvGrpSpPr>
        <p:grpSpPr>
          <a:xfrm>
            <a:off x="7452371" y="4323728"/>
            <a:ext cx="2316576" cy="1775305"/>
            <a:chOff x="4783736" y="4423898"/>
            <a:chExt cx="1520622" cy="1217404"/>
          </a:xfrm>
        </p:grpSpPr>
        <p:sp>
          <p:nvSpPr>
            <p:cNvPr id="288" name="직사각형 287"/>
            <p:cNvSpPr/>
            <p:nvPr/>
          </p:nvSpPr>
          <p:spPr bwMode="auto">
            <a:xfrm>
              <a:off x="4783736" y="4423898"/>
              <a:ext cx="1520177" cy="1217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/>
              <a:endParaRPr lang="ko-KR" altLang="en-US" dirty="0" err="1"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89" name="Rectangle 88"/>
            <p:cNvSpPr>
              <a:spLocks noChangeArrowheads="1"/>
            </p:cNvSpPr>
            <p:nvPr/>
          </p:nvSpPr>
          <p:spPr bwMode="auto">
            <a:xfrm>
              <a:off x="4784028" y="4423898"/>
              <a:ext cx="1520330" cy="29299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anchor="ctr"/>
            <a:lstStyle/>
            <a:p>
              <a:pPr algn="ctr" defTabSz="1043056" eaLnBrk="0" latinLnBrk="0" hangingPunct="0">
                <a:tabLst>
                  <a:tab pos="2692400" algn="l"/>
                  <a:tab pos="5648325" algn="l"/>
                </a:tabLst>
              </a:pPr>
              <a:r>
                <a:rPr lang="ko-KR" altLang="en-US" sz="900" dirty="0">
                  <a:ln w="11430"/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수작업 관리 정보체계</a:t>
              </a:r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4863300" y="4791350"/>
              <a:ext cx="1354074" cy="3376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2pPr marL="85725" lvl="1" indent="-85725" defTabSz="1042988" fontAlgn="base" latinLnBrk="0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 kumimoji="1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고딕 Bold" pitchFamily="50" charset="-127"/>
                  <a:ea typeface="나눔고딕 Bold" pitchFamily="50" charset="-127"/>
                </a:defRPr>
              </a:lvl2pPr>
              <a:lvl3pPr marL="180975" lvl="2" indent="-95250">
                <a:spcBef>
                  <a:spcPts val="200"/>
                </a:spcBef>
                <a:buClr>
                  <a:srgbClr val="595959"/>
                </a:buClr>
                <a:buSzPct val="80000"/>
                <a:buFont typeface="맑은 고딕" panose="020B0503020000020004" pitchFamily="50" charset="-127"/>
                <a:buChar char="–"/>
                <a:defRPr sz="900">
                  <a:solidFill>
                    <a:srgbClr val="595959"/>
                  </a:solidFill>
                  <a:latin typeface="나눔고딕 Bold" panose="020D0804000000000000" pitchFamily="50" charset="-127"/>
                  <a:ea typeface="나눔고딕 Bold" panose="020D0804000000000000" pitchFamily="50" charset="-127"/>
                </a:defRPr>
              </a:lvl3pPr>
            </a:lstStyle>
            <a:p>
              <a:pPr lvl="1">
                <a:spcBef>
                  <a:spcPts val="0"/>
                </a:spcBef>
              </a:pP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후보생 획득</a:t>
              </a: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~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임관 단계별 관리</a:t>
              </a:r>
              <a:endParaRPr lang="en-US" altLang="ko-KR" sz="8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0" lvl="1" indent="0">
                <a:spcBef>
                  <a:spcPts val="0"/>
                </a:spcBef>
                <a:buNone/>
              </a:pP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   - 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선발</a:t>
              </a: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학적</a:t>
              </a: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교육</a:t>
              </a: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행정</a:t>
              </a: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훈육</a:t>
              </a:r>
              <a:endParaRPr lang="en-US" altLang="ko-KR" sz="8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lvl="1">
                <a:spcBef>
                  <a:spcPts val="0"/>
                </a:spcBef>
              </a:pP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장교양성 </a:t>
              </a: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10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개 과정 업무</a:t>
              </a:r>
            </a:p>
            <a:p>
              <a:pPr lvl="1">
                <a:spcBef>
                  <a:spcPts val="0"/>
                </a:spcBef>
              </a:pP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전국 </a:t>
              </a:r>
              <a:r>
                <a: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110</a:t>
              </a:r>
              <a:r>
                <a: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</a:rPr>
                <a:t>개 학군단의 업무통제 및 관리</a:t>
              </a:r>
            </a:p>
          </p:txBody>
        </p:sp>
      </p:grpSp>
      <p:sp>
        <p:nvSpPr>
          <p:cNvPr id="216" name="갈매기형 수장 215"/>
          <p:cNvSpPr/>
          <p:nvPr/>
        </p:nvSpPr>
        <p:spPr bwMode="auto">
          <a:xfrm>
            <a:off x="6540361" y="6673464"/>
            <a:ext cx="2413397" cy="455477"/>
          </a:xfrm>
          <a:prstGeom prst="chevron">
            <a:avLst>
              <a:gd name="adj" fmla="val 38667"/>
            </a:avLst>
          </a:prstGeom>
          <a:solidFill>
            <a:srgbClr val="F2F2F2"/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1292225" latinLnBrk="0"/>
            <a:endParaRPr lang="ko-KR" altLang="en-US" sz="1500" dirty="0">
              <a:solidFill>
                <a:srgbClr val="A6A6A6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/>
            </a:endParaRPr>
          </a:p>
        </p:txBody>
      </p:sp>
      <p:sp>
        <p:nvSpPr>
          <p:cNvPr id="217" name="TextBox 184"/>
          <p:cNvSpPr txBox="1">
            <a:spLocks noChangeArrowheads="1"/>
          </p:cNvSpPr>
          <p:nvPr/>
        </p:nvSpPr>
        <p:spPr bwMode="auto">
          <a:xfrm>
            <a:off x="6733101" y="6698199"/>
            <a:ext cx="2107930" cy="406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lvl="1" algn="ctr" defTabSz="1042988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  <a:defRPr/>
            </a:pP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학습관리체계 및 훈련진행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,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평가 시스템 구축 경험자</a:t>
            </a:r>
          </a:p>
        </p:txBody>
      </p:sp>
      <p:sp>
        <p:nvSpPr>
          <p:cNvPr id="218" name="갈매기형 수장 217"/>
          <p:cNvSpPr/>
          <p:nvPr/>
        </p:nvSpPr>
        <p:spPr bwMode="auto">
          <a:xfrm flipH="1">
            <a:off x="2122835" y="6673464"/>
            <a:ext cx="1988729" cy="455477"/>
          </a:xfrm>
          <a:prstGeom prst="chevron">
            <a:avLst>
              <a:gd name="adj" fmla="val 38667"/>
            </a:avLst>
          </a:prstGeom>
          <a:solidFill>
            <a:srgbClr val="F2F2F2"/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1292225" latinLnBrk="0"/>
            <a:endParaRPr lang="ko-KR" altLang="en-US" sz="1500" dirty="0">
              <a:solidFill>
                <a:srgbClr val="A6A6A6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/>
            </a:endParaRPr>
          </a:p>
        </p:txBody>
      </p:sp>
      <p:sp>
        <p:nvSpPr>
          <p:cNvPr id="219" name="TextBox 184"/>
          <p:cNvSpPr txBox="1">
            <a:spLocks noChangeArrowheads="1"/>
          </p:cNvSpPr>
          <p:nvPr/>
        </p:nvSpPr>
        <p:spPr bwMode="auto">
          <a:xfrm flipH="1">
            <a:off x="2514071" y="6698199"/>
            <a:ext cx="1206261" cy="406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lvl="1" algn="ctr" defTabSz="1042988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  <a:defRPr/>
            </a:pPr>
            <a:r>
              <a:rPr lang="ko-KR" alt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업무 전문가</a:t>
            </a:r>
          </a:p>
        </p:txBody>
      </p:sp>
      <p:cxnSp>
        <p:nvCxnSpPr>
          <p:cNvPr id="220" name="Shape 291"/>
          <p:cNvCxnSpPr>
            <a:stCxn id="216" idx="3"/>
          </p:cNvCxnSpPr>
          <p:nvPr/>
        </p:nvCxnSpPr>
        <p:spPr bwMode="auto">
          <a:xfrm flipV="1">
            <a:off x="8953758" y="6108583"/>
            <a:ext cx="116635" cy="792620"/>
          </a:xfrm>
          <a:prstGeom prst="bentConnector2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모서리가 둥근 직사각형 220"/>
          <p:cNvSpPr/>
          <p:nvPr/>
        </p:nvSpPr>
        <p:spPr bwMode="auto">
          <a:xfrm>
            <a:off x="3654450" y="4707492"/>
            <a:ext cx="219375" cy="2099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indent="-115888" algn="ctr" defTabSz="147490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814388" algn="l"/>
              </a:tabLst>
              <a:defRPr/>
            </a:pPr>
            <a:r>
              <a:rPr kumimoji="1" lang="en-US" altLang="ko-KR" sz="10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1</a:t>
            </a:r>
            <a:endParaRPr kumimoji="1" lang="ko-KR" altLang="en-US" sz="1050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/>
            </a:endParaRPr>
          </a:p>
        </p:txBody>
      </p:sp>
      <p:sp>
        <p:nvSpPr>
          <p:cNvPr id="222" name="모서리가 둥근 직사각형 221"/>
          <p:cNvSpPr/>
          <p:nvPr/>
        </p:nvSpPr>
        <p:spPr bwMode="auto">
          <a:xfrm>
            <a:off x="3654450" y="5087152"/>
            <a:ext cx="219375" cy="2099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indent="-115888" algn="ctr" defTabSz="147490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814388" algn="l"/>
              </a:tabLst>
            </a:pPr>
            <a:r>
              <a:rPr kumimoji="1" lang="en-US" altLang="ko-KR" sz="10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2</a:t>
            </a:r>
            <a:endParaRPr kumimoji="1" lang="ko-KR" altLang="en-US" sz="1050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/>
            </a:endParaRPr>
          </a:p>
        </p:txBody>
      </p:sp>
      <p:sp>
        <p:nvSpPr>
          <p:cNvPr id="223" name="모서리가 둥근 직사각형 222"/>
          <p:cNvSpPr/>
          <p:nvPr/>
        </p:nvSpPr>
        <p:spPr bwMode="auto">
          <a:xfrm>
            <a:off x="3654450" y="5448292"/>
            <a:ext cx="219375" cy="2099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indent="-115888" algn="ctr" defTabSz="147490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814388" algn="l"/>
              </a:tabLst>
            </a:pPr>
            <a:r>
              <a:rPr kumimoji="1" lang="en-US" altLang="ko-KR" sz="10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3</a:t>
            </a:r>
            <a:endParaRPr kumimoji="1" lang="ko-KR" altLang="en-US" sz="1050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/>
            </a:endParaRPr>
          </a:p>
        </p:txBody>
      </p:sp>
      <p:sp>
        <p:nvSpPr>
          <p:cNvPr id="224" name="모서리가 둥근 직사각형 223"/>
          <p:cNvSpPr/>
          <p:nvPr/>
        </p:nvSpPr>
        <p:spPr bwMode="auto">
          <a:xfrm>
            <a:off x="3654450" y="5846473"/>
            <a:ext cx="219375" cy="2099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indent="-115888" algn="ctr" defTabSz="1474905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814388" algn="l"/>
              </a:tabLst>
            </a:pPr>
            <a:r>
              <a:rPr kumimoji="1" lang="en-US" altLang="ko-KR" sz="10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4</a:t>
            </a:r>
            <a:endParaRPr kumimoji="1" lang="ko-KR" altLang="en-US" sz="1050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/>
            </a:endParaRPr>
          </a:p>
        </p:txBody>
      </p:sp>
      <p:grpSp>
        <p:nvGrpSpPr>
          <p:cNvPr id="225" name="그룹 224"/>
          <p:cNvGrpSpPr/>
          <p:nvPr/>
        </p:nvGrpSpPr>
        <p:grpSpPr>
          <a:xfrm>
            <a:off x="1012495" y="4323728"/>
            <a:ext cx="2316576" cy="1775305"/>
            <a:chOff x="564161" y="4423898"/>
            <a:chExt cx="1520622" cy="1217404"/>
          </a:xfrm>
        </p:grpSpPr>
        <p:sp>
          <p:nvSpPr>
            <p:cNvPr id="276" name="직사각형 275"/>
            <p:cNvSpPr/>
            <p:nvPr/>
          </p:nvSpPr>
          <p:spPr bwMode="auto">
            <a:xfrm>
              <a:off x="564161" y="4423898"/>
              <a:ext cx="1520177" cy="1217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/>
              <a:endParaRPr lang="ko-KR" altLang="en-US" dirty="0" err="1"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77" name="Rectangle 88"/>
            <p:cNvSpPr>
              <a:spLocks noChangeArrowheads="1"/>
            </p:cNvSpPr>
            <p:nvPr/>
          </p:nvSpPr>
          <p:spPr bwMode="auto">
            <a:xfrm>
              <a:off x="564453" y="4423898"/>
              <a:ext cx="1520330" cy="29299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anchor="ctr"/>
            <a:lstStyle/>
            <a:p>
              <a:pPr algn="ctr" defTabSz="1043056" eaLnBrk="0" latinLnBrk="0" hangingPunct="0">
                <a:tabLst>
                  <a:tab pos="2692400" algn="l"/>
                  <a:tab pos="5648325" algn="l"/>
                </a:tabLst>
              </a:pPr>
              <a:r>
                <a:rPr lang="ko-KR" altLang="en-US" sz="900" dirty="0">
                  <a:ln w="11430"/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교육정보종합 시스템 </a:t>
              </a:r>
            </a:p>
          </p:txBody>
        </p:sp>
        <p:sp>
          <p:nvSpPr>
            <p:cNvPr id="278" name="Rectangle 88"/>
            <p:cNvSpPr>
              <a:spLocks noChangeArrowheads="1"/>
            </p:cNvSpPr>
            <p:nvPr/>
          </p:nvSpPr>
          <p:spPr bwMode="auto">
            <a:xfrm>
              <a:off x="621907" y="4799201"/>
              <a:ext cx="574845" cy="26852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>
              <a:noAutofit/>
            </a:bodyPr>
            <a:lstStyle/>
            <a:p>
              <a:pPr marL="0" lvl="1" algn="ctr" latinLnBrk="0"/>
              <a:r>
                <a:rPr lang="ko-KR" altLang="en-US" sz="750" dirty="0">
                  <a:solidFill>
                    <a:srgbClr val="5F5F5F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비공식</a:t>
              </a:r>
              <a:endParaRPr lang="en-US" altLang="ko-KR" sz="750" dirty="0">
                <a:solidFill>
                  <a:srgbClr val="5F5F5F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endParaRPr>
            </a:p>
            <a:p>
              <a:pPr marL="0" lvl="1" algn="ctr" latinLnBrk="0"/>
              <a:r>
                <a:rPr lang="ko-KR" altLang="en-US" sz="750" dirty="0">
                  <a:solidFill>
                    <a:srgbClr val="5F5F5F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요구사항</a:t>
              </a:r>
            </a:p>
          </p:txBody>
        </p:sp>
        <p:sp>
          <p:nvSpPr>
            <p:cNvPr id="279" name="Rectangle 88"/>
            <p:cNvSpPr>
              <a:spLocks noChangeArrowheads="1"/>
            </p:cNvSpPr>
            <p:nvPr/>
          </p:nvSpPr>
          <p:spPr bwMode="auto">
            <a:xfrm>
              <a:off x="621907" y="5150016"/>
              <a:ext cx="1380635" cy="17579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>
              <a:noAutofit/>
            </a:bodyPr>
            <a:lstStyle/>
            <a:p>
              <a:pPr marL="0" lvl="1" algn="ctr" latinLnBrk="0"/>
              <a:r>
                <a:rPr lang="ko-KR" altLang="en-US" sz="750" dirty="0">
                  <a:solidFill>
                    <a:srgbClr val="5F5F5F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업무 표준화 정의</a:t>
              </a:r>
            </a:p>
          </p:txBody>
        </p:sp>
        <p:sp>
          <p:nvSpPr>
            <p:cNvPr id="280" name="Rectangle 88"/>
            <p:cNvSpPr>
              <a:spLocks noChangeArrowheads="1"/>
            </p:cNvSpPr>
            <p:nvPr/>
          </p:nvSpPr>
          <p:spPr bwMode="auto">
            <a:xfrm>
              <a:off x="621907" y="5403952"/>
              <a:ext cx="1380635" cy="17579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>
              <a:noAutofit/>
            </a:bodyPr>
            <a:lstStyle/>
            <a:p>
              <a:pPr marL="0" lvl="1" algn="ctr" latinLnBrk="0"/>
              <a:r>
                <a:rPr lang="en-US" altLang="ko-KR" sz="750" dirty="0">
                  <a:solidFill>
                    <a:srgbClr val="5F5F5F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To-Be </a:t>
              </a:r>
              <a:r>
                <a:rPr lang="ko-KR" altLang="en-US" sz="750" dirty="0">
                  <a:solidFill>
                    <a:srgbClr val="5F5F5F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업무 프로세스 정립</a:t>
              </a:r>
            </a:p>
          </p:txBody>
        </p:sp>
        <p:sp>
          <p:nvSpPr>
            <p:cNvPr id="281" name="Rectangle 88"/>
            <p:cNvSpPr>
              <a:spLocks noChangeArrowheads="1"/>
            </p:cNvSpPr>
            <p:nvPr/>
          </p:nvSpPr>
          <p:spPr bwMode="auto">
            <a:xfrm>
              <a:off x="1437247" y="4799201"/>
              <a:ext cx="574845" cy="26852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>
              <a:noAutofit/>
            </a:bodyPr>
            <a:lstStyle/>
            <a:p>
              <a:pPr marL="0" lvl="1" algn="ctr" latinLnBrk="0"/>
              <a:r>
                <a:rPr lang="ko-KR" altLang="en-US" sz="750" dirty="0">
                  <a:solidFill>
                    <a:srgbClr val="5F5F5F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제안요청서</a:t>
              </a:r>
              <a:endParaRPr lang="en-US" altLang="ko-KR" sz="750" dirty="0">
                <a:solidFill>
                  <a:srgbClr val="5F5F5F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endParaRPr>
            </a:p>
            <a:p>
              <a:pPr marL="0" lvl="1" algn="ctr" latinLnBrk="0"/>
              <a:r>
                <a:rPr lang="ko-KR" altLang="en-US" sz="750" dirty="0">
                  <a:solidFill>
                    <a:srgbClr val="5F5F5F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요구사항</a:t>
              </a:r>
            </a:p>
          </p:txBody>
        </p:sp>
        <p:grpSp>
          <p:nvGrpSpPr>
            <p:cNvPr id="282" name="그룹 281"/>
            <p:cNvGrpSpPr/>
            <p:nvPr/>
          </p:nvGrpSpPr>
          <p:grpSpPr>
            <a:xfrm>
              <a:off x="1234144" y="4838700"/>
              <a:ext cx="178670" cy="178670"/>
              <a:chOff x="3882660" y="1498842"/>
              <a:chExt cx="718554" cy="718554"/>
            </a:xfrm>
            <a:solidFill>
              <a:schemeClr val="bg1">
                <a:lumMod val="75000"/>
                <a:alpha val="69804"/>
              </a:schemeClr>
            </a:solidFill>
          </p:grpSpPr>
          <p:sp>
            <p:nvSpPr>
              <p:cNvPr id="286" name="모서리가 둥근 직사각형 285"/>
              <p:cNvSpPr/>
              <p:nvPr/>
            </p:nvSpPr>
            <p:spPr>
              <a:xfrm>
                <a:off x="4153069" y="1498842"/>
                <a:ext cx="177736" cy="718554"/>
              </a:xfrm>
              <a:prstGeom prst="roundRect">
                <a:avLst>
                  <a:gd name="adj" fmla="val 50000"/>
                </a:avLst>
              </a:pr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anchor="ctr"/>
              <a:lstStyle/>
              <a:p>
                <a:endParaRPr lang="ko-KR" altLang="en-US" b="1">
                  <a:solidFill>
                    <a:schemeClr val="lt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7" name="모서리가 둥근 직사각형 286"/>
              <p:cNvSpPr/>
              <p:nvPr/>
            </p:nvSpPr>
            <p:spPr>
              <a:xfrm rot="5400000">
                <a:off x="4153069" y="1498842"/>
                <a:ext cx="177736" cy="718554"/>
              </a:xfrm>
              <a:prstGeom prst="roundRect">
                <a:avLst>
                  <a:gd name="adj" fmla="val 50000"/>
                </a:avLst>
              </a:pr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anchor="ctr"/>
              <a:lstStyle/>
              <a:p>
                <a:endParaRPr lang="ko-KR" altLang="en-US" b="1">
                  <a:solidFill>
                    <a:schemeClr val="lt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283" name="위쪽 화살표 282"/>
            <p:cNvSpPr/>
            <p:nvPr/>
          </p:nvSpPr>
          <p:spPr bwMode="auto">
            <a:xfrm rot="10800000">
              <a:off x="843791" y="5068431"/>
              <a:ext cx="131076" cy="119329"/>
            </a:xfrm>
            <a:prstGeom prst="up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84" name="위쪽 화살표 283"/>
            <p:cNvSpPr/>
            <p:nvPr/>
          </p:nvSpPr>
          <p:spPr bwMode="auto">
            <a:xfrm rot="10800000">
              <a:off x="1658178" y="5068431"/>
              <a:ext cx="131076" cy="119329"/>
            </a:xfrm>
            <a:prstGeom prst="up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85" name="위쪽 화살표 284"/>
            <p:cNvSpPr/>
            <p:nvPr/>
          </p:nvSpPr>
          <p:spPr bwMode="auto">
            <a:xfrm rot="10800000">
              <a:off x="1246686" y="5324123"/>
              <a:ext cx="131076" cy="119329"/>
            </a:xfrm>
            <a:prstGeom prst="up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6" name="위쪽 화살표 225"/>
          <p:cNvSpPr/>
          <p:nvPr/>
        </p:nvSpPr>
        <p:spPr bwMode="auto">
          <a:xfrm rot="5400000">
            <a:off x="3252154" y="5127832"/>
            <a:ext cx="493095" cy="317852"/>
          </a:xfrm>
          <a:prstGeom prst="upArrow">
            <a:avLst>
              <a:gd name="adj1" fmla="val 73734"/>
              <a:gd name="adj2" fmla="val 7282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7" name="위쪽 화살표 226"/>
          <p:cNvSpPr/>
          <p:nvPr/>
        </p:nvSpPr>
        <p:spPr bwMode="auto">
          <a:xfrm rot="16200000" flipH="1">
            <a:off x="7046719" y="5127832"/>
            <a:ext cx="493095" cy="317852"/>
          </a:xfrm>
          <a:prstGeom prst="upArrow">
            <a:avLst>
              <a:gd name="adj1" fmla="val 73734"/>
              <a:gd name="adj2" fmla="val 7282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228" name="Shape 291"/>
          <p:cNvCxnSpPr>
            <a:stCxn id="218" idx="3"/>
          </p:cNvCxnSpPr>
          <p:nvPr/>
        </p:nvCxnSpPr>
        <p:spPr bwMode="auto">
          <a:xfrm rot="10800000">
            <a:off x="1703056" y="6156286"/>
            <a:ext cx="419782" cy="744919"/>
          </a:xfrm>
          <a:prstGeom prst="bentConnector2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1100468" y="1944365"/>
            <a:ext cx="8535964" cy="1697284"/>
            <a:chOff x="2649982" y="2198539"/>
            <a:chExt cx="5684988" cy="1192670"/>
          </a:xfrm>
        </p:grpSpPr>
        <p:sp>
          <p:nvSpPr>
            <p:cNvPr id="297" name="Freeform 241"/>
            <p:cNvSpPr>
              <a:spLocks/>
            </p:cNvSpPr>
            <p:nvPr/>
          </p:nvSpPr>
          <p:spPr bwMode="auto">
            <a:xfrm rot="16200000" flipV="1">
              <a:off x="4274911" y="2457827"/>
              <a:ext cx="1157012" cy="702137"/>
            </a:xfrm>
            <a:custGeom>
              <a:avLst/>
              <a:gdLst>
                <a:gd name="T0" fmla="*/ 0 w 3456"/>
                <a:gd name="T1" fmla="*/ 2147483647 h 225"/>
                <a:gd name="T2" fmla="*/ 2147483647 w 3456"/>
                <a:gd name="T3" fmla="*/ 0 h 225"/>
                <a:gd name="T4" fmla="*/ 2147483647 w 3456"/>
                <a:gd name="T5" fmla="*/ 0 h 225"/>
                <a:gd name="T6" fmla="*/ 2147483647 w 3456"/>
                <a:gd name="T7" fmla="*/ 2147483647 h 225"/>
                <a:gd name="T8" fmla="*/ 0 w 3456"/>
                <a:gd name="T9" fmla="*/ 2147483647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56"/>
                <a:gd name="T16" fmla="*/ 0 h 225"/>
                <a:gd name="T17" fmla="*/ 3456 w 3456"/>
                <a:gd name="T18" fmla="*/ 225 h 225"/>
                <a:gd name="connsiteX0" fmla="*/ 0 w 3456"/>
                <a:gd name="connsiteY0" fmla="*/ 225 h 225"/>
                <a:gd name="connsiteX1" fmla="*/ 111 w 3456"/>
                <a:gd name="connsiteY1" fmla="*/ 0 h 225"/>
                <a:gd name="connsiteX2" fmla="*/ 3066 w 3456"/>
                <a:gd name="connsiteY2" fmla="*/ 0 h 225"/>
                <a:gd name="connsiteX3" fmla="*/ 3456 w 3456"/>
                <a:gd name="connsiteY3" fmla="*/ 225 h 225"/>
                <a:gd name="connsiteX4" fmla="*/ 0 w 3456"/>
                <a:gd name="connsiteY4" fmla="*/ 225 h 225"/>
                <a:gd name="connsiteX0" fmla="*/ 0 w 3456"/>
                <a:gd name="connsiteY0" fmla="*/ 225 h 225"/>
                <a:gd name="connsiteX1" fmla="*/ 397 w 3456"/>
                <a:gd name="connsiteY1" fmla="*/ 0 h 225"/>
                <a:gd name="connsiteX2" fmla="*/ 3066 w 3456"/>
                <a:gd name="connsiteY2" fmla="*/ 0 h 225"/>
                <a:gd name="connsiteX3" fmla="*/ 3456 w 3456"/>
                <a:gd name="connsiteY3" fmla="*/ 225 h 225"/>
                <a:gd name="connsiteX4" fmla="*/ 0 w 3456"/>
                <a:gd name="connsiteY4" fmla="*/ 225 h 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6" h="225">
                  <a:moveTo>
                    <a:pt x="0" y="225"/>
                  </a:moveTo>
                  <a:cubicBezTo>
                    <a:pt x="471" y="96"/>
                    <a:pt x="397" y="0"/>
                    <a:pt x="397" y="0"/>
                  </a:cubicBezTo>
                  <a:lnTo>
                    <a:pt x="3066" y="0"/>
                  </a:lnTo>
                  <a:cubicBezTo>
                    <a:pt x="3066" y="0"/>
                    <a:pt x="3068" y="115"/>
                    <a:pt x="3456" y="225"/>
                  </a:cubicBezTo>
                  <a:lnTo>
                    <a:pt x="0" y="225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  <a:alpha val="65000"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1043056" latinLnBrk="0">
                <a:defRPr/>
              </a:pPr>
              <a:endParaRPr lang="ko-KR" altLang="en-US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98" name="Freeform 241"/>
            <p:cNvSpPr>
              <a:spLocks/>
            </p:cNvSpPr>
            <p:nvPr/>
          </p:nvSpPr>
          <p:spPr bwMode="auto">
            <a:xfrm rot="5400000" flipH="1" flipV="1">
              <a:off x="5560787" y="2457828"/>
              <a:ext cx="1157012" cy="702137"/>
            </a:xfrm>
            <a:custGeom>
              <a:avLst/>
              <a:gdLst>
                <a:gd name="T0" fmla="*/ 0 w 3456"/>
                <a:gd name="T1" fmla="*/ 2147483647 h 225"/>
                <a:gd name="T2" fmla="*/ 2147483647 w 3456"/>
                <a:gd name="T3" fmla="*/ 0 h 225"/>
                <a:gd name="T4" fmla="*/ 2147483647 w 3456"/>
                <a:gd name="T5" fmla="*/ 0 h 225"/>
                <a:gd name="T6" fmla="*/ 2147483647 w 3456"/>
                <a:gd name="T7" fmla="*/ 2147483647 h 225"/>
                <a:gd name="T8" fmla="*/ 0 w 3456"/>
                <a:gd name="T9" fmla="*/ 2147483647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56"/>
                <a:gd name="T16" fmla="*/ 0 h 225"/>
                <a:gd name="T17" fmla="*/ 3456 w 3456"/>
                <a:gd name="T18" fmla="*/ 225 h 225"/>
                <a:gd name="connsiteX0" fmla="*/ 0 w 3456"/>
                <a:gd name="connsiteY0" fmla="*/ 225 h 225"/>
                <a:gd name="connsiteX1" fmla="*/ 111 w 3456"/>
                <a:gd name="connsiteY1" fmla="*/ 0 h 225"/>
                <a:gd name="connsiteX2" fmla="*/ 3066 w 3456"/>
                <a:gd name="connsiteY2" fmla="*/ 0 h 225"/>
                <a:gd name="connsiteX3" fmla="*/ 3456 w 3456"/>
                <a:gd name="connsiteY3" fmla="*/ 225 h 225"/>
                <a:gd name="connsiteX4" fmla="*/ 0 w 3456"/>
                <a:gd name="connsiteY4" fmla="*/ 225 h 225"/>
                <a:gd name="connsiteX0" fmla="*/ 0 w 3456"/>
                <a:gd name="connsiteY0" fmla="*/ 225 h 225"/>
                <a:gd name="connsiteX1" fmla="*/ 397 w 3456"/>
                <a:gd name="connsiteY1" fmla="*/ 0 h 225"/>
                <a:gd name="connsiteX2" fmla="*/ 3066 w 3456"/>
                <a:gd name="connsiteY2" fmla="*/ 0 h 225"/>
                <a:gd name="connsiteX3" fmla="*/ 3456 w 3456"/>
                <a:gd name="connsiteY3" fmla="*/ 225 h 225"/>
                <a:gd name="connsiteX4" fmla="*/ 0 w 3456"/>
                <a:gd name="connsiteY4" fmla="*/ 225 h 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6" h="225">
                  <a:moveTo>
                    <a:pt x="0" y="225"/>
                  </a:moveTo>
                  <a:cubicBezTo>
                    <a:pt x="471" y="96"/>
                    <a:pt x="397" y="0"/>
                    <a:pt x="397" y="0"/>
                  </a:cubicBezTo>
                  <a:lnTo>
                    <a:pt x="3066" y="0"/>
                  </a:lnTo>
                  <a:cubicBezTo>
                    <a:pt x="3066" y="0"/>
                    <a:pt x="3068" y="115"/>
                    <a:pt x="3456" y="225"/>
                  </a:cubicBezTo>
                  <a:lnTo>
                    <a:pt x="0" y="225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  <a:alpha val="65000"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1043056" latinLnBrk="0">
                <a:defRPr/>
              </a:pPr>
              <a:endParaRPr lang="ko-KR" altLang="en-US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299" name="Picture 6" descr="\\Mj\민규 민재 공유\진행프로젝트\콤텍 시스템\psd\도는 볼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05" t="46111" r="57172" b="36107"/>
            <a:stretch>
              <a:fillRect/>
            </a:stretch>
          </p:blipFill>
          <p:spPr bwMode="auto">
            <a:xfrm>
              <a:off x="4997636" y="2198539"/>
              <a:ext cx="967730" cy="862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0" name="타원 299"/>
            <p:cNvSpPr/>
            <p:nvPr/>
          </p:nvSpPr>
          <p:spPr>
            <a:xfrm>
              <a:off x="5186166" y="2361947"/>
              <a:ext cx="584867" cy="539876"/>
            </a:xfrm>
            <a:prstGeom prst="ellipse">
              <a:avLst/>
            </a:prstGeom>
            <a:noFill/>
            <a:ln w="57150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301" name="그룹 300"/>
            <p:cNvGrpSpPr/>
            <p:nvPr/>
          </p:nvGrpSpPr>
          <p:grpSpPr>
            <a:xfrm>
              <a:off x="6479371" y="2215803"/>
              <a:ext cx="1855599" cy="1175406"/>
              <a:chOff x="3480683" y="3366629"/>
              <a:chExt cx="2828637" cy="1273356"/>
            </a:xfrm>
          </p:grpSpPr>
          <p:sp>
            <p:nvSpPr>
              <p:cNvPr id="302" name="직사각형 301"/>
              <p:cNvSpPr/>
              <p:nvPr/>
            </p:nvSpPr>
            <p:spPr bwMode="auto">
              <a:xfrm>
                <a:off x="3480683" y="3366629"/>
                <a:ext cx="2828350" cy="127335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101600" lvl="1" indent="-101600" eaLnBrk="0" latinLnBrk="0" hangingPunct="0">
                  <a:lnSpc>
                    <a:spcPct val="110000"/>
                  </a:lnSpc>
                  <a:buClr>
                    <a:srgbClr val="0000FF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dirty="0" err="1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endParaRPr>
              </a:p>
            </p:txBody>
          </p:sp>
          <p:sp>
            <p:nvSpPr>
              <p:cNvPr id="303" name="Rectangle 88"/>
              <p:cNvSpPr>
                <a:spLocks noChangeArrowheads="1"/>
              </p:cNvSpPr>
              <p:nvPr/>
            </p:nvSpPr>
            <p:spPr bwMode="auto">
              <a:xfrm>
                <a:off x="3480685" y="3371687"/>
                <a:ext cx="2828635" cy="360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6350">
                <a:solidFill>
                  <a:schemeClr val="accent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indent="-93299" algn="ctr" defTabSz="1043056" eaLnBrk="0" latinLnBrk="0" hangingPunct="0">
                  <a:spcBef>
                    <a:spcPts val="500"/>
                  </a:spcBef>
                  <a:buClr>
                    <a:srgbClr val="0000FF"/>
                  </a:buClr>
                  <a:buSzPct val="140000"/>
                  <a:tabLst>
                    <a:tab pos="2692400" algn="l"/>
                    <a:tab pos="5648325" algn="l"/>
                  </a:tabLst>
                </a:pPr>
                <a:r>
                  <a:rPr lang="ko-KR" altLang="en-US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학사관리</a:t>
                </a:r>
                <a:r>
                  <a:rPr lang="en-US" altLang="ko-KR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, </a:t>
                </a:r>
                <a:r>
                  <a:rPr lang="ko-KR" altLang="en-US" sz="1050" dirty="0" err="1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웹포탈</a:t>
                </a:r>
                <a:r>
                  <a:rPr lang="ko-KR" altLang="en-US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 전문기업</a:t>
                </a:r>
              </a:p>
            </p:txBody>
          </p:sp>
          <p:sp>
            <p:nvSpPr>
              <p:cNvPr id="304" name="TextBox 303"/>
              <p:cNvSpPr txBox="1"/>
              <p:nvPr/>
            </p:nvSpPr>
            <p:spPr>
              <a:xfrm>
                <a:off x="3639978" y="3810607"/>
                <a:ext cx="2578955" cy="4139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lvl="1"/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학사관리체계 개발 핵심 기술 보유</a:t>
                </a:r>
              </a:p>
              <a:p>
                <a:pPr lvl="1"/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웹 포탈 전문 솔루션 엔진 보유</a:t>
                </a:r>
              </a:p>
              <a:p>
                <a:pPr lvl="1"/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유관체계에 대한 정확한 이해 및 기술력</a:t>
                </a:r>
                <a:r>
                  <a:rPr lang="en-US" altLang="ko-KR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개발인력 확보</a:t>
                </a:r>
                <a:endPara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</p:grpSp>
        <p:grpSp>
          <p:nvGrpSpPr>
            <p:cNvPr id="305" name="그룹 304"/>
            <p:cNvGrpSpPr/>
            <p:nvPr/>
          </p:nvGrpSpPr>
          <p:grpSpPr>
            <a:xfrm>
              <a:off x="2649982" y="2215803"/>
              <a:ext cx="1861148" cy="1175406"/>
              <a:chOff x="3480683" y="3366629"/>
              <a:chExt cx="2837096" cy="1273356"/>
            </a:xfrm>
          </p:grpSpPr>
          <p:sp>
            <p:nvSpPr>
              <p:cNvPr id="306" name="직사각형 305"/>
              <p:cNvSpPr/>
              <p:nvPr/>
            </p:nvSpPr>
            <p:spPr bwMode="auto">
              <a:xfrm>
                <a:off x="3480683" y="3366629"/>
                <a:ext cx="2828350" cy="127335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101600" lvl="1" indent="-101600" eaLnBrk="0" latinLnBrk="0" hangingPunct="0">
                  <a:lnSpc>
                    <a:spcPct val="110000"/>
                  </a:lnSpc>
                  <a:buClr>
                    <a:srgbClr val="0000FF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dirty="0" err="1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endParaRPr>
              </a:p>
            </p:txBody>
          </p:sp>
          <p:sp>
            <p:nvSpPr>
              <p:cNvPr id="307" name="Rectangle 88"/>
              <p:cNvSpPr>
                <a:spLocks noChangeArrowheads="1"/>
              </p:cNvSpPr>
              <p:nvPr/>
            </p:nvSpPr>
            <p:spPr bwMode="auto">
              <a:xfrm>
                <a:off x="3480685" y="3371687"/>
                <a:ext cx="2828635" cy="360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6350">
                <a:solidFill>
                  <a:schemeClr val="accent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indent="-93299" algn="ctr" defTabSz="1043056" eaLnBrk="0" latinLnBrk="0" hangingPunct="0">
                  <a:spcBef>
                    <a:spcPts val="500"/>
                  </a:spcBef>
                  <a:buClr>
                    <a:srgbClr val="0000FF"/>
                  </a:buClr>
                  <a:buSzPct val="140000"/>
                  <a:tabLst>
                    <a:tab pos="2692400" algn="l"/>
                    <a:tab pos="5648325" algn="l"/>
                  </a:tabLst>
                </a:pPr>
                <a:r>
                  <a:rPr lang="ko-KR" altLang="en-US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사업총괄 </a:t>
                </a:r>
                <a:r>
                  <a:rPr lang="en-US" altLang="ko-KR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/ </a:t>
                </a:r>
                <a:r>
                  <a:rPr lang="ko-KR" altLang="en-US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국방  </a:t>
                </a:r>
                <a:r>
                  <a:rPr lang="en-US" altLang="ko-KR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SI </a:t>
                </a:r>
                <a:r>
                  <a:rPr lang="ko-KR" altLang="en-US" sz="1050" dirty="0">
                    <a:ln w="11430"/>
                    <a:solidFill>
                      <a:srgbClr val="FFFF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전문기업</a:t>
                </a:r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3611970" y="3810607"/>
                <a:ext cx="2705809" cy="4334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lvl="1"/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사업 총괄 및 포괄책임</a:t>
                </a:r>
              </a:p>
              <a:p>
                <a:pPr lvl="1"/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업무분석</a:t>
                </a:r>
                <a:r>
                  <a:rPr lang="en-US" altLang="ko-KR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설계 및 구축 전반 총괄기술지원</a:t>
                </a:r>
              </a:p>
              <a:p>
                <a:pPr lvl="1"/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훈련 진행</a:t>
                </a:r>
                <a:r>
                  <a:rPr lang="en-US" altLang="ko-KR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/</a:t>
                </a: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평가 업무 개발</a:t>
                </a:r>
              </a:p>
              <a:p>
                <a:pPr lvl="1"/>
                <a:r>
                  <a:rPr lang="ko-KR" altLang="en-US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타체계</a:t>
                </a: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 연동기능 개발</a:t>
                </a:r>
              </a:p>
            </p:txBody>
          </p:sp>
        </p:grpSp>
        <p:sp>
          <p:nvSpPr>
            <p:cNvPr id="309" name="Rectangle 339"/>
            <p:cNvSpPr>
              <a:spLocks noChangeArrowheads="1"/>
            </p:cNvSpPr>
            <p:nvPr/>
          </p:nvSpPr>
          <p:spPr bwMode="auto">
            <a:xfrm>
              <a:off x="4529850" y="2988196"/>
              <a:ext cx="1861134" cy="2830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defTabSz="1042988" eaLnBrk="0" latinLnBrk="0" hangingPunct="0">
                <a:lnSpc>
                  <a:spcPct val="120000"/>
                </a:lnSpc>
                <a:spcBef>
                  <a:spcPct val="10000"/>
                </a:spcBef>
                <a:buClr>
                  <a:prstClr val="black"/>
                </a:buClr>
                <a:buSzPct val="140000"/>
                <a:tabLst>
                  <a:tab pos="5648325" algn="l"/>
                </a:tabLst>
                <a:defRPr/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Wingdings 2" pitchFamily="18" charset="2"/>
                </a:rPr>
                <a:t>업무이해도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Wingdings 2" pitchFamily="18" charset="2"/>
                </a:rPr>
                <a:t>,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Wingdings 2" pitchFamily="18" charset="2"/>
                </a:rPr>
                <a:t>기술력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Wingdings 2" pitchFamily="18" charset="2"/>
                </a:rPr>
                <a:t>,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Wingdings 2" pitchFamily="18" charset="2"/>
                </a:rPr>
                <a:t>구축경험 결집을 통한 시너지 극대화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808154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346129" y="2336357"/>
            <a:ext cx="3517148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사업을 이해하고 구축에 전념</a:t>
            </a:r>
          </a:p>
        </p:txBody>
      </p:sp>
      <p:grpSp>
        <p:nvGrpSpPr>
          <p:cNvPr id="47" name="그룹 46"/>
          <p:cNvGrpSpPr/>
          <p:nvPr/>
        </p:nvGrpSpPr>
        <p:grpSpPr>
          <a:xfrm>
            <a:off x="9190559" y="648222"/>
            <a:ext cx="1655243" cy="487626"/>
            <a:chOff x="9190558" y="648221"/>
            <a:chExt cx="1655243" cy="487626"/>
          </a:xfrm>
        </p:grpSpPr>
        <p:sp>
          <p:nvSpPr>
            <p:cNvPr id="55" name="Text Box 18"/>
            <p:cNvSpPr txBox="1">
              <a:spLocks noChangeArrowheads="1"/>
            </p:cNvSpPr>
            <p:nvPr/>
          </p:nvSpPr>
          <p:spPr bwMode="auto">
            <a:xfrm>
              <a:off x="91905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6" name="Text Box 18"/>
            <p:cNvSpPr txBox="1">
              <a:spLocks noChangeArrowheads="1"/>
            </p:cNvSpPr>
            <p:nvPr/>
          </p:nvSpPr>
          <p:spPr bwMode="auto">
            <a:xfrm>
              <a:off x="9774758" y="648221"/>
              <a:ext cx="901815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Ⅲ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10333559" y="648221"/>
              <a:ext cx="512242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Ⅳ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2275266" y="2645163"/>
            <a:ext cx="2747335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편의성 향상</a:t>
            </a:r>
          </a:p>
        </p:txBody>
      </p:sp>
      <p:sp>
        <p:nvSpPr>
          <p:cNvPr id="17" name="텍스트 개체 틀 36"/>
          <p:cNvSpPr txBox="1">
            <a:spLocks/>
          </p:cNvSpPr>
          <p:nvPr/>
        </p:nvSpPr>
        <p:spPr>
          <a:xfrm>
            <a:off x="4518546" y="2913406"/>
            <a:ext cx="2725105" cy="200055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marL="0" indent="0" algn="l" defTabSz="1019190" rtl="0" eaLnBrk="1" latinLnBrk="1" hangingPunct="1">
              <a:spcBef>
                <a:spcPts val="0"/>
              </a:spcBef>
              <a:buFontTx/>
              <a:buNone/>
              <a:defRPr sz="2000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828092" indent="-318497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98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58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317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277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236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196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1559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47546">
              <a:buClr>
                <a:srgbClr val="5F5F5F"/>
              </a:buClr>
              <a:defRPr/>
            </a:pPr>
            <a:r>
              <a:rPr lang="ko-KR" altLang="en-US" sz="13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시스템 사용자의 편의성 최우선 고려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2385587" y="3638550"/>
            <a:ext cx="6525447" cy="682384"/>
            <a:chOff x="2385587" y="3638550"/>
            <a:chExt cx="6525444" cy="682384"/>
          </a:xfrm>
        </p:grpSpPr>
        <p:grpSp>
          <p:nvGrpSpPr>
            <p:cNvPr id="19" name="그룹 18"/>
            <p:cNvGrpSpPr/>
            <p:nvPr/>
          </p:nvGrpSpPr>
          <p:grpSpPr>
            <a:xfrm>
              <a:off x="2385587" y="3638550"/>
              <a:ext cx="6525444" cy="682384"/>
              <a:chOff x="2208777" y="3638550"/>
              <a:chExt cx="6525444" cy="682384"/>
            </a:xfrm>
          </p:grpSpPr>
          <p:grpSp>
            <p:nvGrpSpPr>
              <p:cNvPr id="21" name="그룹 20"/>
              <p:cNvGrpSpPr/>
              <p:nvPr/>
            </p:nvGrpSpPr>
            <p:grpSpPr>
              <a:xfrm>
                <a:off x="2208777" y="3638550"/>
                <a:ext cx="6525444" cy="282539"/>
                <a:chOff x="2208777" y="5217210"/>
                <a:chExt cx="6525444" cy="282539"/>
              </a:xfrm>
            </p:grpSpPr>
            <p:grpSp>
              <p:nvGrpSpPr>
                <p:cNvPr id="29" name="그룹 28"/>
                <p:cNvGrpSpPr/>
                <p:nvPr/>
              </p:nvGrpSpPr>
              <p:grpSpPr>
                <a:xfrm>
                  <a:off x="2208777" y="5217210"/>
                  <a:ext cx="943998" cy="282539"/>
                  <a:chOff x="2208777" y="5217210"/>
                  <a:chExt cx="943998" cy="282539"/>
                </a:xfrm>
              </p:grpSpPr>
              <p:sp>
                <p:nvSpPr>
                  <p:cNvPr id="31" name="양쪽 모서리가 둥근 사각형 30"/>
                  <p:cNvSpPr/>
                  <p:nvPr/>
                </p:nvSpPr>
                <p:spPr>
                  <a:xfrm rot="16200000">
                    <a:off x="2546130" y="4879857"/>
                    <a:ext cx="269292" cy="943998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chemeClr val="bg1">
                      <a:lumMod val="50000"/>
                    </a:schemeClr>
                  </a:solidFill>
                  <a:ln w="19050" algn="ctr">
                    <a:noFill/>
                    <a:round/>
                    <a:headEnd/>
                    <a:tailEnd/>
                  </a:ln>
                  <a:effectLst>
                    <a:innerShdw blurRad="63500" dist="38100">
                      <a:schemeClr val="tx1">
                        <a:lumMod val="75000"/>
                        <a:lumOff val="25000"/>
                        <a:alpha val="92000"/>
                      </a:schemeClr>
                    </a:innerShdw>
                  </a:effectLst>
                </p:spPr>
                <p:txBody>
                  <a:bodyPr wrap="none" anchor="ctr">
                    <a:scene3d>
                      <a:camera prst="orthographicFront"/>
                      <a:lightRig rig="threePt" dir="t"/>
                    </a:scene3d>
                    <a:sp3d>
                      <a:bevelT w="0"/>
                    </a:sp3d>
                  </a:bodyPr>
                  <a:lstStyle/>
                  <a:p>
                    <a:pPr algn="ctr" defTabSz="1553780" latinLnBrk="0"/>
                    <a:endParaRPr lang="ko-KR" altLang="en-US" sz="11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Rix고딕 B"/>
                    </a:endParaRPr>
                  </a:p>
                </p:txBody>
              </p:sp>
              <p:grpSp>
                <p:nvGrpSpPr>
                  <p:cNvPr id="32" name="그룹 31"/>
                  <p:cNvGrpSpPr/>
                  <p:nvPr/>
                </p:nvGrpSpPr>
                <p:grpSpPr>
                  <a:xfrm>
                    <a:off x="2381329" y="5222750"/>
                    <a:ext cx="719055" cy="276999"/>
                    <a:chOff x="2283296" y="5246449"/>
                    <a:chExt cx="719055" cy="276999"/>
                  </a:xfrm>
                </p:grpSpPr>
                <p:pic>
                  <p:nvPicPr>
                    <p:cNvPr id="33" name="Picture 29" descr="Action tex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>
                      <a:lum bright="100000" contrast="66000"/>
                      <a:grayscl/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283296" y="5303764"/>
                      <a:ext cx="392994" cy="11497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sp>
                  <p:nvSpPr>
                    <p:cNvPr id="34" name="직사각형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52767" y="5246449"/>
                      <a:ext cx="349584" cy="276999"/>
                    </a:xfrm>
                    <a:prstGeom prst="rect">
                      <a:avLst/>
                    </a:prstGeom>
                    <a:noFill/>
                    <a:ln w="25400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0" tIns="0" rIns="0" bIns="0" anchor="ctr">
                      <a:spAutoFit/>
                      <a:scene3d>
                        <a:camera prst="orthographicFront"/>
                        <a:lightRig rig="threePt" dir="t"/>
                      </a:scene3d>
                      <a:sp3d>
                        <a:bevelT w="0"/>
                      </a:sp3d>
                    </a:bodyPr>
                    <a:lstStyle/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ko-KR" sz="1800" spc="-158" dirty="0">
                          <a:solidFill>
                            <a:srgbClr val="FFFFFF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산돌신문제비B"/>
                        </a:rPr>
                        <a:t>2-1</a:t>
                      </a:r>
                    </a:p>
                  </p:txBody>
                </p:sp>
              </p:grpSp>
            </p:grpSp>
            <p:sp>
              <p:nvSpPr>
                <p:cNvPr id="30" name="Text Box 461"/>
                <p:cNvSpPr txBox="1">
                  <a:spLocks noChangeArrowheads="1"/>
                </p:cNvSpPr>
                <p:nvPr/>
              </p:nvSpPr>
              <p:spPr bwMode="auto">
                <a:xfrm>
                  <a:off x="3218933" y="5228745"/>
                  <a:ext cx="5515288" cy="246221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>
                  <a:prstShdw prst="shdw18" dist="17961" dir="13500000">
                    <a:schemeClr val="bg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square" lIns="0" tIns="0" rIns="0" bIns="0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>
                    <a:defRPr/>
                  </a:pPr>
                  <a:r>
                    <a:rPr lang="ko-KR" altLang="en-US" sz="16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학습관리체계 특성 반영 및 사용자 중심의 </a:t>
                  </a:r>
                  <a:r>
                    <a:rPr lang="en-US" altLang="ko-KR" sz="16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SW </a:t>
                  </a:r>
                  <a:r>
                    <a:rPr lang="ko-KR" altLang="en-US" sz="16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구현</a:t>
                  </a:r>
                </a:p>
              </p:txBody>
            </p:sp>
          </p:grpSp>
          <p:grpSp>
            <p:nvGrpSpPr>
              <p:cNvPr id="22" name="그룹 21"/>
              <p:cNvGrpSpPr/>
              <p:nvPr/>
            </p:nvGrpSpPr>
            <p:grpSpPr>
              <a:xfrm>
                <a:off x="2208777" y="4038395"/>
                <a:ext cx="6280829" cy="282539"/>
                <a:chOff x="2208777" y="5217210"/>
                <a:chExt cx="6280829" cy="282539"/>
              </a:xfrm>
            </p:grpSpPr>
            <p:grpSp>
              <p:nvGrpSpPr>
                <p:cNvPr id="23" name="그룹 22"/>
                <p:cNvGrpSpPr/>
                <p:nvPr/>
              </p:nvGrpSpPr>
              <p:grpSpPr>
                <a:xfrm>
                  <a:off x="2208777" y="5217210"/>
                  <a:ext cx="943998" cy="282539"/>
                  <a:chOff x="2208777" y="5217210"/>
                  <a:chExt cx="943998" cy="282539"/>
                </a:xfrm>
              </p:grpSpPr>
              <p:sp>
                <p:nvSpPr>
                  <p:cNvPr id="25" name="양쪽 모서리가 둥근 사각형 24"/>
                  <p:cNvSpPr/>
                  <p:nvPr/>
                </p:nvSpPr>
                <p:spPr>
                  <a:xfrm rot="16200000">
                    <a:off x="2546130" y="4879857"/>
                    <a:ext cx="269292" cy="943998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chemeClr val="bg1">
                      <a:lumMod val="50000"/>
                    </a:schemeClr>
                  </a:solidFill>
                  <a:ln w="19050" algn="ctr">
                    <a:noFill/>
                    <a:round/>
                    <a:headEnd/>
                    <a:tailEnd/>
                  </a:ln>
                  <a:effectLst>
                    <a:innerShdw blurRad="63500" dist="38100">
                      <a:schemeClr val="tx1">
                        <a:lumMod val="75000"/>
                        <a:lumOff val="25000"/>
                        <a:alpha val="92000"/>
                      </a:schemeClr>
                    </a:innerShdw>
                  </a:effectLst>
                </p:spPr>
                <p:txBody>
                  <a:bodyPr wrap="none" anchor="ctr">
                    <a:scene3d>
                      <a:camera prst="orthographicFront"/>
                      <a:lightRig rig="threePt" dir="t"/>
                    </a:scene3d>
                    <a:sp3d>
                      <a:bevelT w="0"/>
                    </a:sp3d>
                  </a:bodyPr>
                  <a:lstStyle/>
                  <a:p>
                    <a:pPr algn="ctr" defTabSz="1553780" latinLnBrk="0"/>
                    <a:endParaRPr lang="ko-KR" altLang="en-US" sz="11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Rix고딕 B"/>
                    </a:endParaRPr>
                  </a:p>
                </p:txBody>
              </p:sp>
              <p:grpSp>
                <p:nvGrpSpPr>
                  <p:cNvPr id="26" name="그룹 25"/>
                  <p:cNvGrpSpPr/>
                  <p:nvPr/>
                </p:nvGrpSpPr>
                <p:grpSpPr>
                  <a:xfrm>
                    <a:off x="2381329" y="5222750"/>
                    <a:ext cx="719055" cy="276999"/>
                    <a:chOff x="2283296" y="5246449"/>
                    <a:chExt cx="719055" cy="276999"/>
                  </a:xfrm>
                </p:grpSpPr>
                <p:pic>
                  <p:nvPicPr>
                    <p:cNvPr id="27" name="Picture 29" descr="Action tex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>
                      <a:lum bright="100000" contrast="66000"/>
                      <a:grayscl/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283296" y="5303764"/>
                      <a:ext cx="392994" cy="11497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sp>
                  <p:nvSpPr>
                    <p:cNvPr id="28" name="직사각형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52767" y="5246449"/>
                      <a:ext cx="349584" cy="276999"/>
                    </a:xfrm>
                    <a:prstGeom prst="rect">
                      <a:avLst/>
                    </a:prstGeom>
                    <a:noFill/>
                    <a:ln w="25400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0" tIns="0" rIns="0" bIns="0" anchor="ctr">
                      <a:spAutoFit/>
                      <a:scene3d>
                        <a:camera prst="orthographicFront"/>
                        <a:lightRig rig="threePt" dir="t"/>
                      </a:scene3d>
                      <a:sp3d>
                        <a:bevelT w="0"/>
                      </a:sp3d>
                    </a:bodyPr>
                    <a:lstStyle/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ko-KR" sz="1800" spc="-158" dirty="0">
                          <a:solidFill>
                            <a:srgbClr val="FFFFFF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산돌신문제비B"/>
                        </a:rPr>
                        <a:t>2-2</a:t>
                      </a:r>
                    </a:p>
                  </p:txBody>
                </p:sp>
              </p:grpSp>
            </p:grpSp>
            <p:sp>
              <p:nvSpPr>
                <p:cNvPr id="24" name="Text Box 461"/>
                <p:cNvSpPr txBox="1">
                  <a:spLocks noChangeArrowheads="1"/>
                </p:cNvSpPr>
                <p:nvPr/>
              </p:nvSpPr>
              <p:spPr bwMode="auto">
                <a:xfrm>
                  <a:off x="3218935" y="5228745"/>
                  <a:ext cx="5270671" cy="246221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>
                  <a:prstShdw prst="shdw18" dist="17961" dir="13500000">
                    <a:schemeClr val="bg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 lIns="0" tIns="0" rIns="0" bIns="0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>
                    <a:defRPr/>
                  </a:pPr>
                  <a:r>
                    <a:rPr lang="ko-KR" altLang="en-US" sz="16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업무 자동화 시스템 구축으로 사용자 맞춤형 설계 및 반영</a:t>
                  </a:r>
                </a:p>
              </p:txBody>
            </p:sp>
          </p:grpSp>
        </p:grpSp>
        <p:sp>
          <p:nvSpPr>
            <p:cNvPr id="20" name="자유형 19"/>
            <p:cNvSpPr/>
            <p:nvPr/>
          </p:nvSpPr>
          <p:spPr>
            <a:xfrm>
              <a:off x="3333750" y="3971925"/>
              <a:ext cx="3876675" cy="0"/>
            </a:xfrm>
            <a:custGeom>
              <a:avLst/>
              <a:gdLst>
                <a:gd name="connsiteX0" fmla="*/ 0 w 3876675"/>
                <a:gd name="connsiteY0" fmla="*/ 0 h 0"/>
                <a:gd name="connsiteX1" fmla="*/ 3876675 w 387667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76675">
                  <a:moveTo>
                    <a:pt x="0" y="0"/>
                  </a:moveTo>
                  <a:lnTo>
                    <a:pt x="3876675" y="0"/>
                  </a:lnTo>
                </a:path>
              </a:pathLst>
            </a:custGeom>
            <a:noFill/>
            <a:ln w="6350" algn="ctr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>
              <a:innerShdw blurRad="50800">
                <a:schemeClr val="bg1">
                  <a:lumMod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2234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838633" y="271486"/>
            <a:ext cx="6987704" cy="797799"/>
            <a:chOff x="684361" y="328636"/>
            <a:chExt cx="6987704" cy="797799"/>
          </a:xfrm>
        </p:grpSpPr>
        <p:grpSp>
          <p:nvGrpSpPr>
            <p:cNvPr id="2" name="그룹 1"/>
            <p:cNvGrpSpPr/>
            <p:nvPr/>
          </p:nvGrpSpPr>
          <p:grpSpPr>
            <a:xfrm>
              <a:off x="684361" y="359216"/>
              <a:ext cx="307778" cy="674807"/>
              <a:chOff x="753806" y="359216"/>
              <a:chExt cx="307778" cy="674807"/>
            </a:xfrm>
          </p:grpSpPr>
          <p:sp>
            <p:nvSpPr>
              <p:cNvPr id="99" name="직사각형 98"/>
              <p:cNvSpPr/>
              <p:nvPr/>
            </p:nvSpPr>
            <p:spPr bwMode="auto">
              <a:xfrm>
                <a:off x="753806" y="359216"/>
                <a:ext cx="307778" cy="18466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ko-KR" altLang="en-US" sz="12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전략</a:t>
                </a:r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 bwMode="auto">
              <a:xfrm>
                <a:off x="786656" y="603136"/>
                <a:ext cx="211597" cy="43088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en-US" altLang="ko-KR" sz="2800" dirty="0">
                    <a:solidFill>
                      <a:srgbClr val="9BBB59">
                        <a:lumMod val="40000"/>
                        <a:lumOff val="60000"/>
                      </a:srgb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2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1373546" y="603215"/>
              <a:ext cx="6298519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2800" b="1" spc="-150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시스템 사용자의 편의성 최우선 고려</a:t>
              </a:r>
              <a:r>
                <a:rPr lang="en-US" altLang="ko-KR" sz="2800" b="1" spc="-150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(1/2)</a:t>
              </a:r>
              <a:endParaRPr lang="ko-KR" altLang="en-US" sz="28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6557" y="328636"/>
              <a:ext cx="5921814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defTabSz="1084296" fontAlgn="auto">
                <a:spcBef>
                  <a:spcPts val="0"/>
                </a:spcBef>
                <a:spcAft>
                  <a:spcPts val="0"/>
                </a:spcAft>
                <a:defRPr sz="1600">
                  <a:solidFill>
                    <a:srgbClr val="9FA7B3"/>
                  </a:solidFill>
                  <a:latin typeface="나눔고딕 ExtraBold" pitchFamily="50" charset="-127"/>
                  <a:ea typeface="나눔고딕 ExtraBold" pitchFamily="50" charset="-127"/>
                </a:defRPr>
              </a:lvl1pPr>
            </a:lstStyle>
            <a:p>
              <a:r>
                <a:rPr lang="en-US" altLang="ko-KR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Action2-1 </a:t>
              </a: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학습관리체계 특성 반영 및 사용자 중심의 </a:t>
              </a:r>
              <a:r>
                <a:rPr lang="en-US" altLang="ko-KR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SW </a:t>
              </a: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구현</a:t>
              </a: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525522" y="1368301"/>
            <a:ext cx="9897679" cy="5688632"/>
            <a:chOff x="7599905" y="2133358"/>
            <a:chExt cx="8498544" cy="6293908"/>
          </a:xfrm>
        </p:grpSpPr>
        <p:sp>
          <p:nvSpPr>
            <p:cNvPr id="66" name="AutoShape 30"/>
            <p:cNvSpPr>
              <a:spLocks noChangeArrowheads="1"/>
            </p:cNvSpPr>
            <p:nvPr/>
          </p:nvSpPr>
          <p:spPr bwMode="auto">
            <a:xfrm>
              <a:off x="8036337" y="7430846"/>
              <a:ext cx="6903032" cy="959358"/>
            </a:xfrm>
            <a:prstGeom prst="parallelogram">
              <a:avLst>
                <a:gd name="adj" fmla="val 160359"/>
              </a:avLst>
            </a:prstGeom>
            <a:solidFill>
              <a:srgbClr val="F2F2F2"/>
            </a:solidFill>
            <a:ln w="9525">
              <a:noFill/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60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9" name="AutoShape 156"/>
            <p:cNvSpPr>
              <a:spLocks noChangeArrowheads="1"/>
            </p:cNvSpPr>
            <p:nvPr/>
          </p:nvSpPr>
          <p:spPr bwMode="auto">
            <a:xfrm>
              <a:off x="8025745" y="3729737"/>
              <a:ext cx="6913624" cy="972108"/>
            </a:xfrm>
            <a:prstGeom prst="parallelogram">
              <a:avLst>
                <a:gd name="adj" fmla="val 160872"/>
              </a:avLst>
            </a:prstGeom>
            <a:solidFill>
              <a:srgbClr val="F2F2F2"/>
            </a:solidFill>
            <a:ln w="9525">
              <a:noFill/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60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0" name="AutoShape 105"/>
            <p:cNvSpPr>
              <a:spLocks noChangeArrowheads="1"/>
            </p:cNvSpPr>
            <p:nvPr/>
          </p:nvSpPr>
          <p:spPr bwMode="auto">
            <a:xfrm>
              <a:off x="7947587" y="5160352"/>
              <a:ext cx="6903032" cy="934234"/>
            </a:xfrm>
            <a:prstGeom prst="parallelogram">
              <a:avLst>
                <a:gd name="adj" fmla="val 160103"/>
              </a:avLst>
            </a:prstGeom>
            <a:solidFill>
              <a:srgbClr val="F2F2F2"/>
            </a:solidFill>
            <a:ln w="9525">
              <a:noFill/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60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" name="AutoShape 481"/>
            <p:cNvSpPr>
              <a:spLocks noChangeArrowheads="1"/>
            </p:cNvSpPr>
            <p:nvPr/>
          </p:nvSpPr>
          <p:spPr bwMode="auto">
            <a:xfrm>
              <a:off x="8023644" y="2205354"/>
              <a:ext cx="4428200" cy="239668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0" tIns="0" rIns="0" bIns="0" anchor="ctr"/>
            <a:lstStyle/>
            <a:p>
              <a:pPr algn="ctr">
                <a:buClr>
                  <a:srgbClr val="595959"/>
                </a:buClr>
                <a:buSzPct val="140000"/>
              </a:pPr>
              <a:endParaRPr kumimoji="1" lang="ko-KR" altLang="ko-KR" sz="50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Yoon 윤명조 540_TT"/>
              </a:endParaRPr>
            </a:p>
          </p:txBody>
        </p:sp>
        <p:sp>
          <p:nvSpPr>
            <p:cNvPr id="72" name="AutoShape 481"/>
            <p:cNvSpPr>
              <a:spLocks noChangeArrowheads="1"/>
            </p:cNvSpPr>
            <p:nvPr/>
          </p:nvSpPr>
          <p:spPr bwMode="auto">
            <a:xfrm>
              <a:off x="14659145" y="2141012"/>
              <a:ext cx="1439304" cy="6154595"/>
            </a:xfrm>
            <a:prstGeom prst="roundRect">
              <a:avLst>
                <a:gd name="adj" fmla="val 1481"/>
              </a:avLst>
            </a:prstGeom>
            <a:solidFill>
              <a:sysClr val="window" lastClr="FFFFFF"/>
            </a:solidFill>
            <a:ln w="6350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  <a:extLst/>
          </p:spPr>
          <p:txBody>
            <a:bodyPr lIns="0" tIns="0" rIns="0" bIns="0" anchor="ctr"/>
            <a:lstStyle/>
            <a:p>
              <a:endParaRPr lang="ko-KR" altLang="ko-KR" sz="16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4659146" y="2133358"/>
              <a:ext cx="1439303" cy="374658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100" dirty="0">
                  <a:latin typeface="굴림" panose="020B0600000101010101" pitchFamily="50" charset="-127"/>
                  <a:ea typeface="굴림" panose="020B0600000101010101" pitchFamily="50" charset="-127"/>
                </a:rPr>
                <a:t>연계시스템</a:t>
              </a:r>
              <a:endParaRPr lang="en-US" altLang="ko-KR" sz="11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4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8025745" y="4444791"/>
              <a:ext cx="4429125" cy="252000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응용시스템</a:t>
              </a:r>
              <a:endPara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5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8025745" y="5797630"/>
              <a:ext cx="4429125" cy="252000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베이스</a:t>
              </a:r>
              <a:endPara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76" name="Group 33"/>
            <p:cNvGrpSpPr>
              <a:grpSpLocks/>
            </p:cNvGrpSpPr>
            <p:nvPr/>
          </p:nvGrpSpPr>
          <p:grpSpPr bwMode="auto">
            <a:xfrm>
              <a:off x="11340506" y="6105724"/>
              <a:ext cx="1401763" cy="2029051"/>
              <a:chOff x="3552" y="3891"/>
              <a:chExt cx="908" cy="1026"/>
            </a:xfrm>
          </p:grpSpPr>
          <p:sp>
            <p:nvSpPr>
              <p:cNvPr id="308" name="AutoShape 34"/>
              <p:cNvSpPr>
                <a:spLocks noChangeArrowheads="1"/>
              </p:cNvSpPr>
              <p:nvPr/>
            </p:nvSpPr>
            <p:spPr bwMode="auto">
              <a:xfrm>
                <a:off x="3552" y="3891"/>
                <a:ext cx="908" cy="102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3600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8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시스템 소프트웨어</a:t>
                </a:r>
              </a:p>
            </p:txBody>
          </p:sp>
          <p:sp>
            <p:nvSpPr>
              <p:cNvPr id="309" name="AutoShape 35"/>
              <p:cNvSpPr>
                <a:spLocks noChangeArrowheads="1"/>
              </p:cNvSpPr>
              <p:nvPr/>
            </p:nvSpPr>
            <p:spPr bwMode="auto">
              <a:xfrm>
                <a:off x="3624" y="4032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WEB</a:t>
                </a:r>
              </a:p>
            </p:txBody>
          </p:sp>
          <p:sp>
            <p:nvSpPr>
              <p:cNvPr id="310" name="AutoShape 36"/>
              <p:cNvSpPr>
                <a:spLocks noChangeArrowheads="1"/>
              </p:cNvSpPr>
              <p:nvPr/>
            </p:nvSpPr>
            <p:spPr bwMode="auto">
              <a:xfrm>
                <a:off x="4056" y="4032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WAS</a:t>
                </a:r>
              </a:p>
            </p:txBody>
          </p:sp>
          <p:sp>
            <p:nvSpPr>
              <p:cNvPr id="311" name="AutoShape 37"/>
              <p:cNvSpPr>
                <a:spLocks noChangeArrowheads="1"/>
              </p:cNvSpPr>
              <p:nvPr/>
            </p:nvSpPr>
            <p:spPr bwMode="auto">
              <a:xfrm>
                <a:off x="3624" y="4401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DBMS</a:t>
                </a:r>
              </a:p>
            </p:txBody>
          </p:sp>
          <p:sp>
            <p:nvSpPr>
              <p:cNvPr id="312" name="AutoShape 38"/>
              <p:cNvSpPr>
                <a:spLocks noChangeArrowheads="1"/>
              </p:cNvSpPr>
              <p:nvPr/>
            </p:nvSpPr>
            <p:spPr bwMode="auto">
              <a:xfrm>
                <a:off x="3624" y="4647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ko-KR" altLang="en-US" sz="5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클러스트</a:t>
                </a:r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S/W</a:t>
                </a:r>
              </a:p>
            </p:txBody>
          </p:sp>
          <p:sp>
            <p:nvSpPr>
              <p:cNvPr id="313" name="AutoShape 39"/>
              <p:cNvSpPr>
                <a:spLocks noChangeArrowheads="1"/>
              </p:cNvSpPr>
              <p:nvPr/>
            </p:nvSpPr>
            <p:spPr bwMode="auto">
              <a:xfrm>
                <a:off x="3624" y="4155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LDAP</a:t>
                </a:r>
              </a:p>
            </p:txBody>
          </p:sp>
          <p:sp>
            <p:nvSpPr>
              <p:cNvPr id="314" name="AutoShape 40"/>
              <p:cNvSpPr>
                <a:spLocks noChangeArrowheads="1"/>
              </p:cNvSpPr>
              <p:nvPr/>
            </p:nvSpPr>
            <p:spPr bwMode="auto">
              <a:xfrm>
                <a:off x="4056" y="4646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JVM</a:t>
                </a:r>
              </a:p>
            </p:txBody>
          </p:sp>
          <p:sp>
            <p:nvSpPr>
              <p:cNvPr id="315" name="AutoShape 41"/>
              <p:cNvSpPr>
                <a:spLocks noChangeArrowheads="1"/>
              </p:cNvSpPr>
              <p:nvPr/>
            </p:nvSpPr>
            <p:spPr bwMode="auto">
              <a:xfrm>
                <a:off x="4056" y="4155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공통 </a:t>
                </a:r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S/W</a:t>
                </a:r>
              </a:p>
            </p:txBody>
          </p:sp>
          <p:sp>
            <p:nvSpPr>
              <p:cNvPr id="316" name="AutoShape 42"/>
              <p:cNvSpPr>
                <a:spLocks noChangeArrowheads="1"/>
              </p:cNvSpPr>
              <p:nvPr/>
            </p:nvSpPr>
            <p:spPr bwMode="auto">
              <a:xfrm>
                <a:off x="3624" y="4524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백업관리</a:t>
                </a:r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S/W</a:t>
                </a:r>
              </a:p>
            </p:txBody>
          </p:sp>
          <p:sp>
            <p:nvSpPr>
              <p:cNvPr id="317" name="AutoShape 43"/>
              <p:cNvSpPr>
                <a:spLocks noChangeArrowheads="1"/>
              </p:cNvSpPr>
              <p:nvPr/>
            </p:nvSpPr>
            <p:spPr bwMode="auto">
              <a:xfrm>
                <a:off x="4056" y="4523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XML RM</a:t>
                </a:r>
              </a:p>
            </p:txBody>
          </p:sp>
          <p:sp>
            <p:nvSpPr>
              <p:cNvPr id="318" name="AutoShape 44"/>
              <p:cNvSpPr>
                <a:spLocks noChangeArrowheads="1"/>
              </p:cNvSpPr>
              <p:nvPr/>
            </p:nvSpPr>
            <p:spPr bwMode="auto">
              <a:xfrm>
                <a:off x="3624" y="4770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BI S/W</a:t>
                </a:r>
              </a:p>
            </p:txBody>
          </p:sp>
          <p:sp>
            <p:nvSpPr>
              <p:cNvPr id="319" name="AutoShape 45"/>
              <p:cNvSpPr>
                <a:spLocks noChangeArrowheads="1"/>
              </p:cNvSpPr>
              <p:nvPr/>
            </p:nvSpPr>
            <p:spPr bwMode="auto">
              <a:xfrm>
                <a:off x="3624" y="4278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UI</a:t>
                </a:r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도구 </a:t>
                </a:r>
                <a:endPara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20" name="AutoShape 46"/>
              <p:cNvSpPr>
                <a:spLocks noChangeArrowheads="1"/>
              </p:cNvSpPr>
              <p:nvPr/>
            </p:nvSpPr>
            <p:spPr bwMode="auto">
              <a:xfrm>
                <a:off x="4056" y="4278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ko-KR" altLang="en-US" sz="5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레포팅도구</a:t>
                </a:r>
                <a:endPara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21" name="AutoShape 47"/>
              <p:cNvSpPr>
                <a:spLocks noChangeArrowheads="1"/>
              </p:cNvSpPr>
              <p:nvPr/>
            </p:nvSpPr>
            <p:spPr bwMode="auto">
              <a:xfrm>
                <a:off x="4056" y="4400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연동모듈</a:t>
                </a:r>
                <a:endPara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22" name="AutoShape 48"/>
              <p:cNvSpPr>
                <a:spLocks noChangeArrowheads="1"/>
              </p:cNvSpPr>
              <p:nvPr/>
            </p:nvSpPr>
            <p:spPr bwMode="auto">
              <a:xfrm>
                <a:off x="4056" y="4769"/>
                <a:ext cx="363" cy="89"/>
              </a:xfrm>
              <a:prstGeom prst="roundRect">
                <a:avLst>
                  <a:gd name="adj" fmla="val 7477"/>
                </a:avLst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 algn="ctr">
                    <a:solidFill>
                      <a:srgbClr val="B2B2B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487363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9747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460500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1952625" algn="l" defTabSz="974725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4098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8670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3242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781425" defTabSz="9747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/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전자정부</a:t>
                </a:r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FW</a:t>
                </a:r>
              </a:p>
            </p:txBody>
          </p:sp>
        </p:grpSp>
        <p:sp>
          <p:nvSpPr>
            <p:cNvPr id="77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2922289" y="8144645"/>
              <a:ext cx="1476000" cy="252000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기반보안</a:t>
              </a:r>
              <a:endPara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8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2922289" y="5805766"/>
              <a:ext cx="1476000" cy="252000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DB 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보안</a:t>
              </a:r>
              <a:endPara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9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12922289" y="4442563"/>
              <a:ext cx="1476000" cy="252000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응용</a:t>
              </a: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보안</a:t>
              </a:r>
              <a:endPara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80" name="Group 715"/>
            <p:cNvGrpSpPr>
              <a:grpSpLocks/>
            </p:cNvGrpSpPr>
            <p:nvPr/>
          </p:nvGrpSpPr>
          <p:grpSpPr bwMode="auto">
            <a:xfrm>
              <a:off x="7599905" y="2236309"/>
              <a:ext cx="351716" cy="6190957"/>
              <a:chOff x="248" y="2374"/>
              <a:chExt cx="591" cy="2406"/>
            </a:xfrm>
          </p:grpSpPr>
          <p:sp>
            <p:nvSpPr>
              <p:cNvPr id="306" name="AutoShape 273"/>
              <p:cNvSpPr>
                <a:spLocks noChangeArrowheads="1"/>
              </p:cNvSpPr>
              <p:nvPr/>
            </p:nvSpPr>
            <p:spPr bwMode="auto">
              <a:xfrm>
                <a:off x="310" y="2374"/>
                <a:ext cx="529" cy="2406"/>
              </a:xfrm>
              <a:prstGeom prst="upDownArrow">
                <a:avLst>
                  <a:gd name="adj1" fmla="val 67926"/>
                  <a:gd name="adj2" fmla="val 82881"/>
                </a:avLst>
              </a:prstGeom>
              <a:gradFill flip="none" rotWithShape="1">
                <a:gsLst>
                  <a:gs pos="51000">
                    <a:schemeClr val="bg1">
                      <a:lumMod val="85000"/>
                    </a:schemeClr>
                  </a:gs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5400000" scaled="1"/>
                <a:tileRect/>
              </a:gradFill>
              <a:ln w="6350"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003275" latinLnBrk="0">
                  <a:buClr>
                    <a:srgbClr val="3271AA"/>
                  </a:buClr>
                  <a:buSzPct val="140000"/>
                  <a:tabLst>
                    <a:tab pos="748312" algn="l"/>
                  </a:tabLst>
                </a:pPr>
                <a:endParaRPr lang="ko-KR" altLang="en-US" sz="700" kern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07" name="Text Box 290"/>
              <p:cNvSpPr txBox="1">
                <a:spLocks noChangeArrowheads="1"/>
              </p:cNvSpPr>
              <p:nvPr/>
            </p:nvSpPr>
            <p:spPr bwMode="auto">
              <a:xfrm>
                <a:off x="248" y="3324"/>
                <a:ext cx="591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51435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02870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54305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algn="l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/>
                <a:r>
                  <a:rPr lang="ko-KR" altLang="en-US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체</a:t>
                </a:r>
              </a:p>
              <a:p>
                <a:pPr algn="ctr"/>
                <a:r>
                  <a:rPr lang="ko-KR" altLang="en-US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계 </a:t>
                </a:r>
              </a:p>
              <a:p>
                <a:pPr algn="ctr"/>
                <a:r>
                  <a:rPr lang="ko-KR" altLang="en-US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내 </a:t>
                </a:r>
              </a:p>
              <a:p>
                <a:pPr algn="ctr"/>
                <a:r>
                  <a:rPr lang="ko-KR" altLang="en-US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통</a:t>
                </a:r>
              </a:p>
              <a:p>
                <a:pPr algn="ctr"/>
                <a:r>
                  <a:rPr lang="ko-KR" altLang="en-US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합</a:t>
                </a:r>
              </a:p>
            </p:txBody>
          </p:sp>
        </p:grpSp>
        <p:sp>
          <p:nvSpPr>
            <p:cNvPr id="81" name="Text Box 1585" descr="넓은 상향 대각선"/>
            <p:cNvSpPr txBox="1">
              <a:spLocks noChangeArrowheads="1"/>
            </p:cNvSpPr>
            <p:nvPr/>
          </p:nvSpPr>
          <p:spPr bwMode="auto">
            <a:xfrm>
              <a:off x="8009249" y="8152116"/>
              <a:ext cx="4445621" cy="252000"/>
            </a:xfrm>
            <a:prstGeom prst="rect">
              <a:avLst/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기반시스템</a:t>
              </a:r>
              <a:endPara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82" name="그룹 81"/>
            <p:cNvGrpSpPr/>
            <p:nvPr/>
          </p:nvGrpSpPr>
          <p:grpSpPr>
            <a:xfrm>
              <a:off x="8116073" y="2320687"/>
              <a:ext cx="4250044" cy="2032611"/>
              <a:chOff x="8356912" y="2142234"/>
              <a:chExt cx="3873170" cy="2211064"/>
            </a:xfrm>
          </p:grpSpPr>
          <p:sp>
            <p:nvSpPr>
              <p:cNvPr id="285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8356912" y="2142234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12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기초자료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6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8356912" y="2466136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1,2,3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차 선발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7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8356912" y="2790038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학적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임관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8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8356912" y="3113940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인사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0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8356912" y="3437842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성적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1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9680055" y="2142234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학습자료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2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9680055" y="2466120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계획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수업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평가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3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9680055" y="2790006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자격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체력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성적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4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9680055" y="3113892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보급품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</a:p>
            </p:txBody>
          </p:sp>
          <p:sp>
            <p:nvSpPr>
              <p:cNvPr id="295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9680055" y="3437778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신상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훈육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병과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6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11012433" y="2142234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사용자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7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11012433" y="2464085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그룹권한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8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11012433" y="2785936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프로그램 목록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99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11012433" y="3107787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>
                    <a:latin typeface="굴림" panose="020B0600000101010101" pitchFamily="50" charset="-127"/>
                    <a:ea typeface="굴림" panose="020B0600000101010101" pitchFamily="50" charset="-127"/>
                  </a:rPr>
                  <a:t>기초코드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00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11012433" y="3429638"/>
                <a:ext cx="1217649" cy="268040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defPPr>
                  <a:defRPr lang="ko-KR"/>
                </a:defPPr>
                <a:lvl1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 sz="900" kern="0">
                    <a:ln w="11430"/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운영환경</a:t>
                </a:r>
                <a:endParaRPr lang="en-US" altLang="ko-KR" sz="8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01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8356912" y="3761744"/>
                <a:ext cx="1217649" cy="26804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ko-KR"/>
                </a:defPPr>
                <a:lvl1pPr marL="0" algn="ctr" defTabSz="1043056" eaLnBrk="0" latinLnBrk="0" hangingPunct="0">
                  <a:tabLst>
                    <a:tab pos="2692400" algn="l"/>
                    <a:tab pos="5648325" algn="l"/>
                  </a:tabLst>
                  <a:defRPr sz="1050">
                    <a:ln w="11430">
                      <a:noFill/>
                    </a:ln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  <a:lvl2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2pPr>
                <a:lvl3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3pPr>
                <a:lvl4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4pPr>
                <a:lvl5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5pPr>
                <a:lvl6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6pPr>
                <a:lvl7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7pPr>
                <a:lvl8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8pPr>
                <a:lvl9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선발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/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학적 관리</a:t>
                </a:r>
              </a:p>
            </p:txBody>
          </p:sp>
          <p:sp>
            <p:nvSpPr>
              <p:cNvPr id="302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8356912" y="4073340"/>
                <a:ext cx="1903404" cy="27995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ko-KR"/>
                </a:defPPr>
                <a:lvl1pPr marL="0" algn="ctr" defTabSz="1043056" eaLnBrk="0" latinLnBrk="0" hangingPunct="0">
                  <a:tabLst>
                    <a:tab pos="2692400" algn="l"/>
                    <a:tab pos="5648325" algn="l"/>
                  </a:tabLst>
                  <a:defRPr sz="900">
                    <a:ln w="11430">
                      <a:noFill/>
                    </a:ln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  <a:lvl2pPr defTabSz="914400" eaLnBrk="1" hangingPunct="1">
                  <a:defRPr sz="1800"/>
                </a:lvl2pPr>
                <a:lvl3pPr defTabSz="914400" eaLnBrk="1" hangingPunct="1">
                  <a:defRPr sz="1800"/>
                </a:lvl3pPr>
                <a:lvl4pPr defTabSz="914400" eaLnBrk="1" hangingPunct="1">
                  <a:defRPr sz="1800"/>
                </a:lvl4pPr>
                <a:lvl5pPr defTabSz="914400" eaLnBrk="1" hangingPunct="1">
                  <a:defRPr sz="1800"/>
                </a:lvl5pPr>
                <a:lvl6pPr>
                  <a:defRPr sz="1800"/>
                </a:lvl6pPr>
                <a:lvl7pPr>
                  <a:defRPr sz="1800"/>
                </a:lvl7pPr>
                <a:lvl8pPr>
                  <a:defRPr sz="1800"/>
                </a:lvl8pPr>
                <a:lvl9pPr>
                  <a:defRPr sz="1800"/>
                </a:lvl9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연동 기능체계</a:t>
                </a:r>
              </a:p>
            </p:txBody>
          </p:sp>
          <p:sp>
            <p:nvSpPr>
              <p:cNvPr id="303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9680055" y="3761663"/>
                <a:ext cx="1217649" cy="26804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ko-KR"/>
                </a:defPPr>
                <a:lvl1pPr marL="0" algn="ctr" defTabSz="1043056" eaLnBrk="0" latinLnBrk="0" hangingPunct="0">
                  <a:tabLst>
                    <a:tab pos="2692400" algn="l"/>
                    <a:tab pos="5648325" algn="l"/>
                  </a:tabLst>
                  <a:defRPr sz="1050">
                    <a:ln w="11430">
                      <a:noFill/>
                    </a:ln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  <a:lvl2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2pPr>
                <a:lvl3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3pPr>
                <a:lvl4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4pPr>
                <a:lvl5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5pPr>
                <a:lvl6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6pPr>
                <a:lvl7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7pPr>
                <a:lvl8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8pPr>
                <a:lvl9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교육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/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행정</a:t>
                </a:r>
                <a:r>
                  <a:rPr lang="en-US" altLang="ko-KR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/</a:t>
                </a:r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훈육관리</a:t>
                </a:r>
              </a:p>
            </p:txBody>
          </p:sp>
          <p:sp>
            <p:nvSpPr>
              <p:cNvPr id="304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10346725" y="4073340"/>
                <a:ext cx="1883357" cy="2746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ko-KR"/>
                </a:defPPr>
                <a:lvl1pPr marL="0" algn="ctr" defTabSz="1043056" eaLnBrk="0" latinLnBrk="0" hangingPunct="0">
                  <a:tabLst>
                    <a:tab pos="2692400" algn="l"/>
                    <a:tab pos="5648325" algn="l"/>
                  </a:tabLst>
                  <a:defRPr sz="900">
                    <a:ln w="11430">
                      <a:noFill/>
                    </a:ln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  <a:lvl2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2pPr>
                <a:lvl3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3pPr>
                <a:lvl4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4pPr>
                <a:lvl5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5pPr>
                <a:lvl6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6pPr>
                <a:lvl7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7pPr>
                <a:lvl8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8pPr>
                <a:lvl9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기반환경 체계</a:t>
                </a:r>
              </a:p>
            </p:txBody>
          </p:sp>
          <p:sp>
            <p:nvSpPr>
              <p:cNvPr id="305" name="Text Box 1585" descr="넓은 상향 대각선"/>
              <p:cNvSpPr txBox="1">
                <a:spLocks noChangeArrowheads="1"/>
              </p:cNvSpPr>
              <p:nvPr/>
            </p:nvSpPr>
            <p:spPr bwMode="auto">
              <a:xfrm>
                <a:off x="11012433" y="3751489"/>
                <a:ext cx="1217649" cy="26804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ko-KR"/>
                </a:defPPr>
                <a:lvl1pPr marL="0" algn="ctr" defTabSz="1043056" eaLnBrk="0" latinLnBrk="0" hangingPunct="0">
                  <a:tabLst>
                    <a:tab pos="2692400" algn="l"/>
                    <a:tab pos="5648325" algn="l"/>
                  </a:tabLst>
                  <a:defRPr sz="1050">
                    <a:ln w="11430">
                      <a:noFill/>
                    </a:ln>
                    <a:solidFill>
                      <a:prstClr val="white"/>
                    </a:solidFill>
                    <a:latin typeface="나눔고딕 ExtraBold" pitchFamily="50" charset="-127"/>
                    <a:ea typeface="나눔고딕 ExtraBold" pitchFamily="50" charset="-127"/>
                    <a:cs typeface="Arial" pitchFamily="34" charset="0"/>
                  </a:defRPr>
                </a:lvl1pPr>
                <a:lvl2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2pPr>
                <a:lvl3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3pPr>
                <a:lvl4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4pPr>
                <a:lvl5pPr defTabSz="914400" eaLnBrk="1" hangingPunct="1"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5pPr>
                <a:lvl6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6pPr>
                <a:lvl7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7pPr>
                <a:lvl8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8pPr>
                <a:lvl9pPr>
                  <a:defRPr sz="1800">
                    <a:solidFill>
                      <a:schemeClr val="lt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체계관리</a:t>
                </a:r>
              </a:p>
            </p:txBody>
          </p:sp>
        </p:grpSp>
        <p:sp>
          <p:nvSpPr>
            <p:cNvPr id="83" name="타원 82"/>
            <p:cNvSpPr/>
            <p:nvPr/>
          </p:nvSpPr>
          <p:spPr>
            <a:xfrm>
              <a:off x="14903116" y="2892012"/>
              <a:ext cx="984573" cy="108686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defTabSz="1292225" fontAlgn="auto" latinLnBrk="0">
                <a:spcAft>
                  <a:spcPts val="0"/>
                </a:spcAft>
              </a:pPr>
              <a:r>
                <a:rPr lang="ko-KR" altLang="en-US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국방인사</a:t>
              </a:r>
              <a:endParaRPr lang="en-US" altLang="ko-KR" sz="800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defTabSz="1292225" fontAlgn="auto" latinLnBrk="0">
                <a:spcAft>
                  <a:spcPts val="0"/>
                </a:spcAft>
              </a:pPr>
              <a:r>
                <a:rPr lang="ko-KR" altLang="en-US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정보</a:t>
              </a:r>
              <a:endParaRPr lang="en-US" altLang="ko-KR" sz="800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defTabSz="1292225" fontAlgn="auto" latinLnBrk="0">
                <a:spcAft>
                  <a:spcPts val="0"/>
                </a:spcAft>
              </a:pPr>
              <a:r>
                <a:rPr lang="ko-KR" altLang="en-US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시스템</a:t>
              </a:r>
            </a:p>
          </p:txBody>
        </p:sp>
        <p:sp>
          <p:nvSpPr>
            <p:cNvPr id="84" name="타원 83"/>
            <p:cNvSpPr/>
            <p:nvPr/>
          </p:nvSpPr>
          <p:spPr>
            <a:xfrm>
              <a:off x="14903116" y="4738149"/>
              <a:ext cx="984573" cy="108686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defTabSz="1292225" fontAlgn="auto" latinLnBrk="0">
                <a:spcAft>
                  <a:spcPts val="0"/>
                </a:spcAft>
              </a:pPr>
              <a:r>
                <a:rPr lang="ko-KR" altLang="en-US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학교시설</a:t>
              </a:r>
              <a:endParaRPr lang="en-US" altLang="ko-KR" sz="800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defTabSz="1292225" fontAlgn="auto" latinLnBrk="0">
                <a:spcAft>
                  <a:spcPts val="0"/>
                </a:spcAft>
              </a:pPr>
              <a:r>
                <a:rPr lang="ko-KR" altLang="en-US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정보체계</a:t>
              </a:r>
              <a:endParaRPr lang="en-US" altLang="ko-KR" sz="800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defTabSz="1292225" fontAlgn="auto" latinLnBrk="0">
                <a:spcAft>
                  <a:spcPts val="0"/>
                </a:spcAft>
              </a:pPr>
              <a:r>
                <a:rPr lang="en-US" altLang="ko-KR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(FMS)</a:t>
              </a:r>
              <a:endParaRPr lang="ko-KR" altLang="en-US" sz="800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85" name="타원 84"/>
            <p:cNvSpPr/>
            <p:nvPr/>
          </p:nvSpPr>
          <p:spPr>
            <a:xfrm>
              <a:off x="14903116" y="6762877"/>
              <a:ext cx="984573" cy="108686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defTabSz="1292225" fontAlgn="auto" latinLnBrk="0">
                <a:spcAft>
                  <a:spcPts val="0"/>
                </a:spcAft>
              </a:pPr>
              <a:r>
                <a:rPr lang="ko-KR" altLang="en-US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평가체계</a:t>
              </a:r>
              <a:endParaRPr lang="en-US" altLang="ko-KR" sz="800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defTabSz="1292225" fontAlgn="auto" latinLnBrk="0">
                <a:spcAft>
                  <a:spcPts val="0"/>
                </a:spcAft>
              </a:pPr>
              <a:r>
                <a:rPr lang="en-US" altLang="ko-KR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800" kern="0" dirty="0" err="1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모바일</a:t>
              </a:r>
              <a:r>
                <a:rPr lang="en-US" altLang="ko-KR" sz="800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endParaRPr lang="ko-KR" altLang="en-US" sz="800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86" name="그룹 85"/>
            <p:cNvGrpSpPr/>
            <p:nvPr/>
          </p:nvGrpSpPr>
          <p:grpSpPr>
            <a:xfrm>
              <a:off x="13463447" y="3109448"/>
              <a:ext cx="687735" cy="467193"/>
              <a:chOff x="6267073" y="4968691"/>
              <a:chExt cx="625213" cy="467193"/>
            </a:xfrm>
          </p:grpSpPr>
          <p:sp>
            <p:nvSpPr>
              <p:cNvPr id="269" name="AutoShape 185"/>
              <p:cNvSpPr>
                <a:spLocks noChangeArrowheads="1"/>
              </p:cNvSpPr>
              <p:nvPr/>
            </p:nvSpPr>
            <p:spPr bwMode="auto">
              <a:xfrm>
                <a:off x="6267073" y="4968691"/>
                <a:ext cx="625213" cy="46719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SSO </a:t>
                </a: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통합로그인</a:t>
                </a:r>
              </a:p>
            </p:txBody>
          </p:sp>
          <p:grpSp>
            <p:nvGrpSpPr>
              <p:cNvPr id="270" name="그룹 269"/>
              <p:cNvGrpSpPr/>
              <p:nvPr/>
            </p:nvGrpSpPr>
            <p:grpSpPr>
              <a:xfrm>
                <a:off x="6296146" y="5053732"/>
                <a:ext cx="553149" cy="317814"/>
                <a:chOff x="6265423" y="5072938"/>
                <a:chExt cx="553149" cy="317814"/>
              </a:xfrm>
            </p:grpSpPr>
            <p:pic>
              <p:nvPicPr>
                <p:cNvPr id="271" name="Picture 186" descr="화살표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65423" y="5173592"/>
                  <a:ext cx="371324" cy="21716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272" name="그룹 271"/>
                <p:cNvGrpSpPr/>
                <p:nvPr/>
              </p:nvGrpSpPr>
              <p:grpSpPr>
                <a:xfrm>
                  <a:off x="6431486" y="5072938"/>
                  <a:ext cx="387086" cy="301941"/>
                  <a:chOff x="3664620" y="2801612"/>
                  <a:chExt cx="865441" cy="675075"/>
                </a:xfrm>
              </p:grpSpPr>
              <p:pic>
                <p:nvPicPr>
                  <p:cNvPr id="278" name="Picture 8" descr="D:\모스트비주얼\아이콘 작업\왜가리\27.png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4078084" y="2996394"/>
                    <a:ext cx="451977" cy="36733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284" name="그림 283"/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3664620" y="2801612"/>
                    <a:ext cx="576064" cy="675075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87" name="그룹 86"/>
            <p:cNvGrpSpPr/>
            <p:nvPr/>
          </p:nvGrpSpPr>
          <p:grpSpPr>
            <a:xfrm>
              <a:off x="13709476" y="3636433"/>
              <a:ext cx="687737" cy="467192"/>
              <a:chOff x="6992498" y="4519429"/>
              <a:chExt cx="687737" cy="467192"/>
            </a:xfrm>
          </p:grpSpPr>
          <p:sp>
            <p:nvSpPr>
              <p:cNvPr id="267" name="AutoShape 175"/>
              <p:cNvSpPr>
                <a:spLocks noChangeArrowheads="1"/>
              </p:cNvSpPr>
              <p:nvPr/>
            </p:nvSpPr>
            <p:spPr bwMode="auto">
              <a:xfrm>
                <a:off x="6992498" y="4519429"/>
                <a:ext cx="687737" cy="46719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LDAP</a:t>
                </a:r>
              </a:p>
            </p:txBody>
          </p:sp>
          <p:pic>
            <p:nvPicPr>
              <p:cNvPr id="268" name="그림 3" descr="Untitled-1.png"/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rgbClr val="808080">
                    <a:shade val="45000"/>
                    <a:satMod val="135000"/>
                  </a:srgb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7096621" y="4655276"/>
                <a:ext cx="414054" cy="2357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88" name="그룹 87"/>
            <p:cNvGrpSpPr/>
            <p:nvPr/>
          </p:nvGrpSpPr>
          <p:grpSpPr>
            <a:xfrm>
              <a:off x="13657802" y="4943941"/>
              <a:ext cx="651704" cy="467911"/>
              <a:chOff x="6543109" y="6151736"/>
              <a:chExt cx="651704" cy="467911"/>
            </a:xfrm>
          </p:grpSpPr>
          <p:sp>
            <p:nvSpPr>
              <p:cNvPr id="260" name="AutoShape 113"/>
              <p:cNvSpPr>
                <a:spLocks noChangeArrowheads="1"/>
              </p:cNvSpPr>
              <p:nvPr/>
            </p:nvSpPr>
            <p:spPr bwMode="auto">
              <a:xfrm>
                <a:off x="6543109" y="6151736"/>
                <a:ext cx="651704" cy="46791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DB</a:t>
                </a: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취약점 점검</a:t>
                </a:r>
              </a:p>
            </p:txBody>
          </p:sp>
          <p:grpSp>
            <p:nvGrpSpPr>
              <p:cNvPr id="261" name="그룹 260"/>
              <p:cNvGrpSpPr/>
              <p:nvPr/>
            </p:nvGrpSpPr>
            <p:grpSpPr>
              <a:xfrm>
                <a:off x="6717049" y="6369502"/>
                <a:ext cx="175018" cy="170767"/>
                <a:chOff x="6750088" y="6369502"/>
                <a:chExt cx="175018" cy="170767"/>
              </a:xfrm>
            </p:grpSpPr>
            <p:pic>
              <p:nvPicPr>
                <p:cNvPr id="263" name="그림 3" descr="Untitled-1.png"/>
                <p:cNvPicPr>
                  <a:picLocks noChangeAspect="1"/>
                </p:cNvPicPr>
                <p:nvPr/>
              </p:nvPicPr>
              <p:blipFill>
                <a:blip r:embed="rId6" cstate="print">
                  <a:duotone>
                    <a:srgbClr val="808080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6750088" y="6440636"/>
                  <a:ext cx="175018" cy="996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66" name="그림 3" descr="Untitled-1.png"/>
                <p:cNvPicPr>
                  <a:picLocks noChangeAspect="1"/>
                </p:cNvPicPr>
                <p:nvPr/>
              </p:nvPicPr>
              <p:blipFill>
                <a:blip r:embed="rId6" cstate="print">
                  <a:duotone>
                    <a:srgbClr val="808080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6750088" y="6369502"/>
                  <a:ext cx="175018" cy="996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262" name="Picture 16" descr="D:\모스트비주얼\아이콘 작업\왜가리\35.png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830529" y="6305509"/>
                <a:ext cx="188453" cy="2478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89" name="그룹 88"/>
            <p:cNvGrpSpPr/>
            <p:nvPr/>
          </p:nvGrpSpPr>
          <p:grpSpPr>
            <a:xfrm>
              <a:off x="12920840" y="6412626"/>
              <a:ext cx="1469932" cy="1312438"/>
              <a:chOff x="5795295" y="7218389"/>
              <a:chExt cx="1469932" cy="1312438"/>
            </a:xfrm>
          </p:grpSpPr>
          <p:grpSp>
            <p:nvGrpSpPr>
              <p:cNvPr id="220" name="그룹 219"/>
              <p:cNvGrpSpPr/>
              <p:nvPr/>
            </p:nvGrpSpPr>
            <p:grpSpPr>
              <a:xfrm>
                <a:off x="6696805" y="7218389"/>
                <a:ext cx="568422" cy="448019"/>
                <a:chOff x="6951055" y="7308789"/>
                <a:chExt cx="568422" cy="448019"/>
              </a:xfrm>
            </p:grpSpPr>
            <p:sp>
              <p:nvSpPr>
                <p:cNvPr id="258" name="AutoShape 63"/>
                <p:cNvSpPr>
                  <a:spLocks noChangeArrowheads="1"/>
                </p:cNvSpPr>
                <p:nvPr/>
              </p:nvSpPr>
              <p:spPr bwMode="auto">
                <a:xfrm>
                  <a:off x="6951055" y="7308789"/>
                  <a:ext cx="568422" cy="432000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lIns="0" tIns="0" rIns="0" bIns="0" anchor="t"/>
                <a:lstStyle/>
                <a:p>
                  <a:pPr algn="ctr">
                    <a:buClr>
                      <a:srgbClr val="595959"/>
                    </a:buClr>
                    <a:buSzPct val="140000"/>
                  </a:pPr>
                  <a:r>
                    <a:rPr kumimoji="1" lang="ko-KR" altLang="en-US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침입방지</a:t>
                  </a:r>
                  <a:endPara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endParaRPr>
                </a:p>
                <a:p>
                  <a:pPr algn="ctr">
                    <a:buClr>
                      <a:srgbClr val="595959"/>
                    </a:buClr>
                    <a:buSzPct val="140000"/>
                  </a:pPr>
                  <a:r>
                    <a:rPr kumimoji="1" lang="en-US" altLang="ko-KR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(IPS/IDS)</a:t>
                  </a:r>
                </a:p>
              </p:txBody>
            </p:sp>
            <p:pic>
              <p:nvPicPr>
                <p:cNvPr id="259" name="Picture 8" descr="Firewall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lum bright="20000" contrast="-20000"/>
                </a:blip>
                <a:srcRect/>
                <a:stretch>
                  <a:fillRect/>
                </a:stretch>
              </p:blipFill>
              <p:spPr bwMode="auto">
                <a:xfrm>
                  <a:off x="7203954" y="7531892"/>
                  <a:ext cx="220213" cy="2249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221" name="그룹 220"/>
              <p:cNvGrpSpPr/>
              <p:nvPr/>
            </p:nvGrpSpPr>
            <p:grpSpPr>
              <a:xfrm>
                <a:off x="6346973" y="7511868"/>
                <a:ext cx="576000" cy="432000"/>
                <a:chOff x="6389769" y="7472557"/>
                <a:chExt cx="576000" cy="432000"/>
              </a:xfrm>
            </p:grpSpPr>
            <p:sp>
              <p:nvSpPr>
                <p:cNvPr id="236" name="AutoShape 66"/>
                <p:cNvSpPr>
                  <a:spLocks noChangeArrowheads="1"/>
                </p:cNvSpPr>
                <p:nvPr/>
              </p:nvSpPr>
              <p:spPr bwMode="auto">
                <a:xfrm>
                  <a:off x="6389769" y="7472557"/>
                  <a:ext cx="576000" cy="432000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lIns="0" tIns="0" rIns="0" bIns="0" anchor="t"/>
                <a:lstStyle/>
                <a:p>
                  <a:pPr algn="ctr">
                    <a:buClr>
                      <a:srgbClr val="595959"/>
                    </a:buClr>
                    <a:buSzPct val="140000"/>
                  </a:pPr>
                  <a:r>
                    <a:rPr kumimoji="1" lang="ko-KR" altLang="en-US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취약점 분석</a:t>
                  </a:r>
                </a:p>
              </p:txBody>
            </p:sp>
            <p:grpSp>
              <p:nvGrpSpPr>
                <p:cNvPr id="237" name="그룹 236"/>
                <p:cNvGrpSpPr/>
                <p:nvPr/>
              </p:nvGrpSpPr>
              <p:grpSpPr>
                <a:xfrm>
                  <a:off x="6444621" y="7627099"/>
                  <a:ext cx="465262" cy="203005"/>
                  <a:chOff x="6457901" y="7620939"/>
                  <a:chExt cx="465262" cy="203005"/>
                </a:xfrm>
              </p:grpSpPr>
              <p:pic>
                <p:nvPicPr>
                  <p:cNvPr id="239" name="Picture 20" descr="D:\모스트비주얼\아이콘 작업\왜가리\서버1.png"/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/>
                  <a:srcRect/>
                  <a:stretch>
                    <a:fillRect/>
                  </a:stretch>
                </p:blipFill>
                <p:spPr bwMode="auto">
                  <a:xfrm>
                    <a:off x="6457901" y="7620939"/>
                    <a:ext cx="120626" cy="20300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240" name="Freeform 69"/>
                  <p:cNvSpPr>
                    <a:spLocks/>
                  </p:cNvSpPr>
                  <p:nvPr/>
                </p:nvSpPr>
                <p:spPr bwMode="auto">
                  <a:xfrm>
                    <a:off x="6572912" y="7651218"/>
                    <a:ext cx="237080" cy="162623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CC00"/>
                      </a:gs>
                      <a:gs pos="100000">
                        <a:srgbClr val="FF660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31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/>
                  <a:lstStyle/>
                  <a:p>
                    <a:endParaRPr lang="ko-KR" altLang="en-US" sz="50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pic>
                <p:nvPicPr>
                  <p:cNvPr id="248" name="Picture 20" descr="D:\모스트비주얼\아이콘 작업\왜가리\서버1.png"/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/>
                  <a:srcRect/>
                  <a:stretch>
                    <a:fillRect/>
                  </a:stretch>
                </p:blipFill>
                <p:spPr bwMode="auto">
                  <a:xfrm>
                    <a:off x="6802537" y="7620939"/>
                    <a:ext cx="120626" cy="20300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  <p:grpSp>
            <p:nvGrpSpPr>
              <p:cNvPr id="222" name="그룹 221"/>
              <p:cNvGrpSpPr/>
              <p:nvPr/>
            </p:nvGrpSpPr>
            <p:grpSpPr>
              <a:xfrm>
                <a:off x="6071134" y="7805347"/>
                <a:ext cx="576000" cy="432000"/>
                <a:chOff x="5903925" y="7872349"/>
                <a:chExt cx="576000" cy="432000"/>
              </a:xfrm>
            </p:grpSpPr>
            <p:sp>
              <p:nvSpPr>
                <p:cNvPr id="231" name="AutoShape 81"/>
                <p:cNvSpPr>
                  <a:spLocks noChangeArrowheads="1"/>
                </p:cNvSpPr>
                <p:nvPr/>
              </p:nvSpPr>
              <p:spPr bwMode="auto">
                <a:xfrm>
                  <a:off x="5903925" y="7872349"/>
                  <a:ext cx="576000" cy="432000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lIns="0" tIns="0" rIns="0" bIns="0" anchor="t"/>
                <a:lstStyle/>
                <a:p>
                  <a:pPr algn="ctr">
                    <a:buClr>
                      <a:srgbClr val="595959"/>
                    </a:buClr>
                    <a:buSzPct val="140000"/>
                  </a:pPr>
                  <a:r>
                    <a:rPr kumimoji="1" lang="ko-KR" altLang="en-US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서버보안</a:t>
                  </a:r>
                  <a:r>
                    <a:rPr kumimoji="1" lang="en-US" altLang="ko-KR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/</a:t>
                  </a:r>
                  <a:r>
                    <a:rPr kumimoji="1" lang="ko-KR" altLang="en-US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백신</a:t>
                  </a:r>
                </a:p>
              </p:txBody>
            </p:sp>
            <p:pic>
              <p:nvPicPr>
                <p:cNvPr id="232" name="Picture 20" descr="D:\모스트비주얼\아이콘 작업\왜가리\서버1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000105" y="8079284"/>
                  <a:ext cx="120626" cy="20300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33" name="Picture 20" descr="D:\모스트비주얼\아이콘 작업\왜가리\서버1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135130" y="8079284"/>
                  <a:ext cx="120626" cy="20300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34" name="Picture 20" descr="D:\모스트비주얼\아이콘 작업\왜가리\서버1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294488" y="8079284"/>
                  <a:ext cx="120626" cy="20300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223" name="그룹 222"/>
              <p:cNvGrpSpPr/>
              <p:nvPr/>
            </p:nvGrpSpPr>
            <p:grpSpPr>
              <a:xfrm>
                <a:off x="5795295" y="8098827"/>
                <a:ext cx="576000" cy="432000"/>
                <a:chOff x="5413388" y="8259430"/>
                <a:chExt cx="576000" cy="432000"/>
              </a:xfrm>
            </p:grpSpPr>
            <p:sp>
              <p:nvSpPr>
                <p:cNvPr id="225" name="AutoShape 100"/>
                <p:cNvSpPr>
                  <a:spLocks noChangeArrowheads="1"/>
                </p:cNvSpPr>
                <p:nvPr/>
              </p:nvSpPr>
              <p:spPr bwMode="auto">
                <a:xfrm>
                  <a:off x="5413388" y="8259430"/>
                  <a:ext cx="576000" cy="432000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none" lIns="0" tIns="0" rIns="0" bIns="0" anchor="t"/>
                <a:lstStyle/>
                <a:p>
                  <a:pPr algn="ctr">
                    <a:buClr>
                      <a:srgbClr val="595959"/>
                    </a:buClr>
                    <a:buSzPct val="140000"/>
                  </a:pPr>
                  <a:r>
                    <a:rPr kumimoji="1" lang="en-US" altLang="ko-KR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IP</a:t>
                  </a:r>
                  <a:r>
                    <a:rPr kumimoji="1" lang="ko-KR" altLang="en-US" sz="500" dirty="0">
                      <a:solidFill>
                        <a:srgbClr val="595959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Yoon 윤명조 540_TT"/>
                    </a:rPr>
                    <a:t>관리시스템</a:t>
                  </a:r>
                </a:p>
              </p:txBody>
            </p:sp>
            <p:grpSp>
              <p:nvGrpSpPr>
                <p:cNvPr id="227" name="그룹 226"/>
                <p:cNvGrpSpPr/>
                <p:nvPr/>
              </p:nvGrpSpPr>
              <p:grpSpPr>
                <a:xfrm>
                  <a:off x="5446740" y="8423178"/>
                  <a:ext cx="480595" cy="212417"/>
                  <a:chOff x="5453149" y="8435406"/>
                  <a:chExt cx="480595" cy="212417"/>
                </a:xfrm>
              </p:grpSpPr>
              <p:pic>
                <p:nvPicPr>
                  <p:cNvPr id="228" name="Picture 5" descr="External Drive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lum bright="40000" contrast="-10000"/>
                    <a:grayscl/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453149" y="8435406"/>
                    <a:ext cx="207974" cy="21241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cxnSp>
                <p:nvCxnSpPr>
                  <p:cNvPr id="229" name="AutoShape 9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586922" y="8532531"/>
                    <a:ext cx="166914" cy="0"/>
                  </a:xfrm>
                  <a:prstGeom prst="straightConnector1">
                    <a:avLst/>
                  </a:prstGeom>
                  <a:noFill/>
                  <a:ln w="222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pic>
                <p:nvPicPr>
                  <p:cNvPr id="230" name="Picture 9" descr="D:\모스트비주얼\아이콘 작업\왜가리\28.png"/>
                  <p:cNvPicPr>
                    <a:picLocks noChangeAspect="1" noChangeArrowheads="1"/>
                  </p:cNvPicPr>
                  <p:nvPr/>
                </p:nvPicPr>
                <p:blipFill>
                  <a:blip r:embed="rId11" cstate="print"/>
                  <a:srcRect/>
                  <a:stretch>
                    <a:fillRect/>
                  </a:stretch>
                </p:blipFill>
                <p:spPr bwMode="auto">
                  <a:xfrm>
                    <a:off x="5652782" y="8447781"/>
                    <a:ext cx="280962" cy="18208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</p:grpSp>
        <p:grpSp>
          <p:nvGrpSpPr>
            <p:cNvPr id="90" name="그룹 89"/>
            <p:cNvGrpSpPr/>
            <p:nvPr/>
          </p:nvGrpSpPr>
          <p:grpSpPr>
            <a:xfrm>
              <a:off x="13814772" y="7094331"/>
              <a:ext cx="576000" cy="432000"/>
              <a:chOff x="7027876" y="7900094"/>
              <a:chExt cx="576000" cy="432000"/>
            </a:xfrm>
          </p:grpSpPr>
          <p:sp>
            <p:nvSpPr>
              <p:cNvPr id="212" name="AutoShape 72"/>
              <p:cNvSpPr>
                <a:spLocks noChangeArrowheads="1"/>
              </p:cNvSpPr>
              <p:nvPr/>
            </p:nvSpPr>
            <p:spPr bwMode="auto">
              <a:xfrm>
                <a:off x="7027876" y="7900094"/>
                <a:ext cx="576000" cy="432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접근관리</a:t>
                </a:r>
              </a:p>
            </p:txBody>
          </p:sp>
          <p:grpSp>
            <p:nvGrpSpPr>
              <p:cNvPr id="213" name="그룹 212"/>
              <p:cNvGrpSpPr/>
              <p:nvPr/>
            </p:nvGrpSpPr>
            <p:grpSpPr>
              <a:xfrm>
                <a:off x="7153469" y="8044855"/>
                <a:ext cx="343292" cy="218106"/>
                <a:chOff x="7089004" y="8019419"/>
                <a:chExt cx="399162" cy="280156"/>
              </a:xfrm>
            </p:grpSpPr>
            <p:pic>
              <p:nvPicPr>
                <p:cNvPr id="215" name="Picture 17" descr="D:\모스트비주얼\아이콘 작업\ra-9.png"/>
                <p:cNvPicPr>
                  <a:picLocks noChangeAspect="1" noChangeArrowheads="1"/>
                </p:cNvPicPr>
                <p:nvPr/>
              </p:nvPicPr>
              <p:blipFill>
                <a:blip r:embed="rId12" cstate="print"/>
                <a:srcRect/>
                <a:stretch>
                  <a:fillRect/>
                </a:stretch>
              </p:blipFill>
              <p:spPr bwMode="auto">
                <a:xfrm>
                  <a:off x="7089004" y="8095588"/>
                  <a:ext cx="341007" cy="2039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16" name="Picture 17" descr="D:\모스트비주얼\아이콘 작업\ra-9.png"/>
                <p:cNvPicPr>
                  <a:picLocks noChangeAspect="1" noChangeArrowheads="1"/>
                </p:cNvPicPr>
                <p:nvPr/>
              </p:nvPicPr>
              <p:blipFill>
                <a:blip r:embed="rId12" cstate="print"/>
                <a:srcRect/>
                <a:stretch>
                  <a:fillRect/>
                </a:stretch>
              </p:blipFill>
              <p:spPr bwMode="auto">
                <a:xfrm>
                  <a:off x="7147159" y="8019419"/>
                  <a:ext cx="341007" cy="2039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grpSp>
          <p:nvGrpSpPr>
            <p:cNvPr id="91" name="Group 76"/>
            <p:cNvGrpSpPr>
              <a:grpSpLocks/>
            </p:cNvGrpSpPr>
            <p:nvPr/>
          </p:nvGrpSpPr>
          <p:grpSpPr bwMode="auto">
            <a:xfrm>
              <a:off x="13496043" y="7367949"/>
              <a:ext cx="576415" cy="432404"/>
              <a:chOff x="5527" y="5984"/>
              <a:chExt cx="375" cy="264"/>
            </a:xfrm>
          </p:grpSpPr>
          <p:sp>
            <p:nvSpPr>
              <p:cNvPr id="209" name="AutoShape 77"/>
              <p:cNvSpPr>
                <a:spLocks noChangeArrowheads="1"/>
              </p:cNvSpPr>
              <p:nvPr/>
            </p:nvSpPr>
            <p:spPr bwMode="auto">
              <a:xfrm>
                <a:off x="5527" y="5984"/>
                <a:ext cx="375" cy="264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500" dirty="0" err="1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망연계</a:t>
                </a:r>
                <a:endParaRPr kumimoji="1" lang="ko-KR" altLang="en-US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endParaRPr>
              </a:p>
            </p:txBody>
          </p:sp>
          <p:pic>
            <p:nvPicPr>
              <p:cNvPr id="210" name="Picture 78"/>
              <p:cNvPicPr>
                <a:picLocks noChangeAspect="1" noChangeArrowheads="1"/>
              </p:cNvPicPr>
              <p:nvPr/>
            </p:nvPicPr>
            <p:blipFill>
              <a:blip r:embed="rId13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1" y="6121"/>
                <a:ext cx="194" cy="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</p:pic>
          <p:pic>
            <p:nvPicPr>
              <p:cNvPr id="211" name="Picture 79"/>
              <p:cNvPicPr>
                <a:picLocks noChangeAspect="1" noChangeArrowheads="1"/>
              </p:cNvPicPr>
              <p:nvPr/>
            </p:nvPicPr>
            <p:blipFill>
              <a:blip r:embed="rId1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40" y="6076"/>
                <a:ext cx="194" cy="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</p:pic>
        </p:grpSp>
        <p:grpSp>
          <p:nvGrpSpPr>
            <p:cNvPr id="92" name="그룹 91"/>
            <p:cNvGrpSpPr/>
            <p:nvPr/>
          </p:nvGrpSpPr>
          <p:grpSpPr>
            <a:xfrm>
              <a:off x="13218974" y="7642018"/>
              <a:ext cx="576000" cy="432000"/>
              <a:chOff x="6089663" y="8447781"/>
              <a:chExt cx="576000" cy="432000"/>
            </a:xfrm>
          </p:grpSpPr>
          <p:sp>
            <p:nvSpPr>
              <p:cNvPr id="205" name="AutoShape 95"/>
              <p:cNvSpPr>
                <a:spLocks noChangeArrowheads="1"/>
              </p:cNvSpPr>
              <p:nvPr/>
            </p:nvSpPr>
            <p:spPr bwMode="auto">
              <a:xfrm>
                <a:off x="6089663" y="8447781"/>
                <a:ext cx="576000" cy="432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방화벽</a:t>
                </a: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/</a:t>
                </a:r>
                <a:r>
                  <a:rPr kumimoji="1" lang="ko-KR" altLang="en-US" sz="500" dirty="0" err="1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웹방화벽</a:t>
                </a:r>
                <a:endParaRPr kumimoji="1" lang="ko-KR" altLang="en-US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endParaRPr>
              </a:p>
            </p:txBody>
          </p:sp>
          <p:pic>
            <p:nvPicPr>
              <p:cNvPr id="206" name="Picture 9" descr="D:\Documents and Settings\jp\바탕 화면\아이콘 준호대리님작업\png\98.png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6411395" y="8511809"/>
                <a:ext cx="175324" cy="354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207" name="AutoShape 98"/>
              <p:cNvCxnSpPr>
                <a:cxnSpLocks noChangeShapeType="1"/>
              </p:cNvCxnSpPr>
              <p:nvPr/>
            </p:nvCxnSpPr>
            <p:spPr bwMode="auto">
              <a:xfrm>
                <a:off x="6295728" y="8709467"/>
                <a:ext cx="166914" cy="0"/>
              </a:xfrm>
              <a:prstGeom prst="straightConnector1">
                <a:avLst/>
              </a:prstGeom>
              <a:noFill/>
              <a:ln w="222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208" name="Picture 9" descr="D:\Documents and Settings\jp\바탕 화면\아이콘 준호대리님작업\png\98.png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6178607" y="8498430"/>
                <a:ext cx="175324" cy="354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93" name="모서리가 둥근 직사각형 92"/>
            <p:cNvSpPr/>
            <p:nvPr/>
          </p:nvSpPr>
          <p:spPr bwMode="auto">
            <a:xfrm>
              <a:off x="7932730" y="4335470"/>
              <a:ext cx="216000" cy="216000"/>
            </a:xfrm>
            <a:prstGeom prst="roundRect">
              <a:avLst/>
            </a:prstGeom>
            <a:solidFill>
              <a:srgbClr val="1F497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1</a:t>
              </a:r>
              <a:endParaRPr kumimoji="1" lang="ko-KR" altLang="ko-KR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  <p:pic>
          <p:nvPicPr>
            <p:cNvPr id="94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338971" y="5230168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5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338972" y="4785468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6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976350" y="5230168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7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9613729" y="5230168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8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0251108" y="5230168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0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0888487" y="5230168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1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1525865" y="5230168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9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1539834" y="4785469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0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0878351" y="4785469"/>
              <a:ext cx="626371" cy="503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1" name="TextBox 110"/>
            <p:cNvSpPr txBox="1"/>
            <p:nvPr/>
          </p:nvSpPr>
          <p:spPr>
            <a:xfrm>
              <a:off x="9150221" y="5455480"/>
              <a:ext cx="249698" cy="1747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학적</a:t>
              </a:r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DB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9807947" y="5435540"/>
              <a:ext cx="233209" cy="214628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kumimoji="0"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평가</a:t>
              </a:r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DB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0374294" y="5368107"/>
              <a:ext cx="412239" cy="3494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훈련용</a:t>
              </a:r>
              <a:r>
                <a:rPr kumimoji="0"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endParaRPr kumimoji="0"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1039276" y="5368107"/>
              <a:ext cx="374547" cy="3494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kumimoji="0"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연동</a:t>
              </a:r>
              <a:endParaRPr kumimoji="0"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DB2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8369169" y="5434062"/>
              <a:ext cx="547914" cy="217584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운영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DB2</a:t>
              </a:r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0997421" y="4919444"/>
              <a:ext cx="374547" cy="3494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kumimoji="0"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연동</a:t>
              </a:r>
              <a:endParaRPr kumimoji="0"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DB1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1648787" y="5368107"/>
              <a:ext cx="412239" cy="3494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kumimoji="0"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교육용 </a:t>
              </a:r>
              <a:endParaRPr kumimoji="0"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1660596" y="4919444"/>
              <a:ext cx="374547" cy="3494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kumimoji="0"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개발용</a:t>
              </a:r>
              <a:endParaRPr kumimoji="0"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8365496" y="4972920"/>
              <a:ext cx="580836" cy="24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0"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운영</a:t>
              </a:r>
              <a:r>
                <a:rPr kumimoji="0"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DB1</a:t>
              </a:r>
              <a:endParaRPr kumimoji="0"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0" name="모서리가 둥근 직사각형 119"/>
            <p:cNvSpPr/>
            <p:nvPr/>
          </p:nvSpPr>
          <p:spPr bwMode="auto">
            <a:xfrm>
              <a:off x="7932730" y="5732451"/>
              <a:ext cx="216000" cy="216000"/>
            </a:xfrm>
            <a:prstGeom prst="roundRect">
              <a:avLst/>
            </a:prstGeom>
            <a:solidFill>
              <a:srgbClr val="1F497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2</a:t>
              </a:r>
              <a:endParaRPr kumimoji="1" lang="ko-KR" altLang="ko-KR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  <p:sp>
          <p:nvSpPr>
            <p:cNvPr id="121" name="모서리가 둥근 직사각형 120"/>
            <p:cNvSpPr/>
            <p:nvPr/>
          </p:nvSpPr>
          <p:spPr bwMode="auto">
            <a:xfrm>
              <a:off x="7932730" y="8044601"/>
              <a:ext cx="216000" cy="216000"/>
            </a:xfrm>
            <a:prstGeom prst="roundRect">
              <a:avLst/>
            </a:prstGeom>
            <a:solidFill>
              <a:srgbClr val="1F497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3</a:t>
              </a:r>
              <a:endParaRPr kumimoji="1" lang="ko-KR" altLang="ko-KR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  <p:grpSp>
          <p:nvGrpSpPr>
            <p:cNvPr id="122" name="그룹 121"/>
            <p:cNvGrpSpPr/>
            <p:nvPr/>
          </p:nvGrpSpPr>
          <p:grpSpPr>
            <a:xfrm>
              <a:off x="13144253" y="3869522"/>
              <a:ext cx="687737" cy="467193"/>
              <a:chOff x="5858990" y="4318805"/>
              <a:chExt cx="687737" cy="467193"/>
            </a:xfrm>
          </p:grpSpPr>
          <p:sp>
            <p:nvSpPr>
              <p:cNvPr id="201" name="AutoShape 181"/>
              <p:cNvSpPr>
                <a:spLocks noChangeArrowheads="1"/>
              </p:cNvSpPr>
              <p:nvPr/>
            </p:nvSpPr>
            <p:spPr bwMode="auto">
              <a:xfrm>
                <a:off x="5858990" y="4318805"/>
                <a:ext cx="687737" cy="46719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로그인정보 </a:t>
                </a:r>
                <a:endParaRPr kumimoji="1"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endParaRPr>
              </a:p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및 </a:t>
                </a: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GIS  </a:t>
                </a: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암호화</a:t>
                </a:r>
                <a:endParaRPr kumimoji="1"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endParaRPr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>
                <a:off x="6074962" y="4565383"/>
                <a:ext cx="274353" cy="191809"/>
                <a:chOff x="6481395" y="4694380"/>
                <a:chExt cx="274353" cy="191809"/>
              </a:xfrm>
            </p:grpSpPr>
            <p:pic>
              <p:nvPicPr>
                <p:cNvPr id="203" name="Picture 6" descr="Folder Documents"/>
                <p:cNvPicPr>
                  <a:picLocks noChangeAspect="1" noChangeArrowheads="1"/>
                </p:cNvPicPr>
                <p:nvPr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6567950" y="4694380"/>
                  <a:ext cx="187798" cy="1918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04" name="Picture 10" descr="D:\모스트비주얼\아이콘 작업\왜가리\29.png"/>
                <p:cNvPicPr>
                  <a:picLocks noChangeAspect="1" noChangeArrowheads="1"/>
                </p:cNvPicPr>
                <p:nvPr/>
              </p:nvPicPr>
              <p:blipFill>
                <a:blip r:embed="rId16" cstate="print"/>
                <a:srcRect/>
                <a:stretch>
                  <a:fillRect/>
                </a:stretch>
              </p:blipFill>
              <p:spPr bwMode="auto">
                <a:xfrm>
                  <a:off x="6481395" y="4737978"/>
                  <a:ext cx="115766" cy="1470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grpSp>
          <p:nvGrpSpPr>
            <p:cNvPr id="123" name="그룹 122"/>
            <p:cNvGrpSpPr/>
            <p:nvPr/>
          </p:nvGrpSpPr>
          <p:grpSpPr>
            <a:xfrm>
              <a:off x="13140814" y="5236982"/>
              <a:ext cx="648782" cy="469645"/>
              <a:chOff x="5836114" y="6151736"/>
              <a:chExt cx="648782" cy="469645"/>
            </a:xfrm>
          </p:grpSpPr>
          <p:sp>
            <p:nvSpPr>
              <p:cNvPr id="195" name="AutoShape 153"/>
              <p:cNvSpPr>
                <a:spLocks noChangeArrowheads="1"/>
              </p:cNvSpPr>
              <p:nvPr/>
            </p:nvSpPr>
            <p:spPr bwMode="auto">
              <a:xfrm>
                <a:off x="5836114" y="6151736"/>
                <a:ext cx="648782" cy="46964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DB</a:t>
                </a: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접근제어</a:t>
                </a:r>
              </a:p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/DB</a:t>
                </a: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암호화</a:t>
                </a:r>
              </a:p>
            </p:txBody>
          </p:sp>
          <p:grpSp>
            <p:nvGrpSpPr>
              <p:cNvPr id="196" name="그룹 195"/>
              <p:cNvGrpSpPr/>
              <p:nvPr/>
            </p:nvGrpSpPr>
            <p:grpSpPr>
              <a:xfrm>
                <a:off x="5940523" y="6404419"/>
                <a:ext cx="433947" cy="200433"/>
                <a:chOff x="6007477" y="6404419"/>
                <a:chExt cx="433947" cy="200433"/>
              </a:xfrm>
            </p:grpSpPr>
            <p:pic>
              <p:nvPicPr>
                <p:cNvPr id="197" name="Picture 9" descr="D:\모스트비주얼\아이콘 작업\왜가리\28.png"/>
                <p:cNvPicPr>
                  <a:picLocks noChangeAspect="1" noChangeArrowheads="1"/>
                </p:cNvPicPr>
                <p:nvPr/>
              </p:nvPicPr>
              <p:blipFill>
                <a:blip r:embed="rId11" cstate="print"/>
                <a:srcRect/>
                <a:stretch>
                  <a:fillRect/>
                </a:stretch>
              </p:blipFill>
              <p:spPr bwMode="auto">
                <a:xfrm>
                  <a:off x="6136717" y="6404419"/>
                  <a:ext cx="304707" cy="1974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grpSp>
              <p:nvGrpSpPr>
                <p:cNvPr id="198" name="그룹 197"/>
                <p:cNvGrpSpPr/>
                <p:nvPr/>
              </p:nvGrpSpPr>
              <p:grpSpPr>
                <a:xfrm>
                  <a:off x="6007477" y="6434085"/>
                  <a:ext cx="175018" cy="170767"/>
                  <a:chOff x="5935247" y="6410249"/>
                  <a:chExt cx="212840" cy="207670"/>
                </a:xfrm>
              </p:grpSpPr>
              <p:pic>
                <p:nvPicPr>
                  <p:cNvPr id="199" name="그림 3" descr="Untitled-1.png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duotone>
                      <a:srgbClr val="808080">
                        <a:shade val="45000"/>
                        <a:satMod val="135000"/>
                      </a:srgbClr>
                      <a:prstClr val="white"/>
                    </a:duotone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935247" y="6496754"/>
                    <a:ext cx="212840" cy="12116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200" name="그림 3" descr="Untitled-1.png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duotone>
                      <a:srgbClr val="808080">
                        <a:shade val="45000"/>
                        <a:satMod val="135000"/>
                      </a:srgbClr>
                      <a:prstClr val="white"/>
                    </a:duotone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935247" y="6410249"/>
                    <a:ext cx="212840" cy="12116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</p:grpSp>
        <p:grpSp>
          <p:nvGrpSpPr>
            <p:cNvPr id="124" name="그룹 123"/>
            <p:cNvGrpSpPr/>
            <p:nvPr/>
          </p:nvGrpSpPr>
          <p:grpSpPr>
            <a:xfrm>
              <a:off x="12924802" y="3346150"/>
              <a:ext cx="687735" cy="467193"/>
              <a:chOff x="5505241" y="4925529"/>
              <a:chExt cx="625214" cy="467193"/>
            </a:xfrm>
          </p:grpSpPr>
          <p:sp>
            <p:nvSpPr>
              <p:cNvPr id="189" name="AutoShape 178"/>
              <p:cNvSpPr>
                <a:spLocks noChangeArrowheads="1"/>
              </p:cNvSpPr>
              <p:nvPr/>
            </p:nvSpPr>
            <p:spPr bwMode="auto">
              <a:xfrm>
                <a:off x="5505241" y="4925529"/>
                <a:ext cx="625214" cy="46719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MPKI/GPKI</a:t>
                </a: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인증</a:t>
                </a:r>
              </a:p>
            </p:txBody>
          </p:sp>
          <p:grpSp>
            <p:nvGrpSpPr>
              <p:cNvPr id="190" name="그룹 189"/>
              <p:cNvGrpSpPr/>
              <p:nvPr/>
            </p:nvGrpSpPr>
            <p:grpSpPr>
              <a:xfrm>
                <a:off x="5635311" y="5026645"/>
                <a:ext cx="373907" cy="270625"/>
                <a:chOff x="5635311" y="5026645"/>
                <a:chExt cx="373907" cy="270625"/>
              </a:xfrm>
            </p:grpSpPr>
            <p:grpSp>
              <p:nvGrpSpPr>
                <p:cNvPr id="191" name="그룹 59"/>
                <p:cNvGrpSpPr>
                  <a:grpSpLocks/>
                </p:cNvGrpSpPr>
                <p:nvPr/>
              </p:nvGrpSpPr>
              <p:grpSpPr bwMode="auto">
                <a:xfrm>
                  <a:off x="5744641" y="5026645"/>
                  <a:ext cx="264577" cy="246041"/>
                  <a:chOff x="3121183" y="637794"/>
                  <a:chExt cx="784703" cy="713463"/>
                </a:xfrm>
              </p:grpSpPr>
              <p:pic>
                <p:nvPicPr>
                  <p:cNvPr id="193" name="그림 57" descr="29.png"/>
                  <p:cNvPicPr>
                    <a:picLocks noChangeAspect="1"/>
                  </p:cNvPicPr>
                  <p:nvPr/>
                </p:nvPicPr>
                <p:blipFill>
                  <a:blip r:embed="rId17" cstate="print"/>
                  <a:srcRect/>
                  <a:stretch>
                    <a:fillRect/>
                  </a:stretch>
                </p:blipFill>
                <p:spPr bwMode="auto">
                  <a:xfrm>
                    <a:off x="3121183" y="847203"/>
                    <a:ext cx="784703" cy="5040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194" name="Picture 4" descr="Application Internet Explorer aqua"/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lum bright="20000" contrast="-10000"/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335110" y="637794"/>
                    <a:ext cx="356848" cy="45236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pic>
              <p:nvPicPr>
                <p:cNvPr id="192" name="Picture 10" descr="D:\모스트비주얼\아이콘 작업\왜가리\29.png"/>
                <p:cNvPicPr>
                  <a:picLocks noChangeAspect="1" noChangeArrowheads="1"/>
                </p:cNvPicPr>
                <p:nvPr/>
              </p:nvPicPr>
              <p:blipFill>
                <a:blip r:embed="rId16" cstate="print"/>
                <a:srcRect/>
                <a:stretch>
                  <a:fillRect/>
                </a:stretch>
              </p:blipFill>
              <p:spPr bwMode="auto">
                <a:xfrm>
                  <a:off x="5635311" y="5085056"/>
                  <a:ext cx="167047" cy="2122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grpSp>
          <p:nvGrpSpPr>
            <p:cNvPr id="125" name="그룹 124"/>
            <p:cNvGrpSpPr/>
            <p:nvPr/>
          </p:nvGrpSpPr>
          <p:grpSpPr>
            <a:xfrm>
              <a:off x="12924879" y="2586876"/>
              <a:ext cx="687737" cy="467193"/>
              <a:chOff x="6660518" y="6048510"/>
              <a:chExt cx="687737" cy="467193"/>
            </a:xfrm>
          </p:grpSpPr>
          <p:sp>
            <p:nvSpPr>
              <p:cNvPr id="184" name="AutoShape 113"/>
              <p:cNvSpPr>
                <a:spLocks noChangeArrowheads="1"/>
              </p:cNvSpPr>
              <p:nvPr/>
            </p:nvSpPr>
            <p:spPr bwMode="auto">
              <a:xfrm>
                <a:off x="6660518" y="6048510"/>
                <a:ext cx="687737" cy="46719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0" tIns="0" rIns="0" bIns="0" anchor="t"/>
              <a:lstStyle/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500" dirty="0" err="1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개인정보필터링</a:t>
                </a:r>
                <a:r>
                  <a:rPr kumimoji="1" lang="en-US" altLang="ko-KR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/</a:t>
                </a:r>
              </a:p>
              <a:p>
                <a:pPr algn="ctr">
                  <a:buClr>
                    <a:srgbClr val="595959"/>
                  </a:buClr>
                  <a:buSzPct val="140000"/>
                </a:pPr>
                <a:r>
                  <a:rPr kumimoji="1" lang="ko-KR" altLang="en-US" sz="500" dirty="0">
                    <a:solidFill>
                      <a:srgbClr val="595959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Yoon 윤명조 540_TT"/>
                  </a:rPr>
                  <a:t>사용자계정관리</a:t>
                </a:r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>
                <a:off x="6863655" y="6318964"/>
                <a:ext cx="175018" cy="170767"/>
                <a:chOff x="6896694" y="6318964"/>
                <a:chExt cx="175018" cy="170767"/>
              </a:xfrm>
            </p:grpSpPr>
            <p:pic>
              <p:nvPicPr>
                <p:cNvPr id="187" name="그림 3" descr="Untitled-1.png"/>
                <p:cNvPicPr>
                  <a:picLocks noChangeAspect="1"/>
                </p:cNvPicPr>
                <p:nvPr/>
              </p:nvPicPr>
              <p:blipFill>
                <a:blip r:embed="rId6" cstate="print">
                  <a:duotone>
                    <a:srgbClr val="808080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6896694" y="6390097"/>
                  <a:ext cx="175018" cy="996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88" name="그림 3" descr="Untitled-1.png"/>
                <p:cNvPicPr>
                  <a:picLocks noChangeAspect="1"/>
                </p:cNvPicPr>
                <p:nvPr/>
              </p:nvPicPr>
              <p:blipFill>
                <a:blip r:embed="rId6" cstate="print">
                  <a:duotone>
                    <a:srgbClr val="808080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6896694" y="6318964"/>
                  <a:ext cx="175018" cy="996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pic>
            <p:nvPicPr>
              <p:cNvPr id="186" name="Picture 16" descr="D:\모스트비주얼\아이콘 작업\왜가리\35.png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977136" y="6254970"/>
                <a:ext cx="188453" cy="2478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26" name="Picture 597"/>
            <p:cNvPicPr>
              <a:picLocks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8777864" y="7675640"/>
              <a:ext cx="403917" cy="5108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127" name="Rectangle 146"/>
            <p:cNvSpPr>
              <a:spLocks noChangeArrowheads="1"/>
            </p:cNvSpPr>
            <p:nvPr/>
          </p:nvSpPr>
          <p:spPr bwMode="auto">
            <a:xfrm>
              <a:off x="8148730" y="6105211"/>
              <a:ext cx="3099930" cy="2048200"/>
            </a:xfrm>
            <a:prstGeom prst="rect">
              <a:avLst/>
            </a:prstGeom>
            <a:noFill/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914400" eaLnBrk="0" fontAlgn="auto" latinLnBrk="0" hangingPunct="0">
                <a:spcAft>
                  <a:spcPts val="0"/>
                </a:spcAft>
                <a:buClrTx/>
                <a:buSzPct val="80000"/>
                <a:buFontTx/>
                <a:buNone/>
                <a:tabLst/>
                <a:defRPr/>
              </a:pPr>
              <a:endParaRPr kumimoji="0" lang="ko-KR" altLang="ko-KR" sz="16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endParaRPr>
            </a:p>
          </p:txBody>
        </p:sp>
        <p:pic>
          <p:nvPicPr>
            <p:cNvPr id="128" name="Picture 594" descr="4500FL-cut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8740845" y="7368110"/>
              <a:ext cx="367779" cy="1717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29" name="AutoShape 609"/>
            <p:cNvCxnSpPr>
              <a:cxnSpLocks noChangeShapeType="1"/>
              <a:stCxn id="128" idx="0"/>
            </p:cNvCxnSpPr>
            <p:nvPr/>
          </p:nvCxnSpPr>
          <p:spPr bwMode="auto">
            <a:xfrm flipH="1" flipV="1">
              <a:off x="8365496" y="7092412"/>
              <a:ext cx="559240" cy="275699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직사각형 129"/>
            <p:cNvSpPr/>
            <p:nvPr/>
          </p:nvSpPr>
          <p:spPr>
            <a:xfrm>
              <a:off x="8174316" y="6251344"/>
              <a:ext cx="389701" cy="82611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endPara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1" name="Rectangle 11"/>
            <p:cNvSpPr>
              <a:spLocks noChangeArrowheads="1"/>
            </p:cNvSpPr>
            <p:nvPr/>
          </p:nvSpPr>
          <p:spPr bwMode="auto">
            <a:xfrm flipH="1">
              <a:off x="8174315" y="6139567"/>
              <a:ext cx="389702" cy="1736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lvl="1" algn="ctr"/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통합</a:t>
              </a:r>
              <a:r>
                <a:rPr lang="en-US" altLang="ko-KR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DB#1</a:t>
              </a:r>
              <a:endParaRPr lang="ko-KR" altLang="en-US" sz="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8596355" y="6247688"/>
              <a:ext cx="389701" cy="812068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endPara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3" name="Rectangle 11"/>
            <p:cNvSpPr>
              <a:spLocks noChangeArrowheads="1"/>
            </p:cNvSpPr>
            <p:nvPr/>
          </p:nvSpPr>
          <p:spPr bwMode="auto">
            <a:xfrm flipH="1">
              <a:off x="8596354" y="6137813"/>
              <a:ext cx="389702" cy="1707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lvl="1" algn="ctr"/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통합</a:t>
              </a:r>
              <a:r>
                <a:rPr lang="en-US" altLang="ko-KR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DB#2</a:t>
              </a:r>
              <a:endParaRPr lang="ko-KR" altLang="en-US" sz="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9034693" y="6246308"/>
              <a:ext cx="389701" cy="813447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endPara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5" name="Rectangle 11"/>
            <p:cNvSpPr>
              <a:spLocks noChangeArrowheads="1"/>
            </p:cNvSpPr>
            <p:nvPr/>
          </p:nvSpPr>
          <p:spPr bwMode="auto">
            <a:xfrm flipH="1">
              <a:off x="9034692" y="6139567"/>
              <a:ext cx="389702" cy="1689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lvl="1" algn="ctr"/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통합 서버</a:t>
              </a:r>
              <a:r>
                <a:rPr lang="en-US" altLang="ko-KR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#1</a:t>
              </a:r>
              <a:endParaRPr lang="ko-KR" altLang="en-US" sz="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9472900" y="6247687"/>
              <a:ext cx="389700" cy="812069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endPara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7" name="Rectangle 11"/>
            <p:cNvSpPr>
              <a:spLocks noChangeArrowheads="1"/>
            </p:cNvSpPr>
            <p:nvPr/>
          </p:nvSpPr>
          <p:spPr bwMode="auto">
            <a:xfrm flipH="1">
              <a:off x="9472900" y="6137807"/>
              <a:ext cx="389700" cy="1707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lvl="1" algn="ctr"/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통합 서버</a:t>
              </a:r>
              <a:r>
                <a:rPr lang="en-US" altLang="ko-KR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#1</a:t>
              </a:r>
              <a:endParaRPr lang="ko-KR" altLang="en-US" sz="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9932882" y="6247688"/>
              <a:ext cx="389701" cy="812068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endPara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9" name="Rectangle 11"/>
            <p:cNvSpPr>
              <a:spLocks noChangeArrowheads="1"/>
            </p:cNvSpPr>
            <p:nvPr/>
          </p:nvSpPr>
          <p:spPr bwMode="auto">
            <a:xfrm flipH="1">
              <a:off x="9932881" y="6137813"/>
              <a:ext cx="389702" cy="1707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lvl="1" algn="ctr"/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기타 </a:t>
              </a:r>
              <a:r>
                <a:rPr lang="en-US" altLang="ko-KR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</a:t>
              </a:r>
              <a:endParaRPr lang="ko-KR" altLang="en-US" sz="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10371220" y="6232866"/>
              <a:ext cx="389700" cy="82689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endPara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1" name="Rectangle 11"/>
            <p:cNvSpPr>
              <a:spLocks noChangeArrowheads="1"/>
            </p:cNvSpPr>
            <p:nvPr/>
          </p:nvSpPr>
          <p:spPr bwMode="auto">
            <a:xfrm flipH="1">
              <a:off x="10371219" y="6138907"/>
              <a:ext cx="389700" cy="1696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lvl="1" algn="ctr"/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훈련</a:t>
              </a:r>
              <a:r>
                <a:rPr lang="en-US" altLang="ko-KR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교육</a:t>
              </a: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10809428" y="6231967"/>
              <a:ext cx="389700" cy="826919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endParaRPr lang="ko-KR" altLang="en-US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" name="Rectangle 11"/>
            <p:cNvSpPr>
              <a:spLocks noChangeArrowheads="1"/>
            </p:cNvSpPr>
            <p:nvPr/>
          </p:nvSpPr>
          <p:spPr bwMode="auto">
            <a:xfrm flipH="1">
              <a:off x="10809426" y="6136785"/>
              <a:ext cx="389700" cy="17647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lvl="1" algn="ctr"/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개발</a:t>
              </a:r>
              <a:r>
                <a:rPr lang="en-US" altLang="ko-KR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4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테스트</a:t>
              </a:r>
            </a:p>
          </p:txBody>
        </p:sp>
        <p:pic>
          <p:nvPicPr>
            <p:cNvPr id="144" name="Picture 597"/>
            <p:cNvPicPr>
              <a:picLocks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9439265" y="7686554"/>
              <a:ext cx="403917" cy="5108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145" name="Picture 594" descr="4500FL-cut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9526260" y="7376160"/>
              <a:ext cx="367779" cy="1717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46" name="AutoShape 609"/>
            <p:cNvCxnSpPr>
              <a:cxnSpLocks noChangeShapeType="1"/>
              <a:stCxn id="128" idx="0"/>
            </p:cNvCxnSpPr>
            <p:nvPr/>
          </p:nvCxnSpPr>
          <p:spPr bwMode="auto">
            <a:xfrm flipH="1" flipV="1">
              <a:off x="8787536" y="7056598"/>
              <a:ext cx="137200" cy="311512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AutoShape 609"/>
            <p:cNvCxnSpPr>
              <a:cxnSpLocks noChangeShapeType="1"/>
              <a:stCxn id="128" idx="0"/>
              <a:endCxn id="134" idx="2"/>
            </p:cNvCxnSpPr>
            <p:nvPr/>
          </p:nvCxnSpPr>
          <p:spPr bwMode="auto">
            <a:xfrm flipV="1">
              <a:off x="8924735" y="7059755"/>
              <a:ext cx="304809" cy="308355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AutoShape 609"/>
            <p:cNvCxnSpPr>
              <a:cxnSpLocks noChangeShapeType="1"/>
              <a:stCxn id="128" idx="0"/>
              <a:endCxn id="136" idx="2"/>
            </p:cNvCxnSpPr>
            <p:nvPr/>
          </p:nvCxnSpPr>
          <p:spPr bwMode="auto">
            <a:xfrm flipV="1">
              <a:off x="8924735" y="7059756"/>
              <a:ext cx="743015" cy="308354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AutoShape 609"/>
            <p:cNvCxnSpPr>
              <a:cxnSpLocks noChangeShapeType="1"/>
            </p:cNvCxnSpPr>
            <p:nvPr/>
          </p:nvCxnSpPr>
          <p:spPr bwMode="auto">
            <a:xfrm flipV="1">
              <a:off x="8946334" y="7064720"/>
              <a:ext cx="1199327" cy="290650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AutoShape 609"/>
            <p:cNvCxnSpPr>
              <a:cxnSpLocks noChangeShapeType="1"/>
              <a:stCxn id="128" idx="0"/>
              <a:endCxn id="140" idx="2"/>
            </p:cNvCxnSpPr>
            <p:nvPr/>
          </p:nvCxnSpPr>
          <p:spPr bwMode="auto">
            <a:xfrm flipV="1">
              <a:off x="8924735" y="7059756"/>
              <a:ext cx="1641335" cy="308354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AutoShape 609"/>
            <p:cNvCxnSpPr>
              <a:cxnSpLocks noChangeShapeType="1"/>
              <a:stCxn id="128" idx="0"/>
              <a:endCxn id="142" idx="2"/>
            </p:cNvCxnSpPr>
            <p:nvPr/>
          </p:nvCxnSpPr>
          <p:spPr bwMode="auto">
            <a:xfrm flipV="1">
              <a:off x="8924735" y="7058886"/>
              <a:ext cx="2079543" cy="309224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AutoShape 609"/>
            <p:cNvCxnSpPr>
              <a:cxnSpLocks noChangeShapeType="1"/>
              <a:stCxn id="145" idx="0"/>
            </p:cNvCxnSpPr>
            <p:nvPr/>
          </p:nvCxnSpPr>
          <p:spPr bwMode="auto">
            <a:xfrm flipH="1" flipV="1">
              <a:off x="8365496" y="7092412"/>
              <a:ext cx="1344655" cy="283749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AutoShape 609"/>
            <p:cNvCxnSpPr>
              <a:cxnSpLocks noChangeShapeType="1"/>
              <a:stCxn id="145" idx="0"/>
            </p:cNvCxnSpPr>
            <p:nvPr/>
          </p:nvCxnSpPr>
          <p:spPr bwMode="auto">
            <a:xfrm flipH="1" flipV="1">
              <a:off x="8791205" y="7059756"/>
              <a:ext cx="918944" cy="316405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AutoShape 609"/>
            <p:cNvCxnSpPr>
              <a:cxnSpLocks noChangeShapeType="1"/>
              <a:stCxn id="145" idx="0"/>
              <a:endCxn id="134" idx="2"/>
            </p:cNvCxnSpPr>
            <p:nvPr/>
          </p:nvCxnSpPr>
          <p:spPr bwMode="auto">
            <a:xfrm flipH="1" flipV="1">
              <a:off x="9229544" y="7059755"/>
              <a:ext cx="480606" cy="316405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AutoShape 609"/>
            <p:cNvCxnSpPr>
              <a:cxnSpLocks noChangeShapeType="1"/>
              <a:stCxn id="145" idx="0"/>
            </p:cNvCxnSpPr>
            <p:nvPr/>
          </p:nvCxnSpPr>
          <p:spPr bwMode="auto">
            <a:xfrm flipH="1" flipV="1">
              <a:off x="9664081" y="7069336"/>
              <a:ext cx="46068" cy="306824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AutoShape 609"/>
            <p:cNvCxnSpPr>
              <a:cxnSpLocks noChangeShapeType="1"/>
              <a:stCxn id="145" idx="0"/>
              <a:endCxn id="138" idx="2"/>
            </p:cNvCxnSpPr>
            <p:nvPr/>
          </p:nvCxnSpPr>
          <p:spPr bwMode="auto">
            <a:xfrm flipV="1">
              <a:off x="9710150" y="7059756"/>
              <a:ext cx="417583" cy="316404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AutoShape 609"/>
            <p:cNvCxnSpPr>
              <a:cxnSpLocks noChangeShapeType="1"/>
              <a:stCxn id="145" idx="0"/>
              <a:endCxn id="140" idx="2"/>
            </p:cNvCxnSpPr>
            <p:nvPr/>
          </p:nvCxnSpPr>
          <p:spPr bwMode="auto">
            <a:xfrm flipV="1">
              <a:off x="9710150" y="7059756"/>
              <a:ext cx="855920" cy="316404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AutoShape 609"/>
            <p:cNvCxnSpPr>
              <a:cxnSpLocks noChangeShapeType="1"/>
              <a:stCxn id="145" idx="0"/>
              <a:endCxn id="142" idx="2"/>
            </p:cNvCxnSpPr>
            <p:nvPr/>
          </p:nvCxnSpPr>
          <p:spPr bwMode="auto">
            <a:xfrm flipV="1">
              <a:off x="9710150" y="7058886"/>
              <a:ext cx="1294128" cy="317274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AutoShape 609"/>
            <p:cNvCxnSpPr>
              <a:cxnSpLocks noChangeShapeType="1"/>
              <a:stCxn id="128" idx="2"/>
              <a:endCxn id="126" idx="0"/>
            </p:cNvCxnSpPr>
            <p:nvPr/>
          </p:nvCxnSpPr>
          <p:spPr bwMode="auto">
            <a:xfrm>
              <a:off x="8924735" y="7539862"/>
              <a:ext cx="55086" cy="135778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AutoShape 609"/>
            <p:cNvCxnSpPr>
              <a:cxnSpLocks noChangeShapeType="1"/>
              <a:stCxn id="145" idx="2"/>
              <a:endCxn id="126" idx="0"/>
            </p:cNvCxnSpPr>
            <p:nvPr/>
          </p:nvCxnSpPr>
          <p:spPr bwMode="auto">
            <a:xfrm flipH="1">
              <a:off x="8979822" y="7547914"/>
              <a:ext cx="730328" cy="127727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AutoShape 609"/>
            <p:cNvCxnSpPr>
              <a:cxnSpLocks noChangeShapeType="1"/>
              <a:stCxn id="145" idx="2"/>
              <a:endCxn id="144" idx="0"/>
            </p:cNvCxnSpPr>
            <p:nvPr/>
          </p:nvCxnSpPr>
          <p:spPr bwMode="auto">
            <a:xfrm flipH="1">
              <a:off x="9641224" y="7547914"/>
              <a:ext cx="68926" cy="138640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AutoShape 609"/>
            <p:cNvCxnSpPr>
              <a:cxnSpLocks noChangeShapeType="1"/>
              <a:stCxn id="128" idx="2"/>
              <a:endCxn id="144" idx="0"/>
            </p:cNvCxnSpPr>
            <p:nvPr/>
          </p:nvCxnSpPr>
          <p:spPr bwMode="auto">
            <a:xfrm>
              <a:off x="8924735" y="7539862"/>
              <a:ext cx="716489" cy="146692"/>
            </a:xfrm>
            <a:prstGeom prst="straightConnector1">
              <a:avLst/>
            </a:prstGeom>
            <a:ln w="3175">
              <a:solidFill>
                <a:srgbClr val="C00000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3" name="Picture 594" descr="4500FL-cut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10330253" y="7373736"/>
              <a:ext cx="367779" cy="1717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64" name="AutoShape 609"/>
            <p:cNvCxnSpPr>
              <a:cxnSpLocks noChangeShapeType="1"/>
              <a:endCxn id="140" idx="2"/>
            </p:cNvCxnSpPr>
            <p:nvPr/>
          </p:nvCxnSpPr>
          <p:spPr bwMode="auto">
            <a:xfrm flipV="1">
              <a:off x="10468045" y="7059756"/>
              <a:ext cx="98025" cy="323596"/>
            </a:xfrm>
            <a:prstGeom prst="straightConnector1">
              <a:avLst/>
            </a:prstGeom>
            <a:ln w="3175">
              <a:solidFill>
                <a:schemeClr val="accent1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5" name="Picture 1001" descr="S0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10385186" y="7711869"/>
              <a:ext cx="278466" cy="362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66" name="AutoShape 609"/>
            <p:cNvCxnSpPr>
              <a:cxnSpLocks noChangeShapeType="1"/>
              <a:endCxn id="130" idx="2"/>
            </p:cNvCxnSpPr>
            <p:nvPr/>
          </p:nvCxnSpPr>
          <p:spPr bwMode="auto">
            <a:xfrm flipH="1" flipV="1">
              <a:off x="8369167" y="7077458"/>
              <a:ext cx="2098879" cy="305896"/>
            </a:xfrm>
            <a:prstGeom prst="straightConnector1">
              <a:avLst/>
            </a:prstGeom>
            <a:ln w="3175">
              <a:solidFill>
                <a:schemeClr val="accent1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AutoShape 609"/>
            <p:cNvCxnSpPr>
              <a:cxnSpLocks noChangeShapeType="1"/>
            </p:cNvCxnSpPr>
            <p:nvPr/>
          </p:nvCxnSpPr>
          <p:spPr bwMode="auto">
            <a:xfrm flipH="1" flipV="1">
              <a:off x="8806430" y="7068436"/>
              <a:ext cx="1661614" cy="314915"/>
            </a:xfrm>
            <a:prstGeom prst="straightConnector1">
              <a:avLst/>
            </a:prstGeom>
            <a:ln w="3175">
              <a:solidFill>
                <a:schemeClr val="accent1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AutoShape 609"/>
            <p:cNvCxnSpPr>
              <a:cxnSpLocks noChangeShapeType="1"/>
              <a:stCxn id="165" idx="0"/>
              <a:endCxn id="163" idx="2"/>
            </p:cNvCxnSpPr>
            <p:nvPr/>
          </p:nvCxnSpPr>
          <p:spPr bwMode="auto">
            <a:xfrm flipH="1" flipV="1">
              <a:off x="10514144" y="7545490"/>
              <a:ext cx="10275" cy="166379"/>
            </a:xfrm>
            <a:prstGeom prst="straightConnector1">
              <a:avLst/>
            </a:prstGeom>
            <a:ln w="3175">
              <a:solidFill>
                <a:schemeClr val="accent1"/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직사각형 168"/>
            <p:cNvSpPr/>
            <p:nvPr/>
          </p:nvSpPr>
          <p:spPr>
            <a:xfrm>
              <a:off x="8304551" y="7902858"/>
              <a:ext cx="482432" cy="851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Storage#1</a:t>
              </a: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9816722" y="7902858"/>
              <a:ext cx="515555" cy="851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Storage#2</a:t>
              </a:r>
            </a:p>
          </p:txBody>
        </p:sp>
        <p:sp>
          <p:nvSpPr>
            <p:cNvPr id="171" name="직사각형 170"/>
            <p:cNvSpPr/>
            <p:nvPr/>
          </p:nvSpPr>
          <p:spPr>
            <a:xfrm>
              <a:off x="10695902" y="7902858"/>
              <a:ext cx="208192" cy="851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VTL</a:t>
              </a: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8304551" y="7393868"/>
              <a:ext cx="496027" cy="170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SAN</a:t>
              </a:r>
            </a:p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Switch #1</a:t>
              </a:r>
            </a:p>
          </p:txBody>
        </p:sp>
        <p:sp>
          <p:nvSpPr>
            <p:cNvPr id="173" name="직사각형 172"/>
            <p:cNvSpPr/>
            <p:nvPr/>
          </p:nvSpPr>
          <p:spPr>
            <a:xfrm>
              <a:off x="9089025" y="7393868"/>
              <a:ext cx="496027" cy="170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SAN</a:t>
              </a:r>
            </a:p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Switch #2</a:t>
              </a: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9889159" y="7393868"/>
              <a:ext cx="496027" cy="170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SAN</a:t>
              </a:r>
            </a:p>
            <a:p>
              <a:pPr algn="ctr"/>
              <a:r>
                <a:rPr lang="en-US" altLang="ko-KR" sz="5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Switch #3</a:t>
              </a:r>
            </a:p>
          </p:txBody>
        </p:sp>
        <p:pic>
          <p:nvPicPr>
            <p:cNvPr id="175" name="Picture 2"/>
            <p:cNvPicPr>
              <a:picLocks noChangeAspect="1" noChangeArrowheads="1"/>
            </p:cNvPicPr>
            <p:nvPr/>
          </p:nvPicPr>
          <p:blipFill>
            <a:blip r:embed="rId22"/>
            <a:srcRect l="10165" r="8699"/>
            <a:stretch>
              <a:fillRect/>
            </a:stretch>
          </p:blipFill>
          <p:spPr bwMode="auto">
            <a:xfrm>
              <a:off x="8235949" y="6401760"/>
              <a:ext cx="259094" cy="5840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176" name="Picture 2"/>
            <p:cNvPicPr>
              <a:picLocks noChangeAspect="1" noChangeArrowheads="1"/>
            </p:cNvPicPr>
            <p:nvPr/>
          </p:nvPicPr>
          <p:blipFill>
            <a:blip r:embed="rId22"/>
            <a:srcRect l="10165" r="8699"/>
            <a:stretch>
              <a:fillRect/>
            </a:stretch>
          </p:blipFill>
          <p:spPr bwMode="auto">
            <a:xfrm>
              <a:off x="8657989" y="6398109"/>
              <a:ext cx="259094" cy="576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7" name="Picture 2"/>
            <p:cNvPicPr>
              <a:picLocks noChangeAspect="1" noChangeArrowheads="1"/>
            </p:cNvPicPr>
            <p:nvPr/>
          </p:nvPicPr>
          <p:blipFill>
            <a:blip r:embed="rId22"/>
            <a:srcRect l="10165" r="8699"/>
            <a:stretch>
              <a:fillRect/>
            </a:stretch>
          </p:blipFill>
          <p:spPr bwMode="auto">
            <a:xfrm>
              <a:off x="9096327" y="6398890"/>
              <a:ext cx="259094" cy="575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8" name="Picture 2"/>
            <p:cNvPicPr>
              <a:picLocks noChangeAspect="1" noChangeArrowheads="1"/>
            </p:cNvPicPr>
            <p:nvPr/>
          </p:nvPicPr>
          <p:blipFill>
            <a:blip r:embed="rId22"/>
            <a:srcRect l="10165" r="8699"/>
            <a:stretch>
              <a:fillRect/>
            </a:stretch>
          </p:blipFill>
          <p:spPr bwMode="auto">
            <a:xfrm>
              <a:off x="9534535" y="6398109"/>
              <a:ext cx="259094" cy="576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9" name="Picture 2"/>
            <p:cNvPicPr>
              <a:picLocks noChangeAspect="1" noChangeArrowheads="1"/>
            </p:cNvPicPr>
            <p:nvPr/>
          </p:nvPicPr>
          <p:blipFill>
            <a:blip r:embed="rId22"/>
            <a:srcRect l="10165" r="8699"/>
            <a:stretch>
              <a:fillRect/>
            </a:stretch>
          </p:blipFill>
          <p:spPr bwMode="auto">
            <a:xfrm>
              <a:off x="9994516" y="6398109"/>
              <a:ext cx="259094" cy="576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0" name="Picture 2"/>
            <p:cNvPicPr>
              <a:picLocks noChangeAspect="1" noChangeArrowheads="1"/>
            </p:cNvPicPr>
            <p:nvPr/>
          </p:nvPicPr>
          <p:blipFill>
            <a:blip r:embed="rId22"/>
            <a:srcRect l="10165" r="8699"/>
            <a:stretch>
              <a:fillRect/>
            </a:stretch>
          </p:blipFill>
          <p:spPr bwMode="auto">
            <a:xfrm>
              <a:off x="10432853" y="6398890"/>
              <a:ext cx="259094" cy="575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1" name="Picture 2"/>
            <p:cNvPicPr>
              <a:picLocks noChangeAspect="1" noChangeArrowheads="1"/>
            </p:cNvPicPr>
            <p:nvPr/>
          </p:nvPicPr>
          <p:blipFill>
            <a:blip r:embed="rId22"/>
            <a:srcRect l="10165" r="8699"/>
            <a:stretch>
              <a:fillRect/>
            </a:stretch>
          </p:blipFill>
          <p:spPr bwMode="auto">
            <a:xfrm>
              <a:off x="10871061" y="6401898"/>
              <a:ext cx="259094" cy="576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2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9497226" y="7889641"/>
              <a:ext cx="258347" cy="207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3" name="그림 3" descr="Untitled-1.png"/>
            <p:cNvPicPr>
              <a:picLocks noChangeAspect="1"/>
            </p:cNvPicPr>
            <p:nvPr/>
          </p:nvPicPr>
          <p:blipFill>
            <a:blip r:embed="rId6" cstate="print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825714" y="7889641"/>
              <a:ext cx="258347" cy="207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5704673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838633" y="271486"/>
            <a:ext cx="7189487" cy="797799"/>
            <a:chOff x="684361" y="328636"/>
            <a:chExt cx="7189487" cy="797799"/>
          </a:xfrm>
        </p:grpSpPr>
        <p:grpSp>
          <p:nvGrpSpPr>
            <p:cNvPr id="2" name="그룹 1"/>
            <p:cNvGrpSpPr/>
            <p:nvPr/>
          </p:nvGrpSpPr>
          <p:grpSpPr>
            <a:xfrm>
              <a:off x="684361" y="359216"/>
              <a:ext cx="307778" cy="674807"/>
              <a:chOff x="753806" y="359216"/>
              <a:chExt cx="307778" cy="674807"/>
            </a:xfrm>
          </p:grpSpPr>
          <p:sp>
            <p:nvSpPr>
              <p:cNvPr id="99" name="직사각형 98"/>
              <p:cNvSpPr/>
              <p:nvPr/>
            </p:nvSpPr>
            <p:spPr bwMode="auto">
              <a:xfrm>
                <a:off x="753806" y="359216"/>
                <a:ext cx="307778" cy="18466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ko-KR" altLang="en-US" sz="12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전략</a:t>
                </a:r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 bwMode="auto">
              <a:xfrm>
                <a:off x="786656" y="603136"/>
                <a:ext cx="211597" cy="43088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en-US" altLang="ko-KR" sz="2800" dirty="0">
                    <a:solidFill>
                      <a:srgbClr val="9BBB59">
                        <a:lumMod val="40000"/>
                        <a:lumOff val="60000"/>
                      </a:srgb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2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1373546" y="603215"/>
              <a:ext cx="6298519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2800" b="1" spc="-150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시스템 사용자의 편의성 최우선 고려</a:t>
              </a:r>
              <a:r>
                <a:rPr lang="en-US" altLang="ko-KR" sz="2800" b="1" spc="-150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(2/2)</a:t>
              </a:r>
              <a:endParaRPr lang="ko-KR" altLang="en-US" sz="28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6557" y="328636"/>
              <a:ext cx="6497291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defTabSz="1084296" fontAlgn="auto">
                <a:spcBef>
                  <a:spcPts val="0"/>
                </a:spcBef>
                <a:spcAft>
                  <a:spcPts val="0"/>
                </a:spcAft>
                <a:defRPr sz="1600">
                  <a:solidFill>
                    <a:srgbClr val="9FA7B3"/>
                  </a:solidFill>
                  <a:latin typeface="나눔고딕 ExtraBold" pitchFamily="50" charset="-127"/>
                  <a:ea typeface="나눔고딕 ExtraBold" pitchFamily="50" charset="-127"/>
                </a:defRPr>
              </a:lvl1pPr>
            </a:lstStyle>
            <a:p>
              <a:r>
                <a:rPr lang="en-US" altLang="ko-KR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Action2-2 </a:t>
              </a: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업무 자동화 시스템 구축으로 사용자 맞춤형 설계 및 반영</a:t>
              </a:r>
            </a:p>
          </p:txBody>
        </p:sp>
      </p:grpSp>
      <p:sp>
        <p:nvSpPr>
          <p:cNvPr id="224" name="AutoShape 105"/>
          <p:cNvSpPr>
            <a:spLocks noChangeArrowheads="1"/>
          </p:cNvSpPr>
          <p:nvPr/>
        </p:nvSpPr>
        <p:spPr bwMode="auto">
          <a:xfrm rot="5400000">
            <a:off x="2051657" y="3978371"/>
            <a:ext cx="3773807" cy="424206"/>
          </a:xfrm>
          <a:prstGeom prst="triangle">
            <a:avLst>
              <a:gd name="adj" fmla="val 49027"/>
            </a:avLst>
          </a:prstGeom>
          <a:gradFill rotWithShape="1">
            <a:gsLst>
              <a:gs pos="0">
                <a:srgbClr val="808080">
                  <a:alpha val="53000"/>
                </a:srgbClr>
              </a:gs>
              <a:gs pos="100000">
                <a:srgbClr val="FFFFFF">
                  <a:alpha val="2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/>
            <a:endParaRPr lang="ko-KR" altLang="ko-KR" sz="18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2" name="자유형 281"/>
          <p:cNvSpPr/>
          <p:nvPr/>
        </p:nvSpPr>
        <p:spPr bwMode="auto">
          <a:xfrm>
            <a:off x="3294410" y="2071091"/>
            <a:ext cx="1944689" cy="338554"/>
          </a:xfrm>
          <a:custGeom>
            <a:avLst/>
            <a:gdLst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0 h 252000"/>
              <a:gd name="connsiteX8" fmla="*/ 2228400 w 2228400"/>
              <a:gd name="connsiteY8" fmla="*/ 0 h 252000"/>
              <a:gd name="connsiteX9" fmla="*/ 2228400 w 2228400"/>
              <a:gd name="connsiteY9" fmla="*/ 252000 h 252000"/>
              <a:gd name="connsiteX10" fmla="*/ 2228400 w 2228400"/>
              <a:gd name="connsiteY10" fmla="*/ 252000 h 252000"/>
              <a:gd name="connsiteX11" fmla="*/ 2228400 w 2228400"/>
              <a:gd name="connsiteY11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0 h 252000"/>
              <a:gd name="connsiteX8" fmla="*/ 2228400 w 2228400"/>
              <a:gd name="connsiteY8" fmla="*/ 252000 h 252000"/>
              <a:gd name="connsiteX9" fmla="*/ 2228400 w 2228400"/>
              <a:gd name="connsiteY9" fmla="*/ 252000 h 252000"/>
              <a:gd name="connsiteX10" fmla="*/ 2228400 w 2228400"/>
              <a:gd name="connsiteY10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0 h 252000"/>
              <a:gd name="connsiteX8" fmla="*/ 2228400 w 2228400"/>
              <a:gd name="connsiteY8" fmla="*/ 252000 h 252000"/>
              <a:gd name="connsiteX9" fmla="*/ 2228400 w 2228400"/>
              <a:gd name="connsiteY9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8400" h="252000" stroke="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2228400" y="0"/>
                </a:lnTo>
                <a:lnTo>
                  <a:pt x="2228400" y="0"/>
                </a:lnTo>
                <a:lnTo>
                  <a:pt x="2228400" y="0"/>
                </a:lnTo>
                <a:lnTo>
                  <a:pt x="2228400" y="252000"/>
                </a:lnTo>
                <a:lnTo>
                  <a:pt x="2228400" y="252000"/>
                </a:lnTo>
                <a:lnTo>
                  <a:pt x="2228400" y="252000"/>
                </a:lnTo>
                <a:lnTo>
                  <a:pt x="0" y="252000"/>
                </a:lnTo>
                <a:lnTo>
                  <a:pt x="0" y="252000"/>
                </a:lnTo>
                <a:lnTo>
                  <a:pt x="0" y="252000"/>
                </a:lnTo>
                <a:lnTo>
                  <a:pt x="0" y="0"/>
                </a:lnTo>
                <a:close/>
              </a:path>
              <a:path w="2228400" h="252000" fill="none">
                <a:moveTo>
                  <a:pt x="0" y="252000"/>
                </a:moveTo>
                <a:lnTo>
                  <a:pt x="0" y="252000"/>
                </a:lnTo>
                <a:lnTo>
                  <a:pt x="0" y="252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0" lvl="1" indent="-339725" algn="ctr">
              <a:buClr>
                <a:srgbClr val="3271AA"/>
              </a:buClr>
              <a:buSzPct val="140000"/>
              <a:tabLst>
                <a:tab pos="5648325" algn="l"/>
              </a:tabLst>
            </a:pPr>
            <a:r>
              <a:rPr lang="ko-KR" altLang="en-US" sz="1100" dirty="0">
                <a:solidFill>
                  <a:srgbClr val="CC33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현 체계 업무 분석을 통한</a:t>
            </a:r>
            <a:endParaRPr lang="en-US" altLang="ko-KR" sz="1100" dirty="0">
              <a:solidFill>
                <a:srgbClr val="CC3300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  <a:p>
            <a:pPr marL="0" lvl="1" indent="-339725" algn="ctr">
              <a:buClr>
                <a:srgbClr val="3271AA"/>
              </a:buClr>
              <a:buSzPct val="140000"/>
              <a:tabLst>
                <a:tab pos="5648325" algn="l"/>
              </a:tabLst>
            </a:pPr>
            <a:r>
              <a:rPr lang="ko-KR" altLang="en-US" sz="1100" dirty="0">
                <a:solidFill>
                  <a:srgbClr val="CC33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표준 통합화면</a:t>
            </a:r>
            <a:r>
              <a:rPr lang="en-US" altLang="ko-KR" sz="1100" dirty="0">
                <a:solidFill>
                  <a:srgbClr val="CC33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(</a:t>
            </a:r>
            <a:r>
              <a:rPr lang="ko-KR" altLang="en-US" sz="1100" dirty="0">
                <a:solidFill>
                  <a:srgbClr val="CC33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시안</a:t>
            </a:r>
            <a:r>
              <a:rPr lang="en-US" altLang="ko-KR" sz="1100" dirty="0">
                <a:solidFill>
                  <a:srgbClr val="CC33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)</a:t>
            </a:r>
            <a:endParaRPr lang="ko-KR" altLang="en-US" sz="1100" dirty="0">
              <a:solidFill>
                <a:srgbClr val="CC3300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71054" y="1296293"/>
            <a:ext cx="2835833" cy="1401171"/>
            <a:chOff x="558801" y="2115752"/>
            <a:chExt cx="2835833" cy="1401171"/>
          </a:xfrm>
        </p:grpSpPr>
        <p:sp>
          <p:nvSpPr>
            <p:cNvPr id="265" name="직사각형 264"/>
            <p:cNvSpPr/>
            <p:nvPr/>
          </p:nvSpPr>
          <p:spPr bwMode="auto">
            <a:xfrm>
              <a:off x="558801" y="2250096"/>
              <a:ext cx="2835833" cy="126682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01600" lvl="1" indent="-101600" eaLnBrk="0" latinLnBrk="0" hangingPunct="0">
                <a:lnSpc>
                  <a:spcPct val="110000"/>
                </a:lnSpc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000" dirty="0" err="1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74" name="Rectangle 88"/>
            <p:cNvSpPr>
              <a:spLocks noChangeArrowheads="1"/>
            </p:cNvSpPr>
            <p:nvPr/>
          </p:nvSpPr>
          <p:spPr bwMode="auto">
            <a:xfrm>
              <a:off x="558801" y="2216675"/>
              <a:ext cx="2835833" cy="26121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anchor="ctr"/>
            <a:lstStyle/>
            <a:p>
              <a:pPr algn="ctr" defTabSz="1043056" eaLnBrk="0" latinLnBrk="0" hangingPunct="0">
                <a:tabLst>
                  <a:tab pos="2692400" algn="l"/>
                  <a:tab pos="5648325" algn="l"/>
                </a:tabLst>
              </a:pPr>
              <a:r>
                <a:rPr lang="ko-KR" altLang="en-US" sz="1200" dirty="0">
                  <a:ln w="11430"/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사용자수준별 메뉴</a:t>
              </a: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692672" y="2733928"/>
              <a:ext cx="1908237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기능별 표준메뉴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기본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업무 </a:t>
              </a:r>
              <a:r>
                <a:rPr kumimoji="0" lang="ko-KR" alt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흐름별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메뉴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마이 메뉴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281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6873" y="2875679"/>
              <a:ext cx="1013887" cy="601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2" name="모서리가 둥근 직사각형 331"/>
            <p:cNvSpPr/>
            <p:nvPr/>
          </p:nvSpPr>
          <p:spPr bwMode="auto">
            <a:xfrm>
              <a:off x="618486" y="2115752"/>
              <a:ext cx="326214" cy="29595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1</a:t>
              </a:r>
              <a:endParaRPr kumimoji="1" lang="ko-KR" altLang="ko-KR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71054" y="2787096"/>
            <a:ext cx="2835833" cy="1401172"/>
            <a:chOff x="3472893" y="2115752"/>
            <a:chExt cx="2835833" cy="1401172"/>
          </a:xfrm>
        </p:grpSpPr>
        <p:sp>
          <p:nvSpPr>
            <p:cNvPr id="273" name="직사각형 272"/>
            <p:cNvSpPr/>
            <p:nvPr/>
          </p:nvSpPr>
          <p:spPr bwMode="auto">
            <a:xfrm>
              <a:off x="3472893" y="2242770"/>
              <a:ext cx="2835833" cy="127415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01600" lvl="1" indent="-101600" eaLnBrk="0" latinLnBrk="0" hangingPunct="0">
                <a:lnSpc>
                  <a:spcPct val="110000"/>
                </a:lnSpc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000" dirty="0" err="1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75" name="Rectangle 88"/>
            <p:cNvSpPr>
              <a:spLocks noChangeArrowheads="1"/>
            </p:cNvSpPr>
            <p:nvPr/>
          </p:nvSpPr>
          <p:spPr bwMode="auto">
            <a:xfrm>
              <a:off x="3472893" y="2216675"/>
              <a:ext cx="2835833" cy="26121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anchor="ctr"/>
            <a:lstStyle/>
            <a:p>
              <a:pPr algn="ctr" defTabSz="1043056" eaLnBrk="0" latinLnBrk="0" hangingPunct="0">
                <a:tabLst>
                  <a:tab pos="2692400" algn="l"/>
                  <a:tab pos="5648325" algn="l"/>
                </a:tabLst>
              </a:pPr>
              <a:r>
                <a:rPr lang="ko-KR" altLang="en-US" sz="1200" dirty="0">
                  <a:ln w="11430"/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업무처리 종합정보 안내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556619" y="2702183"/>
              <a:ext cx="1908237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업무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별 지침서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기본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사용자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kumimoji="0" lang="ko-KR" alt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운용자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지침서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</a:t>
              </a: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사용자 </a:t>
              </a:r>
              <a:r>
                <a:rPr kumimoji="0" lang="ko-KR" alt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따라하기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289" name="그림 28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50" t="19781" r="6313" b="11028"/>
            <a:stretch/>
          </p:blipFill>
          <p:spPr>
            <a:xfrm>
              <a:off x="5312169" y="2804681"/>
              <a:ext cx="917068" cy="579637"/>
            </a:xfrm>
            <a:prstGeom prst="rect">
              <a:avLst/>
            </a:prstGeom>
          </p:spPr>
        </p:pic>
        <p:sp>
          <p:nvSpPr>
            <p:cNvPr id="333" name="모서리가 둥근 직사각형 332"/>
            <p:cNvSpPr/>
            <p:nvPr/>
          </p:nvSpPr>
          <p:spPr bwMode="auto">
            <a:xfrm>
              <a:off x="3554362" y="2115752"/>
              <a:ext cx="326214" cy="29595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2</a:t>
              </a:r>
              <a:endParaRPr kumimoji="1" lang="ko-KR" altLang="ko-KR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558353" y="4288069"/>
            <a:ext cx="2848534" cy="1402148"/>
            <a:chOff x="483429" y="4878977"/>
            <a:chExt cx="2848534" cy="1402148"/>
          </a:xfrm>
        </p:grpSpPr>
        <p:sp>
          <p:nvSpPr>
            <p:cNvPr id="255" name="직사각형 254"/>
            <p:cNvSpPr/>
            <p:nvPr/>
          </p:nvSpPr>
          <p:spPr bwMode="auto">
            <a:xfrm>
              <a:off x="492954" y="5014298"/>
              <a:ext cx="2835833" cy="126682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01600" lvl="1" indent="-101600" eaLnBrk="0" latinLnBrk="0" hangingPunct="0">
                <a:lnSpc>
                  <a:spcPct val="110000"/>
                </a:lnSpc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000" dirty="0" err="1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57" name="Rectangle 88"/>
            <p:cNvSpPr>
              <a:spLocks noChangeArrowheads="1"/>
            </p:cNvSpPr>
            <p:nvPr/>
          </p:nvSpPr>
          <p:spPr bwMode="auto">
            <a:xfrm>
              <a:off x="483429" y="4988202"/>
              <a:ext cx="2848534" cy="26121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anchor="ctr"/>
            <a:lstStyle/>
            <a:p>
              <a:pPr algn="ctr" defTabSz="1043056" eaLnBrk="0" latinLnBrk="0" hangingPunct="0">
                <a:tabLst>
                  <a:tab pos="2692400" algn="l"/>
                  <a:tab pos="5648325" algn="l"/>
                </a:tabLst>
              </a:pPr>
              <a:r>
                <a:rPr lang="ko-KR" altLang="en-US" sz="1200" dirty="0">
                  <a:ln w="11430"/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유형별 표준 업무처리화면</a:t>
              </a:r>
            </a:p>
          </p:txBody>
        </p:sp>
        <p:pic>
          <p:nvPicPr>
            <p:cNvPr id="323" name="그림 3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5042" y="5656490"/>
              <a:ext cx="941879" cy="539197"/>
            </a:xfrm>
            <a:prstGeom prst="rect">
              <a:avLst/>
            </a:prstGeom>
          </p:spPr>
        </p:pic>
        <p:sp>
          <p:nvSpPr>
            <p:cNvPr id="324" name="TextBox 323"/>
            <p:cNvSpPr txBox="1"/>
            <p:nvPr/>
          </p:nvSpPr>
          <p:spPr>
            <a:xfrm>
              <a:off x="602603" y="5516616"/>
              <a:ext cx="1908237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인터페이스 일관성 유지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그리드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틀 조정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단축키 등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공통화면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특성화면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34" name="모서리가 둥근 직사각형 333"/>
            <p:cNvSpPr/>
            <p:nvPr/>
          </p:nvSpPr>
          <p:spPr bwMode="auto">
            <a:xfrm>
              <a:off x="552639" y="4878977"/>
              <a:ext cx="326214" cy="29595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3</a:t>
              </a:r>
              <a:endParaRPr kumimoji="1" lang="ko-KR" altLang="ko-KR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59287" y="5791475"/>
            <a:ext cx="2847600" cy="1409474"/>
            <a:chOff x="3407044" y="4878977"/>
            <a:chExt cx="2847600" cy="1409474"/>
          </a:xfrm>
        </p:grpSpPr>
        <p:sp>
          <p:nvSpPr>
            <p:cNvPr id="256" name="직사각형 255"/>
            <p:cNvSpPr/>
            <p:nvPr/>
          </p:nvSpPr>
          <p:spPr bwMode="auto">
            <a:xfrm>
              <a:off x="3407046" y="5014297"/>
              <a:ext cx="2835833" cy="127415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01600" lvl="1" indent="-101600" eaLnBrk="0" latinLnBrk="0" hangingPunct="0">
                <a:lnSpc>
                  <a:spcPct val="110000"/>
                </a:lnSpc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000" dirty="0" err="1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64" name="Rectangle 88"/>
            <p:cNvSpPr>
              <a:spLocks noChangeArrowheads="1"/>
            </p:cNvSpPr>
            <p:nvPr/>
          </p:nvSpPr>
          <p:spPr bwMode="auto">
            <a:xfrm>
              <a:off x="3407044" y="4988202"/>
              <a:ext cx="2847600" cy="26121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anchor="ctr"/>
            <a:lstStyle/>
            <a:p>
              <a:pPr algn="ctr" defTabSz="1043056" eaLnBrk="0" latinLnBrk="0" hangingPunct="0">
                <a:tabLst>
                  <a:tab pos="2692400" algn="l"/>
                  <a:tab pos="5648325" algn="l"/>
                </a:tabLst>
              </a:pPr>
              <a:r>
                <a:rPr lang="ko-KR" altLang="en-US" sz="1200" dirty="0">
                  <a:ln w="11430"/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사용자 개인화 도구활용</a:t>
              </a:r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3490772" y="5522264"/>
              <a:ext cx="1908237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기본</a:t>
              </a:r>
              <a:r>
                <a:rPr kumimoji="0"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특성 화면 제공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사용자가 </a:t>
              </a:r>
              <a:r>
                <a:rPr kumimoji="0" lang="ko-KR" alt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화면폼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조정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133336" indent="-133336" fontAlgn="auto">
                <a:lnSpc>
                  <a:spcPts val="800"/>
                </a:lnSpc>
                <a:spcBef>
                  <a:spcPts val="0"/>
                </a:spcBef>
                <a:spcAft>
                  <a:spcPts val="800"/>
                </a:spcAft>
                <a:buFont typeface="Arial" pitchFamily="34" charset="0"/>
                <a:buChar char="•"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사용자 </a:t>
              </a:r>
              <a:r>
                <a:rPr kumimoji="0" lang="ko-KR" alt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화면폼</a:t>
              </a: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별도 저장</a:t>
              </a:r>
              <a:endPara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326" name="Picture 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6101" y="5367740"/>
              <a:ext cx="491312" cy="329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8" name="그룹 327"/>
            <p:cNvGrpSpPr/>
            <p:nvPr/>
          </p:nvGrpSpPr>
          <p:grpSpPr>
            <a:xfrm>
              <a:off x="5357654" y="5697688"/>
              <a:ext cx="777275" cy="534094"/>
              <a:chOff x="1165723" y="5748536"/>
              <a:chExt cx="932646" cy="799526"/>
            </a:xfrm>
          </p:grpSpPr>
          <p:pic>
            <p:nvPicPr>
              <p:cNvPr id="329" name="Picture 8" descr="D:\모스트비주얼\아이콘 작업\왜가리\27.png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512356" y="5966132"/>
                <a:ext cx="586013" cy="4762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30" name="그림 32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165723" y="5748536"/>
                <a:ext cx="682263" cy="799526"/>
              </a:xfrm>
              <a:prstGeom prst="rect">
                <a:avLst/>
              </a:prstGeom>
            </p:spPr>
          </p:pic>
        </p:grpSp>
        <p:sp>
          <p:nvSpPr>
            <p:cNvPr id="335" name="모서리가 둥근 직사각형 334"/>
            <p:cNvSpPr/>
            <p:nvPr/>
          </p:nvSpPr>
          <p:spPr bwMode="auto">
            <a:xfrm>
              <a:off x="3488515" y="4878977"/>
              <a:ext cx="326214" cy="29595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4</a:t>
              </a:r>
              <a:endParaRPr kumimoji="1" lang="ko-KR" altLang="ko-KR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</p:grpSp>
      <p:sp>
        <p:nvSpPr>
          <p:cNvPr id="331" name="자유형 330"/>
          <p:cNvSpPr/>
          <p:nvPr/>
        </p:nvSpPr>
        <p:spPr bwMode="auto">
          <a:xfrm>
            <a:off x="3078386" y="6239991"/>
            <a:ext cx="1944689" cy="338554"/>
          </a:xfrm>
          <a:custGeom>
            <a:avLst/>
            <a:gdLst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0 h 252000"/>
              <a:gd name="connsiteX8" fmla="*/ 2228400 w 2228400"/>
              <a:gd name="connsiteY8" fmla="*/ 0 h 252000"/>
              <a:gd name="connsiteX9" fmla="*/ 2228400 w 2228400"/>
              <a:gd name="connsiteY9" fmla="*/ 252000 h 252000"/>
              <a:gd name="connsiteX10" fmla="*/ 2228400 w 2228400"/>
              <a:gd name="connsiteY10" fmla="*/ 252000 h 252000"/>
              <a:gd name="connsiteX11" fmla="*/ 2228400 w 2228400"/>
              <a:gd name="connsiteY11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0 h 252000"/>
              <a:gd name="connsiteX8" fmla="*/ 2228400 w 2228400"/>
              <a:gd name="connsiteY8" fmla="*/ 252000 h 252000"/>
              <a:gd name="connsiteX9" fmla="*/ 2228400 w 2228400"/>
              <a:gd name="connsiteY9" fmla="*/ 252000 h 252000"/>
              <a:gd name="connsiteX10" fmla="*/ 2228400 w 2228400"/>
              <a:gd name="connsiteY10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0 h 252000"/>
              <a:gd name="connsiteX8" fmla="*/ 2228400 w 2228400"/>
              <a:gd name="connsiteY8" fmla="*/ 252000 h 252000"/>
              <a:gd name="connsiteX9" fmla="*/ 2228400 w 2228400"/>
              <a:gd name="connsiteY9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  <a:gd name="connsiteX6" fmla="*/ 2228400 w 2228400"/>
              <a:gd name="connsiteY6" fmla="*/ 0 h 252000"/>
              <a:gd name="connsiteX7" fmla="*/ 2228400 w 2228400"/>
              <a:gd name="connsiteY7" fmla="*/ 252000 h 252000"/>
              <a:gd name="connsiteX0" fmla="*/ 0 w 2228400"/>
              <a:gd name="connsiteY0" fmla="*/ 0 h 252000"/>
              <a:gd name="connsiteX1" fmla="*/ 0 w 2228400"/>
              <a:gd name="connsiteY1" fmla="*/ 0 h 252000"/>
              <a:gd name="connsiteX2" fmla="*/ 0 w 2228400"/>
              <a:gd name="connsiteY2" fmla="*/ 0 h 252000"/>
              <a:gd name="connsiteX3" fmla="*/ 2228400 w 2228400"/>
              <a:gd name="connsiteY3" fmla="*/ 0 h 252000"/>
              <a:gd name="connsiteX4" fmla="*/ 2228400 w 2228400"/>
              <a:gd name="connsiteY4" fmla="*/ 0 h 252000"/>
              <a:gd name="connsiteX5" fmla="*/ 2228400 w 2228400"/>
              <a:gd name="connsiteY5" fmla="*/ 0 h 252000"/>
              <a:gd name="connsiteX6" fmla="*/ 2228400 w 2228400"/>
              <a:gd name="connsiteY6" fmla="*/ 252000 h 252000"/>
              <a:gd name="connsiteX7" fmla="*/ 2228400 w 2228400"/>
              <a:gd name="connsiteY7" fmla="*/ 252000 h 252000"/>
              <a:gd name="connsiteX8" fmla="*/ 2228400 w 2228400"/>
              <a:gd name="connsiteY8" fmla="*/ 252000 h 252000"/>
              <a:gd name="connsiteX9" fmla="*/ 0 w 2228400"/>
              <a:gd name="connsiteY9" fmla="*/ 252000 h 252000"/>
              <a:gd name="connsiteX10" fmla="*/ 0 w 2228400"/>
              <a:gd name="connsiteY10" fmla="*/ 252000 h 252000"/>
              <a:gd name="connsiteX11" fmla="*/ 0 w 2228400"/>
              <a:gd name="connsiteY11" fmla="*/ 252000 h 252000"/>
              <a:gd name="connsiteX12" fmla="*/ 0 w 2228400"/>
              <a:gd name="connsiteY12" fmla="*/ 0 h 252000"/>
              <a:gd name="connsiteX0" fmla="*/ 0 w 2228400"/>
              <a:gd name="connsiteY0" fmla="*/ 252000 h 252000"/>
              <a:gd name="connsiteX1" fmla="*/ 0 w 2228400"/>
              <a:gd name="connsiteY1" fmla="*/ 252000 h 252000"/>
              <a:gd name="connsiteX2" fmla="*/ 0 w 2228400"/>
              <a:gd name="connsiteY2" fmla="*/ 252000 h 252000"/>
              <a:gd name="connsiteX3" fmla="*/ 0 w 2228400"/>
              <a:gd name="connsiteY3" fmla="*/ 0 h 252000"/>
              <a:gd name="connsiteX4" fmla="*/ 0 w 2228400"/>
              <a:gd name="connsiteY4" fmla="*/ 0 h 252000"/>
              <a:gd name="connsiteX5" fmla="*/ 0 w 2228400"/>
              <a:gd name="connsiteY5" fmla="*/ 0 h 2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8400" h="252000" stroke="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2228400" y="0"/>
                </a:lnTo>
                <a:lnTo>
                  <a:pt x="2228400" y="0"/>
                </a:lnTo>
                <a:lnTo>
                  <a:pt x="2228400" y="0"/>
                </a:lnTo>
                <a:lnTo>
                  <a:pt x="2228400" y="252000"/>
                </a:lnTo>
                <a:lnTo>
                  <a:pt x="2228400" y="252000"/>
                </a:lnTo>
                <a:lnTo>
                  <a:pt x="2228400" y="252000"/>
                </a:lnTo>
                <a:lnTo>
                  <a:pt x="0" y="252000"/>
                </a:lnTo>
                <a:lnTo>
                  <a:pt x="0" y="252000"/>
                </a:lnTo>
                <a:lnTo>
                  <a:pt x="0" y="252000"/>
                </a:lnTo>
                <a:lnTo>
                  <a:pt x="0" y="0"/>
                </a:lnTo>
                <a:close/>
              </a:path>
              <a:path w="2228400" h="252000" fill="none">
                <a:moveTo>
                  <a:pt x="0" y="252000"/>
                </a:moveTo>
                <a:lnTo>
                  <a:pt x="0" y="252000"/>
                </a:lnTo>
                <a:lnTo>
                  <a:pt x="0" y="252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0" lvl="1" indent="-339725" algn="ctr">
              <a:buClr>
                <a:srgbClr val="3271AA"/>
              </a:buClr>
              <a:buSzPct val="140000"/>
              <a:tabLst>
                <a:tab pos="5648325" algn="l"/>
              </a:tabLst>
            </a:pPr>
            <a:r>
              <a:rPr lang="ko-KR" altLang="en-US" sz="1100" dirty="0">
                <a:solidFill>
                  <a:srgbClr val="CC33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사용자</a:t>
            </a:r>
          </a:p>
          <a:p>
            <a:pPr marL="0" lvl="1" indent="-339725" algn="ctr">
              <a:buClr>
                <a:srgbClr val="3271AA"/>
              </a:buClr>
              <a:buSzPct val="140000"/>
              <a:tabLst>
                <a:tab pos="5648325" algn="l"/>
              </a:tabLst>
            </a:pPr>
            <a:r>
              <a:rPr lang="ko-KR" altLang="en-US" sz="1100" dirty="0">
                <a:solidFill>
                  <a:srgbClr val="CC33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개인화 도구 제공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348574" y="2409646"/>
            <a:ext cx="6002620" cy="3951032"/>
            <a:chOff x="4348574" y="2779212"/>
            <a:chExt cx="5599878" cy="3021475"/>
          </a:xfrm>
        </p:grpSpPr>
        <p:pic>
          <p:nvPicPr>
            <p:cNvPr id="219" name="Picture 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6258" y="3018451"/>
              <a:ext cx="3921483" cy="2563674"/>
            </a:xfrm>
            <a:prstGeom prst="roundRect">
              <a:avLst>
                <a:gd name="adj" fmla="val 2712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26" name="그룹 225"/>
            <p:cNvGrpSpPr/>
            <p:nvPr/>
          </p:nvGrpSpPr>
          <p:grpSpPr>
            <a:xfrm>
              <a:off x="8522554" y="2779212"/>
              <a:ext cx="1425898" cy="3021475"/>
              <a:chOff x="4766984" y="4256770"/>
              <a:chExt cx="1425898" cy="3273265"/>
            </a:xfrm>
          </p:grpSpPr>
          <p:grpSp>
            <p:nvGrpSpPr>
              <p:cNvPr id="235" name="그룹 234"/>
              <p:cNvGrpSpPr/>
              <p:nvPr/>
            </p:nvGrpSpPr>
            <p:grpSpPr>
              <a:xfrm>
                <a:off x="4766984" y="4636741"/>
                <a:ext cx="1425898" cy="2893294"/>
                <a:chOff x="562823" y="5522099"/>
                <a:chExt cx="827050" cy="3808501"/>
              </a:xfrm>
            </p:grpSpPr>
            <p:sp>
              <p:nvSpPr>
                <p:cNvPr id="241" name="갈매기형 수장 240"/>
                <p:cNvSpPr/>
                <p:nvPr/>
              </p:nvSpPr>
              <p:spPr bwMode="auto">
                <a:xfrm rot="5400000">
                  <a:off x="577664" y="6628182"/>
                  <a:ext cx="797369" cy="827047"/>
                </a:xfrm>
                <a:prstGeom prst="chevron">
                  <a:avLst>
                    <a:gd name="adj" fmla="val 26382"/>
                  </a:avLst>
                </a:prstGeom>
                <a:solidFill>
                  <a:srgbClr val="F0F4FA"/>
                </a:solidFill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pPr marL="88900" indent="-115895" algn="ctr" defTabSz="1092535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buFont typeface="Wingdings" pitchFamily="2" charset="2"/>
                    <a:buChar char="§"/>
                    <a:tabLst>
                      <a:tab pos="814888" algn="l"/>
                    </a:tabLst>
                    <a:defRPr/>
                  </a:pPr>
                  <a:endParaRPr lang="ko-KR" altLang="en-US" sz="800" b="1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endParaRPr>
                </a:p>
              </p:txBody>
            </p:sp>
            <p:sp>
              <p:nvSpPr>
                <p:cNvPr id="242" name="오각형 241"/>
                <p:cNvSpPr/>
                <p:nvPr/>
              </p:nvSpPr>
              <p:spPr bwMode="auto">
                <a:xfrm rot="5400000">
                  <a:off x="656083" y="5428839"/>
                  <a:ext cx="640527" cy="827047"/>
                </a:xfrm>
                <a:prstGeom prst="homePlate">
                  <a:avLst>
                    <a:gd name="adj" fmla="val 35032"/>
                  </a:avLst>
                </a:prstGeom>
                <a:solidFill>
                  <a:schemeClr val="bg1"/>
                </a:solidFill>
                <a:ln w="9525" algn="ctr">
                  <a:solidFill>
                    <a:schemeClr val="accent1">
                      <a:lumMod val="20000"/>
                      <a:lumOff val="8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88900" indent="-88900" defTabSz="1042988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595959"/>
                    </a:buClr>
                    <a:buSzPct val="140000"/>
                    <a:buFont typeface="Wingdings" pitchFamily="2" charset="2"/>
                    <a:buChar char="§"/>
                  </a:pPr>
                  <a:endPara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endParaRPr>
                </a:p>
              </p:txBody>
            </p:sp>
            <p:sp>
              <p:nvSpPr>
                <p:cNvPr id="243" name="갈매기형 수장 242"/>
                <p:cNvSpPr/>
                <p:nvPr/>
              </p:nvSpPr>
              <p:spPr bwMode="auto">
                <a:xfrm rot="5400000">
                  <a:off x="577665" y="7258251"/>
                  <a:ext cx="797369" cy="827047"/>
                </a:xfrm>
                <a:prstGeom prst="chevron">
                  <a:avLst>
                    <a:gd name="adj" fmla="val 26382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6350">
                  <a:solidFill>
                    <a:schemeClr val="accent1">
                      <a:lumMod val="40000"/>
                      <a:lumOff val="6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pPr marL="88900" indent="-115895" algn="ctr" defTabSz="1092535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buFont typeface="Wingdings" pitchFamily="2" charset="2"/>
                    <a:buChar char="§"/>
                    <a:tabLst>
                      <a:tab pos="814888" algn="l"/>
                    </a:tabLst>
                  </a:pPr>
                  <a:endParaRPr lang="ko-KR" altLang="en-US" sz="800" b="1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endParaRPr>
                </a:p>
              </p:txBody>
            </p:sp>
            <p:sp>
              <p:nvSpPr>
                <p:cNvPr id="244" name="갈매기형 수장 243"/>
                <p:cNvSpPr/>
                <p:nvPr/>
              </p:nvSpPr>
              <p:spPr bwMode="auto">
                <a:xfrm rot="5400000">
                  <a:off x="577665" y="7888321"/>
                  <a:ext cx="797369" cy="827047"/>
                </a:xfrm>
                <a:prstGeom prst="chevron">
                  <a:avLst>
                    <a:gd name="adj" fmla="val 26382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>
                  <a:solidFill>
                    <a:schemeClr val="accent1">
                      <a:lumMod val="60000"/>
                      <a:lumOff val="4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pPr marL="88900" indent="-115895" algn="ctr" defTabSz="1092535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buFont typeface="Wingdings" pitchFamily="2" charset="2"/>
                    <a:buChar char="§"/>
                    <a:tabLst>
                      <a:tab pos="814888" algn="l"/>
                    </a:tabLst>
                  </a:pPr>
                  <a:endParaRPr lang="ko-KR" altLang="en-US" sz="800" b="1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endParaRPr>
                </a:p>
              </p:txBody>
            </p:sp>
            <p:sp>
              <p:nvSpPr>
                <p:cNvPr id="245" name="갈매기형 수장 244"/>
                <p:cNvSpPr/>
                <p:nvPr/>
              </p:nvSpPr>
              <p:spPr bwMode="auto">
                <a:xfrm rot="5400000">
                  <a:off x="577665" y="8518392"/>
                  <a:ext cx="797369" cy="827047"/>
                </a:xfrm>
                <a:prstGeom prst="chevron">
                  <a:avLst>
                    <a:gd name="adj" fmla="val 26382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1">
                      <a:lumMod val="60000"/>
                      <a:lumOff val="4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pPr indent="-88900" fontAlgn="base" latinLnBrk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FF"/>
                    </a:buClr>
                    <a:buSzPct val="140000"/>
                    <a:buFont typeface="Wingdings" pitchFamily="2" charset="2"/>
                    <a:buChar char="§"/>
                    <a:tabLst>
                      <a:tab pos="5648325" algn="l"/>
                    </a:tabLst>
                  </a:pPr>
                  <a:endParaRPr lang="ko-KR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endParaRPr>
                </a:p>
              </p:txBody>
            </p:sp>
            <p:sp>
              <p:nvSpPr>
                <p:cNvPr id="246" name="TextBox 184"/>
                <p:cNvSpPr txBox="1">
                  <a:spLocks noChangeArrowheads="1"/>
                </p:cNvSpPr>
                <p:nvPr/>
              </p:nvSpPr>
              <p:spPr bwMode="auto">
                <a:xfrm>
                  <a:off x="741282" y="5632122"/>
                  <a:ext cx="470127" cy="3356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 defTabSz="1042988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고딕 ExtraBold" pitchFamily="50" charset="-127"/>
                      <a:ea typeface="나눔고딕 ExtraBold" pitchFamily="50" charset="-127"/>
                    </a:defRPr>
                  </a:lvl1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ko-KR" alt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이해</a:t>
                  </a:r>
                </a:p>
                <a:p>
                  <a:pPr eaLnBrk="1" hangingPunct="1">
                    <a:lnSpc>
                      <a:spcPct val="100000"/>
                    </a:lnSpc>
                  </a:pPr>
                  <a:r>
                    <a:rPr lang="en-US" altLang="ko-K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Understanding</a:t>
                  </a:r>
                </a:p>
              </p:txBody>
            </p:sp>
            <p:sp>
              <p:nvSpPr>
                <p:cNvPr id="247" name="TextBox 184"/>
                <p:cNvSpPr txBox="1">
                  <a:spLocks noChangeArrowheads="1"/>
                </p:cNvSpPr>
                <p:nvPr/>
              </p:nvSpPr>
              <p:spPr bwMode="auto">
                <a:xfrm>
                  <a:off x="829759" y="6949083"/>
                  <a:ext cx="293179" cy="3356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 defTabSz="1042988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고딕 ExtraBold" pitchFamily="50" charset="-127"/>
                      <a:ea typeface="나눔고딕 ExtraBold" pitchFamily="50" charset="-127"/>
                    </a:defRPr>
                  </a:lvl1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ko-KR" alt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모델링</a:t>
                  </a:r>
                </a:p>
                <a:p>
                  <a:pPr eaLnBrk="1" hangingPunct="1">
                    <a:lnSpc>
                      <a:spcPct val="100000"/>
                    </a:lnSpc>
                  </a:pPr>
                  <a:r>
                    <a:rPr lang="en-US" altLang="ko-K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Modeling</a:t>
                  </a:r>
                </a:p>
              </p:txBody>
            </p:sp>
            <p:sp>
              <p:nvSpPr>
                <p:cNvPr id="249" name="TextBox 184"/>
                <p:cNvSpPr txBox="1">
                  <a:spLocks noChangeArrowheads="1"/>
                </p:cNvSpPr>
                <p:nvPr/>
              </p:nvSpPr>
              <p:spPr bwMode="auto">
                <a:xfrm>
                  <a:off x="658015" y="7554102"/>
                  <a:ext cx="636666" cy="3356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 defTabSz="1042988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고딕 ExtraBold" pitchFamily="50" charset="-127"/>
                      <a:ea typeface="나눔고딕 ExtraBold" pitchFamily="50" charset="-127"/>
                    </a:defRPr>
                  </a:lvl1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ko-KR" alt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구조 설계</a:t>
                  </a:r>
                </a:p>
                <a:p>
                  <a:pPr eaLnBrk="1" hangingPunct="1">
                    <a:lnSpc>
                      <a:spcPct val="100000"/>
                    </a:lnSpc>
                  </a:pPr>
                  <a:r>
                    <a:rPr lang="en-US" altLang="ko-K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Architecture Design</a:t>
                  </a:r>
                </a:p>
              </p:txBody>
            </p:sp>
            <p:sp>
              <p:nvSpPr>
                <p:cNvPr id="250" name="TextBox 184"/>
                <p:cNvSpPr txBox="1">
                  <a:spLocks noChangeArrowheads="1"/>
                </p:cNvSpPr>
                <p:nvPr/>
              </p:nvSpPr>
              <p:spPr bwMode="auto">
                <a:xfrm>
                  <a:off x="768176" y="8202774"/>
                  <a:ext cx="416348" cy="3356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 defTabSz="1042988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고딕 ExtraBold" pitchFamily="50" charset="-127"/>
                      <a:ea typeface="나눔고딕 ExtraBold" pitchFamily="50" charset="-127"/>
                    </a:defRPr>
                  </a:lvl1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ko-KR" altLang="en-US" sz="10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프로토타입핑</a:t>
                  </a:r>
                  <a:endParaRPr lang="ko-KR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  <a:p>
                  <a:pPr eaLnBrk="1" hangingPunct="1">
                    <a:lnSpc>
                      <a:spcPct val="100000"/>
                    </a:lnSpc>
                  </a:pPr>
                  <a:r>
                    <a:rPr lang="en-US" altLang="ko-K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Prototyping</a:t>
                  </a:r>
                </a:p>
              </p:txBody>
            </p:sp>
            <p:sp>
              <p:nvSpPr>
                <p:cNvPr id="251" name="TextBox 184"/>
                <p:cNvSpPr txBox="1">
                  <a:spLocks noChangeArrowheads="1"/>
                </p:cNvSpPr>
                <p:nvPr/>
              </p:nvSpPr>
              <p:spPr bwMode="auto">
                <a:xfrm>
                  <a:off x="837568" y="8811724"/>
                  <a:ext cx="277565" cy="3356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 defTabSz="1042988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고딕 ExtraBold" pitchFamily="50" charset="-127"/>
                      <a:ea typeface="나눔고딕 ExtraBold" pitchFamily="50" charset="-127"/>
                    </a:defRPr>
                  </a:lvl1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ko-KR" alt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적용</a:t>
                  </a:r>
                </a:p>
                <a:p>
                  <a:pPr eaLnBrk="1" hangingPunct="1">
                    <a:lnSpc>
                      <a:spcPct val="100000"/>
                    </a:lnSpc>
                  </a:pPr>
                  <a:r>
                    <a:rPr lang="en-US" altLang="ko-K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Applying</a:t>
                  </a:r>
                </a:p>
              </p:txBody>
            </p:sp>
            <p:sp>
              <p:nvSpPr>
                <p:cNvPr id="252" name="갈매기형 수장 251"/>
                <p:cNvSpPr/>
                <p:nvPr/>
              </p:nvSpPr>
              <p:spPr bwMode="auto">
                <a:xfrm rot="5400000">
                  <a:off x="577663" y="5990009"/>
                  <a:ext cx="797369" cy="827047"/>
                </a:xfrm>
                <a:prstGeom prst="chevron">
                  <a:avLst>
                    <a:gd name="adj" fmla="val 26382"/>
                  </a:avLst>
                </a:prstGeom>
                <a:solidFill>
                  <a:srgbClr val="F0F4FA"/>
                </a:solidFill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/>
                <a:lstStyle/>
                <a:p>
                  <a:pPr marL="88900" indent="-115895" algn="ctr" defTabSz="1092535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buFont typeface="Wingdings" pitchFamily="2" charset="2"/>
                    <a:buChar char="§"/>
                    <a:tabLst>
                      <a:tab pos="814888" algn="l"/>
                    </a:tabLst>
                    <a:defRPr/>
                  </a:pPr>
                  <a:endParaRPr lang="ko-KR" altLang="en-US" sz="800" b="1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endParaRPr>
                </a:p>
              </p:txBody>
            </p:sp>
            <p:sp>
              <p:nvSpPr>
                <p:cNvPr id="253" name="TextBox 184"/>
                <p:cNvSpPr txBox="1">
                  <a:spLocks noChangeArrowheads="1"/>
                </p:cNvSpPr>
                <p:nvPr/>
              </p:nvSpPr>
              <p:spPr bwMode="auto">
                <a:xfrm>
                  <a:off x="775980" y="6282334"/>
                  <a:ext cx="400735" cy="3356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algn="ctr" defTabSz="1042988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  <a:defRPr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고딕 ExtraBold" pitchFamily="50" charset="-127"/>
                      <a:ea typeface="나눔고딕 ExtraBold" pitchFamily="50" charset="-127"/>
                    </a:defRPr>
                  </a:lvl1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ko-KR" alt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조사 및 분석</a:t>
                  </a:r>
                </a:p>
                <a:p>
                  <a:pPr eaLnBrk="1" hangingPunct="1">
                    <a:lnSpc>
                      <a:spcPct val="100000"/>
                    </a:lnSpc>
                  </a:pPr>
                  <a:r>
                    <a:rPr lang="en-US" altLang="ko-K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Researching</a:t>
                  </a:r>
                </a:p>
              </p:txBody>
            </p:sp>
          </p:grpSp>
          <p:sp>
            <p:nvSpPr>
              <p:cNvPr id="238" name="Rectangle 88"/>
              <p:cNvSpPr>
                <a:spLocks noChangeArrowheads="1"/>
              </p:cNvSpPr>
              <p:nvPr/>
            </p:nvSpPr>
            <p:spPr bwMode="auto">
              <a:xfrm>
                <a:off x="4768435" y="4256770"/>
                <a:ext cx="1422990" cy="33544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6350">
                <a:solidFill>
                  <a:schemeClr val="accent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indent="-93299" algn="ctr" defTabSz="1043056" eaLnBrk="0" latinLnBrk="0" hangingPunct="0">
                  <a:buClr>
                    <a:srgbClr val="0000FF"/>
                  </a:buClr>
                  <a:buSzPct val="140000"/>
                  <a:tabLst>
                    <a:tab pos="2692400" algn="l"/>
                    <a:tab pos="5648325" algn="l"/>
                  </a:tabLst>
                </a:pPr>
                <a:r>
                  <a:rPr lang="ko-KR" altLang="en-US" sz="1200" dirty="0">
                    <a:ln w="11430"/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디자인 개발</a:t>
                </a:r>
              </a:p>
            </p:txBody>
          </p:sp>
        </p:grpSp>
        <p:sp>
          <p:nvSpPr>
            <p:cNvPr id="276" name="오른쪽 화살표 275"/>
            <p:cNvSpPr/>
            <p:nvPr/>
          </p:nvSpPr>
          <p:spPr>
            <a:xfrm flipH="1">
              <a:off x="7925370" y="3439470"/>
              <a:ext cx="877608" cy="412217"/>
            </a:xfrm>
            <a:prstGeom prst="rightArrow">
              <a:avLst>
                <a:gd name="adj1" fmla="val 50000"/>
                <a:gd name="adj2" fmla="val 60513"/>
              </a:avLst>
            </a:prstGeom>
            <a:gradFill>
              <a:gsLst>
                <a:gs pos="100000">
                  <a:srgbClr val="EAEAEA">
                    <a:alpha val="0"/>
                  </a:srgbClr>
                </a:gs>
                <a:gs pos="0">
                  <a:schemeClr val="bg1">
                    <a:lumMod val="65000"/>
                  </a:schemeClr>
                </a:gs>
              </a:gsLst>
              <a:lin ang="108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059" tIns="33059" rIns="33059" bIns="33059" anchor="ctr"/>
            <a:lstStyle/>
            <a:p>
              <a:pPr algn="ctr" defTabSz="1003275" latinLnBrk="0">
                <a:lnSpc>
                  <a:spcPts val="918"/>
                </a:lnSpc>
                <a:buClr>
                  <a:srgbClr val="3271AA"/>
                </a:buClr>
                <a:buSzPct val="140000"/>
                <a:tabLst>
                  <a:tab pos="748312" algn="l"/>
                </a:tabLst>
              </a:pPr>
              <a:endParaRPr lang="ko-KR" altLang="en-US" sz="800" kern="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77" name="오른쪽 화살표 276"/>
            <p:cNvSpPr/>
            <p:nvPr/>
          </p:nvSpPr>
          <p:spPr>
            <a:xfrm flipH="1">
              <a:off x="7925370" y="4752455"/>
              <a:ext cx="877608" cy="412217"/>
            </a:xfrm>
            <a:prstGeom prst="rightArrow">
              <a:avLst>
                <a:gd name="adj1" fmla="val 50000"/>
                <a:gd name="adj2" fmla="val 60513"/>
              </a:avLst>
            </a:prstGeom>
            <a:gradFill>
              <a:gsLst>
                <a:gs pos="100000">
                  <a:srgbClr val="EAEAEA">
                    <a:alpha val="0"/>
                  </a:srgbClr>
                </a:gs>
                <a:gs pos="0">
                  <a:schemeClr val="bg1">
                    <a:lumMod val="65000"/>
                  </a:schemeClr>
                </a:gs>
              </a:gsLst>
              <a:lin ang="108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059" tIns="33059" rIns="33059" bIns="33059" anchor="ctr"/>
            <a:lstStyle/>
            <a:p>
              <a:pPr algn="ctr" defTabSz="1003275" latinLnBrk="0">
                <a:lnSpc>
                  <a:spcPts val="918"/>
                </a:lnSpc>
                <a:buClr>
                  <a:srgbClr val="3271AA"/>
                </a:buClr>
                <a:buSzPct val="140000"/>
                <a:tabLst>
                  <a:tab pos="748312" algn="l"/>
                </a:tabLst>
              </a:pPr>
              <a:endParaRPr lang="ko-KR" altLang="en-US" sz="800" kern="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16300" y="3780758"/>
              <a:ext cx="809609" cy="1653074"/>
            </a:xfrm>
            <a:prstGeom prst="rect">
              <a:avLst/>
            </a:prstGeom>
            <a:noFill/>
            <a:ln w="19050">
              <a:solidFill>
                <a:srgbClr val="CC3300"/>
              </a:solidFill>
            </a:ln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>
              <a:defPPr>
                <a:defRPr lang="ko-KR"/>
              </a:defPPr>
              <a:lvl1pPr algn="ctr"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itchFamily="50" charset="-127"/>
                  <a:ea typeface="나눔고딕 ExtraBold" pitchFamily="50" charset="-127"/>
                </a:defRPr>
              </a:lvl1pPr>
            </a:lstStyle>
            <a:p>
              <a:endPara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5261378" y="3780758"/>
              <a:ext cx="3102796" cy="1664179"/>
            </a:xfrm>
            <a:prstGeom prst="rect">
              <a:avLst/>
            </a:prstGeom>
            <a:noFill/>
            <a:ln w="19050">
              <a:solidFill>
                <a:srgbClr val="CC3300"/>
              </a:solidFill>
            </a:ln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>
              <a:defPPr>
                <a:defRPr lang="ko-KR"/>
              </a:defPPr>
              <a:lvl1pPr algn="ctr"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 ExtraBold" pitchFamily="50" charset="-127"/>
                  <a:ea typeface="나눔고딕 ExtraBold" pitchFamily="50" charset="-127"/>
                </a:defRPr>
              </a:lvl1pPr>
            </a:lstStyle>
            <a:p>
              <a:endPara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36" name="모서리가 둥근 직사각형 335"/>
            <p:cNvSpPr/>
            <p:nvPr/>
          </p:nvSpPr>
          <p:spPr bwMode="auto">
            <a:xfrm>
              <a:off x="4348574" y="3709917"/>
              <a:ext cx="216000" cy="199385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1</a:t>
              </a:r>
              <a:endParaRPr kumimoji="1" lang="ko-KR" altLang="ko-KR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  <p:sp>
          <p:nvSpPr>
            <p:cNvPr id="337" name="모서리가 둥근 직사각형 336"/>
            <p:cNvSpPr/>
            <p:nvPr/>
          </p:nvSpPr>
          <p:spPr bwMode="auto">
            <a:xfrm>
              <a:off x="5185567" y="3554845"/>
              <a:ext cx="216000" cy="199385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3</a:t>
              </a:r>
              <a:endParaRPr kumimoji="1" lang="ko-KR" altLang="ko-KR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  <p:sp>
          <p:nvSpPr>
            <p:cNvPr id="338" name="모서리가 둥근 직사각형 337"/>
            <p:cNvSpPr/>
            <p:nvPr/>
          </p:nvSpPr>
          <p:spPr bwMode="auto">
            <a:xfrm>
              <a:off x="7365039" y="2944240"/>
              <a:ext cx="216000" cy="199385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dirty="0">
                  <a:solidFill>
                    <a:srgbClr val="FFFFFF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2</a:t>
              </a:r>
              <a:endParaRPr kumimoji="1" lang="ko-KR" altLang="ko-KR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  <p:sp>
          <p:nvSpPr>
            <p:cNvPr id="339" name="모서리가 둥근 직사각형 338"/>
            <p:cNvSpPr/>
            <p:nvPr/>
          </p:nvSpPr>
          <p:spPr bwMode="auto">
            <a:xfrm>
              <a:off x="7910634" y="2944240"/>
              <a:ext cx="216000" cy="199385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rPr>
                <a:t>4</a:t>
              </a:r>
              <a:endParaRPr kumimoji="1" lang="ko-KR" altLang="ko-KR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097384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2346129" y="2336357"/>
            <a:ext cx="3517148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사업을 이해하고 구축에 전념</a:t>
            </a:r>
          </a:p>
        </p:txBody>
      </p:sp>
      <p:grpSp>
        <p:nvGrpSpPr>
          <p:cNvPr id="51" name="그룹 50"/>
          <p:cNvGrpSpPr/>
          <p:nvPr/>
        </p:nvGrpSpPr>
        <p:grpSpPr>
          <a:xfrm>
            <a:off x="9190559" y="648222"/>
            <a:ext cx="1655243" cy="487626"/>
            <a:chOff x="9190558" y="648221"/>
            <a:chExt cx="1655243" cy="487626"/>
          </a:xfrm>
        </p:grpSpPr>
        <p:sp>
          <p:nvSpPr>
            <p:cNvPr id="52" name="Text Box 18"/>
            <p:cNvSpPr txBox="1">
              <a:spLocks noChangeArrowheads="1"/>
            </p:cNvSpPr>
            <p:nvPr/>
          </p:nvSpPr>
          <p:spPr bwMode="auto">
            <a:xfrm>
              <a:off x="91905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3" name="Text Box 18"/>
            <p:cNvSpPr txBox="1">
              <a:spLocks noChangeArrowheads="1"/>
            </p:cNvSpPr>
            <p:nvPr/>
          </p:nvSpPr>
          <p:spPr bwMode="auto">
            <a:xfrm>
              <a:off x="9774758" y="648221"/>
              <a:ext cx="901815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Ⅲ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4" name="Text Box 18"/>
            <p:cNvSpPr txBox="1">
              <a:spLocks noChangeArrowheads="1"/>
            </p:cNvSpPr>
            <p:nvPr/>
          </p:nvSpPr>
          <p:spPr bwMode="auto">
            <a:xfrm>
              <a:off x="10333559" y="648221"/>
              <a:ext cx="512242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Ⅳ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1926258" y="2736453"/>
            <a:ext cx="5040560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효율적</a:t>
            </a:r>
            <a:r>
              <a:rPr lang="en-US" altLang="ko-KR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•</a:t>
            </a: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안정적 사업관리</a:t>
            </a:r>
          </a:p>
        </p:txBody>
      </p:sp>
      <p:sp>
        <p:nvSpPr>
          <p:cNvPr id="17" name="텍스트 개체 틀 36"/>
          <p:cNvSpPr txBox="1">
            <a:spLocks/>
          </p:cNvSpPr>
          <p:nvPr/>
        </p:nvSpPr>
        <p:spPr>
          <a:xfrm>
            <a:off x="6534770" y="3040454"/>
            <a:ext cx="2410916" cy="200055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marL="0" indent="0" algn="l" defTabSz="1019190" rtl="0" eaLnBrk="1" latinLnBrk="1" hangingPunct="1">
              <a:spcBef>
                <a:spcPts val="0"/>
              </a:spcBef>
              <a:buFontTx/>
              <a:buNone/>
              <a:defRPr sz="2000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828092" indent="-318497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98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58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317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277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236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196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1559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47546">
              <a:buClr>
                <a:srgbClr val="5F5F5F"/>
              </a:buClr>
              <a:defRPr/>
            </a:pPr>
            <a:r>
              <a: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국방사업의 개발 정책</a:t>
            </a:r>
            <a:r>
              <a:rPr lang="en-US" altLang="ko-KR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지침 준수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2142282" y="3638565"/>
            <a:ext cx="4915083" cy="282539"/>
            <a:chOff x="2208777" y="5217210"/>
            <a:chExt cx="4915083" cy="282539"/>
          </a:xfrm>
        </p:grpSpPr>
        <p:grpSp>
          <p:nvGrpSpPr>
            <p:cNvPr id="19" name="그룹 18"/>
            <p:cNvGrpSpPr/>
            <p:nvPr/>
          </p:nvGrpSpPr>
          <p:grpSpPr>
            <a:xfrm>
              <a:off x="2208777" y="5217210"/>
              <a:ext cx="943998" cy="282539"/>
              <a:chOff x="2208777" y="5217210"/>
              <a:chExt cx="943998" cy="282539"/>
            </a:xfrm>
          </p:grpSpPr>
          <p:sp>
            <p:nvSpPr>
              <p:cNvPr id="23" name="양쪽 모서리가 둥근 사각형 22"/>
              <p:cNvSpPr/>
              <p:nvPr/>
            </p:nvSpPr>
            <p:spPr>
              <a:xfrm rot="16200000">
                <a:off x="2546130" y="4879857"/>
                <a:ext cx="269292" cy="94399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>
                  <a:schemeClr val="tx1">
                    <a:lumMod val="75000"/>
                    <a:lumOff val="25000"/>
                    <a:alpha val="92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3780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grpSp>
            <p:nvGrpSpPr>
              <p:cNvPr id="24" name="그룹 23"/>
              <p:cNvGrpSpPr/>
              <p:nvPr/>
            </p:nvGrpSpPr>
            <p:grpSpPr>
              <a:xfrm>
                <a:off x="2381329" y="5222750"/>
                <a:ext cx="719055" cy="276999"/>
                <a:chOff x="2283296" y="5246449"/>
                <a:chExt cx="719055" cy="276999"/>
              </a:xfrm>
            </p:grpSpPr>
            <p:pic>
              <p:nvPicPr>
                <p:cNvPr id="25" name="Picture 29" descr="Action text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lum bright="100000" contrast="66000"/>
                  <a:grayscl/>
                </a:blip>
                <a:srcRect/>
                <a:stretch>
                  <a:fillRect/>
                </a:stretch>
              </p:blipFill>
              <p:spPr bwMode="auto">
                <a:xfrm>
                  <a:off x="2283296" y="5303764"/>
                  <a:ext cx="392994" cy="1149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26" name="직사각형 71"/>
                <p:cNvSpPr>
                  <a:spLocks noChangeArrowheads="1"/>
                </p:cNvSpPr>
                <p:nvPr/>
              </p:nvSpPr>
              <p:spPr bwMode="auto">
                <a:xfrm>
                  <a:off x="2652767" y="5246449"/>
                  <a:ext cx="349584" cy="276999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ko-KR" sz="1800" spc="-158" dirty="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산돌신문제비B"/>
                    </a:rPr>
                    <a:t>3-1</a:t>
                  </a:r>
                </a:p>
              </p:txBody>
            </p:sp>
          </p:grpSp>
        </p:grpSp>
        <p:sp>
          <p:nvSpPr>
            <p:cNvPr id="20" name="Text Box 461"/>
            <p:cNvSpPr txBox="1">
              <a:spLocks noChangeArrowheads="1"/>
            </p:cNvSpPr>
            <p:nvPr/>
          </p:nvSpPr>
          <p:spPr bwMode="auto">
            <a:xfrm>
              <a:off x="3222151" y="5237425"/>
              <a:ext cx="3901709" cy="2154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>
                <a:defRPr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defRPr>
              </a:lvl1pPr>
            </a:lstStyle>
            <a:p>
              <a:pPr>
                <a:defRPr/>
              </a:pP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국방 개발방법론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국방 정책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지침 준수 역량 적용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2145499" y="4248621"/>
            <a:ext cx="6653298" cy="282539"/>
            <a:chOff x="2208777" y="5217210"/>
            <a:chExt cx="6653298" cy="282539"/>
          </a:xfrm>
        </p:grpSpPr>
        <p:grpSp>
          <p:nvGrpSpPr>
            <p:cNvPr id="28" name="그룹 27"/>
            <p:cNvGrpSpPr/>
            <p:nvPr/>
          </p:nvGrpSpPr>
          <p:grpSpPr>
            <a:xfrm>
              <a:off x="2208777" y="5217210"/>
              <a:ext cx="943998" cy="282539"/>
              <a:chOff x="2208777" y="5217210"/>
              <a:chExt cx="943998" cy="282539"/>
            </a:xfrm>
          </p:grpSpPr>
          <p:sp>
            <p:nvSpPr>
              <p:cNvPr id="30" name="양쪽 모서리가 둥근 사각형 29"/>
              <p:cNvSpPr/>
              <p:nvPr/>
            </p:nvSpPr>
            <p:spPr>
              <a:xfrm rot="16200000">
                <a:off x="2546130" y="4879857"/>
                <a:ext cx="269292" cy="94399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>
                  <a:schemeClr val="tx1">
                    <a:lumMod val="75000"/>
                    <a:lumOff val="25000"/>
                    <a:alpha val="92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3780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grpSp>
            <p:nvGrpSpPr>
              <p:cNvPr id="31" name="그룹 30"/>
              <p:cNvGrpSpPr/>
              <p:nvPr/>
            </p:nvGrpSpPr>
            <p:grpSpPr>
              <a:xfrm>
                <a:off x="2381329" y="5222750"/>
                <a:ext cx="719055" cy="276999"/>
                <a:chOff x="2283296" y="5246449"/>
                <a:chExt cx="719055" cy="276999"/>
              </a:xfrm>
            </p:grpSpPr>
            <p:pic>
              <p:nvPicPr>
                <p:cNvPr id="32" name="Picture 29" descr="Action text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lum bright="100000" contrast="66000"/>
                  <a:grayscl/>
                </a:blip>
                <a:srcRect/>
                <a:stretch>
                  <a:fillRect/>
                </a:stretch>
              </p:blipFill>
              <p:spPr bwMode="auto">
                <a:xfrm>
                  <a:off x="2283296" y="5303764"/>
                  <a:ext cx="392994" cy="1149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33" name="직사각형 71"/>
                <p:cNvSpPr>
                  <a:spLocks noChangeArrowheads="1"/>
                </p:cNvSpPr>
                <p:nvPr/>
              </p:nvSpPr>
              <p:spPr bwMode="auto">
                <a:xfrm>
                  <a:off x="2652767" y="5246449"/>
                  <a:ext cx="349584" cy="276999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ko-KR" sz="1800" spc="-158" dirty="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산돌신문제비B"/>
                    </a:rPr>
                    <a:t>3-2</a:t>
                  </a:r>
                </a:p>
              </p:txBody>
            </p:sp>
          </p:grpSp>
        </p:grpSp>
        <p:sp>
          <p:nvSpPr>
            <p:cNvPr id="29" name="Text Box 461"/>
            <p:cNvSpPr txBox="1">
              <a:spLocks noChangeArrowheads="1"/>
            </p:cNvSpPr>
            <p:nvPr/>
          </p:nvSpPr>
          <p:spPr bwMode="auto">
            <a:xfrm>
              <a:off x="3192253" y="5238138"/>
              <a:ext cx="5669822" cy="2154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>
                <a:defRPr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defRPr>
              </a:lvl1pPr>
            </a:lstStyle>
            <a:p>
              <a:pPr>
                <a:defRPr/>
              </a:pP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기술표준화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(DITA), 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공통운용환경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(COE), 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데이터공유환경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(SHADE) 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준수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099171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직사각형 232"/>
          <p:cNvSpPr/>
          <p:nvPr/>
        </p:nvSpPr>
        <p:spPr bwMode="auto">
          <a:xfrm>
            <a:off x="5617097" y="1366837"/>
            <a:ext cx="4869688" cy="58322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4" name="직사각형 233"/>
          <p:cNvSpPr/>
          <p:nvPr/>
        </p:nvSpPr>
        <p:spPr bwMode="auto">
          <a:xfrm>
            <a:off x="5617107" y="1366837"/>
            <a:ext cx="4873103" cy="445804"/>
          </a:xfrm>
          <a:prstGeom prst="rect">
            <a:avLst/>
          </a:prstGeom>
          <a:gradFill flip="none" rotWithShape="1">
            <a:gsLst>
              <a:gs pos="0">
                <a:srgbClr val="4371BB"/>
              </a:gs>
              <a:gs pos="96000">
                <a:srgbClr val="335791"/>
              </a:gs>
              <a:gs pos="97000">
                <a:srgbClr val="2B4877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5" name="사다리꼴 234"/>
          <p:cNvSpPr/>
          <p:nvPr/>
        </p:nvSpPr>
        <p:spPr bwMode="auto">
          <a:xfrm flipV="1">
            <a:off x="5625637" y="1373679"/>
            <a:ext cx="4854316" cy="27329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6" name="TextBox 235"/>
          <p:cNvSpPr txBox="1"/>
          <p:nvPr/>
        </p:nvSpPr>
        <p:spPr bwMode="auto">
          <a:xfrm>
            <a:off x="5887106" y="1374933"/>
            <a:ext cx="4333095" cy="369257"/>
          </a:xfrm>
          <a:prstGeom prst="rect">
            <a:avLst/>
          </a:prstGeom>
          <a:noFill/>
          <a:effectLst/>
        </p:spPr>
        <p:txBody>
          <a:bodyPr wrap="none" lIns="91369" tIns="45683" rIns="91369" bIns="45683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913681">
              <a:defRPr/>
            </a:pP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국방정보기술표준</a:t>
            </a:r>
            <a:r>
              <a:rPr lang="en-US" altLang="ko-KR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(DITA) </a:t>
            </a: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적용 경험 활용</a:t>
            </a:r>
          </a:p>
        </p:txBody>
      </p:sp>
      <p:sp>
        <p:nvSpPr>
          <p:cNvPr id="237" name="직사각형 236"/>
          <p:cNvSpPr/>
          <p:nvPr/>
        </p:nvSpPr>
        <p:spPr bwMode="auto">
          <a:xfrm>
            <a:off x="5617097" y="7149525"/>
            <a:ext cx="4869688" cy="49534"/>
          </a:xfrm>
          <a:prstGeom prst="rect">
            <a:avLst/>
          </a:prstGeom>
          <a:solidFill>
            <a:srgbClr val="4371BB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4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5617099" y="1368301"/>
            <a:ext cx="793732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8" name="그룹 117"/>
          <p:cNvGrpSpPr/>
          <p:nvPr/>
        </p:nvGrpSpPr>
        <p:grpSpPr>
          <a:xfrm>
            <a:off x="838633" y="302066"/>
            <a:ext cx="307778" cy="674807"/>
            <a:chOff x="753806" y="359216"/>
            <a:chExt cx="307778" cy="674807"/>
          </a:xfrm>
        </p:grpSpPr>
        <p:sp>
          <p:nvSpPr>
            <p:cNvPr id="121" name="직사각형 120"/>
            <p:cNvSpPr/>
            <p:nvPr/>
          </p:nvSpPr>
          <p:spPr bwMode="auto">
            <a:xfrm>
              <a:off x="753806" y="359216"/>
              <a:ext cx="307778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25400">
                <a:bevelT w="1270"/>
              </a:sp3d>
            </a:bodyPr>
            <a:lstStyle/>
            <a:p>
              <a:pPr marL="0" lvl="1" algn="ctr" defTabSz="913607">
                <a:defRPr/>
              </a:pPr>
              <a:r>
                <a:rPr lang="ko-KR" altLang="en-US" sz="12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  <a:endParaRPr lang="ko-KR" altLang="en-US" sz="18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2" name="직사각형 121"/>
            <p:cNvSpPr/>
            <p:nvPr/>
          </p:nvSpPr>
          <p:spPr bwMode="auto">
            <a:xfrm>
              <a:off x="786656" y="603136"/>
              <a:ext cx="211596" cy="43088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25400">
                <a:bevelT w="1270"/>
              </a:sp3d>
            </a:bodyPr>
            <a:lstStyle/>
            <a:p>
              <a:pPr marL="0" lvl="1" algn="ctr" defTabSz="913607">
                <a:defRPr/>
              </a:pPr>
              <a:r>
                <a:rPr lang="en-US" altLang="ko-KR" sz="2800" dirty="0">
                  <a:solidFill>
                    <a:srgbClr val="9BBB59">
                      <a:lumMod val="40000"/>
                      <a:lumOff val="60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3</a:t>
              </a: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1527818" y="546065"/>
            <a:ext cx="9079730" cy="49244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1083443">
              <a:defRPr/>
            </a:pPr>
            <a:r>
              <a:rPr lang="ko-KR" altLang="en-US" sz="26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다년간의 국방</a:t>
            </a:r>
            <a:r>
              <a:rPr lang="en-US" altLang="ko-KR" sz="26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IT </a:t>
            </a:r>
            <a:r>
              <a:rPr lang="ko-KR" altLang="en-US" sz="26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사업 수행으로 숙달된 방법론 및 프로세스 적용</a:t>
            </a:r>
            <a:endParaRPr lang="en-US" altLang="ko-KR" sz="2600" b="1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45000">
                    <a:srgbClr val="4F81BD">
                      <a:lumMod val="75000"/>
                    </a:srgbClr>
                  </a:gs>
                  <a:gs pos="55000">
                    <a:srgbClr val="4F81BD">
                      <a:lumMod val="75000"/>
                    </a:srgbClr>
                  </a:gs>
                  <a:gs pos="100000">
                    <a:srgbClr val="1F497D">
                      <a:lumMod val="75000"/>
                    </a:srgbClr>
                  </a:gs>
                </a:gsLst>
                <a:lin ang="5400000" scaled="0"/>
              </a:gra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530829" y="271486"/>
            <a:ext cx="5692584" cy="3385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defTabSz="1084296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rgbClr val="9FA7B3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Action3-1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국방 개발방법론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국방 정책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지침 준수 역량 적용</a:t>
            </a:r>
          </a:p>
        </p:txBody>
      </p:sp>
      <p:grpSp>
        <p:nvGrpSpPr>
          <p:cNvPr id="168" name="그룹 167"/>
          <p:cNvGrpSpPr/>
          <p:nvPr/>
        </p:nvGrpSpPr>
        <p:grpSpPr>
          <a:xfrm>
            <a:off x="5765150" y="1917911"/>
            <a:ext cx="4633456" cy="5134873"/>
            <a:chOff x="720229" y="3546438"/>
            <a:chExt cx="6273982" cy="3592100"/>
          </a:xfrm>
        </p:grpSpPr>
        <p:sp>
          <p:nvSpPr>
            <p:cNvPr id="169" name="AutoShape 1902"/>
            <p:cNvSpPr>
              <a:spLocks noChangeArrowheads="1"/>
            </p:cNvSpPr>
            <p:nvPr/>
          </p:nvSpPr>
          <p:spPr bwMode="auto">
            <a:xfrm>
              <a:off x="720230" y="6131347"/>
              <a:ext cx="6264696" cy="1007191"/>
            </a:xfrm>
            <a:prstGeom prst="roundRect">
              <a:avLst>
                <a:gd name="adj" fmla="val 0"/>
              </a:avLst>
            </a:prstGeom>
            <a:pattFill prst="wdUpDiag">
              <a:fgClr>
                <a:srgbClr val="EDEDED"/>
              </a:fgClr>
              <a:bgClr>
                <a:srgbClr val="E8E8E8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 algn="ctr">
                  <a:solidFill>
                    <a:srgbClr val="B4B4B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6941" dir="2700000" algn="ctr" rotWithShape="0">
                      <a:srgbClr val="C6C6C6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1" indent="0" algn="ctr" defTabSz="1509628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endParaRPr>
            </a:p>
          </p:txBody>
        </p:sp>
        <p:sp>
          <p:nvSpPr>
            <p:cNvPr id="170" name="AutoShape 1901"/>
            <p:cNvSpPr>
              <a:spLocks noChangeArrowheads="1"/>
            </p:cNvSpPr>
            <p:nvPr/>
          </p:nvSpPr>
          <p:spPr bwMode="auto">
            <a:xfrm>
              <a:off x="720229" y="3546438"/>
              <a:ext cx="6273982" cy="2379476"/>
            </a:xfrm>
            <a:prstGeom prst="roundRect">
              <a:avLst>
                <a:gd name="adj" fmla="val 0"/>
              </a:avLst>
            </a:prstGeom>
            <a:pattFill prst="wdUpDiag">
              <a:fgClr>
                <a:srgbClr val="EDEDED"/>
              </a:fgClr>
              <a:bgClr>
                <a:srgbClr val="E8E8E8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 algn="ctr">
                  <a:solidFill>
                    <a:srgbClr val="B4B4B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6941" dir="2700000" algn="ctr" rotWithShape="0">
                      <a:srgbClr val="C6C6C6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1" indent="0" algn="ctr" defTabSz="1509628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endParaRPr>
            </a:p>
          </p:txBody>
        </p:sp>
        <p:sp>
          <p:nvSpPr>
            <p:cNvPr id="171" name="직사각형 75"/>
            <p:cNvSpPr>
              <a:spLocks noChangeArrowheads="1"/>
            </p:cNvSpPr>
            <p:nvPr/>
          </p:nvSpPr>
          <p:spPr bwMode="auto">
            <a:xfrm>
              <a:off x="879150" y="6311671"/>
              <a:ext cx="1406937" cy="6465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rgbClr val="97C5D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0" indent="0" algn="ctr" defTabSz="942975" eaLnBrk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전장관리 임무영역의</a:t>
              </a:r>
              <a:b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</a:b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아키텍처관리체계</a:t>
              </a:r>
            </a:p>
            <a:p>
              <a:pPr marL="0" marR="0" lvl="0" indent="0" algn="ctr" defTabSz="942975" eaLnBrk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(MND-ARMS)</a:t>
              </a:r>
            </a:p>
          </p:txBody>
        </p:sp>
        <p:sp>
          <p:nvSpPr>
            <p:cNvPr id="172" name="직사각형 76"/>
            <p:cNvSpPr>
              <a:spLocks noChangeArrowheads="1"/>
            </p:cNvSpPr>
            <p:nvPr/>
          </p:nvSpPr>
          <p:spPr bwMode="auto">
            <a:xfrm>
              <a:off x="5319939" y="6287051"/>
              <a:ext cx="1300005" cy="69578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rgbClr val="97C5D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0" indent="0" algn="ctr" defTabSz="942975" eaLnBrk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국방정보기술</a:t>
              </a:r>
            </a:p>
            <a:p>
              <a:pPr marL="0" marR="0" lvl="0" indent="0" algn="ctr" defTabSz="942975" eaLnBrk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표준관리시스템</a:t>
              </a:r>
            </a:p>
            <a:p>
              <a:pPr marL="0" marR="0" lvl="0" indent="0" algn="ctr" defTabSz="942975" eaLnBrk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(DITAMS)</a:t>
              </a:r>
            </a:p>
          </p:txBody>
        </p:sp>
        <p:sp>
          <p:nvSpPr>
            <p:cNvPr id="173" name="Rectangle 1848"/>
            <p:cNvSpPr>
              <a:spLocks noChangeArrowheads="1"/>
            </p:cNvSpPr>
            <p:nvPr/>
          </p:nvSpPr>
          <p:spPr bwMode="auto">
            <a:xfrm>
              <a:off x="3190437" y="6245303"/>
              <a:ext cx="1642192" cy="77927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rgbClr val="6A9FC6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 anchor="ctr" anchorCtr="0"/>
            <a:lstStyle/>
            <a:p>
              <a:pPr marL="71438" marR="0" lvl="0" indent="-714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MND-AF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산출물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  <a:p>
              <a:pPr marL="71438" marR="0" lvl="0" indent="-714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체계데이터교환 목록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(SV-6)</a:t>
              </a:r>
            </a:p>
            <a:p>
              <a:pPr marL="71438" marR="0" lvl="0" indent="-714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기술표준 목록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(TV-1)</a:t>
              </a:r>
            </a:p>
            <a:p>
              <a:pPr marL="71438" marR="0" lvl="0" indent="-714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미래표준 목록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(TV-2)</a:t>
              </a:r>
            </a:p>
            <a:p>
              <a:pPr marL="71438" marR="0" lvl="0" indent="-714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제품 목록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(TV-3)</a:t>
              </a: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2165405" y="3966426"/>
              <a:ext cx="941014" cy="34603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적용기술 분석</a:t>
              </a:r>
            </a:p>
          </p:txBody>
        </p:sp>
        <p:sp>
          <p:nvSpPr>
            <p:cNvPr id="175" name="Rectangle 54"/>
            <p:cNvSpPr>
              <a:spLocks noChangeArrowheads="1"/>
            </p:cNvSpPr>
            <p:nvPr/>
          </p:nvSpPr>
          <p:spPr bwMode="auto">
            <a:xfrm>
              <a:off x="876094" y="3966426"/>
              <a:ext cx="1011284" cy="372383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6350" algn="ctr">
              <a:solidFill>
                <a:srgbClr val="80B8DA"/>
              </a:solidFill>
              <a:miter lim="800000"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체계기능 검토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</p:txBody>
        </p:sp>
        <p:sp>
          <p:nvSpPr>
            <p:cNvPr id="176" name="순서도: 판단 175"/>
            <p:cNvSpPr/>
            <p:nvPr/>
          </p:nvSpPr>
          <p:spPr bwMode="auto">
            <a:xfrm>
              <a:off x="2024864" y="4690992"/>
              <a:ext cx="1222096" cy="444401"/>
            </a:xfrm>
            <a:prstGeom prst="flowChartDecision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신규기술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/</a:t>
              </a: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제품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/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솔루션</a:t>
              </a:r>
            </a:p>
          </p:txBody>
        </p:sp>
        <p:sp>
          <p:nvSpPr>
            <p:cNvPr id="177" name="Rectangle 54"/>
            <p:cNvSpPr>
              <a:spLocks noChangeArrowheads="1"/>
            </p:cNvSpPr>
            <p:nvPr/>
          </p:nvSpPr>
          <p:spPr bwMode="auto">
            <a:xfrm>
              <a:off x="876094" y="4451226"/>
              <a:ext cx="1011284" cy="372383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6350" algn="ctr">
              <a:solidFill>
                <a:srgbClr val="80B8DA"/>
              </a:solidFill>
              <a:miter lim="800000"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신규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/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개선 체계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요구사항 정의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</p:txBody>
        </p:sp>
        <p:sp>
          <p:nvSpPr>
            <p:cNvPr id="178" name="Rectangle 54"/>
            <p:cNvSpPr>
              <a:spLocks noChangeArrowheads="1"/>
            </p:cNvSpPr>
            <p:nvPr/>
          </p:nvSpPr>
          <p:spPr bwMode="auto">
            <a:xfrm>
              <a:off x="876094" y="5420828"/>
              <a:ext cx="1011284" cy="370627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6350" algn="ctr">
              <a:solidFill>
                <a:srgbClr val="80B8DA"/>
              </a:solidFill>
              <a:miter lim="800000"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소요기술 표준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목록화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</p:txBody>
        </p:sp>
        <p:sp>
          <p:nvSpPr>
            <p:cNvPr id="179" name="Rectangle 54"/>
            <p:cNvSpPr>
              <a:spLocks noChangeArrowheads="1"/>
            </p:cNvSpPr>
            <p:nvPr/>
          </p:nvSpPr>
          <p:spPr bwMode="auto">
            <a:xfrm>
              <a:off x="876094" y="4934271"/>
              <a:ext cx="1011284" cy="375897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6350" algn="ctr">
              <a:solidFill>
                <a:srgbClr val="80B8DA"/>
              </a:solidFill>
              <a:miter lim="800000"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선행체계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 pitchFamily="2" charset="2"/>
                </a:rPr>
                <a:t>기술구조 참고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 pitchFamily="2" charset="2"/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2165405" y="5447176"/>
              <a:ext cx="941014" cy="344279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적용표준 식별</a:t>
              </a: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3392083" y="4741053"/>
              <a:ext cx="1096831" cy="344279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기술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/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제품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/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솔루션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적용방안 설계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3392083" y="3966426"/>
              <a:ext cx="1096831" cy="34603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신규 기술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/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제품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적용표준 식별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3392083" y="5447176"/>
              <a:ext cx="1096831" cy="344279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기술구조 산출물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최신화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4808187" y="3966426"/>
              <a:ext cx="872270" cy="34603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기술 적용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SW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구현</a:t>
              </a: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4808187" y="4741053"/>
              <a:ext cx="872270" cy="344279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개발장비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구현 확인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4808187" y="5447176"/>
              <a:ext cx="872270" cy="344279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HW / SW</a:t>
              </a: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통합 확인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6008896" y="3966426"/>
              <a:ext cx="870743" cy="34603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운용성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 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확인시험</a:t>
              </a: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6008896" y="4741053"/>
              <a:ext cx="870743" cy="344279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상호운용성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확인</a:t>
              </a:r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6008896" y="5447176"/>
              <a:ext cx="870743" cy="344279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B6B6B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신규 기술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  <a:sym typeface="Monotype Sorts"/>
              </a:endParaRPr>
            </a:p>
            <a:p>
              <a:pPr marL="0" marR="0" lvl="1" indent="0" algn="ctr" defTabSz="150962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  <a:sym typeface="Monotype Sorts"/>
                </a:rPr>
                <a:t>표준화</a:t>
              </a:r>
            </a:p>
          </p:txBody>
        </p:sp>
        <p:cxnSp>
          <p:nvCxnSpPr>
            <p:cNvPr id="190" name="직선 화살표 연결선 189"/>
            <p:cNvCxnSpPr>
              <a:stCxn id="175" idx="2"/>
              <a:endCxn id="177" idx="0"/>
            </p:cNvCxnSpPr>
            <p:nvPr/>
          </p:nvCxnSpPr>
          <p:spPr>
            <a:xfrm>
              <a:off x="1381736" y="4338809"/>
              <a:ext cx="0" cy="112417"/>
            </a:xfrm>
            <a:prstGeom prst="straightConnector1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1" name="직선 화살표 연결선 190"/>
            <p:cNvCxnSpPr>
              <a:stCxn id="177" idx="2"/>
              <a:endCxn id="179" idx="0"/>
            </p:cNvCxnSpPr>
            <p:nvPr/>
          </p:nvCxnSpPr>
          <p:spPr>
            <a:xfrm>
              <a:off x="1381736" y="4823609"/>
              <a:ext cx="0" cy="110662"/>
            </a:xfrm>
            <a:prstGeom prst="straightConnector1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2" name="직선 화살표 연결선 191"/>
            <p:cNvCxnSpPr>
              <a:stCxn id="179" idx="2"/>
              <a:endCxn id="178" idx="0"/>
            </p:cNvCxnSpPr>
            <p:nvPr/>
          </p:nvCxnSpPr>
          <p:spPr>
            <a:xfrm>
              <a:off x="1381736" y="5310168"/>
              <a:ext cx="0" cy="110660"/>
            </a:xfrm>
            <a:prstGeom prst="straightConnector1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3" name="꺾인 연결선 192"/>
            <p:cNvCxnSpPr>
              <a:stCxn id="178" idx="3"/>
              <a:endCxn id="174" idx="1"/>
            </p:cNvCxnSpPr>
            <p:nvPr/>
          </p:nvCxnSpPr>
          <p:spPr>
            <a:xfrm flipV="1">
              <a:off x="1887378" y="4139444"/>
              <a:ext cx="278027" cy="1466698"/>
            </a:xfrm>
            <a:prstGeom prst="bentConnector3">
              <a:avLst>
                <a:gd name="adj1" fmla="val 30815"/>
              </a:avLst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" name="꺾인 연결선 193"/>
            <p:cNvCxnSpPr>
              <a:stCxn id="176" idx="3"/>
              <a:endCxn id="182" idx="1"/>
            </p:cNvCxnSpPr>
            <p:nvPr/>
          </p:nvCxnSpPr>
          <p:spPr>
            <a:xfrm flipV="1">
              <a:off x="3246960" y="4139444"/>
              <a:ext cx="145123" cy="773749"/>
            </a:xfrm>
            <a:prstGeom prst="bentConnector3">
              <a:avLst>
                <a:gd name="adj1" fmla="val 23747"/>
              </a:avLst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" name="꺾인 연결선 194"/>
            <p:cNvCxnSpPr>
              <a:stCxn id="181" idx="3"/>
              <a:endCxn id="184" idx="1"/>
            </p:cNvCxnSpPr>
            <p:nvPr/>
          </p:nvCxnSpPr>
          <p:spPr>
            <a:xfrm flipV="1">
              <a:off x="4488914" y="4139444"/>
              <a:ext cx="319273" cy="773749"/>
            </a:xfrm>
            <a:prstGeom prst="bentConnector3">
              <a:avLst>
                <a:gd name="adj1" fmla="val 50000"/>
              </a:avLst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6" name="꺾인 연결선 130"/>
            <p:cNvCxnSpPr>
              <a:stCxn id="173" idx="0"/>
              <a:endCxn id="178" idx="1"/>
            </p:cNvCxnSpPr>
            <p:nvPr/>
          </p:nvCxnSpPr>
          <p:spPr>
            <a:xfrm rot="16200000" flipV="1">
              <a:off x="2124234" y="4358003"/>
              <a:ext cx="639161" cy="3135439"/>
            </a:xfrm>
            <a:prstGeom prst="bentConnector4">
              <a:avLst>
                <a:gd name="adj1" fmla="val 35503"/>
                <a:gd name="adj2" fmla="val 103160"/>
              </a:avLst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7" name="Shape 465"/>
            <p:cNvCxnSpPr>
              <a:stCxn id="183" idx="2"/>
              <a:endCxn id="173" idx="3"/>
            </p:cNvCxnSpPr>
            <p:nvPr/>
          </p:nvCxnSpPr>
          <p:spPr>
            <a:xfrm rot="16200000" flipH="1">
              <a:off x="3964820" y="5767134"/>
              <a:ext cx="843488" cy="892130"/>
            </a:xfrm>
            <a:prstGeom prst="bentConnector4">
              <a:avLst>
                <a:gd name="adj1" fmla="val 26903"/>
                <a:gd name="adj2" fmla="val 125624"/>
              </a:avLst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98" name="Group 13"/>
            <p:cNvGrpSpPr>
              <a:grpSpLocks/>
            </p:cNvGrpSpPr>
            <p:nvPr/>
          </p:nvGrpSpPr>
          <p:grpSpPr bwMode="auto">
            <a:xfrm>
              <a:off x="762166" y="3582442"/>
              <a:ext cx="6190109" cy="324036"/>
              <a:chOff x="402" y="1873"/>
              <a:chExt cx="3503" cy="228"/>
            </a:xfrm>
          </p:grpSpPr>
          <p:sp>
            <p:nvSpPr>
              <p:cNvPr id="227" name="AutoShape 11"/>
              <p:cNvSpPr>
                <a:spLocks noChangeArrowheads="1"/>
              </p:cNvSpPr>
              <p:nvPr/>
            </p:nvSpPr>
            <p:spPr bwMode="auto">
              <a:xfrm>
                <a:off x="402" y="1874"/>
                <a:ext cx="725" cy="227"/>
              </a:xfrm>
              <a:prstGeom prst="homePlate">
                <a:avLst>
                  <a:gd name="adj" fmla="val 22372"/>
                </a:avLst>
              </a:prstGeom>
              <a:solidFill>
                <a:srgbClr val="FFFFFF"/>
              </a:solidFill>
              <a:ln w="6350" algn="ctr">
                <a:solidFill>
                  <a:srgbClr val="C9C9C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5400" dir="5400000" algn="ctr" rotWithShape="0">
                        <a:srgbClr val="DDDDDD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선행 연구 결과</a:t>
                </a:r>
              </a:p>
            </p:txBody>
          </p:sp>
          <p:sp>
            <p:nvSpPr>
              <p:cNvPr id="228" name="AutoShape 15" descr="도형-30"/>
              <p:cNvSpPr>
                <a:spLocks noChangeArrowheads="1"/>
              </p:cNvSpPr>
              <p:nvPr/>
            </p:nvSpPr>
            <p:spPr bwMode="gray">
              <a:xfrm>
                <a:off x="1097" y="1873"/>
                <a:ext cx="725" cy="227"/>
              </a:xfrm>
              <a:prstGeom prst="chevron">
                <a:avLst>
                  <a:gd name="adj" fmla="val 24028"/>
                </a:avLst>
              </a:prstGeom>
              <a:blipFill dpi="0" rotWithShape="1">
                <a:blip r:embed="rId5"/>
                <a:srcRect/>
                <a:stretch>
                  <a:fillRect/>
                </a:stretch>
              </a:blipFill>
              <a:ln w="6350" algn="ctr">
                <a:solidFill>
                  <a:srgbClr val="DDDD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요구분석</a:t>
                </a:r>
              </a:p>
            </p:txBody>
          </p:sp>
          <p:sp>
            <p:nvSpPr>
              <p:cNvPr id="229" name="AutoShape 15" descr="도형-27"/>
              <p:cNvSpPr>
                <a:spLocks noChangeArrowheads="1"/>
              </p:cNvSpPr>
              <p:nvPr/>
            </p:nvSpPr>
            <p:spPr bwMode="auto">
              <a:xfrm>
                <a:off x="1791" y="1873"/>
                <a:ext cx="725" cy="227"/>
              </a:xfrm>
              <a:prstGeom prst="chevron">
                <a:avLst>
                  <a:gd name="adj" fmla="val 24028"/>
                </a:avLst>
              </a:prstGeom>
              <a:blipFill dpi="0" rotWithShape="1">
                <a:blip r:embed="rId4"/>
                <a:srcRect/>
                <a:stretch>
                  <a:fillRect/>
                </a:stretch>
              </a:blipFill>
              <a:ln w="6350" algn="ctr">
                <a:solidFill>
                  <a:srgbClr val="80B8D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설계</a:t>
                </a:r>
              </a:p>
            </p:txBody>
          </p:sp>
          <p:sp>
            <p:nvSpPr>
              <p:cNvPr id="230" name="AutoShape 15" descr="도형-28"/>
              <p:cNvSpPr>
                <a:spLocks noChangeArrowheads="1"/>
              </p:cNvSpPr>
              <p:nvPr/>
            </p:nvSpPr>
            <p:spPr bwMode="auto">
              <a:xfrm>
                <a:off x="2486" y="1873"/>
                <a:ext cx="725" cy="227"/>
              </a:xfrm>
              <a:prstGeom prst="chevron">
                <a:avLst>
                  <a:gd name="adj" fmla="val 24028"/>
                </a:avLst>
              </a:prstGeom>
              <a:blipFill dpi="0" rotWithShape="1">
                <a:blip r:embed="rId6"/>
                <a:srcRect/>
                <a:stretch>
                  <a:fillRect/>
                </a:stretch>
              </a:blipFill>
              <a:ln w="6350" algn="ctr">
                <a:solidFill>
                  <a:srgbClr val="80B8D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42975" eaLnBrk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구현</a:t>
                </a:r>
              </a:p>
            </p:txBody>
          </p:sp>
          <p:sp>
            <p:nvSpPr>
              <p:cNvPr id="231" name="AutoShape 15" descr="도형-29"/>
              <p:cNvSpPr>
                <a:spLocks noChangeArrowheads="1"/>
              </p:cNvSpPr>
              <p:nvPr/>
            </p:nvSpPr>
            <p:spPr bwMode="auto">
              <a:xfrm>
                <a:off x="3180" y="1873"/>
                <a:ext cx="725" cy="227"/>
              </a:xfrm>
              <a:prstGeom prst="chevron">
                <a:avLst>
                  <a:gd name="adj" fmla="val 24028"/>
                </a:avLst>
              </a:prstGeom>
              <a:blipFill dpi="0" rotWithShape="1">
                <a:blip r:embed="rId7"/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42975" eaLnBrk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시험</a:t>
                </a:r>
              </a:p>
            </p:txBody>
          </p:sp>
        </p:grpSp>
        <p:cxnSp>
          <p:nvCxnSpPr>
            <p:cNvPr id="199" name="직선 연결선 198"/>
            <p:cNvCxnSpPr>
              <a:stCxn id="174" idx="2"/>
              <a:endCxn id="176" idx="0"/>
            </p:cNvCxnSpPr>
            <p:nvPr/>
          </p:nvCxnSpPr>
          <p:spPr bwMode="auto">
            <a:xfrm>
              <a:off x="2635912" y="4312461"/>
              <a:ext cx="0" cy="378531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0" name="직선 연결선 199"/>
            <p:cNvCxnSpPr>
              <a:stCxn id="176" idx="2"/>
              <a:endCxn id="180" idx="0"/>
            </p:cNvCxnSpPr>
            <p:nvPr/>
          </p:nvCxnSpPr>
          <p:spPr bwMode="auto">
            <a:xfrm>
              <a:off x="2635912" y="5135393"/>
              <a:ext cx="0" cy="311783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1" name="꺾인 연결선 200"/>
            <p:cNvCxnSpPr>
              <a:stCxn id="186" idx="3"/>
              <a:endCxn id="187" idx="1"/>
            </p:cNvCxnSpPr>
            <p:nvPr/>
          </p:nvCxnSpPr>
          <p:spPr bwMode="auto">
            <a:xfrm flipV="1">
              <a:off x="5680457" y="4139444"/>
              <a:ext cx="328439" cy="1479872"/>
            </a:xfrm>
            <a:prstGeom prst="bentConnector3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2" name="직선 연결선 201"/>
            <p:cNvCxnSpPr>
              <a:stCxn id="184" idx="2"/>
              <a:endCxn id="185" idx="0"/>
            </p:cNvCxnSpPr>
            <p:nvPr/>
          </p:nvCxnSpPr>
          <p:spPr bwMode="auto">
            <a:xfrm>
              <a:off x="5244322" y="4312461"/>
              <a:ext cx="0" cy="428592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3" name="직선 연결선 202"/>
            <p:cNvCxnSpPr>
              <a:stCxn id="185" idx="2"/>
              <a:endCxn id="186" idx="0"/>
            </p:cNvCxnSpPr>
            <p:nvPr/>
          </p:nvCxnSpPr>
          <p:spPr bwMode="auto">
            <a:xfrm>
              <a:off x="5244322" y="5085332"/>
              <a:ext cx="0" cy="361844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4" name="직선 연결선 203"/>
            <p:cNvCxnSpPr>
              <a:stCxn id="187" idx="2"/>
              <a:endCxn id="188" idx="0"/>
            </p:cNvCxnSpPr>
            <p:nvPr/>
          </p:nvCxnSpPr>
          <p:spPr bwMode="auto">
            <a:xfrm>
              <a:off x="6444268" y="4312461"/>
              <a:ext cx="0" cy="428592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5" name="직선 연결선 204"/>
            <p:cNvCxnSpPr>
              <a:stCxn id="188" idx="2"/>
              <a:endCxn id="189" idx="0"/>
            </p:cNvCxnSpPr>
            <p:nvPr/>
          </p:nvCxnSpPr>
          <p:spPr bwMode="auto">
            <a:xfrm>
              <a:off x="6444268" y="5085332"/>
              <a:ext cx="0" cy="361844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6" name="직선 연결선 205"/>
            <p:cNvCxnSpPr>
              <a:stCxn id="181" idx="2"/>
              <a:endCxn id="183" idx="0"/>
            </p:cNvCxnSpPr>
            <p:nvPr/>
          </p:nvCxnSpPr>
          <p:spPr bwMode="auto">
            <a:xfrm>
              <a:off x="3940499" y="5085332"/>
              <a:ext cx="0" cy="361844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7" name="LcShp 62"/>
            <p:cNvSpPr txBox="1">
              <a:spLocks noChangeArrowheads="1"/>
            </p:cNvSpPr>
            <p:nvPr/>
          </p:nvSpPr>
          <p:spPr bwMode="auto">
            <a:xfrm>
              <a:off x="2688590" y="5155916"/>
              <a:ext cx="204033" cy="89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defTabSz="942975" eaLnBrk="0" fontAlgn="ctr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18EBB"/>
                  </a:solidFill>
                  <a:effectLst/>
                  <a:uLnTx/>
                  <a:uFillTx/>
                </a:rPr>
                <a:t>No</a:t>
              </a:r>
            </a:p>
          </p:txBody>
        </p:sp>
        <p:sp>
          <p:nvSpPr>
            <p:cNvPr id="208" name="LcShp 61"/>
            <p:cNvSpPr txBox="1">
              <a:spLocks noChangeArrowheads="1"/>
            </p:cNvSpPr>
            <p:nvPr/>
          </p:nvSpPr>
          <p:spPr bwMode="auto">
            <a:xfrm>
              <a:off x="3054350" y="4493929"/>
              <a:ext cx="269149" cy="89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defTabSz="942975" eaLnBrk="0" fontAlgn="ctr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18EBB"/>
                  </a:solidFill>
                  <a:effectLst/>
                  <a:uLnTx/>
                  <a:uFillTx/>
                </a:rPr>
                <a:t>Yes</a:t>
              </a:r>
            </a:p>
          </p:txBody>
        </p:sp>
        <p:cxnSp>
          <p:nvCxnSpPr>
            <p:cNvPr id="209" name="꺾인 연결선 208"/>
            <p:cNvCxnSpPr>
              <a:stCxn id="189" idx="2"/>
              <a:endCxn id="172" idx="3"/>
            </p:cNvCxnSpPr>
            <p:nvPr/>
          </p:nvCxnSpPr>
          <p:spPr bwMode="auto">
            <a:xfrm rot="16200000" flipH="1">
              <a:off x="6110362" y="6125361"/>
              <a:ext cx="843488" cy="175676"/>
            </a:xfrm>
            <a:prstGeom prst="bentConnector4">
              <a:avLst>
                <a:gd name="adj1" fmla="val 29378"/>
                <a:gd name="adj2" fmla="val 217463"/>
              </a:avLst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0" name="직선 연결선 209"/>
            <p:cNvCxnSpPr>
              <a:stCxn id="173" idx="1"/>
              <a:endCxn id="171" idx="3"/>
            </p:cNvCxnSpPr>
            <p:nvPr/>
          </p:nvCxnSpPr>
          <p:spPr bwMode="auto">
            <a:xfrm flipH="1" flipV="1">
              <a:off x="2286087" y="6634942"/>
              <a:ext cx="904350" cy="1"/>
            </a:xfrm>
            <a:prstGeom prst="line">
              <a:avLst/>
            </a:prstGeom>
            <a:noFill/>
            <a:ln w="6350">
              <a:solidFill>
                <a:srgbClr val="80808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1" name="LcShp 31"/>
            <p:cNvSpPr txBox="1">
              <a:spLocks noChangeArrowheads="1"/>
            </p:cNvSpPr>
            <p:nvPr/>
          </p:nvSpPr>
          <p:spPr bwMode="auto">
            <a:xfrm>
              <a:off x="2414762" y="6405864"/>
              <a:ext cx="677217" cy="176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942975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94297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42975" eaLnBrk="0" fontAlgn="ctr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체계 적용</a:t>
              </a:r>
            </a:p>
            <a:p>
              <a:pPr marL="0" marR="0" lvl="0" indent="0" algn="ctr" defTabSz="942975" eaLnBrk="0" fontAlgn="ctr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결과 반영</a:t>
              </a:r>
            </a:p>
          </p:txBody>
        </p:sp>
        <p:grpSp>
          <p:nvGrpSpPr>
            <p:cNvPr id="212" name="Group 268"/>
            <p:cNvGrpSpPr>
              <a:grpSpLocks/>
            </p:cNvGrpSpPr>
            <p:nvPr/>
          </p:nvGrpSpPr>
          <p:grpSpPr bwMode="auto">
            <a:xfrm>
              <a:off x="828993" y="5367573"/>
              <a:ext cx="171450" cy="180975"/>
              <a:chOff x="2835" y="5409"/>
              <a:chExt cx="108" cy="114"/>
            </a:xfrm>
          </p:grpSpPr>
          <p:pic>
            <p:nvPicPr>
              <p:cNvPr id="225" name="Picture 269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52"/>
              <a:stretch>
                <a:fillRect/>
              </a:stretch>
            </p:blipFill>
            <p:spPr bwMode="auto">
              <a:xfrm>
                <a:off x="2835" y="5409"/>
                <a:ext cx="108" cy="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26" name="Rectangle 270"/>
              <p:cNvSpPr>
                <a:spLocks noChangeArrowheads="1"/>
              </p:cNvSpPr>
              <p:nvPr/>
            </p:nvSpPr>
            <p:spPr bwMode="auto">
              <a:xfrm>
                <a:off x="2858" y="5422"/>
                <a:ext cx="63" cy="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1</a:t>
                </a:r>
              </a:p>
            </p:txBody>
          </p:sp>
        </p:grpSp>
        <p:grpSp>
          <p:nvGrpSpPr>
            <p:cNvPr id="213" name="Group 268"/>
            <p:cNvGrpSpPr>
              <a:grpSpLocks/>
            </p:cNvGrpSpPr>
            <p:nvPr/>
          </p:nvGrpSpPr>
          <p:grpSpPr bwMode="auto">
            <a:xfrm>
              <a:off x="2124393" y="5367573"/>
              <a:ext cx="171450" cy="180975"/>
              <a:chOff x="2835" y="5409"/>
              <a:chExt cx="108" cy="114"/>
            </a:xfrm>
          </p:grpSpPr>
          <p:pic>
            <p:nvPicPr>
              <p:cNvPr id="223" name="Picture 269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52"/>
              <a:stretch>
                <a:fillRect/>
              </a:stretch>
            </p:blipFill>
            <p:spPr bwMode="auto">
              <a:xfrm>
                <a:off x="2835" y="5409"/>
                <a:ext cx="108" cy="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24" name="Rectangle 270"/>
              <p:cNvSpPr>
                <a:spLocks noChangeArrowheads="1"/>
              </p:cNvSpPr>
              <p:nvPr/>
            </p:nvSpPr>
            <p:spPr bwMode="auto">
              <a:xfrm>
                <a:off x="2858" y="5422"/>
                <a:ext cx="63" cy="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2</a:t>
                </a:r>
              </a:p>
            </p:txBody>
          </p:sp>
        </p:grpSp>
        <p:grpSp>
          <p:nvGrpSpPr>
            <p:cNvPr id="214" name="Group 268"/>
            <p:cNvGrpSpPr>
              <a:grpSpLocks/>
            </p:cNvGrpSpPr>
            <p:nvPr/>
          </p:nvGrpSpPr>
          <p:grpSpPr bwMode="auto">
            <a:xfrm>
              <a:off x="3351213" y="5367573"/>
              <a:ext cx="171450" cy="180975"/>
              <a:chOff x="2835" y="5409"/>
              <a:chExt cx="108" cy="114"/>
            </a:xfrm>
          </p:grpSpPr>
          <p:pic>
            <p:nvPicPr>
              <p:cNvPr id="221" name="Picture 269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52"/>
              <a:stretch>
                <a:fillRect/>
              </a:stretch>
            </p:blipFill>
            <p:spPr bwMode="auto">
              <a:xfrm>
                <a:off x="2835" y="5409"/>
                <a:ext cx="108" cy="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22" name="Rectangle 270"/>
              <p:cNvSpPr>
                <a:spLocks noChangeArrowheads="1"/>
              </p:cNvSpPr>
              <p:nvPr/>
            </p:nvSpPr>
            <p:spPr bwMode="auto">
              <a:xfrm>
                <a:off x="2857" y="5422"/>
                <a:ext cx="63" cy="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3</a:t>
                </a:r>
              </a:p>
            </p:txBody>
          </p:sp>
        </p:grpSp>
        <p:grpSp>
          <p:nvGrpSpPr>
            <p:cNvPr id="215" name="Group 268"/>
            <p:cNvGrpSpPr>
              <a:grpSpLocks/>
            </p:cNvGrpSpPr>
            <p:nvPr/>
          </p:nvGrpSpPr>
          <p:grpSpPr bwMode="auto">
            <a:xfrm>
              <a:off x="4768533" y="5367573"/>
              <a:ext cx="171450" cy="180975"/>
              <a:chOff x="2835" y="5409"/>
              <a:chExt cx="108" cy="114"/>
            </a:xfrm>
          </p:grpSpPr>
          <p:pic>
            <p:nvPicPr>
              <p:cNvPr id="219" name="Picture 269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52"/>
              <a:stretch>
                <a:fillRect/>
              </a:stretch>
            </p:blipFill>
            <p:spPr bwMode="auto">
              <a:xfrm>
                <a:off x="2835" y="5409"/>
                <a:ext cx="108" cy="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20" name="Rectangle 270"/>
              <p:cNvSpPr>
                <a:spLocks noChangeArrowheads="1"/>
              </p:cNvSpPr>
              <p:nvPr/>
            </p:nvSpPr>
            <p:spPr bwMode="auto">
              <a:xfrm>
                <a:off x="2858" y="5422"/>
                <a:ext cx="63" cy="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4</a:t>
                </a:r>
              </a:p>
            </p:txBody>
          </p:sp>
        </p:grpSp>
        <p:grpSp>
          <p:nvGrpSpPr>
            <p:cNvPr id="216" name="Group 268"/>
            <p:cNvGrpSpPr>
              <a:grpSpLocks/>
            </p:cNvGrpSpPr>
            <p:nvPr/>
          </p:nvGrpSpPr>
          <p:grpSpPr bwMode="auto">
            <a:xfrm>
              <a:off x="5972493" y="5367573"/>
              <a:ext cx="171450" cy="180975"/>
              <a:chOff x="2835" y="5409"/>
              <a:chExt cx="108" cy="114"/>
            </a:xfrm>
          </p:grpSpPr>
          <p:pic>
            <p:nvPicPr>
              <p:cNvPr id="217" name="Picture 269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52"/>
              <a:stretch>
                <a:fillRect/>
              </a:stretch>
            </p:blipFill>
            <p:spPr bwMode="auto">
              <a:xfrm>
                <a:off x="2835" y="5409"/>
                <a:ext cx="108" cy="1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8" name="Rectangle 270"/>
              <p:cNvSpPr>
                <a:spLocks noChangeArrowheads="1"/>
              </p:cNvSpPr>
              <p:nvPr/>
            </p:nvSpPr>
            <p:spPr bwMode="auto">
              <a:xfrm>
                <a:off x="2858" y="5422"/>
                <a:ext cx="63" cy="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5</a:t>
                </a:r>
              </a:p>
            </p:txBody>
          </p:sp>
        </p:grpSp>
      </p:grpSp>
      <p:sp>
        <p:nvSpPr>
          <p:cNvPr id="260" name="직사각형 259"/>
          <p:cNvSpPr/>
          <p:nvPr/>
        </p:nvSpPr>
        <p:spPr bwMode="auto">
          <a:xfrm>
            <a:off x="414339" y="1366838"/>
            <a:ext cx="4869688" cy="5807454"/>
          </a:xfrm>
          <a:prstGeom prst="rect">
            <a:avLst/>
          </a:prstGeom>
          <a:solidFill>
            <a:schemeClr val="bg1"/>
          </a:solidFill>
          <a:ln w="12700">
            <a:solidFill>
              <a:srgbClr val="84B2E4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1" name="직사각형 260"/>
          <p:cNvSpPr/>
          <p:nvPr/>
        </p:nvSpPr>
        <p:spPr bwMode="auto">
          <a:xfrm>
            <a:off x="414348" y="1366837"/>
            <a:ext cx="4873103" cy="445804"/>
          </a:xfrm>
          <a:prstGeom prst="rect">
            <a:avLst/>
          </a:prstGeom>
          <a:gradFill flip="none" rotWithShape="1">
            <a:gsLst>
              <a:gs pos="0">
                <a:srgbClr val="72A6E0"/>
              </a:gs>
              <a:gs pos="98000">
                <a:srgbClr val="2C79CE"/>
              </a:gs>
              <a:gs pos="100000">
                <a:srgbClr val="2D417B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378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2" name="사다리꼴 261"/>
          <p:cNvSpPr/>
          <p:nvPr/>
        </p:nvSpPr>
        <p:spPr bwMode="auto">
          <a:xfrm flipV="1">
            <a:off x="422878" y="1373679"/>
            <a:ext cx="4854316" cy="27329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3" name="TextBox 262"/>
          <p:cNvSpPr txBox="1"/>
          <p:nvPr/>
        </p:nvSpPr>
        <p:spPr bwMode="auto">
          <a:xfrm>
            <a:off x="437484" y="1374940"/>
            <a:ext cx="4826819" cy="369257"/>
          </a:xfrm>
          <a:prstGeom prst="rect">
            <a:avLst/>
          </a:prstGeom>
          <a:noFill/>
          <a:effectLst/>
        </p:spPr>
        <p:txBody>
          <a:bodyPr wrap="none" lIns="91369" tIns="45683" rIns="91369" bIns="45683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913681">
              <a:defRPr/>
            </a:pP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국방</a:t>
            </a:r>
            <a:r>
              <a:rPr lang="en-US" altLang="ko-KR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CBD </a:t>
            </a: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방법론 테일러링 및 적용 경험 활용</a:t>
            </a:r>
          </a:p>
        </p:txBody>
      </p:sp>
      <p:pic>
        <p:nvPicPr>
          <p:cNvPr id="26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422800" y="1368301"/>
            <a:ext cx="793732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5" name="직사각형 264"/>
          <p:cNvSpPr/>
          <p:nvPr/>
        </p:nvSpPr>
        <p:spPr bwMode="auto">
          <a:xfrm>
            <a:off x="422878" y="7150654"/>
            <a:ext cx="4861149" cy="45719"/>
          </a:xfrm>
          <a:prstGeom prst="rect">
            <a:avLst/>
          </a:prstGeom>
          <a:solidFill>
            <a:srgbClr val="84B2E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 indent="-159096" algn="ctr" defTabSz="1018212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519112" y="2812748"/>
            <a:ext cx="4777226" cy="4193252"/>
            <a:chOff x="684226" y="7794910"/>
            <a:chExt cx="6300700" cy="2268252"/>
          </a:xfrm>
        </p:grpSpPr>
        <p:grpSp>
          <p:nvGrpSpPr>
            <p:cNvPr id="117" name="Group 193"/>
            <p:cNvGrpSpPr>
              <a:grpSpLocks/>
            </p:cNvGrpSpPr>
            <p:nvPr/>
          </p:nvGrpSpPr>
          <p:grpSpPr bwMode="auto">
            <a:xfrm>
              <a:off x="684226" y="7794910"/>
              <a:ext cx="973202" cy="2268252"/>
              <a:chOff x="461" y="2121"/>
              <a:chExt cx="948" cy="2416"/>
            </a:xfrm>
          </p:grpSpPr>
          <p:sp>
            <p:nvSpPr>
              <p:cNvPr id="166" name="S24"/>
              <p:cNvSpPr>
                <a:spLocks noChangeArrowheads="1"/>
              </p:cNvSpPr>
              <p:nvPr/>
            </p:nvSpPr>
            <p:spPr bwMode="auto">
              <a:xfrm>
                <a:off x="461" y="2121"/>
                <a:ext cx="948" cy="241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7" name="S25"/>
              <p:cNvSpPr>
                <a:spLocks noChangeArrowheads="1"/>
              </p:cNvSpPr>
              <p:nvPr/>
            </p:nvSpPr>
            <p:spPr bwMode="auto">
              <a:xfrm>
                <a:off x="1362" y="2121"/>
                <a:ext cx="47" cy="2416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B0B0B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3" name="Group 687"/>
            <p:cNvGrpSpPr>
              <a:grpSpLocks/>
            </p:cNvGrpSpPr>
            <p:nvPr/>
          </p:nvGrpSpPr>
          <p:grpSpPr bwMode="auto">
            <a:xfrm>
              <a:off x="718759" y="7897252"/>
              <a:ext cx="999688" cy="365710"/>
              <a:chOff x="414" y="3483"/>
              <a:chExt cx="983" cy="118"/>
            </a:xfrm>
          </p:grpSpPr>
          <p:grpSp>
            <p:nvGrpSpPr>
              <p:cNvPr id="162" name="Group 686"/>
              <p:cNvGrpSpPr>
                <a:grpSpLocks/>
              </p:cNvGrpSpPr>
              <p:nvPr/>
            </p:nvGrpSpPr>
            <p:grpSpPr bwMode="auto">
              <a:xfrm>
                <a:off x="414" y="3483"/>
                <a:ext cx="923" cy="118"/>
                <a:chOff x="414" y="3483"/>
                <a:chExt cx="923" cy="118"/>
              </a:xfrm>
            </p:grpSpPr>
            <p:sp>
              <p:nvSpPr>
                <p:cNvPr id="164" name="S5477"/>
                <p:cNvSpPr>
                  <a:spLocks noChangeArrowheads="1"/>
                </p:cNvSpPr>
                <p:nvPr/>
              </p:nvSpPr>
              <p:spPr bwMode="auto">
                <a:xfrm>
                  <a:off x="414" y="3483"/>
                  <a:ext cx="923" cy="118"/>
                </a:xfrm>
                <a:prstGeom prst="rect">
                  <a:avLst/>
                </a:prstGeom>
                <a:solidFill>
                  <a:srgbClr val="529E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5998" tIns="35998" rIns="35998" bIns="25198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5" name="S5478"/>
                <p:cNvSpPr>
                  <a:spLocks noChangeArrowheads="1"/>
                </p:cNvSpPr>
                <p:nvPr/>
              </p:nvSpPr>
              <p:spPr bwMode="auto">
                <a:xfrm>
                  <a:off x="1269" y="3483"/>
                  <a:ext cx="68" cy="118"/>
                </a:xfrm>
                <a:prstGeom prst="rect">
                  <a:avLst/>
                </a:prstGeom>
                <a:gradFill rotWithShape="1">
                  <a:gsLst>
                    <a:gs pos="0">
                      <a:srgbClr val="529ED2"/>
                    </a:gs>
                    <a:gs pos="100000">
                      <a:srgbClr val="417EA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5998" tIns="35998" rIns="35998" bIns="25198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63" name="S5479"/>
              <p:cNvSpPr>
                <a:spLocks noChangeArrowheads="1"/>
              </p:cNvSpPr>
              <p:nvPr/>
            </p:nvSpPr>
            <p:spPr bwMode="auto">
              <a:xfrm>
                <a:off x="503" y="3530"/>
                <a:ext cx="894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defTabSz="914400" eaLnBrk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개발단계</a:t>
                </a:r>
              </a:p>
            </p:txBody>
          </p:sp>
        </p:grpSp>
        <p:grpSp>
          <p:nvGrpSpPr>
            <p:cNvPr id="124" name="Group 687"/>
            <p:cNvGrpSpPr>
              <a:grpSpLocks/>
            </p:cNvGrpSpPr>
            <p:nvPr/>
          </p:nvGrpSpPr>
          <p:grpSpPr bwMode="auto">
            <a:xfrm>
              <a:off x="718759" y="8955455"/>
              <a:ext cx="1287493" cy="365710"/>
              <a:chOff x="414" y="3483"/>
              <a:chExt cx="1266" cy="118"/>
            </a:xfrm>
          </p:grpSpPr>
          <p:grpSp>
            <p:nvGrpSpPr>
              <p:cNvPr id="158" name="Group 686"/>
              <p:cNvGrpSpPr>
                <a:grpSpLocks/>
              </p:cNvGrpSpPr>
              <p:nvPr/>
            </p:nvGrpSpPr>
            <p:grpSpPr bwMode="auto">
              <a:xfrm>
                <a:off x="414" y="3483"/>
                <a:ext cx="923" cy="118"/>
                <a:chOff x="414" y="3483"/>
                <a:chExt cx="923" cy="118"/>
              </a:xfrm>
            </p:grpSpPr>
            <p:sp>
              <p:nvSpPr>
                <p:cNvPr id="160" name="S5477"/>
                <p:cNvSpPr>
                  <a:spLocks noChangeArrowheads="1"/>
                </p:cNvSpPr>
                <p:nvPr/>
              </p:nvSpPr>
              <p:spPr bwMode="auto">
                <a:xfrm>
                  <a:off x="414" y="3483"/>
                  <a:ext cx="923" cy="118"/>
                </a:xfrm>
                <a:prstGeom prst="rect">
                  <a:avLst/>
                </a:prstGeom>
                <a:solidFill>
                  <a:srgbClr val="529E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5998" tIns="35998" rIns="35998" bIns="25198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1" name="S5478"/>
                <p:cNvSpPr>
                  <a:spLocks noChangeArrowheads="1"/>
                </p:cNvSpPr>
                <p:nvPr/>
              </p:nvSpPr>
              <p:spPr bwMode="auto">
                <a:xfrm>
                  <a:off x="1269" y="3483"/>
                  <a:ext cx="68" cy="118"/>
                </a:xfrm>
                <a:prstGeom prst="rect">
                  <a:avLst/>
                </a:prstGeom>
                <a:gradFill rotWithShape="1">
                  <a:gsLst>
                    <a:gs pos="0">
                      <a:srgbClr val="529ED2"/>
                    </a:gs>
                    <a:gs pos="100000">
                      <a:srgbClr val="417EA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5998" tIns="35998" rIns="35998" bIns="25198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59" name="S5479"/>
              <p:cNvSpPr>
                <a:spLocks noChangeArrowheads="1"/>
              </p:cNvSpPr>
              <p:nvPr/>
            </p:nvSpPr>
            <p:spPr bwMode="auto">
              <a:xfrm>
                <a:off x="529" y="3528"/>
                <a:ext cx="1151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defTabSz="914400" eaLnBrk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활동사항</a:t>
                </a:r>
              </a:p>
            </p:txBody>
          </p:sp>
        </p:grpSp>
        <p:sp>
          <p:nvSpPr>
            <p:cNvPr id="125" name="S20"/>
            <p:cNvSpPr>
              <a:spLocks noChangeArrowheads="1"/>
            </p:cNvSpPr>
            <p:nvPr/>
          </p:nvSpPr>
          <p:spPr bwMode="auto">
            <a:xfrm flipH="1">
              <a:off x="1657428" y="7797919"/>
              <a:ext cx="5327498" cy="39303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S20"/>
            <p:cNvSpPr>
              <a:spLocks noChangeArrowheads="1"/>
            </p:cNvSpPr>
            <p:nvPr/>
          </p:nvSpPr>
          <p:spPr bwMode="auto">
            <a:xfrm flipH="1">
              <a:off x="1657428" y="8226958"/>
              <a:ext cx="5327498" cy="9001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S20"/>
            <p:cNvSpPr>
              <a:spLocks noChangeArrowheads="1"/>
            </p:cNvSpPr>
            <p:nvPr/>
          </p:nvSpPr>
          <p:spPr bwMode="auto">
            <a:xfrm flipH="1">
              <a:off x="1657428" y="9163062"/>
              <a:ext cx="5327498" cy="9001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28" name="Group 687"/>
            <p:cNvGrpSpPr>
              <a:grpSpLocks/>
            </p:cNvGrpSpPr>
            <p:nvPr/>
          </p:nvGrpSpPr>
          <p:grpSpPr bwMode="auto">
            <a:xfrm>
              <a:off x="718759" y="9523102"/>
              <a:ext cx="1333256" cy="365710"/>
              <a:chOff x="414" y="3483"/>
              <a:chExt cx="1311" cy="118"/>
            </a:xfrm>
          </p:grpSpPr>
          <p:grpSp>
            <p:nvGrpSpPr>
              <p:cNvPr id="150" name="Group 686"/>
              <p:cNvGrpSpPr>
                <a:grpSpLocks/>
              </p:cNvGrpSpPr>
              <p:nvPr/>
            </p:nvGrpSpPr>
            <p:grpSpPr bwMode="auto">
              <a:xfrm>
                <a:off x="414" y="3483"/>
                <a:ext cx="923" cy="118"/>
                <a:chOff x="414" y="3483"/>
                <a:chExt cx="923" cy="118"/>
              </a:xfrm>
            </p:grpSpPr>
            <p:sp>
              <p:nvSpPr>
                <p:cNvPr id="153" name="S5477"/>
                <p:cNvSpPr>
                  <a:spLocks noChangeArrowheads="1"/>
                </p:cNvSpPr>
                <p:nvPr/>
              </p:nvSpPr>
              <p:spPr bwMode="auto">
                <a:xfrm>
                  <a:off x="414" y="3483"/>
                  <a:ext cx="923" cy="118"/>
                </a:xfrm>
                <a:prstGeom prst="rect">
                  <a:avLst/>
                </a:prstGeom>
                <a:solidFill>
                  <a:srgbClr val="529E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5998" tIns="35998" rIns="35998" bIns="25198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7" name="S5478"/>
                <p:cNvSpPr>
                  <a:spLocks noChangeArrowheads="1"/>
                </p:cNvSpPr>
                <p:nvPr/>
              </p:nvSpPr>
              <p:spPr bwMode="auto">
                <a:xfrm>
                  <a:off x="1269" y="3483"/>
                  <a:ext cx="68" cy="118"/>
                </a:xfrm>
                <a:prstGeom prst="rect">
                  <a:avLst/>
                </a:prstGeom>
                <a:gradFill rotWithShape="1">
                  <a:gsLst>
                    <a:gs pos="0">
                      <a:srgbClr val="529ED2"/>
                    </a:gs>
                    <a:gs pos="100000">
                      <a:srgbClr val="417EA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5998" tIns="35998" rIns="35998" bIns="25198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52" name="S5479"/>
              <p:cNvSpPr>
                <a:spLocks noChangeArrowheads="1"/>
              </p:cNvSpPr>
              <p:nvPr/>
            </p:nvSpPr>
            <p:spPr bwMode="auto">
              <a:xfrm>
                <a:off x="615" y="3527"/>
                <a:ext cx="1110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defTabSz="914400" eaLnBrk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산출물</a:t>
                </a:r>
              </a:p>
            </p:txBody>
          </p:sp>
        </p:grpSp>
        <p:grpSp>
          <p:nvGrpSpPr>
            <p:cNvPr id="129" name="Group 584"/>
            <p:cNvGrpSpPr>
              <a:grpSpLocks/>
            </p:cNvGrpSpPr>
            <p:nvPr/>
          </p:nvGrpSpPr>
          <p:grpSpPr bwMode="auto">
            <a:xfrm>
              <a:off x="1764345" y="7830914"/>
              <a:ext cx="5065712" cy="304685"/>
              <a:chOff x="454" y="2393"/>
              <a:chExt cx="3191" cy="272"/>
            </a:xfrm>
          </p:grpSpPr>
          <p:sp>
            <p:nvSpPr>
              <p:cNvPr id="146" name="AutoShape 15"/>
              <p:cNvSpPr>
                <a:spLocks noChangeArrowheads="1"/>
              </p:cNvSpPr>
              <p:nvPr/>
            </p:nvSpPr>
            <p:spPr bwMode="auto">
              <a:xfrm>
                <a:off x="454" y="2393"/>
                <a:ext cx="838" cy="272"/>
              </a:xfrm>
              <a:prstGeom prst="chevron">
                <a:avLst>
                  <a:gd name="adj" fmla="val 33476"/>
                </a:avLst>
              </a:prstGeom>
              <a:solidFill>
                <a:srgbClr val="FFFFFF"/>
              </a:solidFill>
              <a:ln w="6350" algn="ctr">
                <a:solidFill>
                  <a:srgbClr val="C9C9C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5400" dir="5400000" algn="ctr" rotWithShape="0">
                        <a:srgbClr val="DDDDDD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분석 단계</a:t>
                </a:r>
              </a:p>
            </p:txBody>
          </p:sp>
          <p:sp>
            <p:nvSpPr>
              <p:cNvPr id="147" name="AutoShape 15" descr="도형-30"/>
              <p:cNvSpPr>
                <a:spLocks noChangeArrowheads="1"/>
              </p:cNvSpPr>
              <p:nvPr/>
            </p:nvSpPr>
            <p:spPr bwMode="gray">
              <a:xfrm>
                <a:off x="1242" y="2393"/>
                <a:ext cx="838" cy="272"/>
              </a:xfrm>
              <a:prstGeom prst="chevron">
                <a:avLst>
                  <a:gd name="adj" fmla="val 35730"/>
                </a:avLst>
              </a:prstGeom>
              <a:blipFill dpi="0" rotWithShape="1">
                <a:blip r:embed="rId5"/>
                <a:srcRect/>
                <a:stretch>
                  <a:fillRect/>
                </a:stretch>
              </a:blipFill>
              <a:ln w="6350" algn="ctr">
                <a:solidFill>
                  <a:srgbClr val="DDDD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설계 단계</a:t>
                </a:r>
              </a:p>
            </p:txBody>
          </p:sp>
          <p:sp>
            <p:nvSpPr>
              <p:cNvPr id="148" name="AutoShape 15" descr="도형-28"/>
              <p:cNvSpPr>
                <a:spLocks noChangeArrowheads="1"/>
              </p:cNvSpPr>
              <p:nvPr/>
            </p:nvSpPr>
            <p:spPr bwMode="auto">
              <a:xfrm>
                <a:off x="2019" y="2393"/>
                <a:ext cx="838" cy="272"/>
              </a:xfrm>
              <a:prstGeom prst="chevron">
                <a:avLst>
                  <a:gd name="adj" fmla="val 33861"/>
                </a:avLst>
              </a:prstGeom>
              <a:blipFill dpi="0" rotWithShape="1">
                <a:blip r:embed="rId6"/>
                <a:srcRect/>
                <a:stretch>
                  <a:fillRect/>
                </a:stretch>
              </a:blipFill>
              <a:ln w="6350" algn="ctr">
                <a:solidFill>
                  <a:srgbClr val="80B8D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42975" eaLnBrk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구현 및 테스트 단계</a:t>
                </a:r>
              </a:p>
            </p:txBody>
          </p:sp>
          <p:sp>
            <p:nvSpPr>
              <p:cNvPr id="149" name="AutoShape 15" descr="도형-29"/>
              <p:cNvSpPr>
                <a:spLocks noChangeArrowheads="1"/>
              </p:cNvSpPr>
              <p:nvPr/>
            </p:nvSpPr>
            <p:spPr bwMode="auto">
              <a:xfrm>
                <a:off x="2806" y="2393"/>
                <a:ext cx="839" cy="272"/>
              </a:xfrm>
              <a:prstGeom prst="chevron">
                <a:avLst>
                  <a:gd name="adj" fmla="val 31974"/>
                </a:avLst>
              </a:prstGeom>
              <a:blipFill dpi="0" rotWithShape="1">
                <a:blip r:embed="rId7"/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942975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942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ctr" defTabSz="942975" eaLnBrk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인도 단계</a:t>
                </a:r>
              </a:p>
            </p:txBody>
          </p:sp>
        </p:grpSp>
        <p:sp>
          <p:nvSpPr>
            <p:cNvPr id="130" name="Text Box 40"/>
            <p:cNvSpPr txBox="1">
              <a:spLocks noChangeArrowheads="1"/>
            </p:cNvSpPr>
            <p:nvPr/>
          </p:nvSpPr>
          <p:spPr bwMode="auto">
            <a:xfrm>
              <a:off x="1787354" y="8292035"/>
              <a:ext cx="1080120" cy="815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요구사항 식별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아키텍처 정의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요구사항 분석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자료구축 준비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테스트 계획</a:t>
              </a:r>
            </a:p>
          </p:txBody>
        </p:sp>
        <p:grpSp>
          <p:nvGrpSpPr>
            <p:cNvPr id="131" name="그룹 130"/>
            <p:cNvGrpSpPr/>
            <p:nvPr/>
          </p:nvGrpSpPr>
          <p:grpSpPr>
            <a:xfrm>
              <a:off x="2988481" y="8284169"/>
              <a:ext cx="2508250" cy="830114"/>
              <a:chOff x="2988481" y="8428186"/>
              <a:chExt cx="2508250" cy="900100"/>
            </a:xfrm>
          </p:grpSpPr>
          <p:cxnSp>
            <p:nvCxnSpPr>
              <p:cNvPr id="143" name="직선 연결선 142"/>
              <p:cNvCxnSpPr/>
              <p:nvPr/>
            </p:nvCxnSpPr>
            <p:spPr bwMode="auto">
              <a:xfrm>
                <a:off x="2988481" y="8428186"/>
                <a:ext cx="0" cy="900100"/>
              </a:xfrm>
              <a:prstGeom prst="line">
                <a:avLst/>
              </a:prstGeom>
              <a:noFill/>
              <a:ln w="6350">
                <a:solidFill>
                  <a:srgbClr val="B2B2B2"/>
                </a:solidFill>
                <a:prstDash val="dash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4" name="직선 연결선 143"/>
              <p:cNvCxnSpPr/>
              <p:nvPr/>
            </p:nvCxnSpPr>
            <p:spPr bwMode="auto">
              <a:xfrm>
                <a:off x="4252131" y="8428186"/>
                <a:ext cx="0" cy="900100"/>
              </a:xfrm>
              <a:prstGeom prst="line">
                <a:avLst/>
              </a:prstGeom>
              <a:noFill/>
              <a:ln w="6350">
                <a:solidFill>
                  <a:srgbClr val="B2B2B2"/>
                </a:solidFill>
                <a:prstDash val="dash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5" name="직선 연결선 144"/>
              <p:cNvCxnSpPr/>
              <p:nvPr/>
            </p:nvCxnSpPr>
            <p:spPr bwMode="auto">
              <a:xfrm>
                <a:off x="5496731" y="8428186"/>
                <a:ext cx="0" cy="900100"/>
              </a:xfrm>
              <a:prstGeom prst="line">
                <a:avLst/>
              </a:prstGeom>
              <a:noFill/>
              <a:ln w="6350">
                <a:solidFill>
                  <a:srgbClr val="B2B2B2"/>
                </a:solidFill>
                <a:prstDash val="dash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2" name="Text Box 40"/>
            <p:cNvSpPr txBox="1">
              <a:spLocks noChangeArrowheads="1"/>
            </p:cNvSpPr>
            <p:nvPr/>
          </p:nvSpPr>
          <p:spPr bwMode="auto">
            <a:xfrm>
              <a:off x="3044280" y="8287979"/>
              <a:ext cx="1080120" cy="366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개략 설계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상세 설계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시스템 설치 준비</a:t>
              </a:r>
            </a:p>
          </p:txBody>
        </p:sp>
        <p:sp>
          <p:nvSpPr>
            <p:cNvPr id="133" name="Text Box 40"/>
            <p:cNvSpPr txBox="1">
              <a:spLocks noChangeArrowheads="1"/>
            </p:cNvSpPr>
            <p:nvPr/>
          </p:nvSpPr>
          <p:spPr bwMode="auto">
            <a:xfrm>
              <a:off x="4320629" y="8287979"/>
              <a:ext cx="1080120" cy="632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구현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/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단위 테스트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S/W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통합 및 테스트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시스템 통합 및 테스트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지침서 작성</a:t>
              </a:r>
            </a:p>
          </p:txBody>
        </p:sp>
        <p:sp>
          <p:nvSpPr>
            <p:cNvPr id="134" name="Text Box 40"/>
            <p:cNvSpPr txBox="1">
              <a:spLocks noChangeArrowheads="1"/>
            </p:cNvSpPr>
            <p:nvPr/>
          </p:nvSpPr>
          <p:spPr bwMode="auto">
            <a:xfrm>
              <a:off x="5584950" y="8287979"/>
              <a:ext cx="1080120" cy="183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시스템 설치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인수 지원</a:t>
              </a:r>
            </a:p>
          </p:txBody>
        </p:sp>
        <p:sp>
          <p:nvSpPr>
            <p:cNvPr id="135" name="Text Box 40"/>
            <p:cNvSpPr txBox="1">
              <a:spLocks noChangeArrowheads="1"/>
            </p:cNvSpPr>
            <p:nvPr/>
          </p:nvSpPr>
          <p:spPr bwMode="auto">
            <a:xfrm>
              <a:off x="1813424" y="9244536"/>
              <a:ext cx="1080120" cy="632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자료 구축 계획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테스트 계획서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개발계획서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컴포넌트 사용계획 등</a:t>
              </a:r>
            </a:p>
          </p:txBody>
        </p:sp>
        <p:sp>
          <p:nvSpPr>
            <p:cNvPr id="136" name="Text Box 40"/>
            <p:cNvSpPr txBox="1">
              <a:spLocks noChangeArrowheads="1"/>
            </p:cNvSpPr>
            <p:nvPr/>
          </p:nvSpPr>
          <p:spPr bwMode="auto">
            <a:xfrm>
              <a:off x="3070351" y="9240479"/>
              <a:ext cx="1080120" cy="632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체계 설계서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시스템 설치 계획서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요구사항명세서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설계기술서 등</a:t>
              </a:r>
            </a:p>
          </p:txBody>
        </p:sp>
        <p:sp>
          <p:nvSpPr>
            <p:cNvPr id="137" name="Text Box 40"/>
            <p:cNvSpPr txBox="1">
              <a:spLocks noChangeArrowheads="1"/>
            </p:cNvSpPr>
            <p:nvPr/>
          </p:nvSpPr>
          <p:spPr bwMode="auto">
            <a:xfrm>
              <a:off x="4346700" y="9240479"/>
              <a:ext cx="1080120" cy="632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사용자 지침서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운용자 지침서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시험 보고서</a:t>
              </a:r>
            </a:p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산출물 명세서 등</a:t>
              </a:r>
            </a:p>
          </p:txBody>
        </p:sp>
        <p:sp>
          <p:nvSpPr>
            <p:cNvPr id="138" name="Text Box 40"/>
            <p:cNvSpPr txBox="1">
              <a:spLocks noChangeArrowheads="1"/>
            </p:cNvSpPr>
            <p:nvPr/>
          </p:nvSpPr>
          <p:spPr bwMode="auto">
            <a:xfrm>
              <a:off x="5584950" y="9240479"/>
              <a:ext cx="1080120" cy="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6838" marR="0" lvl="0" indent="-96838" algn="l" defTabSz="893763" eaLnBrk="1" fontAlgn="auto" latinLnBrk="0" hangingPunct="1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산출물 제출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>
              <a:off x="2988481" y="9190949"/>
              <a:ext cx="2508250" cy="830114"/>
              <a:chOff x="2988481" y="8428186"/>
              <a:chExt cx="2508250" cy="900100"/>
            </a:xfrm>
          </p:grpSpPr>
          <p:cxnSp>
            <p:nvCxnSpPr>
              <p:cNvPr id="140" name="직선 연결선 139"/>
              <p:cNvCxnSpPr/>
              <p:nvPr/>
            </p:nvCxnSpPr>
            <p:spPr bwMode="auto">
              <a:xfrm>
                <a:off x="2988481" y="8428186"/>
                <a:ext cx="0" cy="900100"/>
              </a:xfrm>
              <a:prstGeom prst="line">
                <a:avLst/>
              </a:prstGeom>
              <a:noFill/>
              <a:ln w="6350">
                <a:solidFill>
                  <a:srgbClr val="B2B2B2"/>
                </a:solidFill>
                <a:prstDash val="dash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1" name="직선 연결선 140"/>
              <p:cNvCxnSpPr/>
              <p:nvPr/>
            </p:nvCxnSpPr>
            <p:spPr bwMode="auto">
              <a:xfrm>
                <a:off x="4252131" y="8428186"/>
                <a:ext cx="0" cy="900100"/>
              </a:xfrm>
              <a:prstGeom prst="line">
                <a:avLst/>
              </a:prstGeom>
              <a:noFill/>
              <a:ln w="6350">
                <a:solidFill>
                  <a:srgbClr val="B2B2B2"/>
                </a:solidFill>
                <a:prstDash val="dash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2" name="직선 연결선 141"/>
              <p:cNvCxnSpPr/>
              <p:nvPr/>
            </p:nvCxnSpPr>
            <p:spPr bwMode="auto">
              <a:xfrm>
                <a:off x="5496731" y="8428186"/>
                <a:ext cx="0" cy="900100"/>
              </a:xfrm>
              <a:prstGeom prst="line">
                <a:avLst/>
              </a:prstGeom>
              <a:noFill/>
              <a:ln w="6350">
                <a:solidFill>
                  <a:srgbClr val="B2B2B2"/>
                </a:solidFill>
                <a:prstDash val="dash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7" name="그룹 6"/>
          <p:cNvGrpSpPr/>
          <p:nvPr/>
        </p:nvGrpSpPr>
        <p:grpSpPr>
          <a:xfrm>
            <a:off x="522339" y="1932063"/>
            <a:ext cx="4614599" cy="762432"/>
            <a:chOff x="587786" y="4347960"/>
            <a:chExt cx="6770701" cy="762432"/>
          </a:xfrm>
        </p:grpSpPr>
        <p:sp>
          <p:nvSpPr>
            <p:cNvPr id="338" name="AutoShape 49"/>
            <p:cNvSpPr>
              <a:spLocks noChangeArrowheads="1"/>
            </p:cNvSpPr>
            <p:nvPr/>
          </p:nvSpPr>
          <p:spPr bwMode="auto">
            <a:xfrm>
              <a:off x="2244731" y="4351784"/>
              <a:ext cx="4708422" cy="74540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2000">
                  <a:srgbClr val="FEFEFE"/>
                </a:gs>
                <a:gs pos="100000">
                  <a:srgbClr val="EAEAEA"/>
                </a:gs>
              </a:gsLst>
              <a:lin ang="108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lang="ko-KR" altLang="ko-KR" sz="8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339" name="그룹 338"/>
            <p:cNvGrpSpPr/>
            <p:nvPr/>
          </p:nvGrpSpPr>
          <p:grpSpPr>
            <a:xfrm>
              <a:off x="587786" y="4347960"/>
              <a:ext cx="1640645" cy="762432"/>
              <a:chOff x="6746402" y="3834397"/>
              <a:chExt cx="1404312" cy="950712"/>
            </a:xfrm>
          </p:grpSpPr>
          <p:sp>
            <p:nvSpPr>
              <p:cNvPr id="340" name="Freeform 8"/>
              <p:cNvSpPr>
                <a:spLocks/>
              </p:cNvSpPr>
              <p:nvPr/>
            </p:nvSpPr>
            <p:spPr bwMode="auto">
              <a:xfrm rot="16200000" flipH="1" flipV="1">
                <a:off x="7386999" y="3194506"/>
                <a:ext cx="123824" cy="1403606"/>
              </a:xfrm>
              <a:custGeom>
                <a:avLst/>
                <a:gdLst>
                  <a:gd name="T0" fmla="*/ 0 w 294"/>
                  <a:gd name="T1" fmla="*/ 0 h 635"/>
                  <a:gd name="T2" fmla="*/ 0 w 294"/>
                  <a:gd name="T3" fmla="*/ 0 h 635"/>
                  <a:gd name="T4" fmla="*/ 0 w 294"/>
                  <a:gd name="T5" fmla="*/ 968702 h 635"/>
                  <a:gd name="T6" fmla="*/ 0 w 294"/>
                  <a:gd name="T7" fmla="*/ 968702 h 6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635"/>
                  <a:gd name="T14" fmla="*/ 294 w 294"/>
                  <a:gd name="T15" fmla="*/ 635 h 6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635">
                    <a:moveTo>
                      <a:pt x="294" y="0"/>
                    </a:moveTo>
                    <a:lnTo>
                      <a:pt x="0" y="0"/>
                    </a:lnTo>
                    <a:lnTo>
                      <a:pt x="0" y="635"/>
                    </a:lnTo>
                    <a:lnTo>
                      <a:pt x="294" y="635"/>
                    </a:lnTo>
                  </a:path>
                </a:pathLst>
              </a:custGeom>
              <a:noFill/>
              <a:ln w="38100">
                <a:solidFill>
                  <a:srgbClr val="689BC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41" name="Freeform 9"/>
              <p:cNvSpPr>
                <a:spLocks/>
              </p:cNvSpPr>
              <p:nvPr/>
            </p:nvSpPr>
            <p:spPr bwMode="auto">
              <a:xfrm rot="5400000" flipH="1">
                <a:off x="7039921" y="3675022"/>
                <a:ext cx="816568" cy="1403606"/>
              </a:xfrm>
              <a:custGeom>
                <a:avLst/>
                <a:gdLst>
                  <a:gd name="T0" fmla="*/ 14 w 294"/>
                  <a:gd name="T1" fmla="*/ 0 h 635"/>
                  <a:gd name="T2" fmla="*/ 0 w 294"/>
                  <a:gd name="T3" fmla="*/ 0 h 635"/>
                  <a:gd name="T4" fmla="*/ 0 w 294"/>
                  <a:gd name="T5" fmla="*/ 968702 h 635"/>
                  <a:gd name="T6" fmla="*/ 14 w 294"/>
                  <a:gd name="T7" fmla="*/ 968702 h 6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635"/>
                  <a:gd name="T14" fmla="*/ 294 w 294"/>
                  <a:gd name="T15" fmla="*/ 635 h 6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635">
                    <a:moveTo>
                      <a:pt x="294" y="0"/>
                    </a:moveTo>
                    <a:lnTo>
                      <a:pt x="0" y="0"/>
                    </a:lnTo>
                    <a:lnTo>
                      <a:pt x="0" y="635"/>
                    </a:lnTo>
                    <a:lnTo>
                      <a:pt x="294" y="635"/>
                    </a:lnTo>
                  </a:path>
                </a:pathLst>
              </a:custGeom>
              <a:noFill/>
              <a:ln w="38100">
                <a:solidFill>
                  <a:srgbClr val="AAC9E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42" name="Rectangle 12"/>
              <p:cNvSpPr>
                <a:spLocks noChangeArrowheads="1"/>
              </p:cNvSpPr>
              <p:nvPr/>
            </p:nvSpPr>
            <p:spPr bwMode="auto">
              <a:xfrm>
                <a:off x="6907117" y="4186940"/>
                <a:ext cx="1117317" cy="276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lvl="1" algn="ctr" defTabSz="1066286" latinLnBrk="0">
                  <a:lnSpc>
                    <a:spcPct val="90000"/>
                  </a:lnSpc>
                  <a:buClr>
                    <a:srgbClr val="000000"/>
                  </a:buClr>
                  <a:buSzPct val="80000"/>
                  <a:tabLst>
                    <a:tab pos="814888" algn="l"/>
                  </a:tabLst>
                  <a:defRPr/>
                </a:pPr>
                <a:r>
                  <a:rPr lang="ko-KR" altLang="en-US" sz="1600" dirty="0">
                    <a:solidFill>
                      <a:srgbClr val="21212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적용 방안</a:t>
                </a:r>
              </a:p>
            </p:txBody>
          </p:sp>
        </p:grpSp>
        <p:sp>
          <p:nvSpPr>
            <p:cNvPr id="343" name="Rectangle 67"/>
            <p:cNvSpPr>
              <a:spLocks noChangeArrowheads="1"/>
            </p:cNvSpPr>
            <p:nvPr/>
          </p:nvSpPr>
          <p:spPr bwMode="auto">
            <a:xfrm>
              <a:off x="2300555" y="4461860"/>
              <a:ext cx="5057932" cy="50013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marL="108000" indent="-85725" defTabSz="914327" fontAlgn="ctr">
                <a:lnSpc>
                  <a:spcPct val="150000"/>
                </a:lnSpc>
                <a:spcBef>
                  <a:spcPts val="300"/>
                </a:spcBef>
                <a:spcAft>
                  <a:spcPct val="0"/>
                </a:spcAft>
                <a:buClr>
                  <a:srgbClr val="808080"/>
                </a:buClr>
                <a:buSzPct val="80000"/>
                <a:buFont typeface="Arial" pitchFamily="34" charset="0"/>
                <a:buChar char="•"/>
                <a:defRPr/>
              </a:pPr>
              <a:r>
                <a:rPr lang="ko-KR" altLang="en-US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소프트웨어와 데이터의 분석 및 설계</a:t>
              </a:r>
              <a:r>
                <a:rPr lang="en-US" altLang="ko-KR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구현에 적용</a:t>
              </a:r>
            </a:p>
            <a:p>
              <a:pPr marL="108000" indent="-85725" defTabSz="914327" fontAlgn="ctr">
                <a:lnSpc>
                  <a:spcPct val="150000"/>
                </a:lnSpc>
                <a:spcBef>
                  <a:spcPts val="300"/>
                </a:spcBef>
                <a:spcAft>
                  <a:spcPct val="0"/>
                </a:spcAft>
                <a:buClr>
                  <a:srgbClr val="808080"/>
                </a:buClr>
                <a:buSzPct val="80000"/>
                <a:buFont typeface="Arial" pitchFamily="34" charset="0"/>
                <a:buChar char="•"/>
                <a:defRPr/>
              </a:pPr>
              <a:r>
                <a:rPr lang="ko-KR" altLang="en-US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본 사업의 규모</a:t>
              </a:r>
              <a:r>
                <a:rPr lang="en-US" altLang="ko-KR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특성을 고려한 테일러링 단계를 거쳐 적용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5240665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그룹 117"/>
          <p:cNvGrpSpPr/>
          <p:nvPr/>
        </p:nvGrpSpPr>
        <p:grpSpPr>
          <a:xfrm>
            <a:off x="838633" y="302066"/>
            <a:ext cx="307778" cy="674806"/>
            <a:chOff x="753806" y="359216"/>
            <a:chExt cx="307778" cy="674806"/>
          </a:xfrm>
        </p:grpSpPr>
        <p:sp>
          <p:nvSpPr>
            <p:cNvPr id="121" name="직사각형 120"/>
            <p:cNvSpPr/>
            <p:nvPr/>
          </p:nvSpPr>
          <p:spPr bwMode="auto">
            <a:xfrm>
              <a:off x="753806" y="359216"/>
              <a:ext cx="307778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25400">
                <a:bevelT w="1270"/>
              </a:sp3d>
            </a:bodyPr>
            <a:lstStyle/>
            <a:p>
              <a:pPr marL="0" lvl="1" algn="ctr" defTabSz="913607">
                <a:defRPr/>
              </a:pPr>
              <a:r>
                <a:rPr lang="ko-KR" altLang="en-US" sz="12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</a:t>
              </a:r>
              <a:endParaRPr lang="en-US" altLang="ko-KR" sz="12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2" name="직사각형 121"/>
            <p:cNvSpPr/>
            <p:nvPr/>
          </p:nvSpPr>
          <p:spPr bwMode="auto">
            <a:xfrm>
              <a:off x="786657" y="603135"/>
              <a:ext cx="211596" cy="43088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25400">
                <a:bevelT w="1270"/>
              </a:sp3d>
            </a:bodyPr>
            <a:lstStyle/>
            <a:p>
              <a:pPr marL="0" lvl="1" algn="ctr" defTabSz="913607">
                <a:defRPr/>
              </a:pPr>
              <a:r>
                <a:rPr lang="en-US" altLang="ko-KR" sz="2800" dirty="0">
                  <a:solidFill>
                    <a:srgbClr val="9BBB59">
                      <a:lumMod val="40000"/>
                      <a:lumOff val="60000"/>
                    </a:srgb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3</a:t>
              </a: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1527818" y="546065"/>
            <a:ext cx="8969122" cy="49244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1083443">
              <a:defRPr/>
            </a:pPr>
            <a:r>
              <a:rPr lang="ko-KR" altLang="en-US" sz="26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국방사업의 상호운용성 수준을 준용하여 확장성</a:t>
            </a:r>
            <a:r>
              <a:rPr lang="en-US" altLang="ko-KR" sz="26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26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재사용성 보장</a:t>
            </a:r>
            <a:endParaRPr lang="en-US" altLang="ko-KR" sz="2600" b="1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45000">
                    <a:srgbClr val="4F81BD">
                      <a:lumMod val="75000"/>
                    </a:srgbClr>
                  </a:gs>
                  <a:gs pos="55000">
                    <a:srgbClr val="4F81BD">
                      <a:lumMod val="75000"/>
                    </a:srgbClr>
                  </a:gs>
                  <a:gs pos="100000">
                    <a:srgbClr val="1F497D">
                      <a:lumMod val="75000"/>
                    </a:srgbClr>
                  </a:gs>
                </a:gsLst>
                <a:lin ang="5400000" scaled="0"/>
              </a:gra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530829" y="271486"/>
            <a:ext cx="7717177" cy="3385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defTabSz="1084296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rgbClr val="9FA7B3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Action3-2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기술표준화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(DITA),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공통운용환경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(COE),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데이터공유환경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(SHADE)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준수</a:t>
            </a:r>
          </a:p>
        </p:txBody>
      </p:sp>
      <p:sp>
        <p:nvSpPr>
          <p:cNvPr id="302" name="직사각형 301"/>
          <p:cNvSpPr/>
          <p:nvPr/>
        </p:nvSpPr>
        <p:spPr bwMode="auto">
          <a:xfrm>
            <a:off x="663718" y="1366842"/>
            <a:ext cx="5680725" cy="2881312"/>
          </a:xfrm>
          <a:prstGeom prst="rect">
            <a:avLst/>
          </a:prstGeom>
          <a:solidFill>
            <a:schemeClr val="bg1"/>
          </a:solidFill>
          <a:ln w="12700">
            <a:solidFill>
              <a:srgbClr val="84B2E4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3" name="직사각형 302"/>
          <p:cNvSpPr/>
          <p:nvPr/>
        </p:nvSpPr>
        <p:spPr bwMode="auto">
          <a:xfrm>
            <a:off x="663727" y="1366837"/>
            <a:ext cx="5680716" cy="445804"/>
          </a:xfrm>
          <a:prstGeom prst="rect">
            <a:avLst/>
          </a:prstGeom>
          <a:gradFill flip="none" rotWithShape="1">
            <a:gsLst>
              <a:gs pos="0">
                <a:srgbClr val="72A6E0"/>
              </a:gs>
              <a:gs pos="98000">
                <a:srgbClr val="2C79CE"/>
              </a:gs>
              <a:gs pos="100000">
                <a:srgbClr val="2D417B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669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4" name="사다리꼴 303"/>
          <p:cNvSpPr/>
          <p:nvPr/>
        </p:nvSpPr>
        <p:spPr bwMode="auto">
          <a:xfrm flipV="1">
            <a:off x="671834" y="1373683"/>
            <a:ext cx="5646112" cy="27329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5" name="TextBox 304"/>
          <p:cNvSpPr txBox="1"/>
          <p:nvPr/>
        </p:nvSpPr>
        <p:spPr bwMode="auto">
          <a:xfrm>
            <a:off x="1639746" y="1404125"/>
            <a:ext cx="3840392" cy="366559"/>
          </a:xfrm>
          <a:prstGeom prst="rect">
            <a:avLst/>
          </a:prstGeom>
          <a:noFill/>
          <a:effectLst/>
        </p:spPr>
        <p:txBody>
          <a:bodyPr wrap="none" lIns="88700" tIns="44347" rIns="88700" bIns="44347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886963">
              <a:defRPr/>
            </a:pP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공통운용환경</a:t>
            </a:r>
            <a:r>
              <a:rPr lang="en-US" altLang="ko-KR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(COE) </a:t>
            </a: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적용 경험 활용</a:t>
            </a:r>
          </a:p>
        </p:txBody>
      </p:sp>
      <p:pic>
        <p:nvPicPr>
          <p:cNvPr id="30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671757" y="1368301"/>
            <a:ext cx="754461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" name="직사각형 306"/>
          <p:cNvSpPr/>
          <p:nvPr/>
        </p:nvSpPr>
        <p:spPr bwMode="auto">
          <a:xfrm>
            <a:off x="669512" y="4192043"/>
            <a:ext cx="5674926" cy="56111"/>
          </a:xfrm>
          <a:prstGeom prst="rect">
            <a:avLst/>
          </a:prstGeom>
          <a:solidFill>
            <a:srgbClr val="84B2E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68" tIns="44384" rIns="88768" bIns="44384" anchor="ctr"/>
          <a:lstStyle/>
          <a:p>
            <a:pPr marL="0" lvl="1" indent="-154519" algn="ctr" defTabSz="988924">
              <a:lnSpc>
                <a:spcPct val="110000"/>
              </a:lnSpc>
              <a:buClr>
                <a:sysClr val="windowText" lastClr="000000"/>
              </a:buClr>
              <a:tabLst>
                <a:tab pos="6108669" algn="l"/>
              </a:tabLst>
              <a:defRPr/>
            </a:pPr>
            <a:endParaRPr lang="ko-KR" altLang="en-US" sz="1928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18426" y="1944502"/>
            <a:ext cx="5480691" cy="2185634"/>
            <a:chOff x="718426" y="2027981"/>
            <a:chExt cx="5480691" cy="1954212"/>
          </a:xfrm>
        </p:grpSpPr>
        <p:sp>
          <p:nvSpPr>
            <p:cNvPr id="308" name="모서리가 둥근 직사각형 307"/>
            <p:cNvSpPr/>
            <p:nvPr/>
          </p:nvSpPr>
          <p:spPr bwMode="auto">
            <a:xfrm flipH="1">
              <a:off x="4074120" y="2027981"/>
              <a:ext cx="2076059" cy="410224"/>
            </a:xfrm>
            <a:prstGeom prst="roundRect">
              <a:avLst>
                <a:gd name="adj" fmla="val 17983"/>
              </a:avLst>
            </a:prstGeom>
            <a:blipFill dpi="0" rotWithShape="1">
              <a:blip r:embed="rId4"/>
              <a:srcRect/>
              <a:stretch>
                <a:fillRect/>
              </a:stretch>
            </a:blipFill>
            <a:ln w="6350" algn="ctr">
              <a:solidFill>
                <a:srgbClr val="6EA4C8"/>
              </a:solidFill>
              <a:round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/>
            <a:p>
              <a:pPr defTabSz="887661" eaLnBrk="0" latinLnBrk="0" hangingPunct="0">
                <a:defRPr/>
              </a:pPr>
              <a:endParaRPr lang="ko-KR" altLang="en-US" sz="1928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309" name="모서리가 둥근 직사각형 308"/>
            <p:cNvSpPr/>
            <p:nvPr/>
          </p:nvSpPr>
          <p:spPr bwMode="auto">
            <a:xfrm flipH="1">
              <a:off x="1958104" y="2027981"/>
              <a:ext cx="1998160" cy="410224"/>
            </a:xfrm>
            <a:prstGeom prst="roundRect">
              <a:avLst>
                <a:gd name="adj" fmla="val 17983"/>
              </a:avLst>
            </a:prstGeom>
            <a:blipFill dpi="0" rotWithShape="1">
              <a:blip r:embed="rId4"/>
              <a:srcRect/>
              <a:stretch>
                <a:fillRect/>
              </a:stretch>
            </a:blipFill>
            <a:ln w="6350" algn="ctr">
              <a:solidFill>
                <a:srgbClr val="6EA4C8"/>
              </a:solidFill>
              <a:round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/>
            <a:p>
              <a:pPr defTabSz="887661" eaLnBrk="0" latinLnBrk="0" hangingPunct="0">
                <a:defRPr/>
              </a:pPr>
              <a:endParaRPr lang="ko-KR" altLang="en-US" sz="1928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310" name="양쪽 모서리가 둥근 사각형 309"/>
            <p:cNvSpPr/>
            <p:nvPr/>
          </p:nvSpPr>
          <p:spPr bwMode="auto">
            <a:xfrm rot="16200000">
              <a:off x="561505" y="2403119"/>
              <a:ext cx="1687500" cy="1373658"/>
            </a:xfrm>
            <a:prstGeom prst="round2SameRect">
              <a:avLst>
                <a:gd name="adj1" fmla="val 3462"/>
                <a:gd name="adj2" fmla="val 0"/>
              </a:avLst>
            </a:prstGeom>
            <a:blipFill dpi="0" rotWithShape="1">
              <a:blip r:embed="rId5" cstate="print">
                <a:alphaModFix amt="90000"/>
              </a:blip>
              <a:srcRect/>
              <a:stretch>
                <a:fillRect/>
              </a:stretch>
            </a:blipFill>
            <a:ln w="12700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lIns="106143" tIns="53071" rIns="106143" bIns="53071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0957" indent="-100957" algn="ctr" defTabSz="1036451" eaLnBrk="0" latinLnBrk="0" hangingPunct="0">
                <a:lnSpc>
                  <a:spcPct val="90000"/>
                </a:lnSpc>
                <a:buSzPct val="140000"/>
                <a:defRPr/>
              </a:pPr>
              <a:endParaRPr lang="ko-KR" altLang="en-US" sz="1928" b="1" dirty="0">
                <a:solidFill>
                  <a:prstClr val="black">
                    <a:lumMod val="75000"/>
                    <a:lumOff val="2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 bwMode="auto">
            <a:xfrm>
              <a:off x="1883284" y="2246196"/>
              <a:ext cx="4315833" cy="1687503"/>
            </a:xfrm>
            <a:prstGeom prst="roundRect">
              <a:avLst>
                <a:gd name="adj" fmla="val 1355"/>
              </a:avLst>
            </a:prstGeom>
            <a:solidFill>
              <a:srgbClr val="FFFFFF"/>
            </a:soli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lIns="106143" tIns="125366" rIns="106143" bIns="53071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337" indent="-88337" defTabSz="1036383" eaLnBrk="0" latinLnBrk="0" hangingPunct="0">
                <a:lnSpc>
                  <a:spcPct val="90000"/>
                </a:lnSpc>
                <a:spcBef>
                  <a:spcPts val="298"/>
                </a:spcBef>
                <a:buClr>
                  <a:prstClr val="white">
                    <a:lumMod val="65000"/>
                  </a:prstClr>
                </a:buClr>
                <a:buSzPct val="100000"/>
                <a:buFont typeface="Arial" pitchFamily="34" charset="0"/>
                <a:buChar char="•"/>
                <a:defRPr/>
              </a:pPr>
              <a:endParaRPr kumimoji="0" lang="ko-KR" altLang="en-US" sz="1021" b="1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312" name="모서리가 둥근 직사각형 311"/>
            <p:cNvSpPr/>
            <p:nvPr/>
          </p:nvSpPr>
          <p:spPr bwMode="auto">
            <a:xfrm>
              <a:off x="777631" y="2425530"/>
              <a:ext cx="273715" cy="1384658"/>
            </a:xfrm>
            <a:prstGeom prst="roundRect">
              <a:avLst/>
            </a:pr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85000"/>
                  </a:srgbClr>
                </a:gs>
              </a:gsLst>
              <a:lin ang="5400000" scaled="1"/>
            </a:gradFill>
            <a:ln w="12700">
              <a:solidFill>
                <a:srgbClr val="FFFFFF">
                  <a:lumMod val="75000"/>
                </a:srgbClr>
              </a:solidFill>
              <a:round/>
              <a:headEnd/>
              <a:tailEnd/>
            </a:ln>
            <a:effectLst>
              <a:outerShdw blurRad="50800" dist="38100" dir="2700000" sx="98000" sy="98000" algn="tl" rotWithShape="0">
                <a:srgbClr val="000000">
                  <a:lumMod val="50000"/>
                  <a:lumOff val="50000"/>
                  <a:alpha val="40000"/>
                </a:srgbClr>
              </a:outerShdw>
            </a:effectLst>
          </p:spPr>
          <p:txBody>
            <a:bodyPr wrap="none" lIns="106143" tIns="53071" rIns="106143" bIns="53071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lvl="1" indent="0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dirty="0">
                  <a:solidFill>
                    <a:srgbClr val="000000"/>
                  </a:solidFill>
                  <a:sym typeface="Monotype Sorts" pitchFamily="2" charset="2"/>
                </a:rPr>
                <a:t>체계</a:t>
              </a:r>
              <a:endParaRPr lang="en-US" altLang="ko-KR" sz="1021" dirty="0">
                <a:solidFill>
                  <a:srgbClr val="000000"/>
                </a:solidFill>
                <a:sym typeface="Monotype Sorts" pitchFamily="2" charset="2"/>
              </a:endParaRPr>
            </a:p>
            <a:p>
              <a:pPr marL="0" lvl="1" indent="0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dirty="0">
                  <a:solidFill>
                    <a:srgbClr val="000000"/>
                  </a:solidFill>
                  <a:sym typeface="Monotype Sorts" pitchFamily="2" charset="2"/>
                </a:rPr>
                <a:t>개발</a:t>
              </a:r>
              <a:endParaRPr lang="en-US" altLang="ko-KR" sz="1021" dirty="0">
                <a:solidFill>
                  <a:srgbClr val="000000"/>
                </a:solidFill>
                <a:sym typeface="Monotype Sorts" pitchFamily="2" charset="2"/>
              </a:endParaRPr>
            </a:p>
            <a:p>
              <a:pPr marL="0" lvl="1" indent="0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dirty="0">
                  <a:solidFill>
                    <a:srgbClr val="000000"/>
                  </a:solidFill>
                  <a:sym typeface="Monotype Sorts" pitchFamily="2" charset="2"/>
                </a:rPr>
                <a:t>단계</a:t>
              </a:r>
              <a:endParaRPr lang="en-US" altLang="ko-KR" sz="1021" dirty="0">
                <a:solidFill>
                  <a:srgbClr val="000000"/>
                </a:solidFill>
                <a:sym typeface="Monotype Sorts" pitchFamily="2" charset="2"/>
              </a:endParaRPr>
            </a:p>
          </p:txBody>
        </p:sp>
        <p:sp>
          <p:nvSpPr>
            <p:cNvPr id="313" name="Rectangle 61"/>
            <p:cNvSpPr>
              <a:spLocks noChangeArrowheads="1"/>
            </p:cNvSpPr>
            <p:nvPr/>
          </p:nvSpPr>
          <p:spPr bwMode="auto">
            <a:xfrm>
              <a:off x="1145408" y="2375352"/>
              <a:ext cx="657231" cy="444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체계개발</a:t>
              </a:r>
              <a:endParaRPr lang="en-US" altLang="ko-KR" sz="102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  <a:p>
              <a:pPr marL="0" lvl="1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실행계획서</a:t>
              </a:r>
              <a:r>
                <a:rPr lang="en-US" altLang="ko-KR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/>
              </a:r>
              <a:br>
                <a:rPr lang="en-US" altLang="ko-KR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</a:br>
              <a:r>
                <a:rPr lang="ko-KR" altLang="en-US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작성시</a:t>
              </a:r>
            </a:p>
          </p:txBody>
        </p:sp>
        <p:sp>
          <p:nvSpPr>
            <p:cNvPr id="314" name="Rectangle 61"/>
            <p:cNvSpPr>
              <a:spLocks noChangeArrowheads="1"/>
            </p:cNvSpPr>
            <p:nvPr/>
          </p:nvSpPr>
          <p:spPr bwMode="auto">
            <a:xfrm>
              <a:off x="1145408" y="3045969"/>
              <a:ext cx="657231" cy="135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체계개발간</a:t>
              </a:r>
            </a:p>
          </p:txBody>
        </p:sp>
        <p:sp>
          <p:nvSpPr>
            <p:cNvPr id="315" name="Rectangle 61"/>
            <p:cNvSpPr>
              <a:spLocks noChangeArrowheads="1"/>
            </p:cNvSpPr>
            <p:nvPr/>
          </p:nvSpPr>
          <p:spPr bwMode="auto">
            <a:xfrm>
              <a:off x="1189490" y="3452646"/>
              <a:ext cx="569067" cy="444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체계개발</a:t>
              </a:r>
              <a:endParaRPr lang="en-US" altLang="ko-KR" sz="102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  <a:p>
              <a:pPr marL="0" lvl="1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결과보고 </a:t>
              </a:r>
              <a:endParaRPr lang="en-US" altLang="ko-KR" sz="102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  <a:p>
              <a:pPr marL="0" lvl="1" algn="ctr" defTabSz="1036383" eaLnBrk="0" latinLnBrk="0" hangingPunct="0">
                <a:lnSpc>
                  <a:spcPct val="110000"/>
                </a:lnSpc>
                <a:buClr>
                  <a:srgbClr val="5F5F5F"/>
                </a:buClr>
                <a:buSzPct val="100000"/>
                <a:tabLst>
                  <a:tab pos="5612553" algn="l"/>
                </a:tabLst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작성시</a:t>
              </a:r>
            </a:p>
          </p:txBody>
        </p:sp>
        <p:grpSp>
          <p:nvGrpSpPr>
            <p:cNvPr id="316" name="그룹 315"/>
            <p:cNvGrpSpPr/>
            <p:nvPr/>
          </p:nvGrpSpPr>
          <p:grpSpPr>
            <a:xfrm>
              <a:off x="1051345" y="3378183"/>
              <a:ext cx="800903" cy="63694"/>
              <a:chOff x="943174" y="9433041"/>
              <a:chExt cx="1008672" cy="58596"/>
            </a:xfrm>
          </p:grpSpPr>
          <p:cxnSp>
            <p:nvCxnSpPr>
              <p:cNvPr id="317" name="직선 연결선 316"/>
              <p:cNvCxnSpPr/>
              <p:nvPr/>
            </p:nvCxnSpPr>
            <p:spPr bwMode="auto">
              <a:xfrm rot="10800000">
                <a:off x="943174" y="9433041"/>
                <a:ext cx="1008672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65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dist="12700" dir="5400000" algn="t" rotWithShape="0">
                  <a:srgbClr val="FFFFFF"/>
                </a:outerShdw>
              </a:effectLst>
            </p:spPr>
          </p:cxnSp>
          <p:sp>
            <p:nvSpPr>
              <p:cNvPr id="318" name="이등변 삼각형 317"/>
              <p:cNvSpPr/>
              <p:nvPr/>
            </p:nvSpPr>
            <p:spPr bwMode="auto">
              <a:xfrm rot="10800000">
                <a:off x="1399365" y="9438034"/>
                <a:ext cx="96290" cy="53603"/>
              </a:xfrm>
              <a:prstGeom prst="triangle">
                <a:avLst/>
              </a:prstGeom>
              <a:solidFill>
                <a:srgbClr val="FFFFFF">
                  <a:lumMod val="95000"/>
                </a:srgbClr>
              </a:solidFill>
              <a:ln w="12700" algn="ctr">
                <a:noFill/>
                <a:miter lim="800000"/>
                <a:headEnd/>
                <a:tailEnd/>
              </a:ln>
              <a:effectLst>
                <a:innerShdw blurRad="63500" dist="50800" dir="13500000">
                  <a:srgbClr val="000000">
                    <a:lumMod val="95000"/>
                    <a:lumOff val="5000"/>
                    <a:alpha val="39000"/>
                  </a:srgb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 extrusionH="57150">
                  <a:bevelT w="0" h="38100"/>
                </a:sp3d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1pPr>
                <a:lvl2pPr marL="496888" indent="-39688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2pPr>
                <a:lvl3pPr marL="995363" indent="-80963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3pPr>
                <a:lvl4pPr marL="1492250" indent="-12065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4pPr>
                <a:lvl5pPr marL="1990725" indent="-16192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 defTabSz="887661" eaLnBrk="0" latinLnBrk="0" hangingPunct="0">
                  <a:buSzPct val="140000"/>
                  <a:defRPr/>
                </a:pPr>
                <a:endParaRPr lang="ko-KR" altLang="en-US" sz="1134" b="1" kern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p:txBody>
          </p:sp>
        </p:grpSp>
        <p:grpSp>
          <p:nvGrpSpPr>
            <p:cNvPr id="319" name="그룹 318"/>
            <p:cNvGrpSpPr/>
            <p:nvPr/>
          </p:nvGrpSpPr>
          <p:grpSpPr>
            <a:xfrm>
              <a:off x="1051345" y="2881239"/>
              <a:ext cx="800903" cy="63694"/>
              <a:chOff x="943174" y="9433041"/>
              <a:chExt cx="1008672" cy="58596"/>
            </a:xfrm>
          </p:grpSpPr>
          <p:cxnSp>
            <p:nvCxnSpPr>
              <p:cNvPr id="320" name="직선 연결선 319"/>
              <p:cNvCxnSpPr/>
              <p:nvPr/>
            </p:nvCxnSpPr>
            <p:spPr bwMode="auto">
              <a:xfrm rot="10800000">
                <a:off x="943174" y="9433041"/>
                <a:ext cx="1008672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65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dist="12700" dir="5400000" algn="t" rotWithShape="0">
                  <a:srgbClr val="FFFFFF"/>
                </a:outerShdw>
              </a:effectLst>
            </p:spPr>
          </p:cxnSp>
          <p:sp>
            <p:nvSpPr>
              <p:cNvPr id="321" name="이등변 삼각형 320"/>
              <p:cNvSpPr/>
              <p:nvPr/>
            </p:nvSpPr>
            <p:spPr bwMode="auto">
              <a:xfrm rot="10800000">
                <a:off x="1399365" y="9438034"/>
                <a:ext cx="96290" cy="53603"/>
              </a:xfrm>
              <a:prstGeom prst="triangle">
                <a:avLst/>
              </a:prstGeom>
              <a:solidFill>
                <a:srgbClr val="FFFFFF">
                  <a:lumMod val="95000"/>
                </a:srgbClr>
              </a:solidFill>
              <a:ln w="12700" algn="ctr">
                <a:noFill/>
                <a:miter lim="800000"/>
                <a:headEnd/>
                <a:tailEnd/>
              </a:ln>
              <a:effectLst>
                <a:innerShdw blurRad="63500" dist="50800" dir="13500000">
                  <a:srgbClr val="000000">
                    <a:lumMod val="95000"/>
                    <a:lumOff val="5000"/>
                    <a:alpha val="39000"/>
                  </a:srgb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 extrusionH="57150">
                  <a:bevelT w="0" h="38100"/>
                </a:sp3d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1pPr>
                <a:lvl2pPr marL="496888" indent="-39688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2pPr>
                <a:lvl3pPr marL="995363" indent="-80963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3pPr>
                <a:lvl4pPr marL="1492250" indent="-12065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4pPr>
                <a:lvl5pPr marL="1990725" indent="-16192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 defTabSz="887661" eaLnBrk="0" latinLnBrk="0" hangingPunct="0">
                  <a:buSzPct val="140000"/>
                  <a:defRPr/>
                </a:pPr>
                <a:endParaRPr lang="ko-KR" altLang="en-US" sz="1134" b="1" kern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p:txBody>
          </p:sp>
        </p:grpSp>
        <p:sp>
          <p:nvSpPr>
            <p:cNvPr id="322" name="Text Box 60"/>
            <p:cNvSpPr txBox="1">
              <a:spLocks noChangeArrowheads="1"/>
            </p:cNvSpPr>
            <p:nvPr/>
          </p:nvSpPr>
          <p:spPr bwMode="auto">
            <a:xfrm>
              <a:off x="4223285" y="2071837"/>
              <a:ext cx="1777731" cy="140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25488" indent="-279400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16013" indent="-222250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defTabSz="867628" eaLnBrk="0" latinLnBrk="0" hangingPunct="0">
                <a:defRPr/>
              </a:pPr>
              <a:r>
                <a:rPr kumimoji="0" lang="ko-KR" altLang="en-US" sz="1021" kern="0" dirty="0">
                  <a:solidFill>
                    <a:srgbClr val="FFFFFF"/>
                  </a:solidFill>
                </a:rPr>
                <a:t>공통운용환경</a:t>
              </a:r>
              <a:r>
                <a:rPr kumimoji="0" lang="en-US" altLang="ko-KR" sz="1021" kern="0" dirty="0">
                  <a:solidFill>
                    <a:srgbClr val="FFFFFF"/>
                  </a:solidFill>
                </a:rPr>
                <a:t>(COE) </a:t>
              </a:r>
              <a:r>
                <a:rPr kumimoji="0" lang="ko-KR" altLang="en-US" sz="1021" kern="0" dirty="0">
                  <a:solidFill>
                    <a:srgbClr val="FFFFFF"/>
                  </a:solidFill>
                </a:rPr>
                <a:t>적용 방안</a:t>
              </a:r>
            </a:p>
          </p:txBody>
        </p:sp>
        <p:sp>
          <p:nvSpPr>
            <p:cNvPr id="323" name="Text Box 60"/>
            <p:cNvSpPr txBox="1">
              <a:spLocks noChangeArrowheads="1"/>
            </p:cNvSpPr>
            <p:nvPr/>
          </p:nvSpPr>
          <p:spPr bwMode="auto">
            <a:xfrm>
              <a:off x="2068317" y="2071837"/>
              <a:ext cx="1777731" cy="140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25488" indent="-279400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16013" indent="-222250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defTabSz="893763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defTabSz="867628" eaLnBrk="0" latinLnBrk="0" hangingPunct="0">
                <a:defRPr/>
              </a:pPr>
              <a:r>
                <a:rPr kumimoji="0" lang="ko-KR" altLang="en-US" sz="1021" kern="0" dirty="0">
                  <a:solidFill>
                    <a:srgbClr val="FFFFFF"/>
                  </a:solidFill>
                </a:rPr>
                <a:t>공통운용환경</a:t>
              </a:r>
              <a:r>
                <a:rPr kumimoji="0" lang="en-US" altLang="ko-KR" sz="1021" kern="0" dirty="0">
                  <a:solidFill>
                    <a:srgbClr val="FFFFFF"/>
                  </a:solidFill>
                </a:rPr>
                <a:t>(COE) </a:t>
              </a:r>
              <a:r>
                <a:rPr kumimoji="0" lang="ko-KR" altLang="en-US" sz="1021" kern="0" dirty="0">
                  <a:solidFill>
                    <a:srgbClr val="FFFFFF"/>
                  </a:solidFill>
                </a:rPr>
                <a:t>관련 업무</a:t>
              </a:r>
            </a:p>
          </p:txBody>
        </p:sp>
        <p:cxnSp>
          <p:nvCxnSpPr>
            <p:cNvPr id="324" name="직선 연결선 323"/>
            <p:cNvCxnSpPr/>
            <p:nvPr/>
          </p:nvCxnSpPr>
          <p:spPr bwMode="auto">
            <a:xfrm>
              <a:off x="1944617" y="2888206"/>
              <a:ext cx="4193590" cy="0"/>
            </a:xfrm>
            <a:prstGeom prst="line">
              <a:avLst/>
            </a:prstGeom>
            <a:noFill/>
            <a:ln w="6350">
              <a:solidFill>
                <a:srgbClr val="B2B2B2"/>
              </a:solidFill>
              <a:prstDash val="dash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25" name="직선 연결선 324"/>
            <p:cNvCxnSpPr/>
            <p:nvPr/>
          </p:nvCxnSpPr>
          <p:spPr bwMode="auto">
            <a:xfrm>
              <a:off x="1944617" y="3384368"/>
              <a:ext cx="4193590" cy="0"/>
            </a:xfrm>
            <a:prstGeom prst="line">
              <a:avLst/>
            </a:prstGeom>
            <a:noFill/>
            <a:ln w="6350">
              <a:solidFill>
                <a:srgbClr val="B2B2B2"/>
              </a:solidFill>
              <a:prstDash val="dash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26" name="Text Box 40"/>
            <p:cNvSpPr txBox="1">
              <a:spLocks noChangeArrowheads="1"/>
            </p:cNvSpPr>
            <p:nvPr/>
          </p:nvSpPr>
          <p:spPr bwMode="auto">
            <a:xfrm>
              <a:off x="2032114" y="2359851"/>
              <a:ext cx="1973369" cy="421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4006" indent="-94006" defTabSz="867628" latinLnBrk="0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Font typeface="Wingdings" panose="05000000000000000000" pitchFamily="2" charset="2"/>
                <a:buChar char="§"/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</a:rPr>
                <a:t>재사용 및 신규소요 컴포넌트 목록 상호운용성 확보계획</a:t>
              </a:r>
              <a:r>
                <a:rPr lang="en-US" altLang="ko-KR" sz="1021" kern="0" dirty="0">
                  <a:solidFill>
                    <a:srgbClr val="000000"/>
                  </a:solidFill>
                </a:rPr>
                <a:t>(</a:t>
              </a:r>
              <a:r>
                <a:rPr lang="ko-KR" altLang="en-US" sz="1021" kern="0" dirty="0">
                  <a:solidFill>
                    <a:srgbClr val="000000"/>
                  </a:solidFill>
                </a:rPr>
                <a:t>체계개발계획</a:t>
              </a:r>
              <a:r>
                <a:rPr lang="en-US" altLang="ko-KR" sz="1021" kern="0" dirty="0">
                  <a:solidFill>
                    <a:srgbClr val="000000"/>
                  </a:solidFill>
                </a:rPr>
                <a:t>)</a:t>
              </a:r>
              <a:r>
                <a:rPr lang="ko-KR" altLang="en-US" sz="1021" kern="0" dirty="0">
                  <a:solidFill>
                    <a:srgbClr val="000000"/>
                  </a:solidFill>
                </a:rPr>
                <a:t>에 포함</a:t>
              </a:r>
            </a:p>
          </p:txBody>
        </p:sp>
        <p:sp>
          <p:nvSpPr>
            <p:cNvPr id="327" name="Text Box 40"/>
            <p:cNvSpPr txBox="1">
              <a:spLocks noChangeArrowheads="1"/>
            </p:cNvSpPr>
            <p:nvPr/>
          </p:nvSpPr>
          <p:spPr bwMode="auto">
            <a:xfrm>
              <a:off x="2032114" y="3000061"/>
              <a:ext cx="1919319" cy="280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4006" indent="-94006" defTabSz="867628" latinLnBrk="0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Font typeface="Wingdings" panose="05000000000000000000" pitchFamily="2" charset="2"/>
                <a:buChar char="§"/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</a:rPr>
                <a:t>컴포넌트 재사용 및 신규소요 컴포넌트 등록 준비</a:t>
              </a:r>
            </a:p>
          </p:txBody>
        </p:sp>
        <p:sp>
          <p:nvSpPr>
            <p:cNvPr id="328" name="Text Box 40"/>
            <p:cNvSpPr txBox="1">
              <a:spLocks noChangeArrowheads="1"/>
            </p:cNvSpPr>
            <p:nvPr/>
          </p:nvSpPr>
          <p:spPr bwMode="auto">
            <a:xfrm>
              <a:off x="2032114" y="3427431"/>
              <a:ext cx="2042006" cy="421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4006" indent="-94006" defTabSz="867628" latinLnBrk="0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Font typeface="Wingdings" panose="05000000000000000000" pitchFamily="2" charset="2"/>
                <a:buChar char="§"/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</a:rPr>
                <a:t>재사용 및 신규소요 컴포넌트 목록 상호운용성 확보계획</a:t>
              </a:r>
              <a:r>
                <a:rPr lang="en-US" altLang="ko-KR" sz="1021" kern="0" dirty="0">
                  <a:solidFill>
                    <a:srgbClr val="000000"/>
                  </a:solidFill>
                </a:rPr>
                <a:t>(</a:t>
              </a:r>
              <a:r>
                <a:rPr lang="ko-KR" altLang="en-US" sz="1021" kern="0" dirty="0">
                  <a:solidFill>
                    <a:srgbClr val="000000"/>
                  </a:solidFill>
                </a:rPr>
                <a:t>체계개발결과</a:t>
              </a:r>
              <a:r>
                <a:rPr lang="en-US" altLang="ko-KR" sz="1021" kern="0" dirty="0">
                  <a:solidFill>
                    <a:srgbClr val="000000"/>
                  </a:solidFill>
                </a:rPr>
                <a:t>)</a:t>
              </a:r>
              <a:r>
                <a:rPr lang="ko-KR" altLang="en-US" sz="1021" kern="0" dirty="0">
                  <a:solidFill>
                    <a:srgbClr val="000000"/>
                  </a:solidFill>
                </a:rPr>
                <a:t>에 포함</a:t>
              </a:r>
            </a:p>
          </p:txBody>
        </p:sp>
        <p:sp>
          <p:nvSpPr>
            <p:cNvPr id="329" name="Text Box 40"/>
            <p:cNvSpPr txBox="1">
              <a:spLocks noChangeArrowheads="1"/>
            </p:cNvSpPr>
            <p:nvPr/>
          </p:nvSpPr>
          <p:spPr bwMode="auto">
            <a:xfrm>
              <a:off x="4144057" y="2359851"/>
              <a:ext cx="1919319" cy="280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4006" indent="-94006" defTabSz="867628" latinLnBrk="0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Font typeface="Wingdings" panose="05000000000000000000" pitchFamily="2" charset="2"/>
                <a:buChar char="§"/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</a:rPr>
                <a:t>컴포넌트 개발간 </a:t>
              </a:r>
              <a:r>
                <a:rPr lang="en-US" altLang="ko-KR" sz="1021" kern="0" dirty="0">
                  <a:solidFill>
                    <a:srgbClr val="000000"/>
                  </a:solidFill>
                </a:rPr>
                <a:t>COE </a:t>
              </a:r>
              <a:r>
                <a:rPr lang="ko-KR" altLang="en-US" sz="1021" kern="0" dirty="0">
                  <a:solidFill>
                    <a:srgbClr val="000000"/>
                  </a:solidFill>
                </a:rPr>
                <a:t>고려 개발계획 수립</a:t>
              </a:r>
            </a:p>
          </p:txBody>
        </p:sp>
        <p:sp>
          <p:nvSpPr>
            <p:cNvPr id="330" name="Text Box 40"/>
            <p:cNvSpPr txBox="1">
              <a:spLocks noChangeArrowheads="1"/>
            </p:cNvSpPr>
            <p:nvPr/>
          </p:nvSpPr>
          <p:spPr bwMode="auto">
            <a:xfrm>
              <a:off x="4144057" y="2896028"/>
              <a:ext cx="1919319" cy="449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4006" indent="-94006" defTabSz="867628" latinLnBrk="0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Font typeface="Wingdings" panose="05000000000000000000" pitchFamily="2" charset="2"/>
                <a:buChar char="§"/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</a:rPr>
                <a:t>기 등록된 컴포넌트 재활용 체계개발</a:t>
              </a:r>
            </a:p>
            <a:p>
              <a:pPr marL="94006" indent="-94006" defTabSz="867628" latinLnBrk="0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ko-KR" sz="1021" kern="0" dirty="0">
                  <a:solidFill>
                    <a:srgbClr val="000000"/>
                  </a:solidFill>
                </a:rPr>
                <a:t>COE</a:t>
              </a:r>
              <a:r>
                <a:rPr lang="ko-KR" altLang="en-US" sz="1021" kern="0" dirty="0">
                  <a:solidFill>
                    <a:srgbClr val="000000"/>
                  </a:solidFill>
                </a:rPr>
                <a:t>를 고려 컴포넌트 개발</a:t>
              </a:r>
            </a:p>
          </p:txBody>
        </p:sp>
        <p:sp>
          <p:nvSpPr>
            <p:cNvPr id="331" name="Text Box 40"/>
            <p:cNvSpPr txBox="1">
              <a:spLocks noChangeArrowheads="1"/>
            </p:cNvSpPr>
            <p:nvPr/>
          </p:nvSpPr>
          <p:spPr bwMode="auto">
            <a:xfrm>
              <a:off x="4144057" y="3440439"/>
              <a:ext cx="1919319" cy="421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96838" indent="-96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214313" indent="-11588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296863" indent="-80963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563688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09775" indent="-223838" algn="l" defTabSz="893763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669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241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813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38575" indent="-223838" defTabSz="89376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94006" indent="-94006" defTabSz="867628" latinLnBrk="0">
                <a:spcBef>
                  <a:spcPct val="10000"/>
                </a:spcBef>
                <a:spcAft>
                  <a:spcPct val="10000"/>
                </a:spcAft>
                <a:buClr>
                  <a:srgbClr val="747474"/>
                </a:buClr>
                <a:buFont typeface="Wingdings" panose="05000000000000000000" pitchFamily="2" charset="2"/>
                <a:buChar char="§"/>
                <a:defRPr/>
              </a:pPr>
              <a:r>
                <a:rPr lang="ko-KR" altLang="en-US" sz="1021" kern="0" dirty="0">
                  <a:solidFill>
                    <a:srgbClr val="000000"/>
                  </a:solidFill>
                </a:rPr>
                <a:t>신규 개발 컴포넌트 등록건의 및 승인시 </a:t>
              </a:r>
              <a:r>
                <a:rPr lang="en-US" altLang="ko-KR" sz="1021" kern="0" dirty="0">
                  <a:solidFill>
                    <a:srgbClr val="000000"/>
                  </a:solidFill>
                </a:rPr>
                <a:t>COE </a:t>
              </a:r>
              <a:r>
                <a:rPr lang="ko-KR" altLang="en-US" sz="1021" kern="0" dirty="0">
                  <a:solidFill>
                    <a:srgbClr val="000000"/>
                  </a:solidFill>
                </a:rPr>
                <a:t>저장소에 등록 등 활동 시행</a:t>
              </a:r>
            </a:p>
          </p:txBody>
        </p:sp>
        <p:pic>
          <p:nvPicPr>
            <p:cNvPr id="332" name="Picture 370" descr="악세사리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7247" y="2272300"/>
              <a:ext cx="85934" cy="1709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3" name="직사각형 332"/>
          <p:cNvSpPr/>
          <p:nvPr/>
        </p:nvSpPr>
        <p:spPr bwMode="auto">
          <a:xfrm>
            <a:off x="670741" y="4176613"/>
            <a:ext cx="5673701" cy="288027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4" name="직사각형 333"/>
          <p:cNvSpPr/>
          <p:nvPr/>
        </p:nvSpPr>
        <p:spPr bwMode="auto">
          <a:xfrm>
            <a:off x="677758" y="7160509"/>
            <a:ext cx="5673700" cy="45719"/>
          </a:xfrm>
          <a:prstGeom prst="rect">
            <a:avLst/>
          </a:prstGeom>
          <a:solidFill>
            <a:srgbClr val="4371BB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5" name="직사각형 334"/>
          <p:cNvSpPr/>
          <p:nvPr/>
        </p:nvSpPr>
        <p:spPr bwMode="auto">
          <a:xfrm>
            <a:off x="663725" y="4320629"/>
            <a:ext cx="5680716" cy="445804"/>
          </a:xfrm>
          <a:prstGeom prst="rect">
            <a:avLst/>
          </a:prstGeom>
          <a:gradFill flip="none" rotWithShape="1">
            <a:gsLst>
              <a:gs pos="0">
                <a:srgbClr val="4371BB"/>
              </a:gs>
              <a:gs pos="96000">
                <a:srgbClr val="335791"/>
              </a:gs>
              <a:gs pos="97000">
                <a:srgbClr val="2B4877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6" name="사다리꼴 335"/>
          <p:cNvSpPr/>
          <p:nvPr/>
        </p:nvSpPr>
        <p:spPr bwMode="auto">
          <a:xfrm flipV="1">
            <a:off x="671833" y="4327475"/>
            <a:ext cx="5646112" cy="27329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7" name="TextBox 336"/>
          <p:cNvSpPr txBox="1"/>
          <p:nvPr/>
        </p:nvSpPr>
        <p:spPr bwMode="auto">
          <a:xfrm>
            <a:off x="857172" y="4367637"/>
            <a:ext cx="5368053" cy="366559"/>
          </a:xfrm>
          <a:prstGeom prst="rect">
            <a:avLst/>
          </a:prstGeom>
          <a:noFill/>
          <a:effectLst/>
        </p:spPr>
        <p:txBody>
          <a:bodyPr wrap="none" lIns="88700" tIns="44347" rIns="88700" bIns="44347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886963">
              <a:defRPr/>
            </a:pP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상호운용성 표준 적용 및 관리규정 준수 경험 활용</a:t>
            </a:r>
          </a:p>
        </p:txBody>
      </p:sp>
      <p:pic>
        <p:nvPicPr>
          <p:cNvPr id="34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663714" y="4322093"/>
            <a:ext cx="754461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5" name="그룹 344"/>
          <p:cNvGrpSpPr/>
          <p:nvPr/>
        </p:nvGrpSpPr>
        <p:grpSpPr>
          <a:xfrm>
            <a:off x="763458" y="4896697"/>
            <a:ext cx="5465531" cy="887981"/>
            <a:chOff x="720228" y="7002822"/>
            <a:chExt cx="6252071" cy="1067116"/>
          </a:xfrm>
        </p:grpSpPr>
        <p:grpSp>
          <p:nvGrpSpPr>
            <p:cNvPr id="346" name="Group 148"/>
            <p:cNvGrpSpPr>
              <a:grpSpLocks/>
            </p:cNvGrpSpPr>
            <p:nvPr/>
          </p:nvGrpSpPr>
          <p:grpSpPr bwMode="auto">
            <a:xfrm>
              <a:off x="755983" y="7519986"/>
              <a:ext cx="6112455" cy="257098"/>
              <a:chOff x="391" y="4693"/>
              <a:chExt cx="3561" cy="154"/>
            </a:xfrm>
          </p:grpSpPr>
          <p:sp>
            <p:nvSpPr>
              <p:cNvPr id="353" name="AutoShape 149"/>
              <p:cNvSpPr>
                <a:spLocks noChangeArrowheads="1"/>
              </p:cNvSpPr>
              <p:nvPr/>
            </p:nvSpPr>
            <p:spPr bwMode="auto">
              <a:xfrm rot="10800000" flipH="1">
                <a:off x="436" y="4716"/>
                <a:ext cx="3470" cy="1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403 w 21600"/>
                  <a:gd name="T13" fmla="*/ 2485 h 21600"/>
                  <a:gd name="T14" fmla="*/ 19197 w 21600"/>
                  <a:gd name="T15" fmla="*/ 19115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1206" y="21600"/>
                    </a:lnTo>
                    <a:lnTo>
                      <a:pt x="20394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81650" tIns="40825" rIns="81650" bIns="40825" anchor="ctr"/>
              <a:lstStyle/>
              <a:p>
                <a:pPr defTabSz="887661" eaLnBrk="0" latinLnBrk="0" hangingPunct="0">
                  <a:defRPr/>
                </a:pPr>
                <a:endParaRPr lang="ko-KR" altLang="en-US" sz="1021" b="1" kern="0" dirty="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pic>
            <p:nvPicPr>
              <p:cNvPr id="354" name="Picture 231" descr="악세사리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1" y="4693"/>
                <a:ext cx="356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47" name="그룹 346"/>
            <p:cNvGrpSpPr/>
            <p:nvPr/>
          </p:nvGrpSpPr>
          <p:grpSpPr>
            <a:xfrm>
              <a:off x="786631" y="7002822"/>
              <a:ext cx="6185668" cy="581865"/>
              <a:chOff x="786631" y="7191378"/>
              <a:chExt cx="6185668" cy="393309"/>
            </a:xfrm>
          </p:grpSpPr>
          <p:sp>
            <p:nvSpPr>
              <p:cNvPr id="349" name="AutoShape 11"/>
              <p:cNvSpPr>
                <a:spLocks noChangeArrowheads="1"/>
              </p:cNvSpPr>
              <p:nvPr/>
            </p:nvSpPr>
            <p:spPr bwMode="auto">
              <a:xfrm>
                <a:off x="786631" y="7193081"/>
                <a:ext cx="1597070" cy="391606"/>
              </a:xfrm>
              <a:prstGeom prst="homePlate">
                <a:avLst>
                  <a:gd name="adj" fmla="val 28567"/>
                </a:avLst>
              </a:prstGeom>
              <a:solidFill>
                <a:srgbClr val="FFFFFF"/>
              </a:solidFill>
              <a:ln w="6350" algn="ctr">
                <a:solidFill>
                  <a:srgbClr val="C9C9C9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defTabSz="887661" eaLnBrk="0" latinLnBrk="0" hangingPunct="0">
                  <a:spcBef>
                    <a:spcPct val="50000"/>
                  </a:spcBef>
                  <a:spcAft>
                    <a:spcPts val="194"/>
                  </a:spcAft>
                  <a:defRPr/>
                </a:pPr>
                <a:r>
                  <a:rPr kumimoji="0" lang="ko-KR" altLang="en-US" sz="1021" kern="0" dirty="0">
                    <a:solidFill>
                      <a:srgbClr val="404040"/>
                    </a:solidFill>
                    <a:cs typeface="Arial" panose="020B0604020202020204" pitchFamily="34" charset="0"/>
                  </a:rPr>
                  <a:t>상호운용성 수준측정</a:t>
                </a:r>
                <a:br>
                  <a:rPr kumimoji="0" lang="ko-KR" altLang="en-US" sz="1021" kern="0" dirty="0">
                    <a:solidFill>
                      <a:srgbClr val="404040"/>
                    </a:solidFill>
                    <a:cs typeface="Arial" panose="020B0604020202020204" pitchFamily="34" charset="0"/>
                  </a:rPr>
                </a:br>
                <a:r>
                  <a:rPr kumimoji="0" lang="ko-KR" altLang="en-US" sz="1021" kern="0" dirty="0">
                    <a:solidFill>
                      <a:srgbClr val="404040"/>
                    </a:solidFill>
                    <a:cs typeface="Arial" panose="020B0604020202020204" pitchFamily="34" charset="0"/>
                  </a:rPr>
                  <a:t> 계획 수립</a:t>
                </a:r>
              </a:p>
            </p:txBody>
          </p:sp>
          <p:sp>
            <p:nvSpPr>
              <p:cNvPr id="350" name="AutoShape 15" descr="도형-30"/>
              <p:cNvSpPr>
                <a:spLocks noChangeArrowheads="1"/>
              </p:cNvSpPr>
              <p:nvPr/>
            </p:nvSpPr>
            <p:spPr bwMode="gray">
              <a:xfrm>
                <a:off x="2315596" y="7191378"/>
                <a:ext cx="1597070" cy="391606"/>
              </a:xfrm>
              <a:prstGeom prst="chevron">
                <a:avLst>
                  <a:gd name="adj" fmla="val 30681"/>
                </a:avLst>
              </a:prstGeom>
              <a:blipFill dpi="0" rotWithShape="1">
                <a:blip r:embed="rId8"/>
                <a:srcRect/>
                <a:stretch>
                  <a:fillRect/>
                </a:stretch>
              </a:blipFill>
              <a:ln w="6350" algn="ctr">
                <a:solidFill>
                  <a:srgbClr val="DDDDDD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 defTabSz="893763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893763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893763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893763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893763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89376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89376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89376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89376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defTabSz="867628" eaLnBrk="0" latinLnBrk="0" hangingPunct="0">
                  <a:defRPr/>
                </a:pPr>
                <a:r>
                  <a:rPr lang="ko-KR" altLang="en-US" sz="1021" kern="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정기 상호운용성 </a:t>
                </a:r>
              </a:p>
              <a:p>
                <a:pPr algn="ctr" defTabSz="867628" eaLnBrk="0" latinLnBrk="0" hangingPunct="0">
                  <a:defRPr/>
                </a:pPr>
                <a:r>
                  <a:rPr lang="ko-KR" altLang="en-US" sz="1021" kern="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수준측정</a:t>
                </a:r>
              </a:p>
            </p:txBody>
          </p:sp>
          <p:sp>
            <p:nvSpPr>
              <p:cNvPr id="351" name="AutoShape 15" descr="도형-28"/>
              <p:cNvSpPr>
                <a:spLocks noChangeArrowheads="1"/>
              </p:cNvSpPr>
              <p:nvPr/>
            </p:nvSpPr>
            <p:spPr bwMode="auto">
              <a:xfrm>
                <a:off x="3846264" y="7191378"/>
                <a:ext cx="1593665" cy="391606"/>
              </a:xfrm>
              <a:prstGeom prst="chevron">
                <a:avLst>
                  <a:gd name="adj" fmla="val 30616"/>
                </a:avLst>
              </a:prstGeom>
              <a:blipFill dpi="0" rotWithShape="1">
                <a:blip r:embed="rId9"/>
                <a:srcRect/>
                <a:stretch>
                  <a:fillRect/>
                </a:stretch>
              </a:blipFill>
              <a:ln w="6350" algn="ctr">
                <a:solidFill>
                  <a:srgbClr val="80B8DA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lvl1pPr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defTabSz="893823" eaLnBrk="0" fontAlgn="ctr" latinLnBrk="0" hangingPunct="0">
                  <a:defRPr/>
                </a:pPr>
                <a:r>
                  <a:rPr kumimoji="0" lang="ko-KR" altLang="en-US" sz="1021" kern="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수시 상호운용성</a:t>
                </a:r>
              </a:p>
              <a:p>
                <a:pPr algn="ctr" defTabSz="893823" eaLnBrk="0" fontAlgn="ctr" latinLnBrk="0" hangingPunct="0">
                  <a:defRPr/>
                </a:pPr>
                <a:r>
                  <a:rPr kumimoji="0" lang="ko-KR" altLang="en-US" sz="1021" kern="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수준측정</a:t>
                </a:r>
              </a:p>
            </p:txBody>
          </p:sp>
          <p:sp>
            <p:nvSpPr>
              <p:cNvPr id="352" name="AutoShape 15" descr="도형-29"/>
              <p:cNvSpPr>
                <a:spLocks noChangeArrowheads="1"/>
              </p:cNvSpPr>
              <p:nvPr/>
            </p:nvSpPr>
            <p:spPr bwMode="auto">
              <a:xfrm>
                <a:off x="5373526" y="7191378"/>
                <a:ext cx="1598773" cy="391606"/>
              </a:xfrm>
              <a:prstGeom prst="chevron">
                <a:avLst>
                  <a:gd name="adj" fmla="val 30714"/>
                </a:avLst>
              </a:prstGeom>
              <a:blipFill dpi="0" rotWithShape="1">
                <a:blip r:embed="rId4"/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lvl1pPr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920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92075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defTabSz="893823" eaLnBrk="0" fontAlgn="ctr" latinLnBrk="0" hangingPunct="0">
                  <a:defRPr/>
                </a:pPr>
                <a:r>
                  <a:rPr kumimoji="0" lang="ko-KR" altLang="en-US" sz="1021" kern="0" dirty="0">
                    <a:solidFill>
                      <a:srgbClr val="FFFFFF"/>
                    </a:solidFill>
                    <a:cs typeface="Arial" panose="020B0604020202020204" pitchFamily="34" charset="0"/>
                  </a:rPr>
                  <a:t>상호운용성 </a:t>
                </a:r>
              </a:p>
              <a:p>
                <a:pPr algn="ctr" defTabSz="893823" eaLnBrk="0" fontAlgn="ctr" latinLnBrk="0" hangingPunct="0">
                  <a:defRPr/>
                </a:pPr>
                <a:r>
                  <a:rPr kumimoji="0" lang="ko-KR" altLang="en-US" sz="1021" kern="0" dirty="0">
                    <a:solidFill>
                      <a:srgbClr val="FFFFFF"/>
                    </a:solidFill>
                    <a:cs typeface="Arial" panose="020B0604020202020204" pitchFamily="34" charset="0"/>
                  </a:rPr>
                  <a:t>결과 관리</a:t>
                </a:r>
              </a:p>
            </p:txBody>
          </p:sp>
        </p:grpSp>
        <p:sp>
          <p:nvSpPr>
            <p:cNvPr id="348" name="AutoShape 136"/>
            <p:cNvSpPr>
              <a:spLocks noChangeArrowheads="1"/>
            </p:cNvSpPr>
            <p:nvPr/>
          </p:nvSpPr>
          <p:spPr bwMode="gray">
            <a:xfrm rot="10800000" flipV="1">
              <a:off x="720228" y="7756653"/>
              <a:ext cx="6178858" cy="3132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0F0F0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>
              <a:outerShdw dist="25400" dir="16200000" algn="ctr" rotWithShape="0">
                <a:srgbClr val="74A6D7"/>
              </a:outerShdw>
            </a:effectLst>
            <a:extLst/>
          </p:spPr>
          <p:txBody>
            <a:bodyPr wrap="none" lIns="103689" tIns="51844" rIns="224523" bIns="51844" anchor="ctr"/>
            <a:lstStyle>
              <a:lvl1pPr algn="just" eaLnBrk="0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1pPr>
              <a:lvl2pPr marL="742950" indent="-287338" algn="just" eaLnBrk="0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2pPr>
              <a:lvl3pPr marL="1143000" indent="-228600" algn="just" eaLnBrk="0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•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3pPr>
              <a:lvl4pPr marL="1600200" indent="-230188" algn="just" eaLnBrk="0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4pPr>
              <a:lvl5pPr marL="2057400" indent="-228600" algn="just" eaLnBrk="0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9pPr>
            </a:lstStyle>
            <a:p>
              <a:pPr algn="l" defTabSz="887661" eaLnBrk="1" latinLnBrk="0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ko-KR" altLang="en-US" sz="102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55" name="TextBox 354"/>
          <p:cNvSpPr txBox="1">
            <a:spLocks noChangeArrowheads="1"/>
          </p:cNvSpPr>
          <p:nvPr/>
        </p:nvSpPr>
        <p:spPr bwMode="auto">
          <a:xfrm>
            <a:off x="968739" y="5725660"/>
            <a:ext cx="5082446" cy="314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96838" indent="-96838" defTabSz="893763" eaLnBrk="1" hangingPunct="1">
              <a:spcBef>
                <a:spcPct val="10000"/>
              </a:spcBef>
              <a:spcAft>
                <a:spcPct val="10000"/>
              </a:spcAft>
              <a:buClr>
                <a:srgbClr val="747474"/>
              </a:buClr>
              <a:buFont typeface="Wingdings" panose="05000000000000000000" pitchFamily="2" charset="2"/>
              <a:buChar char="§"/>
              <a:defRPr sz="900" b="0"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marL="94006" indent="-94006" defTabSz="867628" latinLnBrk="0">
              <a:defRPr/>
            </a:pPr>
            <a:r>
              <a:rPr lang="ko-KR" altLang="en-US" sz="1021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체계 개발단계 수준 측정시 기본설계검토</a:t>
            </a:r>
            <a:r>
              <a:rPr lang="en-US" altLang="ko-KR" sz="1021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(PDR) </a:t>
            </a:r>
            <a:r>
              <a:rPr lang="ko-KR" altLang="en-US" sz="1021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종료시점부터 상세설계검토</a:t>
            </a:r>
            <a:r>
              <a:rPr lang="en-US" altLang="ko-KR" sz="1021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(CDR) </a:t>
            </a:r>
            <a:r>
              <a:rPr lang="ko-KR" altLang="en-US" sz="1021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종료시점 사이 국방부 연간 상호운용성 수준측정계획에 따라 실시</a:t>
            </a:r>
          </a:p>
        </p:txBody>
      </p:sp>
      <p:grpSp>
        <p:nvGrpSpPr>
          <p:cNvPr id="356" name="그룹 355"/>
          <p:cNvGrpSpPr/>
          <p:nvPr/>
        </p:nvGrpSpPr>
        <p:grpSpPr>
          <a:xfrm>
            <a:off x="762510" y="6256837"/>
            <a:ext cx="5483139" cy="800096"/>
            <a:chOff x="719138" y="7933439"/>
            <a:chExt cx="6272212" cy="1095628"/>
          </a:xfrm>
        </p:grpSpPr>
        <p:pic>
          <p:nvPicPr>
            <p:cNvPr id="357" name="Picture 1" descr="C:\Users\woo\Desktop\Untitled-1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138" y="8630888"/>
              <a:ext cx="6272212" cy="398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AutoShape 225"/>
            <p:cNvSpPr>
              <a:spLocks noChangeArrowheads="1"/>
            </p:cNvSpPr>
            <p:nvPr/>
          </p:nvSpPr>
          <p:spPr bwMode="auto">
            <a:xfrm>
              <a:off x="1019175" y="7933439"/>
              <a:ext cx="5638800" cy="903302"/>
            </a:xfrm>
            <a:prstGeom prst="roundRect">
              <a:avLst>
                <a:gd name="adj" fmla="val 9816"/>
              </a:avLst>
            </a:prstGeom>
            <a:solidFill>
              <a:srgbClr val="FFFFFF"/>
            </a:solidFill>
            <a:ln w="12700" algn="ctr">
              <a:solidFill>
                <a:srgbClr val="C0C0C0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102063" tIns="53073" rIns="12248" bIns="53073"/>
            <a:lstStyle>
              <a:lvl1pPr algn="just">
                <a:lnSpc>
                  <a:spcPct val="110000"/>
                </a:lnSpc>
                <a:spcBef>
                  <a:spcPct val="25000"/>
                </a:spcBef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1pPr>
              <a:lvl2pPr marL="742950" indent="-285750" algn="just">
                <a:lnSpc>
                  <a:spcPct val="110000"/>
                </a:lnSpc>
                <a:spcBef>
                  <a:spcPct val="25000"/>
                </a:spcBef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2pPr>
              <a:lvl3pPr marL="1143000" indent="-228600" algn="just">
                <a:lnSpc>
                  <a:spcPct val="110000"/>
                </a:lnSpc>
                <a:spcBef>
                  <a:spcPct val="25000"/>
                </a:spcBef>
                <a:buChar char="•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3pPr>
              <a:lvl4pPr marL="1600200" indent="-228600" algn="just">
                <a:lnSpc>
                  <a:spcPct val="110000"/>
                </a:lnSpc>
                <a:spcBef>
                  <a:spcPct val="25000"/>
                </a:spcBef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4pPr>
              <a:lvl5pPr marL="2057400" indent="-228600" algn="just">
                <a:lnSpc>
                  <a:spcPct val="110000"/>
                </a:lnSpc>
                <a:spcBef>
                  <a:spcPct val="25000"/>
                </a:spcBef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5pPr>
              <a:lvl6pPr marL="25146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6pPr>
              <a:lvl7pPr marL="29718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7pPr>
              <a:lvl8pPr marL="34290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8pPr>
              <a:lvl9pPr marL="3886200" indent="-228600" algn="just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9pPr>
            </a:lstStyle>
            <a:p>
              <a:pPr algn="l" defTabSz="1034595" eaLnBrk="0" latinLnBrk="0" hangingPunct="0">
                <a:lnSpc>
                  <a:spcPct val="100000"/>
                </a:lnSpc>
                <a:spcBef>
                  <a:spcPct val="0"/>
                </a:spcBef>
                <a:defRPr/>
              </a:pPr>
              <a:endParaRPr lang="ko-KR" altLang="ko-KR" sz="1021" b="1" kern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59" name="Picture 128" descr="사람_0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545" y="5936960"/>
            <a:ext cx="510574" cy="90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0" name="그룹 359"/>
          <p:cNvGrpSpPr/>
          <p:nvPr/>
        </p:nvGrpSpPr>
        <p:grpSpPr>
          <a:xfrm>
            <a:off x="1199043" y="6438693"/>
            <a:ext cx="4293709" cy="336439"/>
            <a:chOff x="1218493" y="9189964"/>
            <a:chExt cx="5070476" cy="404309"/>
          </a:xfrm>
        </p:grpSpPr>
        <p:sp>
          <p:nvSpPr>
            <p:cNvPr id="361" name="Text Box 40"/>
            <p:cNvSpPr txBox="1">
              <a:spLocks noChangeArrowheads="1"/>
            </p:cNvSpPr>
            <p:nvPr/>
          </p:nvSpPr>
          <p:spPr bwMode="auto">
            <a:xfrm>
              <a:off x="1391531" y="9189964"/>
              <a:ext cx="4897438" cy="404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defTabSz="1034595" latinLnBrk="0">
                <a:lnSpc>
                  <a:spcPts val="136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lang="ko-KR" altLang="en-US" sz="1021" dirty="0">
                  <a:solidFill>
                    <a:srgbClr val="000000"/>
                  </a:solidFill>
                </a:rPr>
                <a:t>획득단계별 일관성있는 상호운용성 수준을 보장하고 상호운용성 제한사항 분석 및 개선방안을 제공하기 위하여 상호운용성 수준 측정</a:t>
              </a:r>
            </a:p>
          </p:txBody>
        </p:sp>
        <p:pic>
          <p:nvPicPr>
            <p:cNvPr id="362" name="Picture 21" descr="png-01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8493" y="9366220"/>
              <a:ext cx="125413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3" name="직사각형 362"/>
          <p:cNvSpPr/>
          <p:nvPr/>
        </p:nvSpPr>
        <p:spPr bwMode="auto">
          <a:xfrm>
            <a:off x="6487250" y="1358741"/>
            <a:ext cx="3875927" cy="58421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4" name="직사각형 363"/>
          <p:cNvSpPr/>
          <p:nvPr/>
        </p:nvSpPr>
        <p:spPr bwMode="auto">
          <a:xfrm>
            <a:off x="6499493" y="7160510"/>
            <a:ext cx="3866731" cy="45719"/>
          </a:xfrm>
          <a:prstGeom prst="rect">
            <a:avLst/>
          </a:prstGeom>
          <a:solidFill>
            <a:srgbClr val="4371BB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5" name="직사각형 364"/>
          <p:cNvSpPr/>
          <p:nvPr/>
        </p:nvSpPr>
        <p:spPr bwMode="auto">
          <a:xfrm>
            <a:off x="6480231" y="1358737"/>
            <a:ext cx="3882942" cy="445804"/>
          </a:xfrm>
          <a:prstGeom prst="rect">
            <a:avLst/>
          </a:prstGeom>
          <a:gradFill flip="none" rotWithShape="1">
            <a:gsLst>
              <a:gs pos="0">
                <a:srgbClr val="4371BB"/>
              </a:gs>
              <a:gs pos="96000">
                <a:srgbClr val="335791"/>
              </a:gs>
              <a:gs pos="97000">
                <a:srgbClr val="2B4877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6" name="사다리꼴 365"/>
          <p:cNvSpPr/>
          <p:nvPr/>
        </p:nvSpPr>
        <p:spPr bwMode="auto">
          <a:xfrm flipV="1">
            <a:off x="6488338" y="1365584"/>
            <a:ext cx="3866731" cy="27329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700" tIns="44347" rIns="88700" bIns="44347" anchor="ctr"/>
          <a:lstStyle/>
          <a:p>
            <a:pPr algn="ctr" defTabSz="886891">
              <a:defRPr/>
            </a:pPr>
            <a:endParaRPr lang="ko-KR" altLang="en-US" sz="2381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7" name="TextBox 366"/>
          <p:cNvSpPr txBox="1"/>
          <p:nvPr/>
        </p:nvSpPr>
        <p:spPr bwMode="auto">
          <a:xfrm>
            <a:off x="6721206" y="1396021"/>
            <a:ext cx="3425214" cy="366559"/>
          </a:xfrm>
          <a:prstGeom prst="rect">
            <a:avLst/>
          </a:prstGeom>
          <a:noFill/>
          <a:effectLst/>
        </p:spPr>
        <p:txBody>
          <a:bodyPr wrap="none" lIns="88700" tIns="44347" rIns="88700" bIns="44347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886963">
              <a:defRPr/>
            </a:pP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데이터공유환경</a:t>
            </a:r>
            <a:r>
              <a:rPr lang="en-US" altLang="ko-KR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적용 경험 활용</a:t>
            </a:r>
          </a:p>
        </p:txBody>
      </p:sp>
      <p:pic>
        <p:nvPicPr>
          <p:cNvPr id="36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6480226" y="1360201"/>
            <a:ext cx="754461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69" name="표 3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85196"/>
              </p:ext>
            </p:extLst>
          </p:nvPr>
        </p:nvGraphicFramePr>
        <p:xfrm>
          <a:off x="6571178" y="1890238"/>
          <a:ext cx="3723362" cy="4366600"/>
        </p:xfrm>
        <a:graphic>
          <a:graphicData uri="http://schemas.openxmlformats.org/drawingml/2006/table">
            <a:tbl>
              <a:tblPr/>
              <a:tblGrid>
                <a:gridCol w="7535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899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99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99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3173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적용대상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FFFF"/>
                        </a:gs>
                        <a:gs pos="100000">
                          <a:srgbClr val="DDDDD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DDDS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총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1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만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3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천여개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)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FFFF"/>
                        </a:gs>
                        <a:gs pos="100000">
                          <a:srgbClr val="DDDDD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UCMS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총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20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만여개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)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FFFF"/>
                        </a:gs>
                        <a:gs pos="100000">
                          <a:srgbClr val="DDDDD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SCMS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총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5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천여개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)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FFFF"/>
                        </a:gs>
                        <a:gs pos="100000">
                          <a:srgbClr val="DDDDDD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173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endParaRPr kumimoji="1" lang="ko-KR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-윤고딕140" pitchFamily="18" charset="-127"/>
                        <a:ea typeface="-윤고딕14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99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99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99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99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국방데이터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사전 시스템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FFFF"/>
                        </a:gs>
                        <a:gs pos="100000">
                          <a:srgbClr val="DDDDD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부대코드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관리시스템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FFFF"/>
                        </a:gs>
                        <a:gs pos="100000">
                          <a:srgbClr val="DDDDD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군대부호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관리시스템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FFFF"/>
                        </a:gs>
                        <a:gs pos="100000">
                          <a:srgbClr val="DDDDDD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158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36625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주요기능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및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  <a:p>
                      <a:pPr marL="0" marR="0" lvl="0" indent="0" algn="ctr" defTabSz="936625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적용방법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</a:txBody>
                  <a:tcPr marL="34219" marR="34219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등록된 표준데이터 검색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확인 및 적용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엔티티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데이터요소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속성분류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데이터모델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정보체계 등 관리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부대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부호화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표준화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굴림" panose="020B0600000101010101" pitchFamily="50" charset="-127"/>
                        <a:sym typeface="Monotype Sort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체계개발시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로 제공 및 적용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군대부호 부호화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표준화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도식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그림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)</a:t>
                      </a: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체계개발시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Data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제공 및 적용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872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936625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적용대상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아키텍처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DBMS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 등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부대정보조회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상황도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, DBMS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 등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808080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상황도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  <a:sym typeface="Monotype Sorts"/>
                        </a:rPr>
                        <a:t>외</a:t>
                      </a:r>
                    </a:p>
                  </a:txBody>
                  <a:tcPr marL="34219" marR="34219" marT="36000" marB="360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70" name="Picture 37" descr="D017145"/>
          <p:cNvPicPr>
            <a:picLocks noChangeAspect="1" noChangeArrowheads="1"/>
          </p:cNvPicPr>
          <p:nvPr/>
        </p:nvPicPr>
        <p:blipFill>
          <a:blip r:embed="rId1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56" y="6432976"/>
            <a:ext cx="3806202" cy="62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99564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2346129" y="2336357"/>
            <a:ext cx="3517148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사업을 이해하고 구축에 전념</a:t>
            </a: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2275267" y="2645163"/>
            <a:ext cx="3787003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국방</a:t>
            </a:r>
            <a:r>
              <a:rPr lang="en-US" altLang="ko-KR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•</a:t>
            </a: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유사체계 경험</a:t>
            </a:r>
          </a:p>
        </p:txBody>
      </p:sp>
      <p:sp>
        <p:nvSpPr>
          <p:cNvPr id="38" name="텍스트 개체 틀 36"/>
          <p:cNvSpPr txBox="1">
            <a:spLocks/>
          </p:cNvSpPr>
          <p:nvPr/>
        </p:nvSpPr>
        <p:spPr>
          <a:xfrm>
            <a:off x="6045423" y="2913411"/>
            <a:ext cx="1845057" cy="200055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marL="0" indent="0" algn="l" defTabSz="1019190" rtl="0" eaLnBrk="1" latinLnBrk="1" hangingPunct="1">
              <a:spcBef>
                <a:spcPts val="0"/>
              </a:spcBef>
              <a:buFontTx/>
              <a:buNone/>
              <a:defRPr sz="2000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828092" indent="-318497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98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358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317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277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2368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1963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1559" indent="-254798" algn="l" defTabSz="10191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47546">
              <a:buClr>
                <a:srgbClr val="5F5F5F"/>
              </a:buClr>
              <a:defRPr/>
            </a:pPr>
            <a:r>
              <a: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분야별 개발 전문가 투입</a:t>
            </a:r>
          </a:p>
        </p:txBody>
      </p:sp>
      <p:grpSp>
        <p:nvGrpSpPr>
          <p:cNvPr id="51" name="그룹 50"/>
          <p:cNvGrpSpPr/>
          <p:nvPr/>
        </p:nvGrpSpPr>
        <p:grpSpPr>
          <a:xfrm>
            <a:off x="9190559" y="648222"/>
            <a:ext cx="1655243" cy="487626"/>
            <a:chOff x="9190558" y="648221"/>
            <a:chExt cx="1655243" cy="487626"/>
          </a:xfrm>
        </p:grpSpPr>
        <p:sp>
          <p:nvSpPr>
            <p:cNvPr id="52" name="Text Box 18"/>
            <p:cNvSpPr txBox="1">
              <a:spLocks noChangeArrowheads="1"/>
            </p:cNvSpPr>
            <p:nvPr/>
          </p:nvSpPr>
          <p:spPr bwMode="auto">
            <a:xfrm>
              <a:off x="91905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3" name="Text Box 18"/>
            <p:cNvSpPr txBox="1">
              <a:spLocks noChangeArrowheads="1"/>
            </p:cNvSpPr>
            <p:nvPr/>
          </p:nvSpPr>
          <p:spPr bwMode="auto">
            <a:xfrm>
              <a:off x="9774758" y="648221"/>
              <a:ext cx="901815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Ⅲ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4" name="Text Box 18"/>
            <p:cNvSpPr txBox="1">
              <a:spLocks noChangeArrowheads="1"/>
            </p:cNvSpPr>
            <p:nvPr/>
          </p:nvSpPr>
          <p:spPr bwMode="auto">
            <a:xfrm>
              <a:off x="10333559" y="648221"/>
              <a:ext cx="512242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Ⅳ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1926258" y="3638565"/>
            <a:ext cx="6915620" cy="282539"/>
            <a:chOff x="2208777" y="5217210"/>
            <a:chExt cx="6915620" cy="282539"/>
          </a:xfrm>
        </p:grpSpPr>
        <p:grpSp>
          <p:nvGrpSpPr>
            <p:cNvPr id="45" name="그룹 44"/>
            <p:cNvGrpSpPr/>
            <p:nvPr/>
          </p:nvGrpSpPr>
          <p:grpSpPr>
            <a:xfrm>
              <a:off x="2208777" y="5217210"/>
              <a:ext cx="943998" cy="282539"/>
              <a:chOff x="2208777" y="5217210"/>
              <a:chExt cx="943998" cy="282539"/>
            </a:xfrm>
          </p:grpSpPr>
          <p:sp>
            <p:nvSpPr>
              <p:cNvPr id="47" name="양쪽 모서리가 둥근 사각형 46"/>
              <p:cNvSpPr/>
              <p:nvPr/>
            </p:nvSpPr>
            <p:spPr>
              <a:xfrm rot="16200000">
                <a:off x="2546130" y="4879857"/>
                <a:ext cx="269292" cy="94399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 w="19050" algn="ctr">
                <a:noFill/>
                <a:round/>
                <a:headEnd/>
                <a:tailEnd/>
              </a:ln>
              <a:effectLst>
                <a:innerShdw blurRad="63500" dist="38100">
                  <a:schemeClr val="tx1">
                    <a:lumMod val="75000"/>
                    <a:lumOff val="25000"/>
                    <a:alpha val="92000"/>
                  </a:schemeClr>
                </a:innerShdw>
              </a:effectLst>
            </p:spPr>
            <p:txBody>
              <a:bodyPr wrap="none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553780" latinLnBrk="0"/>
                <a:endParaRPr lang="ko-KR" altLang="en-US" sz="1100" dirty="0">
                  <a:solidFill>
                    <a:srgbClr val="333333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Rix고딕 B"/>
                </a:endParaRPr>
              </a:p>
            </p:txBody>
          </p:sp>
          <p:grpSp>
            <p:nvGrpSpPr>
              <p:cNvPr id="48" name="그룹 47"/>
              <p:cNvGrpSpPr/>
              <p:nvPr/>
            </p:nvGrpSpPr>
            <p:grpSpPr>
              <a:xfrm>
                <a:off x="2381329" y="5222750"/>
                <a:ext cx="719055" cy="276999"/>
                <a:chOff x="2283296" y="5246449"/>
                <a:chExt cx="719055" cy="276999"/>
              </a:xfrm>
            </p:grpSpPr>
            <p:pic>
              <p:nvPicPr>
                <p:cNvPr id="49" name="Picture 29" descr="Action text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lum bright="100000" contrast="66000"/>
                  <a:grayscl/>
                </a:blip>
                <a:srcRect/>
                <a:stretch>
                  <a:fillRect/>
                </a:stretch>
              </p:blipFill>
              <p:spPr bwMode="auto">
                <a:xfrm>
                  <a:off x="2283296" y="5303764"/>
                  <a:ext cx="392994" cy="1149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50" name="직사각형 71"/>
                <p:cNvSpPr>
                  <a:spLocks noChangeArrowheads="1"/>
                </p:cNvSpPr>
                <p:nvPr/>
              </p:nvSpPr>
              <p:spPr bwMode="auto">
                <a:xfrm>
                  <a:off x="2652767" y="5246449"/>
                  <a:ext cx="349584" cy="276999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ko-KR" sz="1800" spc="-158" dirty="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산돌신문제비B"/>
                    </a:rPr>
                    <a:t>4-1</a:t>
                  </a:r>
                </a:p>
              </p:txBody>
            </p:sp>
          </p:grpSp>
        </p:grpSp>
        <p:sp>
          <p:nvSpPr>
            <p:cNvPr id="46" name="Text Box 461"/>
            <p:cNvSpPr txBox="1">
              <a:spLocks noChangeArrowheads="1"/>
            </p:cNvSpPr>
            <p:nvPr/>
          </p:nvSpPr>
          <p:spPr bwMode="auto">
            <a:xfrm>
              <a:off x="3218934" y="5228745"/>
              <a:ext cx="5905463" cy="2154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>
                <a:defRPr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defRPr>
              </a:lvl1pPr>
            </a:lstStyle>
            <a:p>
              <a:pPr>
                <a:defRPr/>
              </a:pP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사업수행에 최적화된 협력체계 구성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국방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IT 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전문기업 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+ </a:t>
              </a:r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웹 개발 전문기업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156552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558106" y="1366837"/>
            <a:ext cx="5037601" cy="5832222"/>
            <a:chOff x="5617097" y="1366837"/>
            <a:chExt cx="5037601" cy="5832222"/>
          </a:xfrm>
        </p:grpSpPr>
        <p:sp>
          <p:nvSpPr>
            <p:cNvPr id="38" name="직사각형 37"/>
            <p:cNvSpPr/>
            <p:nvPr/>
          </p:nvSpPr>
          <p:spPr bwMode="auto">
            <a:xfrm>
              <a:off x="5617097" y="1366837"/>
              <a:ext cx="4869688" cy="5832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101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69" tIns="45683" rIns="91369" bIns="45683" anchor="ctr"/>
            <a:lstStyle/>
            <a:p>
              <a:pPr algn="ctr" defTabSz="913607">
                <a:defRPr/>
              </a:pPr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 bwMode="auto">
            <a:xfrm>
              <a:off x="5617107" y="1366837"/>
              <a:ext cx="4873103" cy="445804"/>
            </a:xfrm>
            <a:prstGeom prst="rect">
              <a:avLst/>
            </a:prstGeom>
            <a:gradFill flip="none" rotWithShape="1">
              <a:gsLst>
                <a:gs pos="0">
                  <a:srgbClr val="4371BB"/>
                </a:gs>
                <a:gs pos="96000">
                  <a:srgbClr val="335791"/>
                </a:gs>
                <a:gs pos="97000">
                  <a:srgbClr val="2B4877"/>
                </a:gs>
              </a:gsLst>
              <a:lin ang="540000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69" tIns="45683" rIns="91369" bIns="45683" anchor="ctr"/>
            <a:lstStyle/>
            <a:p>
              <a:pPr algn="ctr" defTabSz="913607">
                <a:defRPr/>
              </a:pPr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2" name="사다리꼴 41"/>
            <p:cNvSpPr/>
            <p:nvPr/>
          </p:nvSpPr>
          <p:spPr bwMode="auto">
            <a:xfrm flipV="1">
              <a:off x="5625637" y="1373679"/>
              <a:ext cx="4854316" cy="27329"/>
            </a:xfrm>
            <a:prstGeom prst="trapezoid">
              <a:avLst/>
            </a:prstGeom>
            <a:gradFill flip="none" rotWithShape="1">
              <a:gsLst>
                <a:gs pos="0">
                  <a:schemeClr val="bg1">
                    <a:alpha val="70000"/>
                  </a:schemeClr>
                </a:gs>
                <a:gs pos="76000">
                  <a:schemeClr val="bg1">
                    <a:alpha val="29000"/>
                  </a:schemeClr>
                </a:gs>
                <a:gs pos="92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69" tIns="45683" rIns="91369" bIns="45683" anchor="ctr"/>
            <a:lstStyle/>
            <a:p>
              <a:pPr algn="ctr" defTabSz="913607">
                <a:defRPr/>
              </a:pPr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 bwMode="auto">
            <a:xfrm>
              <a:off x="6816851" y="1374933"/>
              <a:ext cx="2473612" cy="369257"/>
            </a:xfrm>
            <a:prstGeom prst="rect">
              <a:avLst/>
            </a:prstGeom>
            <a:noFill/>
            <a:effectLst/>
          </p:spPr>
          <p:txBody>
            <a:bodyPr wrap="none" lIns="91369" tIns="45683" rIns="91369" bIns="45683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algn="ctr" defTabSz="913681">
                <a:defRPr/>
              </a:pPr>
              <a:r>
                <a:rPr lang="en-US" altLang="ko-KR" sz="1800" dirty="0">
                  <a:solidFill>
                    <a:prstClr val="white"/>
                  </a:solidFill>
                  <a:effectLst>
                    <a:glow rad="63500">
                      <a:srgbClr val="4F81BD">
                        <a:lumMod val="75000"/>
                      </a:srgb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PM(Project Manager)</a:t>
              </a:r>
              <a:endParaRPr lang="ko-KR" altLang="en-US" sz="1800" dirty="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 bwMode="auto">
            <a:xfrm>
              <a:off x="5617097" y="7149525"/>
              <a:ext cx="4869688" cy="49534"/>
            </a:xfrm>
            <a:prstGeom prst="rect">
              <a:avLst/>
            </a:prstGeom>
            <a:solidFill>
              <a:srgbClr val="4371BB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69" tIns="45683" rIns="91369" bIns="45683" anchor="ctr"/>
            <a:lstStyle/>
            <a:p>
              <a:pPr algn="ctr" defTabSz="913607">
                <a:defRPr/>
              </a:pPr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47" name="그룹 44"/>
            <p:cNvGrpSpPr>
              <a:grpSpLocks/>
            </p:cNvGrpSpPr>
            <p:nvPr/>
          </p:nvGrpSpPr>
          <p:grpSpPr bwMode="auto">
            <a:xfrm>
              <a:off x="5787670" y="2027975"/>
              <a:ext cx="1838052" cy="585088"/>
              <a:chOff x="2326458" y="4635665"/>
              <a:chExt cx="1668293" cy="515628"/>
            </a:xfrm>
          </p:grpSpPr>
          <p:pic>
            <p:nvPicPr>
              <p:cNvPr id="48" name="그림 328" descr="거버닝.pn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26458" y="4635665"/>
                <a:ext cx="1668293" cy="515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AutoShape 161"/>
              <p:cNvSpPr>
                <a:spLocks noChangeArrowheads="1"/>
              </p:cNvSpPr>
              <p:nvPr/>
            </p:nvSpPr>
            <p:spPr bwMode="auto">
              <a:xfrm>
                <a:off x="2405327" y="4694833"/>
                <a:ext cx="1458740" cy="289601"/>
              </a:xfrm>
              <a:prstGeom prst="roundRect">
                <a:avLst>
                  <a:gd name="adj" fmla="val 11819"/>
                </a:avLst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harsh" dir="tl"/>
                </a:scene3d>
                <a:sp3d contourW="31750" prstMaterial="flat">
                  <a:bevelT w="1270" h="63500" prst="artDeco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847679" eaLnBrk="0" hangingPunct="0">
                  <a:tabLst>
                    <a:tab pos="6283471" algn="l"/>
                  </a:tabLst>
                  <a:defRPr/>
                </a:pPr>
                <a:r>
                  <a:rPr lang="ko-KR" altLang="en-US" sz="2000" b="1" dirty="0">
                    <a:ln w="11430">
                      <a:noFill/>
                    </a:ln>
                    <a:gradFill flip="none" rotWithShape="1">
                      <a:gsLst>
                        <a:gs pos="100000">
                          <a:srgbClr val="1F497D">
                            <a:lumMod val="50000"/>
                          </a:srgbClr>
                        </a:gs>
                        <a:gs pos="24000">
                          <a:srgbClr val="0058B0"/>
                        </a:gs>
                        <a:gs pos="58000">
                          <a:srgbClr val="003399"/>
                        </a:gs>
                      </a:gsLst>
                      <a:lin ang="16200000" scaled="1"/>
                      <a:tileRect/>
                    </a:gra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이 상 준  팀장</a:t>
                </a:r>
                <a:endParaRPr lang="ko-KR" altLang="en-US" sz="1600" b="1" dirty="0">
                  <a:ln w="11430">
                    <a:noFill/>
                  </a:ln>
                  <a:gradFill flip="none" rotWithShape="1">
                    <a:gsLst>
                      <a:gs pos="100000">
                        <a:srgbClr val="1F497D">
                          <a:lumMod val="50000"/>
                        </a:srgb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endParaRPr>
              </a:p>
            </p:txBody>
          </p:sp>
        </p:grpSp>
        <p:grpSp>
          <p:nvGrpSpPr>
            <p:cNvPr id="50" name="그룹 62"/>
            <p:cNvGrpSpPr>
              <a:grpSpLocks/>
            </p:cNvGrpSpPr>
            <p:nvPr/>
          </p:nvGrpSpPr>
          <p:grpSpPr bwMode="auto">
            <a:xfrm>
              <a:off x="7608237" y="2224149"/>
              <a:ext cx="1599412" cy="338554"/>
              <a:chOff x="414161" y="2222356"/>
              <a:chExt cx="1236201" cy="253904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502821" y="2222356"/>
                <a:ext cx="1147541" cy="25390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17222" latinLnBrk="0">
                  <a:defRPr/>
                </a:pPr>
                <a:r>
                  <a:rPr lang="ko-KR" altLang="en-US" sz="1600" dirty="0">
                    <a:solidFill>
                      <a:srgbClr val="21212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사업 총괄관리</a:t>
                </a:r>
              </a:p>
            </p:txBody>
          </p:sp>
          <p:grpSp>
            <p:nvGrpSpPr>
              <p:cNvPr id="54" name="그룹 64"/>
              <p:cNvGrpSpPr>
                <a:grpSpLocks/>
              </p:cNvGrpSpPr>
              <p:nvPr/>
            </p:nvGrpSpPr>
            <p:grpSpPr bwMode="auto">
              <a:xfrm>
                <a:off x="414161" y="2294258"/>
                <a:ext cx="67320" cy="100221"/>
                <a:chOff x="415016" y="2294258"/>
                <a:chExt cx="67320" cy="100221"/>
              </a:xfrm>
            </p:grpSpPr>
            <p:sp>
              <p:nvSpPr>
                <p:cNvPr id="55" name="직사각형 54"/>
                <p:cNvSpPr/>
                <p:nvPr/>
              </p:nvSpPr>
              <p:spPr>
                <a:xfrm rot="2700000">
                  <a:off x="415032" y="2293935"/>
                  <a:ext cx="39155" cy="39187"/>
                </a:xfrm>
                <a:prstGeom prst="rect">
                  <a:avLst/>
                </a:prstGeom>
                <a:solidFill>
                  <a:srgbClr val="8996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1017222">
                    <a:defRPr/>
                  </a:pPr>
                  <a:endParaRPr lang="ko-KR" altLang="en-US" sz="16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56" name="직사각형 55"/>
                <p:cNvSpPr/>
                <p:nvPr/>
              </p:nvSpPr>
              <p:spPr>
                <a:xfrm rot="2700000">
                  <a:off x="415032" y="2354692"/>
                  <a:ext cx="39154" cy="39187"/>
                </a:xfrm>
                <a:prstGeom prst="rect">
                  <a:avLst/>
                </a:prstGeom>
                <a:solidFill>
                  <a:srgbClr val="8996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1017222">
                    <a:defRPr/>
                  </a:pPr>
                  <a:endParaRPr lang="ko-KR" altLang="en-US" sz="16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57" name="직사각형 56"/>
                <p:cNvSpPr/>
                <p:nvPr/>
              </p:nvSpPr>
              <p:spPr>
                <a:xfrm rot="2700000">
                  <a:off x="442734" y="2324314"/>
                  <a:ext cx="40504" cy="39186"/>
                </a:xfrm>
                <a:prstGeom prst="rect">
                  <a:avLst/>
                </a:prstGeom>
                <a:solidFill>
                  <a:srgbClr val="C700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1017222">
                    <a:defRPr/>
                  </a:pPr>
                  <a:endParaRPr lang="ko-KR" altLang="en-US" sz="16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sp>
          <p:nvSpPr>
            <p:cNvPr id="58" name="직사각형 557"/>
            <p:cNvSpPr>
              <a:spLocks noChangeArrowheads="1"/>
            </p:cNvSpPr>
            <p:nvPr/>
          </p:nvSpPr>
          <p:spPr bwMode="auto">
            <a:xfrm>
              <a:off x="5892492" y="2707269"/>
              <a:ext cx="4518467" cy="1714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138113" indent="-138113" defTabSz="1066904" fontAlgn="base" latinLnBrk="0">
                <a:lnSpc>
                  <a:spcPct val="110000"/>
                </a:lnSpc>
                <a:spcAft>
                  <a:spcPts val="500"/>
                </a:spcAft>
                <a:buClr>
                  <a:srgbClr val="777777"/>
                </a:buClr>
                <a:buSzPct val="65000"/>
                <a:buFontTx/>
                <a:buBlip>
                  <a:blip r:embed="rId4"/>
                </a:buBlip>
                <a:tabLst>
                  <a:tab pos="672571" algn="l"/>
                </a:tabLst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경력 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: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사업관리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/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서비스 기획  및 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PM </a:t>
              </a:r>
              <a:r>
                <a:rPr kumimoji="1" lang="en-US" altLang="ko-KR" sz="1300" kern="0" dirty="0">
                  <a:solidFill>
                    <a:srgbClr val="C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전문</a:t>
              </a:r>
              <a:r>
                <a:rPr kumimoji="1" lang="en-US" altLang="ko-KR" sz="1300" kern="0" dirty="0">
                  <a:solidFill>
                    <a:srgbClr val="C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 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(18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년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)</a:t>
              </a:r>
            </a:p>
            <a:p>
              <a:pPr marL="138113" indent="-138113" defTabSz="1066904" fontAlgn="base" latinLnBrk="0">
                <a:lnSpc>
                  <a:spcPct val="110000"/>
                </a:lnSpc>
                <a:spcAft>
                  <a:spcPts val="500"/>
                </a:spcAft>
                <a:buClr>
                  <a:srgbClr val="777777"/>
                </a:buClr>
                <a:buSzPct val="65000"/>
                <a:buFontTx/>
                <a:buBlip>
                  <a:blip r:embed="rId4"/>
                </a:buBlip>
                <a:tabLst>
                  <a:tab pos="672571" algn="l"/>
                </a:tabLst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역량 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: </a:t>
              </a:r>
              <a:r>
                <a:rPr kumimoji="1" lang="ko-KR" altLang="en-US" sz="1300" kern="0" dirty="0">
                  <a:solidFill>
                    <a:srgbClr val="C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예비군훈련 관리체계 및 다수의 국방</a:t>
              </a:r>
              <a:r>
                <a:rPr kumimoji="1" lang="en-US" altLang="ko-KR" sz="1300" kern="0" dirty="0">
                  <a:solidFill>
                    <a:srgbClr val="C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IT </a:t>
              </a:r>
              <a:br>
                <a:rPr kumimoji="1" lang="en-US" altLang="ko-KR" sz="1300" kern="0" dirty="0">
                  <a:solidFill>
                    <a:srgbClr val="C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</a:br>
              <a:r>
                <a:rPr kumimoji="1" lang="en-US" altLang="ko-KR" sz="1300" kern="0" dirty="0">
                  <a:solidFill>
                    <a:srgbClr val="C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          </a:t>
              </a:r>
              <a:r>
                <a:rPr kumimoji="1" lang="ko-KR" altLang="en-US" sz="1300" kern="0" dirty="0">
                  <a:solidFill>
                    <a:srgbClr val="C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체계 사업 수행 등 다양한 실무경험 보유</a:t>
              </a:r>
              <a:endParaRPr kumimoji="1" lang="en-US" altLang="ko-KR" sz="1300" kern="0" dirty="0">
                <a:solidFill>
                  <a:srgbClr val="C00000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  <a:sym typeface="Monotype Sorts" pitchFamily="2" charset="2"/>
              </a:endParaRPr>
            </a:p>
            <a:p>
              <a:pPr marL="138113" indent="-138113" defTabSz="1066904" fontAlgn="base" latinLnBrk="0">
                <a:lnSpc>
                  <a:spcPct val="110000"/>
                </a:lnSpc>
                <a:spcAft>
                  <a:spcPts val="500"/>
                </a:spcAft>
                <a:buClr>
                  <a:srgbClr val="777777"/>
                </a:buClr>
                <a:buSzPct val="65000"/>
                <a:buFontTx/>
                <a:buBlip>
                  <a:blip r:embed="rId4"/>
                </a:buBlip>
                <a:tabLst>
                  <a:tab pos="672571" algn="l"/>
                </a:tabLst>
              </a:pP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본 사업관련 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:  ICT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기반 스마트 예비군훈련 관리  체계 구축 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/>
              </a:r>
              <a:b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</a:b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                     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사업의  웹포털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,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모바일 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PL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및 개발총괄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  <a:sym typeface="Monotype Sorts" pitchFamily="2" charset="2"/>
              </a:endParaRPr>
            </a:p>
            <a:p>
              <a:pPr defTabSz="1066904" fontAlgn="base" latinLnBrk="0">
                <a:lnSpc>
                  <a:spcPct val="110000"/>
                </a:lnSpc>
                <a:buClr>
                  <a:srgbClr val="777777"/>
                </a:buClr>
                <a:buSzPct val="65000"/>
                <a:tabLst>
                  <a:tab pos="672571" algn="l"/>
                </a:tabLst>
              </a:pP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                        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국방 개발방법론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/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기술표준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, </a:t>
              </a:r>
              <a:r>
                <a:rPr kumimoji="1" lang="ko-KR" altLang="en-US" sz="13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상호운용성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 </a:t>
              </a:r>
              <a:endParaRPr kumimoji="1" lang="en-US" altLang="ko-KR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  <a:sym typeface="Monotype Sorts" pitchFamily="2" charset="2"/>
              </a:endParaRPr>
            </a:p>
            <a:p>
              <a:pPr defTabSz="1066904" fontAlgn="base" latinLnBrk="0">
                <a:lnSpc>
                  <a:spcPct val="110000"/>
                </a:lnSpc>
                <a:spcAft>
                  <a:spcPts val="500"/>
                </a:spcAft>
                <a:buClr>
                  <a:srgbClr val="777777"/>
                </a:buClr>
                <a:buSzPct val="65000"/>
                <a:tabLst>
                  <a:tab pos="672571" algn="l"/>
                </a:tabLst>
              </a:pP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                         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정책</a:t>
              </a:r>
              <a:r>
                <a:rPr kumimoji="1"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/</a:t>
              </a:r>
              <a:r>
                <a:rPr kumimoji="1"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  <a:sym typeface="Monotype Sorts" pitchFamily="2" charset="2"/>
                </a:rPr>
                <a:t>지침 수행 경험</a:t>
              </a:r>
            </a:p>
          </p:txBody>
        </p:sp>
        <p:pic>
          <p:nvPicPr>
            <p:cNvPr id="60" name="Picture 2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5617099" y="1368301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5" name="그룹 114"/>
            <p:cNvGrpSpPr/>
            <p:nvPr/>
          </p:nvGrpSpPr>
          <p:grpSpPr>
            <a:xfrm>
              <a:off x="9541782" y="1407850"/>
              <a:ext cx="1112916" cy="837834"/>
              <a:chOff x="2613543" y="5660571"/>
              <a:chExt cx="1112916" cy="837834"/>
            </a:xfrm>
          </p:grpSpPr>
          <p:pic>
            <p:nvPicPr>
              <p:cNvPr id="116" name="Picture 103" descr="13p_팝업_강조번개도형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3543" y="5660571"/>
                <a:ext cx="1112916" cy="837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" name="TextBox 1"/>
              <p:cNvSpPr txBox="1">
                <a:spLocks noChangeArrowheads="1"/>
              </p:cNvSpPr>
              <p:nvPr/>
            </p:nvSpPr>
            <p:spPr bwMode="auto">
              <a:xfrm>
                <a:off x="2943841" y="5857889"/>
                <a:ext cx="452320" cy="4431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D4D4D"/>
                    </a:solidFill>
                  </a14:hiddenFill>
                </a:ext>
                <a:ext uri="{91240B29-F687-4F45-9708-019B960494DF}">
                  <a14:hiddenLine xmlns:a14="http://schemas.microsoft.com/office/drawing/2010/main" w="15875" algn="ctr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C8C2B4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defPPr>
                  <a:defRPr lang="ko-KR"/>
                </a:defPPr>
                <a:lvl1pPr algn="ctr" defTabSz="1028700">
                  <a:lnSpc>
                    <a:spcPct val="110000"/>
                  </a:lnSpc>
                  <a:defRPr sz="190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defRPr>
                </a:lvl1pPr>
                <a:lvl2pPr marL="742950" indent="-285750" defTabSz="1028700">
                  <a:defRPr>
                    <a:latin typeface="굴림" pitchFamily="50" charset="-127"/>
                    <a:ea typeface="굴림" pitchFamily="50" charset="-127"/>
                  </a:defRPr>
                </a:lvl2pPr>
                <a:lvl3pPr marL="1143000" indent="-228600" defTabSz="1028700">
                  <a:defRPr>
                    <a:latin typeface="굴림" pitchFamily="50" charset="-127"/>
                    <a:ea typeface="굴림" pitchFamily="50" charset="-127"/>
                  </a:defRPr>
                </a:lvl3pPr>
                <a:lvl4pPr marL="1600200" indent="-228600" defTabSz="1028700">
                  <a:defRPr>
                    <a:latin typeface="굴림" pitchFamily="50" charset="-127"/>
                    <a:ea typeface="굴림" pitchFamily="50" charset="-127"/>
                  </a:defRPr>
                </a:lvl4pPr>
                <a:lvl5pPr marL="2057400" indent="-228600" defTabSz="1028700">
                  <a:defRPr>
                    <a:latin typeface="굴림" pitchFamily="50" charset="-127"/>
                    <a:ea typeface="굴림" pitchFamily="50" charset="-127"/>
                  </a:defRPr>
                </a:lvl5pPr>
                <a:lvl6pPr marL="2514600" indent="-228600" defTabSz="1028700" fontAlgn="base">
                  <a:spcBef>
                    <a:spcPct val="0"/>
                  </a:spcBef>
                  <a:spcAft>
                    <a:spcPct val="0"/>
                  </a:spcAft>
                  <a:defRPr>
                    <a:latin typeface="굴림" pitchFamily="50" charset="-127"/>
                    <a:ea typeface="굴림" pitchFamily="50" charset="-127"/>
                  </a:defRPr>
                </a:lvl6pPr>
                <a:lvl7pPr marL="2971800" indent="-228600" defTabSz="1028700" fontAlgn="base">
                  <a:spcBef>
                    <a:spcPct val="0"/>
                  </a:spcBef>
                  <a:spcAft>
                    <a:spcPct val="0"/>
                  </a:spcAft>
                  <a:defRPr>
                    <a:latin typeface="굴림" pitchFamily="50" charset="-127"/>
                    <a:ea typeface="굴림" pitchFamily="50" charset="-127"/>
                  </a:defRPr>
                </a:lvl7pPr>
                <a:lvl8pPr marL="3429000" indent="-228600" defTabSz="1028700" fontAlgn="base">
                  <a:spcBef>
                    <a:spcPct val="0"/>
                  </a:spcBef>
                  <a:spcAft>
                    <a:spcPct val="0"/>
                  </a:spcAft>
                  <a:defRPr>
                    <a:latin typeface="굴림" pitchFamily="50" charset="-127"/>
                    <a:ea typeface="굴림" pitchFamily="50" charset="-127"/>
                  </a:defRPr>
                </a:lvl8pPr>
                <a:lvl9pPr marL="3886200" indent="-228600" defTabSz="1028700" fontAlgn="base">
                  <a:spcBef>
                    <a:spcPct val="0"/>
                  </a:spcBef>
                  <a:spcAft>
                    <a:spcPct val="0"/>
                  </a:spcAft>
                  <a:defRPr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ko-KR" altLang="en-US" sz="1600" dirty="0">
                    <a:solidFill>
                      <a:prstClr val="white"/>
                    </a:solidFill>
                    <a:effectLst>
                      <a:glow rad="63500">
                        <a:prstClr val="black">
                          <a:alpha val="40000"/>
                        </a:prst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사업</a:t>
                </a:r>
                <a:endParaRPr lang="en-US" altLang="ko-KR" sz="1600" dirty="0">
                  <a:solidFill>
                    <a:prstClr val="white"/>
                  </a:solidFill>
                  <a:effectLst>
                    <a:glow rad="63500">
                      <a:prstClr val="black">
                        <a:alpha val="40000"/>
                      </a:prst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ko-KR" altLang="en-US" sz="1600" dirty="0">
                    <a:solidFill>
                      <a:prstClr val="white"/>
                    </a:solidFill>
                    <a:effectLst>
                      <a:glow rad="63500">
                        <a:prstClr val="black">
                          <a:alpha val="40000"/>
                        </a:prst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경험</a:t>
                </a:r>
              </a:p>
            </p:txBody>
          </p:sp>
        </p:grpSp>
      </p:grpSp>
      <p:grpSp>
        <p:nvGrpSpPr>
          <p:cNvPr id="114" name="그룹 113"/>
          <p:cNvGrpSpPr/>
          <p:nvPr/>
        </p:nvGrpSpPr>
        <p:grpSpPr>
          <a:xfrm>
            <a:off x="838633" y="271486"/>
            <a:ext cx="9727237" cy="767022"/>
            <a:chOff x="684361" y="328636"/>
            <a:chExt cx="9727237" cy="767022"/>
          </a:xfrm>
        </p:grpSpPr>
        <p:grpSp>
          <p:nvGrpSpPr>
            <p:cNvPr id="118" name="그룹 117"/>
            <p:cNvGrpSpPr/>
            <p:nvPr/>
          </p:nvGrpSpPr>
          <p:grpSpPr>
            <a:xfrm>
              <a:off x="684361" y="359216"/>
              <a:ext cx="307778" cy="674807"/>
              <a:chOff x="753806" y="359216"/>
              <a:chExt cx="307778" cy="674807"/>
            </a:xfrm>
          </p:grpSpPr>
          <p:sp>
            <p:nvSpPr>
              <p:cNvPr id="121" name="직사각형 120"/>
              <p:cNvSpPr/>
              <p:nvPr/>
            </p:nvSpPr>
            <p:spPr bwMode="auto">
              <a:xfrm>
                <a:off x="753806" y="359216"/>
                <a:ext cx="307778" cy="18466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ko-KR" altLang="en-US" sz="1200" dirty="0"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전략</a:t>
                </a:r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22" name="직사각형 121"/>
              <p:cNvSpPr/>
              <p:nvPr/>
            </p:nvSpPr>
            <p:spPr bwMode="auto">
              <a:xfrm>
                <a:off x="786656" y="603136"/>
                <a:ext cx="211597" cy="43088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</a:sp3d>
              </a:bodyPr>
              <a:lstStyle/>
              <a:p>
                <a:pPr marL="0" lvl="1" algn="ctr" defTabSz="913607">
                  <a:defRPr/>
                </a:pPr>
                <a:r>
                  <a:rPr lang="en-US" altLang="ko-KR" sz="2800" dirty="0">
                    <a:solidFill>
                      <a:srgbClr val="9BBB59">
                        <a:lumMod val="40000"/>
                        <a:lumOff val="60000"/>
                      </a:srgb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4</a:t>
                </a:r>
              </a:p>
            </p:txBody>
          </p:sp>
        </p:grpSp>
        <p:sp>
          <p:nvSpPr>
            <p:cNvPr id="119" name="TextBox 118"/>
            <p:cNvSpPr txBox="1"/>
            <p:nvPr/>
          </p:nvSpPr>
          <p:spPr>
            <a:xfrm>
              <a:off x="1373546" y="603215"/>
              <a:ext cx="9038052" cy="492443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2600" b="1" spc="-150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유사사업 경험과 전문역량을 보유한 조직 구성과 지원체계 확보</a:t>
              </a:r>
              <a:endParaRPr lang="en-US" altLang="ko-KR" sz="2600" b="1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376557" y="328636"/>
              <a:ext cx="7585447" cy="3231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defTabSz="1084296" fontAlgn="auto">
                <a:spcBef>
                  <a:spcPts val="0"/>
                </a:spcBef>
                <a:spcAft>
                  <a:spcPts val="0"/>
                </a:spcAft>
                <a:defRPr sz="1600">
                  <a:solidFill>
                    <a:srgbClr val="9FA7B3"/>
                  </a:solidFill>
                  <a:latin typeface="나눔고딕 ExtraBold" pitchFamily="50" charset="-127"/>
                  <a:ea typeface="나눔고딕 ExtraBold" pitchFamily="50" charset="-127"/>
                </a:defRPr>
              </a:lvl1pPr>
            </a:lstStyle>
            <a:p>
              <a:r>
                <a:rPr lang="en-US" altLang="ko-KR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Action2-2 </a:t>
              </a:r>
              <a:r>
                <a:rPr lang="ko-KR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예비군 훈련관리 체계 및 웹포털</a:t>
              </a:r>
              <a:r>
                <a:rPr lang="en-US" altLang="ko-KR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모바일</a:t>
              </a:r>
              <a:r>
                <a:rPr lang="en-US" altLang="ko-KR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프로젝트 수행 경험과 인력 활용</a:t>
              </a:r>
            </a:p>
          </p:txBody>
        </p:sp>
      </p:grpSp>
      <p:graphicFrame>
        <p:nvGraphicFramePr>
          <p:cNvPr id="59" name="Group 3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127466"/>
              </p:ext>
            </p:extLst>
          </p:nvPr>
        </p:nvGraphicFramePr>
        <p:xfrm>
          <a:off x="792460" y="4580879"/>
          <a:ext cx="4536730" cy="167528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451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915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246">
                <a:tc>
                  <a:txBody>
                    <a:bodyPr/>
                    <a:lstStyle/>
                    <a:p>
                      <a:pPr marL="108000" marR="0" lvl="0" indent="0" algn="ctr" defTabSz="101828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발주처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1828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사업 및 역할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83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육군 교육사령부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비전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21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모델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사단방책분석모델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사업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사업총괄 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PM</a:t>
                      </a:r>
                      <a:endParaRPr kumimoji="0" lang="ko-KR" altLang="en-US" sz="1200" b="0" i="0" u="none" strike="noStrike" kern="1200" cap="none" spc="-8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0" scaled="0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78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육군본부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ICT 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스마트 예비군 관리체계  구축 사업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/SW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PL 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및 서브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PM </a:t>
                      </a:r>
                      <a:endParaRPr kumimoji="0" lang="ko-KR" altLang="en-US" sz="1200" b="0" i="0" u="none" strike="noStrike" kern="1200" cap="none" spc="-80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0" scaled="0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78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1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육군 교육사령부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작전 지속지원 분석모델 개발 사업 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시스템 및 모의 엔진 </a:t>
                      </a:r>
                      <a:r>
                        <a:rPr kumimoji="0" lang="en-US" altLang="ko-KR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PL </a:t>
                      </a:r>
                      <a:r>
                        <a:rPr kumimoji="0" lang="ko-KR" altLang="en-US" sz="1200" b="0" i="0" u="none" strike="noStrike" kern="1200" cap="none" spc="-80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등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3" name="직사각형 62"/>
          <p:cNvSpPr/>
          <p:nvPr/>
        </p:nvSpPr>
        <p:spPr bwMode="auto">
          <a:xfrm>
            <a:off x="5670032" y="1374092"/>
            <a:ext cx="4869688" cy="5807454"/>
          </a:xfrm>
          <a:prstGeom prst="rect">
            <a:avLst/>
          </a:prstGeom>
          <a:solidFill>
            <a:schemeClr val="bg1"/>
          </a:solidFill>
          <a:ln w="12700">
            <a:solidFill>
              <a:srgbClr val="84B2E4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5670041" y="1374091"/>
            <a:ext cx="4873103" cy="445804"/>
          </a:xfrm>
          <a:prstGeom prst="rect">
            <a:avLst/>
          </a:prstGeom>
          <a:gradFill flip="none" rotWithShape="1">
            <a:gsLst>
              <a:gs pos="0">
                <a:srgbClr val="72A6E0"/>
              </a:gs>
              <a:gs pos="98000">
                <a:srgbClr val="2C79CE"/>
              </a:gs>
              <a:gs pos="100000">
                <a:srgbClr val="2D417B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378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5" name="사다리꼴 64"/>
          <p:cNvSpPr/>
          <p:nvPr/>
        </p:nvSpPr>
        <p:spPr bwMode="auto">
          <a:xfrm flipV="1">
            <a:off x="5678571" y="1380933"/>
            <a:ext cx="4854316" cy="27329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913607"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 bwMode="auto">
          <a:xfrm>
            <a:off x="7552660" y="1382194"/>
            <a:ext cx="1107853" cy="369257"/>
          </a:xfrm>
          <a:prstGeom prst="rect">
            <a:avLst/>
          </a:prstGeom>
          <a:noFill/>
          <a:effectLst/>
        </p:spPr>
        <p:txBody>
          <a:bodyPr wrap="none" lIns="91369" tIns="45683" rIns="91369" bIns="45683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913681">
              <a:defRPr/>
            </a:pPr>
            <a:r>
              <a:rPr lang="ko-KR" altLang="en-US" sz="18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핵심인력</a:t>
            </a:r>
          </a:p>
        </p:txBody>
      </p:sp>
      <p:pic>
        <p:nvPicPr>
          <p:cNvPr id="67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5678493" y="1375555"/>
            <a:ext cx="793732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/>
          <p:cNvSpPr/>
          <p:nvPr/>
        </p:nvSpPr>
        <p:spPr bwMode="auto">
          <a:xfrm>
            <a:off x="5678571" y="7157908"/>
            <a:ext cx="4861149" cy="45719"/>
          </a:xfrm>
          <a:prstGeom prst="rect">
            <a:avLst/>
          </a:prstGeom>
          <a:solidFill>
            <a:srgbClr val="84B2E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 indent="-159096" algn="ctr" defTabSz="1018212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5972329" y="4511771"/>
            <a:ext cx="4457040" cy="1771635"/>
            <a:chOff x="725503" y="2723250"/>
            <a:chExt cx="3616199" cy="2349694"/>
          </a:xfrm>
        </p:grpSpPr>
        <p:pic>
          <p:nvPicPr>
            <p:cNvPr id="124" name="그림 328" descr="거버닝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574" y="2978765"/>
              <a:ext cx="3495409" cy="127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모서리가 둥근 직사각형 124"/>
            <p:cNvSpPr/>
            <p:nvPr/>
          </p:nvSpPr>
          <p:spPr bwMode="auto">
            <a:xfrm>
              <a:off x="726574" y="2821416"/>
              <a:ext cx="3614057" cy="2251528"/>
            </a:xfrm>
            <a:prstGeom prst="roundRect">
              <a:avLst>
                <a:gd name="adj" fmla="val 3326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42751" algn="ctr" defTabSz="1329173" eaLnBrk="0" hangingPunct="0">
                <a:buClr>
                  <a:sysClr val="windowText" lastClr="000000"/>
                </a:buClr>
                <a:tabLst>
                  <a:tab pos="5643425" algn="l"/>
                </a:tabLst>
              </a:pPr>
              <a:endParaRPr lang="ko-KR" altLang="en-US" sz="1100" kern="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6" name="양쪽 모서리가 둥근 사각형 125"/>
            <p:cNvSpPr/>
            <p:nvPr/>
          </p:nvSpPr>
          <p:spPr bwMode="auto">
            <a:xfrm>
              <a:off x="725503" y="2723250"/>
              <a:ext cx="3614057" cy="429717"/>
            </a:xfrm>
            <a:prstGeom prst="round2SameRect">
              <a:avLst/>
            </a:prstGeom>
            <a:solidFill>
              <a:srgbClr val="4371BB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142751" algn="ctr" defTabSz="913607">
                <a:lnSpc>
                  <a:spcPct val="90000"/>
                </a:lnSpc>
                <a:buClr>
                  <a:sysClr val="windowText" lastClr="000000"/>
                </a:buClr>
                <a:buSzPct val="90000"/>
                <a:tabLst>
                  <a:tab pos="5643425" algn="l"/>
                </a:tabLst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개발</a:t>
              </a:r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PL</a:t>
              </a:r>
              <a:r>
                <a: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</a:t>
              </a:r>
              <a:r>
                <a:rPr lang="ko-KR" altLang="en-US" sz="1600" dirty="0" err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사공훈</a:t>
              </a:r>
              <a:r>
                <a: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상무</a:t>
              </a:r>
            </a:p>
          </p:txBody>
        </p:sp>
        <p:sp>
          <p:nvSpPr>
            <p:cNvPr id="127" name="Rectangle 579"/>
            <p:cNvSpPr>
              <a:spLocks noChangeArrowheads="1"/>
            </p:cNvSpPr>
            <p:nvPr/>
          </p:nvSpPr>
          <p:spPr bwMode="auto">
            <a:xfrm>
              <a:off x="894457" y="3523098"/>
              <a:ext cx="3447245" cy="1367468"/>
            </a:xfrm>
            <a:prstGeom prst="rect">
              <a:avLst/>
            </a:prstGeom>
            <a:noFill/>
            <a:ex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150813" indent="-150813" defTabSz="1066904" fontAlgn="base" latinLnBrk="0">
                <a:spcAft>
                  <a:spcPts val="20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교육학사 경력 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30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년</a:t>
              </a:r>
              <a:endParaRPr kumimoji="1" lang="en-US" altLang="ko-KR" sz="1400" kern="0" dirty="0"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50813" indent="-150813" defTabSz="1066904" fontAlgn="base" latinLnBrk="0">
                <a:spcAft>
                  <a:spcPts val="20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차세대 통합 정보 시스템 구축 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PM</a:t>
              </a:r>
            </a:p>
            <a:p>
              <a:pPr defTabSz="1066904" fontAlgn="base" latinLnBrk="0">
                <a:spcAft>
                  <a:spcPts val="200"/>
                </a:spcAft>
                <a:buClr>
                  <a:srgbClr val="777777"/>
                </a:buClr>
                <a:buSzPct val="65000"/>
              </a:pP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  (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대구한의대 외 다수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)</a:t>
              </a:r>
            </a:p>
            <a:p>
              <a:pPr marL="150813" indent="-150813" defTabSz="1066904" fontAlgn="base" latinLnBrk="0">
                <a:spcAft>
                  <a:spcPts val="200"/>
                </a:spcAft>
                <a:buClr>
                  <a:srgbClr val="777777"/>
                </a:buClr>
                <a:buSzPct val="65000"/>
                <a:buBlip>
                  <a:blip r:embed="rId4"/>
                </a:buBlip>
              </a:pP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학생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통합 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0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정보 시스템 및 그룹웨어 구축</a:t>
              </a:r>
            </a:p>
          </p:txBody>
        </p:sp>
      </p:grpSp>
      <p:grpSp>
        <p:nvGrpSpPr>
          <p:cNvPr id="138" name="그룹 137"/>
          <p:cNvGrpSpPr/>
          <p:nvPr/>
        </p:nvGrpSpPr>
        <p:grpSpPr>
          <a:xfrm>
            <a:off x="5968811" y="1957474"/>
            <a:ext cx="4459238" cy="1747200"/>
            <a:chOff x="725503" y="2820523"/>
            <a:chExt cx="3617982" cy="1564619"/>
          </a:xfrm>
        </p:grpSpPr>
        <p:pic>
          <p:nvPicPr>
            <p:cNvPr id="139" name="그림 328" descr="거버닝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574" y="2978765"/>
              <a:ext cx="3495409" cy="127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0" name="모서리가 둥근 직사각형 139"/>
            <p:cNvSpPr/>
            <p:nvPr/>
          </p:nvSpPr>
          <p:spPr bwMode="auto">
            <a:xfrm>
              <a:off x="726574" y="2821415"/>
              <a:ext cx="3616911" cy="1563727"/>
            </a:xfrm>
            <a:prstGeom prst="roundRect">
              <a:avLst>
                <a:gd name="adj" fmla="val 3326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42751" algn="ctr" defTabSz="1329173" eaLnBrk="0" hangingPunct="0">
                <a:buClr>
                  <a:sysClr val="windowText" lastClr="000000"/>
                </a:buClr>
                <a:tabLst>
                  <a:tab pos="5643425" algn="l"/>
                </a:tabLst>
              </a:pPr>
              <a:endParaRPr lang="ko-KR" altLang="en-US" sz="1100" kern="0" dirty="0">
                <a:solidFill>
                  <a:srgbClr val="292929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1" name="양쪽 모서리가 둥근 사각형 140"/>
            <p:cNvSpPr/>
            <p:nvPr/>
          </p:nvSpPr>
          <p:spPr bwMode="auto">
            <a:xfrm>
              <a:off x="725503" y="2820523"/>
              <a:ext cx="3614057" cy="291299"/>
            </a:xfrm>
            <a:prstGeom prst="round2SameRect">
              <a:avLst/>
            </a:prstGeom>
            <a:solidFill>
              <a:srgbClr val="4371BB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142751" algn="ctr" defTabSz="913607">
                <a:lnSpc>
                  <a:spcPct val="90000"/>
                </a:lnSpc>
                <a:buClr>
                  <a:sysClr val="windowText" lastClr="000000"/>
                </a:buClr>
                <a:buSzPct val="90000"/>
                <a:tabLst>
                  <a:tab pos="5643425" algn="l"/>
                </a:tabLst>
                <a:defRPr/>
              </a:pPr>
              <a:r>
                <a:rPr lang="en-US" altLang="ko-KR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PL : </a:t>
              </a:r>
              <a:r>
                <a:rPr lang="ko-KR" altLang="en-US" sz="16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박정수 이사</a:t>
              </a:r>
            </a:p>
          </p:txBody>
        </p:sp>
        <p:sp>
          <p:nvSpPr>
            <p:cNvPr id="142" name="Rectangle 579"/>
            <p:cNvSpPr>
              <a:spLocks noChangeArrowheads="1"/>
            </p:cNvSpPr>
            <p:nvPr/>
          </p:nvSpPr>
          <p:spPr bwMode="auto">
            <a:xfrm>
              <a:off x="894458" y="3346218"/>
              <a:ext cx="3155832" cy="707410"/>
            </a:xfrm>
            <a:prstGeom prst="rect">
              <a:avLst/>
            </a:prstGeom>
            <a:noFill/>
            <a:ex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150813" indent="-150813" defTabSz="1066904" fontAlgn="base" latinLnBrk="0">
                <a:spcAft>
                  <a:spcPts val="200"/>
                </a:spcAft>
                <a:buClr>
                  <a:srgbClr val="777777"/>
                </a:buClr>
                <a:buSzPct val="65000"/>
                <a:buFontTx/>
                <a:buBlip>
                  <a:blip r:embed="rId4"/>
                </a:buBlip>
              </a:pP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국방메가 센터 배포관리 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PM</a:t>
              </a:r>
            </a:p>
            <a:p>
              <a:pPr marL="150813" indent="-150813" defTabSz="1066904" fontAlgn="base" latinLnBrk="0">
                <a:spcAft>
                  <a:spcPts val="200"/>
                </a:spcAft>
                <a:buClr>
                  <a:srgbClr val="777777"/>
                </a:buClr>
                <a:buSzPct val="65000"/>
                <a:buFontTx/>
                <a:buBlip>
                  <a:blip r:embed="rId4"/>
                </a:buBlip>
              </a:pP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육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/ 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해 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/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공군 장비정비 사업 모델링 지원</a:t>
              </a:r>
            </a:p>
            <a:p>
              <a:pPr marL="150813" indent="-150813" defTabSz="1066904" fontAlgn="base" latinLnBrk="0">
                <a:spcAft>
                  <a:spcPts val="200"/>
                </a:spcAft>
                <a:buClr>
                  <a:srgbClr val="777777"/>
                </a:buClr>
                <a:buSzPct val="65000"/>
                <a:buFontTx/>
                <a:buBlip>
                  <a:blip r:embed="rId4"/>
                </a:buBlip>
              </a:pP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육군 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C4I 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전술체계화 </a:t>
              </a:r>
              <a:r>
                <a:rPr kumimoji="1" lang="en-US" altLang="ko-KR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ALM </a:t>
              </a:r>
              <a:r>
                <a:rPr kumimoji="1" lang="ko-KR" altLang="en-US" sz="1400" kern="0" dirty="0"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컨설팅</a:t>
              </a:r>
            </a:p>
          </p:txBody>
        </p:sp>
      </p:grpSp>
      <p:pic>
        <p:nvPicPr>
          <p:cNvPr id="61" name="Picture 37" descr="D017145"/>
          <p:cNvPicPr>
            <a:picLocks noChangeAspect="1" noChangeArrowheads="1"/>
          </p:cNvPicPr>
          <p:nvPr/>
        </p:nvPicPr>
        <p:blipFill>
          <a:blip r:embed="rId8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94" y="6349103"/>
            <a:ext cx="4638474" cy="67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직사각형 69"/>
          <p:cNvSpPr/>
          <p:nvPr/>
        </p:nvSpPr>
        <p:spPr>
          <a:xfrm>
            <a:off x="747110" y="5323465"/>
            <a:ext cx="4604857" cy="475665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384673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129" y="2336357"/>
            <a:ext cx="3517148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사업을 이해하고 구축에 전념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2275267" y="2645163"/>
            <a:ext cx="4081989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업무개발 방안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047095" y="2271043"/>
            <a:ext cx="901815" cy="102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6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6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1754699" y="2522051"/>
            <a:ext cx="901815" cy="718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4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4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9190559" y="648222"/>
            <a:ext cx="1655243" cy="487626"/>
            <a:chOff x="9190558" y="648221"/>
            <a:chExt cx="1655243" cy="487626"/>
          </a:xfrm>
        </p:grpSpPr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91905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97747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Ⅱ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10333559" y="648221"/>
              <a:ext cx="512242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Ⅳ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5" name="텍스트 개체 틀 36">
            <a:extLst>
              <a:ext uri="{FF2B5EF4-FFF2-40B4-BE49-F238E27FC236}">
                <a16:creationId xmlns:a16="http://schemas.microsoft.com/office/drawing/2014/main" xmlns="" id="{175F3607-BF77-43C7-8346-3D8EE1D4784C}"/>
              </a:ext>
            </a:extLst>
          </p:cNvPr>
          <p:cNvSpPr txBox="1">
            <a:spLocks/>
          </p:cNvSpPr>
          <p:nvPr/>
        </p:nvSpPr>
        <p:spPr>
          <a:xfrm>
            <a:off x="3437157" y="3715195"/>
            <a:ext cx="25295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개발방법론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국방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CBD)</a:t>
            </a:r>
          </a:p>
        </p:txBody>
      </p:sp>
      <p:sp>
        <p:nvSpPr>
          <p:cNvPr id="16" name="텍스트 개체 틀 36">
            <a:extLst>
              <a:ext uri="{FF2B5EF4-FFF2-40B4-BE49-F238E27FC236}">
                <a16:creationId xmlns:a16="http://schemas.microsoft.com/office/drawing/2014/main" xmlns="" id="{772F65D9-2298-4B7C-A183-0CB0DFBC25F5}"/>
              </a:ext>
            </a:extLst>
          </p:cNvPr>
          <p:cNvSpPr txBox="1">
            <a:spLocks/>
          </p:cNvSpPr>
          <p:nvPr/>
        </p:nvSpPr>
        <p:spPr>
          <a:xfrm>
            <a:off x="3437157" y="4251768"/>
            <a:ext cx="13673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시스템 설계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06C90743-23B7-46D0-8A06-6ACC3D241829}"/>
              </a:ext>
            </a:extLst>
          </p:cNvPr>
          <p:cNvGrpSpPr/>
          <p:nvPr/>
        </p:nvGrpSpPr>
        <p:grpSpPr>
          <a:xfrm>
            <a:off x="2678972" y="3686363"/>
            <a:ext cx="545242" cy="365436"/>
            <a:chOff x="2678971" y="3665215"/>
            <a:chExt cx="545242" cy="365436"/>
          </a:xfrm>
        </p:grpSpPr>
        <p:sp>
          <p:nvSpPr>
            <p:cNvPr id="18" name="양쪽 모서리가 둥근 사각형 18">
              <a:extLst>
                <a:ext uri="{FF2B5EF4-FFF2-40B4-BE49-F238E27FC236}">
                  <a16:creationId xmlns:a16="http://schemas.microsoft.com/office/drawing/2014/main" xmlns="" id="{2AC970C5-03BB-4EFA-BE0F-2AC616682AE9}"/>
                </a:ext>
              </a:extLst>
            </p:cNvPr>
            <p:cNvSpPr/>
            <p:nvPr/>
          </p:nvSpPr>
          <p:spPr>
            <a:xfrm rot="16200000">
              <a:off x="2768874" y="3575312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DC6D5A1-C803-4678-8527-3BDC9CE29D19}"/>
                </a:ext>
              </a:extLst>
            </p:cNvPr>
            <p:cNvSpPr txBox="1"/>
            <p:nvPr/>
          </p:nvSpPr>
          <p:spPr>
            <a:xfrm>
              <a:off x="2856457" y="3715861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01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673BDF48-9A35-4CC9-8344-D940F012CA47}"/>
              </a:ext>
            </a:extLst>
          </p:cNvPr>
          <p:cNvGrpSpPr/>
          <p:nvPr/>
        </p:nvGrpSpPr>
        <p:grpSpPr>
          <a:xfrm>
            <a:off x="2678972" y="4222938"/>
            <a:ext cx="545242" cy="365436"/>
            <a:chOff x="2678971" y="4201790"/>
            <a:chExt cx="545242" cy="365436"/>
          </a:xfrm>
        </p:grpSpPr>
        <p:sp>
          <p:nvSpPr>
            <p:cNvPr id="21" name="양쪽 모서리가 둥근 사각형 34">
              <a:extLst>
                <a:ext uri="{FF2B5EF4-FFF2-40B4-BE49-F238E27FC236}">
                  <a16:creationId xmlns:a16="http://schemas.microsoft.com/office/drawing/2014/main" xmlns="" id="{410C1770-536B-4A09-AF18-931A2964565B}"/>
                </a:ext>
              </a:extLst>
            </p:cNvPr>
            <p:cNvSpPr/>
            <p:nvPr/>
          </p:nvSpPr>
          <p:spPr>
            <a:xfrm rot="16200000">
              <a:off x="2768874" y="4111887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E4DC3507-77F7-4F76-A946-413C37A7222E}"/>
                </a:ext>
              </a:extLst>
            </p:cNvPr>
            <p:cNvSpPr txBox="1"/>
            <p:nvPr/>
          </p:nvSpPr>
          <p:spPr>
            <a:xfrm>
              <a:off x="2856457" y="4252436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02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210FA46D-B4F9-4C78-A456-8294D5DA1B1D}"/>
              </a:ext>
            </a:extLst>
          </p:cNvPr>
          <p:cNvGrpSpPr/>
          <p:nvPr/>
        </p:nvGrpSpPr>
        <p:grpSpPr>
          <a:xfrm>
            <a:off x="2678972" y="4759513"/>
            <a:ext cx="2382026" cy="365436"/>
            <a:chOff x="2678971" y="4738365"/>
            <a:chExt cx="2382026" cy="365436"/>
          </a:xfrm>
        </p:grpSpPr>
        <p:sp>
          <p:nvSpPr>
            <p:cNvPr id="25" name="텍스트 개체 틀 36">
              <a:extLst>
                <a:ext uri="{FF2B5EF4-FFF2-40B4-BE49-F238E27FC236}">
                  <a16:creationId xmlns:a16="http://schemas.microsoft.com/office/drawing/2014/main" xmlns="" id="{989D3221-4A7E-4B0F-99FD-A8068F974D70}"/>
                </a:ext>
              </a:extLst>
            </p:cNvPr>
            <p:cNvSpPr txBox="1">
              <a:spLocks/>
            </p:cNvSpPr>
            <p:nvPr/>
          </p:nvSpPr>
          <p:spPr>
            <a:xfrm>
              <a:off x="3437155" y="4767197"/>
              <a:ext cx="162384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세부 개방방안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xmlns="" id="{A00945A5-3150-4140-A23E-524060FE87AF}"/>
                </a:ext>
              </a:extLst>
            </p:cNvPr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27" name="양쪽 모서리가 둥근 사각형 37">
                <a:extLst>
                  <a:ext uri="{FF2B5EF4-FFF2-40B4-BE49-F238E27FC236}">
                    <a16:creationId xmlns:a16="http://schemas.microsoft.com/office/drawing/2014/main" xmlns="" id="{088257DC-86ED-426D-BDAB-ED651EA4FD26}"/>
                  </a:ext>
                </a:extLst>
              </p:cNvPr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950209-8935-4561-B08E-1965377749EA}"/>
                  </a:ext>
                </a:extLst>
              </p:cNvPr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03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29" name="자유형 47">
            <a:extLst>
              <a:ext uri="{FF2B5EF4-FFF2-40B4-BE49-F238E27FC236}">
                <a16:creationId xmlns:a16="http://schemas.microsoft.com/office/drawing/2014/main" xmlns="" id="{82B4DE0C-4FAE-4E82-A84F-EF375A1AF499}"/>
              </a:ext>
            </a:extLst>
          </p:cNvPr>
          <p:cNvSpPr/>
          <p:nvPr/>
        </p:nvSpPr>
        <p:spPr>
          <a:xfrm>
            <a:off x="3224216" y="4125752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자유형 48">
            <a:extLst>
              <a:ext uri="{FF2B5EF4-FFF2-40B4-BE49-F238E27FC236}">
                <a16:creationId xmlns:a16="http://schemas.microsoft.com/office/drawing/2014/main" xmlns="" id="{042EED44-EE48-47B2-A2A7-84BF14486D9F}"/>
              </a:ext>
            </a:extLst>
          </p:cNvPr>
          <p:cNvSpPr/>
          <p:nvPr/>
        </p:nvSpPr>
        <p:spPr>
          <a:xfrm>
            <a:off x="3224216" y="4678202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" name="자유형 49">
            <a:extLst>
              <a:ext uri="{FF2B5EF4-FFF2-40B4-BE49-F238E27FC236}">
                <a16:creationId xmlns:a16="http://schemas.microsoft.com/office/drawing/2014/main" xmlns="" id="{F6049418-81A9-4D73-A951-78ECC4EE44F4}"/>
              </a:ext>
            </a:extLst>
          </p:cNvPr>
          <p:cNvSpPr/>
          <p:nvPr/>
        </p:nvSpPr>
        <p:spPr>
          <a:xfrm>
            <a:off x="3224216" y="5211602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13E4FF8E-8A4A-4D59-BC39-70B2C71E0B28}"/>
              </a:ext>
            </a:extLst>
          </p:cNvPr>
          <p:cNvGrpSpPr/>
          <p:nvPr/>
        </p:nvGrpSpPr>
        <p:grpSpPr>
          <a:xfrm>
            <a:off x="2688413" y="5311963"/>
            <a:ext cx="3064906" cy="365436"/>
            <a:chOff x="2678971" y="4738365"/>
            <a:chExt cx="3064906" cy="365436"/>
          </a:xfrm>
        </p:grpSpPr>
        <p:sp>
          <p:nvSpPr>
            <p:cNvPr id="33" name="텍스트 개체 틀 36">
              <a:extLst>
                <a:ext uri="{FF2B5EF4-FFF2-40B4-BE49-F238E27FC236}">
                  <a16:creationId xmlns:a16="http://schemas.microsoft.com/office/drawing/2014/main" xmlns="" id="{298B7705-A6D0-432E-AB3D-B6781C6B0255}"/>
                </a:ext>
              </a:extLst>
            </p:cNvPr>
            <p:cNvSpPr txBox="1">
              <a:spLocks/>
            </p:cNvSpPr>
            <p:nvPr/>
          </p:nvSpPr>
          <p:spPr>
            <a:xfrm>
              <a:off x="3437155" y="4767197"/>
              <a:ext cx="230672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디자인 개발 및 적용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xmlns="" id="{2796E8E5-9A3C-454A-A8D6-AA71FA72E3F1}"/>
                </a:ext>
              </a:extLst>
            </p:cNvPr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35" name="양쪽 모서리가 둥근 사각형 29">
                <a:extLst>
                  <a:ext uri="{FF2B5EF4-FFF2-40B4-BE49-F238E27FC236}">
                    <a16:creationId xmlns:a16="http://schemas.microsoft.com/office/drawing/2014/main" xmlns="" id="{1F5C4993-C922-43BE-9258-237D0A85AE38}"/>
                  </a:ext>
                </a:extLst>
              </p:cNvPr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3F24F6FE-54CB-4D9F-84A0-835D078E0845}"/>
                  </a:ext>
                </a:extLst>
              </p:cNvPr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04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37" name="자유형 31">
            <a:extLst>
              <a:ext uri="{FF2B5EF4-FFF2-40B4-BE49-F238E27FC236}">
                <a16:creationId xmlns:a16="http://schemas.microsoft.com/office/drawing/2014/main" xmlns="" id="{4BD3C112-0BD4-47CD-AD5A-9F33533C9C5A}"/>
              </a:ext>
            </a:extLst>
          </p:cNvPr>
          <p:cNvSpPr/>
          <p:nvPr/>
        </p:nvSpPr>
        <p:spPr>
          <a:xfrm>
            <a:off x="3233657" y="5764052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E773F141-3876-408B-AC88-D49C5A418ED5}"/>
              </a:ext>
            </a:extLst>
          </p:cNvPr>
          <p:cNvGrpSpPr/>
          <p:nvPr/>
        </p:nvGrpSpPr>
        <p:grpSpPr>
          <a:xfrm>
            <a:off x="2688413" y="5832663"/>
            <a:ext cx="3407948" cy="365436"/>
            <a:chOff x="2678971" y="4738365"/>
            <a:chExt cx="3407948" cy="365436"/>
          </a:xfrm>
        </p:grpSpPr>
        <p:sp>
          <p:nvSpPr>
            <p:cNvPr id="39" name="텍스트 개체 틀 36">
              <a:extLst>
                <a:ext uri="{FF2B5EF4-FFF2-40B4-BE49-F238E27FC236}">
                  <a16:creationId xmlns:a16="http://schemas.microsoft.com/office/drawing/2014/main" xmlns="" id="{B7EBA18E-CB92-4F8B-9973-F557DF093C90}"/>
                </a:ext>
              </a:extLst>
            </p:cNvPr>
            <p:cNvSpPr txBox="1">
              <a:spLocks/>
            </p:cNvSpPr>
            <p:nvPr/>
          </p:nvSpPr>
          <p:spPr>
            <a:xfrm>
              <a:off x="3437155" y="4767197"/>
              <a:ext cx="264976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정부표준보안정책 적용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xmlns="" id="{60BC1F77-C6DE-4A75-92CB-56DD544AC4BD}"/>
                </a:ext>
              </a:extLst>
            </p:cNvPr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41" name="양쪽 모서리가 둥근 사각형 29">
                <a:extLst>
                  <a:ext uri="{FF2B5EF4-FFF2-40B4-BE49-F238E27FC236}">
                    <a16:creationId xmlns:a16="http://schemas.microsoft.com/office/drawing/2014/main" xmlns="" id="{F162E813-7C87-42A3-BD0D-D15E1B52BC96}"/>
                  </a:ext>
                </a:extLst>
              </p:cNvPr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B9B747A1-003C-4825-B29B-2CAF7D618C49}"/>
                  </a:ext>
                </a:extLst>
              </p:cNvPr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05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53" name="자유형 31">
            <a:extLst>
              <a:ext uri="{FF2B5EF4-FFF2-40B4-BE49-F238E27FC236}">
                <a16:creationId xmlns:a16="http://schemas.microsoft.com/office/drawing/2014/main" xmlns="" id="{D0F72EF6-BF55-4779-A997-FB3A72D9AE8B}"/>
              </a:ext>
            </a:extLst>
          </p:cNvPr>
          <p:cNvSpPr/>
          <p:nvPr/>
        </p:nvSpPr>
        <p:spPr>
          <a:xfrm>
            <a:off x="3233657" y="6210736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4473015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/>
          <p:cNvGrpSpPr/>
          <p:nvPr/>
        </p:nvGrpSpPr>
        <p:grpSpPr>
          <a:xfrm>
            <a:off x="318772" y="248651"/>
            <a:ext cx="9365064" cy="843519"/>
            <a:chOff x="318763" y="248649"/>
            <a:chExt cx="9365064" cy="843519"/>
          </a:xfrm>
        </p:grpSpPr>
        <p:sp>
          <p:nvSpPr>
            <p:cNvPr id="53" name="TextBox 52"/>
            <p:cNvSpPr txBox="1"/>
            <p:nvPr/>
          </p:nvSpPr>
          <p:spPr>
            <a:xfrm>
              <a:off x="318763" y="568948"/>
              <a:ext cx="9365064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국방 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CBD(Component Based Development) </a:t>
              </a:r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방법론 적용</a:t>
              </a:r>
              <a:endParaRPr lang="en-US" altLang="ko-KR" sz="2800" b="1" dirty="0">
                <a:gradFill>
                  <a:gsLst>
                    <a:gs pos="0">
                      <a:schemeClr val="tx2">
                        <a:lumMod val="50000"/>
                      </a:schemeClr>
                    </a:gs>
                    <a:gs pos="45000">
                      <a:schemeClr val="accent1">
                        <a:lumMod val="75000"/>
                      </a:schemeClr>
                    </a:gs>
                    <a:gs pos="55000">
                      <a:schemeClr val="accent1">
                        <a:lumMod val="75000"/>
                      </a:schemeClr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1774" y="248649"/>
              <a:ext cx="1467068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1.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개발방법론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30114" y="1546698"/>
            <a:ext cx="9649072" cy="5510235"/>
            <a:chOff x="1413788" y="1540696"/>
            <a:chExt cx="5769054" cy="4548254"/>
          </a:xfrm>
        </p:grpSpPr>
        <p:grpSp>
          <p:nvGrpSpPr>
            <p:cNvPr id="370" name="그룹 369"/>
            <p:cNvGrpSpPr/>
            <p:nvPr/>
          </p:nvGrpSpPr>
          <p:grpSpPr>
            <a:xfrm>
              <a:off x="1773436" y="1540696"/>
              <a:ext cx="5397586" cy="836534"/>
              <a:chOff x="1064481" y="3152316"/>
              <a:chExt cx="5397586" cy="892326"/>
            </a:xfrm>
          </p:grpSpPr>
          <p:pic>
            <p:nvPicPr>
              <p:cNvPr id="371" name="Picture 69" descr="110707 copy"/>
              <p:cNvPicPr>
                <a:picLocks noChangeAspect="1" noChangeArrowheads="1"/>
              </p:cNvPicPr>
              <p:nvPr>
                <p:custDataLst>
                  <p:tags r:id="rId1"/>
                </p:custDataLst>
              </p:nvPr>
            </p:nvPicPr>
            <p:blipFill rotWithShape="1">
              <a:blip r:embed="rId6" cstate="print"/>
              <a:srcRect b="20480"/>
              <a:stretch/>
            </p:blipFill>
            <p:spPr bwMode="gray">
              <a:xfrm>
                <a:off x="1732905" y="3243029"/>
                <a:ext cx="4729162" cy="8016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72" name="Text Box 139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gray">
              <a:xfrm>
                <a:off x="1168524" y="3465110"/>
                <a:ext cx="4546476" cy="20854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-8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소프트웨어 재사용성</a:t>
                </a:r>
                <a:r>
                  <a:rPr kumimoji="0" lang="en-US" altLang="ko-KR" sz="1600" b="0" i="0" u="none" strike="noStrike" kern="0" cap="none" spc="-8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kumimoji="0" lang="ko-KR" altLang="en-US" sz="1600" b="0" i="0" u="none" strike="noStrike" kern="0" cap="none" spc="-80" normalizeH="0" baseline="0" noProof="0" dirty="0" err="1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확장성</a:t>
                </a:r>
                <a:r>
                  <a:rPr kumimoji="0" lang="en-US" altLang="ko-KR" sz="1600" b="0" i="0" u="none" strike="noStrike" kern="0" cap="none" spc="-8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kumimoji="0" lang="ko-KR" altLang="en-US" sz="1600" b="0" i="0" u="none" strike="noStrike" kern="0" cap="none" spc="-80" normalizeH="0" baseline="0" noProof="0" dirty="0" err="1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이식성</a:t>
                </a:r>
                <a:r>
                  <a:rPr kumimoji="0" lang="ko-KR" altLang="en-US" sz="1600" b="0" i="0" u="none" strike="noStrike" kern="0" cap="none" spc="-8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 보장</a:t>
                </a:r>
              </a:p>
            </p:txBody>
          </p:sp>
          <p:sp>
            <p:nvSpPr>
              <p:cNvPr id="373" name="Text Box 139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gray">
              <a:xfrm>
                <a:off x="1168524" y="3152316"/>
                <a:ext cx="4546476" cy="20087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0" cap="none" spc="-80" normalizeH="0" baseline="0" noProof="0" dirty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국방 컴포넌트 표준을 준수하여</a:t>
                </a:r>
              </a:p>
            </p:txBody>
          </p:sp>
          <p:pic>
            <p:nvPicPr>
              <p:cNvPr id="374" name="Picture 69" descr="110707 copy"/>
              <p:cNvPicPr>
                <a:picLocks noChangeAspect="1" noChangeArrowheads="1"/>
              </p:cNvPicPr>
              <p:nvPr>
                <p:custDataLst>
                  <p:tags r:id="rId4"/>
                </p:custDataLst>
              </p:nvPr>
            </p:nvPicPr>
            <p:blipFill rotWithShape="1">
              <a:blip r:embed="rId6" cstate="print"/>
              <a:srcRect t="79520"/>
              <a:stretch/>
            </p:blipFill>
            <p:spPr bwMode="gray">
              <a:xfrm>
                <a:off x="1064481" y="3765439"/>
                <a:ext cx="4729162" cy="2064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375" name="Picture 14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7084" y="2187357"/>
              <a:ext cx="3149762" cy="815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5CA62F"/>
                      </a:gs>
                      <a:gs pos="23000">
                        <a:srgbClr val="E7F6D5"/>
                      </a:gs>
                      <a:gs pos="62000">
                        <a:srgbClr val="9BD169"/>
                      </a:gs>
                      <a:gs pos="100000">
                        <a:srgbClr val="5CA62F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376" name="그룹 375"/>
            <p:cNvGrpSpPr/>
            <p:nvPr/>
          </p:nvGrpSpPr>
          <p:grpSpPr>
            <a:xfrm>
              <a:off x="2040761" y="3150091"/>
              <a:ext cx="5048782" cy="403667"/>
              <a:chOff x="1404305" y="5346638"/>
              <a:chExt cx="5508612" cy="469806"/>
            </a:xfrm>
          </p:grpSpPr>
          <p:sp>
            <p:nvSpPr>
              <p:cNvPr id="377" name="Rectangle 148"/>
              <p:cNvSpPr>
                <a:spLocks noChangeArrowheads="1"/>
              </p:cNvSpPr>
              <p:nvPr/>
            </p:nvSpPr>
            <p:spPr bwMode="auto">
              <a:xfrm rot="16200000" flipH="1" flipV="1">
                <a:off x="1980466" y="5107091"/>
                <a:ext cx="133192" cy="1285514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wrap="none" lIns="80314" tIns="40157" rIns="80314" bIns="40157" anchor="ctr"/>
              <a:lstStyle>
                <a:lvl1pPr algn="just" defTabSz="803275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803275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78" name="AutoShape 11"/>
              <p:cNvSpPr>
                <a:spLocks noChangeArrowheads="1"/>
              </p:cNvSpPr>
              <p:nvPr/>
            </p:nvSpPr>
            <p:spPr bwMode="auto">
              <a:xfrm>
                <a:off x="1404305" y="5348597"/>
                <a:ext cx="1427197" cy="334655"/>
              </a:xfrm>
              <a:prstGeom prst="homePlate">
                <a:avLst>
                  <a:gd name="adj" fmla="val 36278"/>
                </a:avLst>
              </a:prstGeom>
              <a:solidFill>
                <a:srgbClr val="FFFFFF"/>
              </a:solidFill>
              <a:ln w="6350" algn="ctr">
                <a:solidFill>
                  <a:srgbClr val="C9C9C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5400" dir="5400000" algn="ctr" rotWithShape="0">
                        <a:srgbClr val="DDDDDD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algn="just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분석</a:t>
                </a:r>
              </a:p>
            </p:txBody>
          </p:sp>
          <p:sp>
            <p:nvSpPr>
              <p:cNvPr id="379" name="Rectangle 148"/>
              <p:cNvSpPr>
                <a:spLocks noChangeArrowheads="1"/>
              </p:cNvSpPr>
              <p:nvPr/>
            </p:nvSpPr>
            <p:spPr bwMode="auto">
              <a:xfrm rot="16200000" flipH="1" flipV="1">
                <a:off x="3341763" y="5113964"/>
                <a:ext cx="133192" cy="1269810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wrap="none" lIns="80314" tIns="40157" rIns="80314" bIns="40157" anchor="ctr"/>
              <a:lstStyle>
                <a:lvl1pPr algn="just" defTabSz="803275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803275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80" name="AutoShape 15" descr="도형-30"/>
              <p:cNvSpPr>
                <a:spLocks noChangeArrowheads="1"/>
              </p:cNvSpPr>
              <p:nvPr/>
            </p:nvSpPr>
            <p:spPr bwMode="gray">
              <a:xfrm>
                <a:off x="2772590" y="5346638"/>
                <a:ext cx="1425297" cy="334655"/>
              </a:xfrm>
              <a:prstGeom prst="chevron">
                <a:avLst>
                  <a:gd name="adj" fmla="val 39377"/>
                </a:avLst>
              </a:prstGeom>
              <a:blipFill dpi="0" rotWithShape="1">
                <a:blip r:embed="rId8"/>
                <a:srcRect/>
                <a:stretch>
                  <a:fillRect/>
                </a:stretch>
              </a:blipFill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 algn="just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설계</a:t>
                </a:r>
              </a:p>
            </p:txBody>
          </p:sp>
          <p:sp>
            <p:nvSpPr>
              <p:cNvPr id="381" name="Rectangle 148"/>
              <p:cNvSpPr>
                <a:spLocks noChangeArrowheads="1"/>
              </p:cNvSpPr>
              <p:nvPr/>
            </p:nvSpPr>
            <p:spPr bwMode="auto">
              <a:xfrm rot="16200000" flipH="1" flipV="1">
                <a:off x="4708148" y="5113964"/>
                <a:ext cx="133192" cy="1269810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wrap="none" lIns="80314" tIns="40157" rIns="80314" bIns="40157" anchor="ctr"/>
              <a:lstStyle>
                <a:lvl1pPr algn="just" defTabSz="803275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803275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82" name="AutoShape 15" descr="도형-27"/>
              <p:cNvSpPr>
                <a:spLocks noChangeArrowheads="1"/>
              </p:cNvSpPr>
              <p:nvPr/>
            </p:nvSpPr>
            <p:spPr bwMode="auto">
              <a:xfrm>
                <a:off x="4138975" y="5346638"/>
                <a:ext cx="1425297" cy="334655"/>
              </a:xfrm>
              <a:prstGeom prst="chevron">
                <a:avLst>
                  <a:gd name="adj" fmla="val 39377"/>
                </a:avLst>
              </a:prstGeom>
              <a:blipFill dpi="0" rotWithShape="1">
                <a:blip r:embed="rId9"/>
                <a:srcRect/>
                <a:stretch>
                  <a:fillRect/>
                </a:stretch>
              </a:blipFill>
              <a:ln w="6350" algn="ctr">
                <a:solidFill>
                  <a:srgbClr val="80B8D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algn="just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구현 및 테스트</a:t>
                </a:r>
              </a:p>
            </p:txBody>
          </p:sp>
          <p:sp>
            <p:nvSpPr>
              <p:cNvPr id="383" name="Rectangle 148"/>
              <p:cNvSpPr>
                <a:spLocks noChangeArrowheads="1"/>
              </p:cNvSpPr>
              <p:nvPr/>
            </p:nvSpPr>
            <p:spPr bwMode="auto">
              <a:xfrm rot="16200000" flipH="1" flipV="1">
                <a:off x="6056793" y="5113964"/>
                <a:ext cx="133192" cy="1269810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wrap="none" lIns="80314" tIns="40157" rIns="80314" bIns="40157" anchor="ctr"/>
              <a:lstStyle>
                <a:lvl1pPr algn="just" defTabSz="803275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 defTabSz="803275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defTabSz="8032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803275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84" name="AutoShape 15" descr="도형-29"/>
              <p:cNvSpPr>
                <a:spLocks noChangeArrowheads="1"/>
              </p:cNvSpPr>
              <p:nvPr/>
            </p:nvSpPr>
            <p:spPr bwMode="auto">
              <a:xfrm>
                <a:off x="5487620" y="5346638"/>
                <a:ext cx="1425297" cy="334655"/>
              </a:xfrm>
              <a:prstGeom prst="chevron">
                <a:avLst>
                  <a:gd name="adj" fmla="val 39377"/>
                </a:avLst>
              </a:prstGeom>
              <a:blipFill dpi="0" rotWithShape="1">
                <a:blip r:embed="rId10">
                  <a:duotone>
                    <a:srgbClr val="4F81BD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EAEAEA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>
                <a:lvl1pPr algn="just" defTabSz="942975">
                  <a:lnSpc>
                    <a:spcPct val="110000"/>
                  </a:lnSpc>
                  <a:spcBef>
                    <a:spcPct val="25000"/>
                  </a:spcBef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1pPr>
                <a:lvl2pPr marL="742950" indent="-285750" algn="just" defTabSz="9429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2pPr>
                <a:lvl3pPr marL="1143000" indent="-228600" algn="just" defTabSz="942975">
                  <a:lnSpc>
                    <a:spcPct val="110000"/>
                  </a:lnSpc>
                  <a:spcBef>
                    <a:spcPct val="25000"/>
                  </a:spcBef>
                  <a:buChar char="•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3pPr>
                <a:lvl4pPr marL="1600200" indent="-228600" algn="just" defTabSz="942975">
                  <a:lnSpc>
                    <a:spcPct val="110000"/>
                  </a:lnSpc>
                  <a:spcBef>
                    <a:spcPct val="25000"/>
                  </a:spcBef>
                  <a:buChar char="–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4pPr>
                <a:lvl5pPr marL="2057400" indent="-228600" algn="just" defTabSz="942975">
                  <a:lnSpc>
                    <a:spcPct val="110000"/>
                  </a:lnSpc>
                  <a:spcBef>
                    <a:spcPct val="25000"/>
                  </a:spcBef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5pPr>
                <a:lvl6pPr marL="2514600" indent="-228600" algn="just" defTabSz="9429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6pPr>
                <a:lvl7pPr marL="2971800" indent="-228600" algn="just" defTabSz="9429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7pPr>
                <a:lvl8pPr marL="3429000" indent="-228600" algn="just" defTabSz="9429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8pPr>
                <a:lvl9pPr marL="3886200" indent="-228600" algn="just" defTabSz="942975" fontAlgn="base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har char="»"/>
                  <a:defRPr kumimoji="1" sz="1200">
                    <a:solidFill>
                      <a:schemeClr val="tx1"/>
                    </a:solidFill>
                    <a:latin typeface="KoPub바탕체 Light" panose="02020603020101020101" pitchFamily="18" charset="-127"/>
                    <a:ea typeface="KoPub바탕체 Light" panose="02020603020101020101" pitchFamily="18" charset="-127"/>
                  </a:defRPr>
                </a:lvl9pPr>
              </a:lstStyle>
              <a:p>
                <a:pPr marL="0" marR="0" lvl="0" indent="0" algn="ctr" defTabSz="942975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인도</a:t>
                </a:r>
              </a:p>
            </p:txBody>
          </p:sp>
        </p:grpSp>
        <p:sp>
          <p:nvSpPr>
            <p:cNvPr id="385" name="AutoShape 264" descr="예약발매시스템 성능 고도화 1-04"/>
            <p:cNvSpPr>
              <a:spLocks noChangeArrowheads="1"/>
            </p:cNvSpPr>
            <p:nvPr/>
          </p:nvSpPr>
          <p:spPr bwMode="auto">
            <a:xfrm>
              <a:off x="1413788" y="3510403"/>
              <a:ext cx="560976" cy="866190"/>
            </a:xfrm>
            <a:prstGeom prst="roundRect">
              <a:avLst>
                <a:gd name="adj" fmla="val 5000"/>
              </a:avLst>
            </a:prstGeom>
            <a:blipFill dpi="0" rotWithShape="1">
              <a:blip r:embed="rId11">
                <a:grayscl/>
              </a:blip>
              <a:srcRect/>
              <a:stretch>
                <a:fillRect/>
              </a:stretch>
            </a:blipFill>
            <a:ln w="6350" algn="ctr">
              <a:solidFill>
                <a:srgbClr val="80B8DA"/>
              </a:solidFill>
              <a:round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>
              <a:lvl1pPr algn="just" defTabSz="920750">
                <a:lnSpc>
                  <a:spcPct val="110000"/>
                </a:lnSpc>
                <a:spcBef>
                  <a:spcPct val="25000"/>
                </a:spcBef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1pPr>
              <a:lvl2pPr marL="742950" indent="-285750" algn="just" defTabSz="920750">
                <a:lnSpc>
                  <a:spcPct val="110000"/>
                </a:lnSpc>
                <a:spcBef>
                  <a:spcPct val="25000"/>
                </a:spcBef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2pPr>
              <a:lvl3pPr marL="1143000" indent="-228600" algn="just" defTabSz="920750">
                <a:lnSpc>
                  <a:spcPct val="110000"/>
                </a:lnSpc>
                <a:spcBef>
                  <a:spcPct val="25000"/>
                </a:spcBef>
                <a:buChar char="•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3pPr>
              <a:lvl4pPr marL="1600200" indent="-228600" algn="just" defTabSz="920750">
                <a:lnSpc>
                  <a:spcPct val="110000"/>
                </a:lnSpc>
                <a:spcBef>
                  <a:spcPct val="25000"/>
                </a:spcBef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4pPr>
              <a:lvl5pPr marL="2057400" indent="-228600" algn="just" defTabSz="920750">
                <a:lnSpc>
                  <a:spcPct val="110000"/>
                </a:lnSpc>
                <a:spcBef>
                  <a:spcPct val="25000"/>
                </a:spcBef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5pPr>
              <a:lvl6pPr marL="25146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6pPr>
              <a:lvl7pPr marL="29718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7pPr>
              <a:lvl8pPr marL="34290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8pPr>
              <a:lvl9pPr marL="38862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9pPr>
            </a:lstStyle>
            <a:p>
              <a:pPr marL="0" marR="0" lvl="0" indent="0" algn="ctr" defTabSz="92075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단</a:t>
              </a:r>
            </a:p>
            <a:p>
              <a:pPr marL="0" marR="0" lvl="0" indent="0" algn="ctr" defTabSz="92075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계</a:t>
              </a:r>
            </a:p>
            <a:p>
              <a:pPr marL="0" marR="0" lvl="0" indent="0" algn="ctr" defTabSz="92075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(Phase)</a:t>
              </a:r>
            </a:p>
          </p:txBody>
        </p:sp>
        <p:sp>
          <p:nvSpPr>
            <p:cNvPr id="386" name="AutoShape 264" descr="예약발매시스템 성능 고도화 1-04"/>
            <p:cNvSpPr>
              <a:spLocks noChangeArrowheads="1"/>
            </p:cNvSpPr>
            <p:nvPr/>
          </p:nvSpPr>
          <p:spPr bwMode="auto">
            <a:xfrm>
              <a:off x="1413788" y="4429353"/>
              <a:ext cx="560976" cy="1617750"/>
            </a:xfrm>
            <a:prstGeom prst="roundRect">
              <a:avLst>
                <a:gd name="adj" fmla="val 5000"/>
              </a:avLst>
            </a:prstGeom>
            <a:blipFill dpi="0" rotWithShape="1">
              <a:blip r:embed="rId11">
                <a:grayscl/>
              </a:blip>
              <a:srcRect/>
              <a:stretch>
                <a:fillRect/>
              </a:stretch>
            </a:blipFill>
            <a:ln w="6350" algn="ctr">
              <a:solidFill>
                <a:srgbClr val="80B8DA"/>
              </a:solidFill>
              <a:round/>
              <a:headEnd/>
              <a:tailEnd/>
            </a:ln>
            <a:effectLst>
              <a:outerShdw dist="2694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>
              <a:lvl1pPr algn="just" defTabSz="920750">
                <a:lnSpc>
                  <a:spcPct val="110000"/>
                </a:lnSpc>
                <a:spcBef>
                  <a:spcPct val="25000"/>
                </a:spcBef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1pPr>
              <a:lvl2pPr marL="742950" indent="-285750" algn="just" defTabSz="920750">
                <a:lnSpc>
                  <a:spcPct val="110000"/>
                </a:lnSpc>
                <a:spcBef>
                  <a:spcPct val="25000"/>
                </a:spcBef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2pPr>
              <a:lvl3pPr marL="1143000" indent="-228600" algn="just" defTabSz="920750">
                <a:lnSpc>
                  <a:spcPct val="110000"/>
                </a:lnSpc>
                <a:spcBef>
                  <a:spcPct val="25000"/>
                </a:spcBef>
                <a:buChar char="•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3pPr>
              <a:lvl4pPr marL="1600200" indent="-228600" algn="just" defTabSz="920750">
                <a:lnSpc>
                  <a:spcPct val="110000"/>
                </a:lnSpc>
                <a:spcBef>
                  <a:spcPct val="25000"/>
                </a:spcBef>
                <a:buChar char="–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4pPr>
              <a:lvl5pPr marL="2057400" indent="-228600" algn="just" defTabSz="920750">
                <a:lnSpc>
                  <a:spcPct val="110000"/>
                </a:lnSpc>
                <a:spcBef>
                  <a:spcPct val="25000"/>
                </a:spcBef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5pPr>
              <a:lvl6pPr marL="25146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6pPr>
              <a:lvl7pPr marL="29718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7pPr>
              <a:lvl8pPr marL="34290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8pPr>
              <a:lvl9pPr marL="3886200" indent="-228600" algn="just" defTabSz="920750" fontAlgn="base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defRPr>
              </a:lvl9pPr>
            </a:lstStyle>
            <a:p>
              <a:pPr marL="0" marR="0" lvl="0" indent="0" algn="ctr" defTabSz="92075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활</a:t>
              </a:r>
            </a:p>
            <a:p>
              <a:pPr marL="0" marR="0" lvl="0" indent="0" algn="ctr" defTabSz="92075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동</a:t>
              </a:r>
            </a:p>
            <a:p>
              <a:pPr marL="0" marR="0" lvl="0" indent="0" algn="ctr" defTabSz="92075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rPr>
                <a:t>(Activity)</a:t>
              </a:r>
            </a:p>
          </p:txBody>
        </p:sp>
        <p:sp>
          <p:nvSpPr>
            <p:cNvPr id="387" name="AutoShape 3"/>
            <p:cNvSpPr>
              <a:spLocks noChangeArrowheads="1"/>
            </p:cNvSpPr>
            <p:nvPr/>
          </p:nvSpPr>
          <p:spPr bwMode="auto">
            <a:xfrm>
              <a:off x="2040761" y="3521315"/>
              <a:ext cx="1187949" cy="2501588"/>
            </a:xfrm>
            <a:prstGeom prst="roundRect">
              <a:avLst>
                <a:gd name="adj" fmla="val 1806"/>
              </a:avLst>
            </a:prstGeom>
            <a:solidFill>
              <a:srgbClr val="FFFFFF"/>
            </a:solidFill>
            <a:ln w="12700" algn="ctr">
              <a:solidFill>
                <a:srgbClr val="B2B2B2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/>
            <a:lstStyle>
              <a:lvl1pPr marL="71438" indent="-714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71438" marR="0" lvl="0" indent="-71438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ko-KR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88" name="AutoShape 3"/>
            <p:cNvSpPr>
              <a:spLocks noChangeArrowheads="1"/>
            </p:cNvSpPr>
            <p:nvPr/>
          </p:nvSpPr>
          <p:spPr bwMode="auto">
            <a:xfrm>
              <a:off x="3305706" y="3521315"/>
              <a:ext cx="1187949" cy="2501588"/>
            </a:xfrm>
            <a:prstGeom prst="roundRect">
              <a:avLst>
                <a:gd name="adj" fmla="val 1806"/>
              </a:avLst>
            </a:prstGeom>
            <a:solidFill>
              <a:srgbClr val="FFFFFF"/>
            </a:solidFill>
            <a:ln w="12700" algn="ctr">
              <a:solidFill>
                <a:srgbClr val="B2B2B2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/>
            <a:lstStyle>
              <a:lvl1pPr marL="71438" indent="-714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71438" marR="0" lvl="0" indent="-71438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ko-KR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89" name="AutoShape 3"/>
            <p:cNvSpPr>
              <a:spLocks noChangeArrowheads="1"/>
            </p:cNvSpPr>
            <p:nvPr/>
          </p:nvSpPr>
          <p:spPr bwMode="auto">
            <a:xfrm>
              <a:off x="4570651" y="3521315"/>
              <a:ext cx="1187949" cy="2501588"/>
            </a:xfrm>
            <a:prstGeom prst="roundRect">
              <a:avLst>
                <a:gd name="adj" fmla="val 1806"/>
              </a:avLst>
            </a:prstGeom>
            <a:solidFill>
              <a:srgbClr val="FFFFFF"/>
            </a:solidFill>
            <a:ln w="12700" algn="ctr">
              <a:solidFill>
                <a:srgbClr val="B2B2B2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/>
            <a:lstStyle>
              <a:lvl1pPr marL="71438" indent="-714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71438" marR="0" lvl="0" indent="-71438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ko-KR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90" name="AutoShape 3"/>
            <p:cNvSpPr>
              <a:spLocks noChangeArrowheads="1"/>
            </p:cNvSpPr>
            <p:nvPr/>
          </p:nvSpPr>
          <p:spPr bwMode="auto">
            <a:xfrm>
              <a:off x="5835597" y="3521315"/>
              <a:ext cx="1187949" cy="2501588"/>
            </a:xfrm>
            <a:prstGeom prst="roundRect">
              <a:avLst>
                <a:gd name="adj" fmla="val 1806"/>
              </a:avLst>
            </a:prstGeom>
            <a:solidFill>
              <a:srgbClr val="FFFFFF"/>
            </a:solidFill>
            <a:ln w="12700" algn="ctr">
              <a:solidFill>
                <a:srgbClr val="B2B2B2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lIns="90000" tIns="46800" rIns="10800" bIns="46800"/>
            <a:lstStyle>
              <a:lvl1pPr marL="71438" indent="-71438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71438" marR="0" lvl="0" indent="-71438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ko-KR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391" name="그룹 390"/>
            <p:cNvGrpSpPr/>
            <p:nvPr/>
          </p:nvGrpSpPr>
          <p:grpSpPr>
            <a:xfrm>
              <a:off x="2073759" y="4438464"/>
              <a:ext cx="4982784" cy="1650486"/>
              <a:chOff x="1440309" y="6822802"/>
              <a:chExt cx="5436604" cy="1920912"/>
            </a:xfrm>
          </p:grpSpPr>
          <p:cxnSp>
            <p:nvCxnSpPr>
              <p:cNvPr id="392" name="직선 연결선 391"/>
              <p:cNvCxnSpPr/>
              <p:nvPr/>
            </p:nvCxnSpPr>
            <p:spPr bwMode="auto">
              <a:xfrm>
                <a:off x="1440309" y="8743714"/>
                <a:ext cx="5436604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B2B2B2"/>
                </a:solidFill>
                <a:prstDash val="dash"/>
                <a:miter lim="800000"/>
              </a:ln>
              <a:effectLst/>
              <a:extLst/>
            </p:spPr>
          </p:cxnSp>
          <p:cxnSp>
            <p:nvCxnSpPr>
              <p:cNvPr id="393" name="LcShp 30"/>
              <p:cNvCxnSpPr>
                <a:cxnSpLocks noChangeShapeType="1"/>
                <a:stCxn id="394" idx="2"/>
                <a:endCxn id="395" idx="0"/>
              </p:cNvCxnSpPr>
              <p:nvPr/>
            </p:nvCxnSpPr>
            <p:spPr bwMode="auto">
              <a:xfrm>
                <a:off x="2052377" y="7376559"/>
                <a:ext cx="0" cy="414066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94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1476313" y="7196559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요구사항 정의</a:t>
                </a:r>
              </a:p>
            </p:txBody>
          </p:sp>
          <p:sp>
            <p:nvSpPr>
              <p:cNvPr id="395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1476313" y="7790625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아키텍처 정의</a:t>
                </a:r>
              </a:p>
            </p:txBody>
          </p:sp>
          <p:sp>
            <p:nvSpPr>
              <p:cNvPr id="396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1476313" y="8422791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요구사항 분석</a:t>
                </a:r>
              </a:p>
            </p:txBody>
          </p:sp>
          <p:sp>
            <p:nvSpPr>
              <p:cNvPr id="397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2844465" y="7493592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계략 설계</a:t>
                </a:r>
              </a:p>
            </p:txBody>
          </p:sp>
          <p:sp>
            <p:nvSpPr>
              <p:cNvPr id="398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2844465" y="8106708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상세 설계</a:t>
                </a:r>
              </a:p>
            </p:txBody>
          </p:sp>
          <p:sp>
            <p:nvSpPr>
              <p:cNvPr id="399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4239096" y="7196559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테스트 준비</a:t>
                </a:r>
              </a:p>
            </p:txBody>
          </p:sp>
          <p:sp>
            <p:nvSpPr>
              <p:cNvPr id="400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4239096" y="7809675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통합 테스트</a:t>
                </a:r>
              </a:p>
            </p:txBody>
          </p:sp>
          <p:sp>
            <p:nvSpPr>
              <p:cNvPr id="401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4239096" y="8422791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지침서 작성</a:t>
                </a:r>
              </a:p>
            </p:txBody>
          </p:sp>
          <p:sp>
            <p:nvSpPr>
              <p:cNvPr id="402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4239096" y="7503117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구현</a:t>
                </a:r>
              </a:p>
            </p:txBody>
          </p:sp>
          <p:sp>
            <p:nvSpPr>
              <p:cNvPr id="403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4239096" y="8116233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시험 테스트</a:t>
                </a:r>
              </a:p>
            </p:txBody>
          </p:sp>
          <p:sp>
            <p:nvSpPr>
              <p:cNvPr id="404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5616773" y="7493592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시스템 설치</a:t>
                </a:r>
              </a:p>
            </p:txBody>
          </p:sp>
          <p:sp>
            <p:nvSpPr>
              <p:cNvPr id="405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5616773" y="8106708"/>
                <a:ext cx="1152128" cy="180000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2"/>
                <a:srcRect/>
                <a:stretch>
                  <a:fillRect/>
                </a:stretch>
              </a:blipFill>
              <a:ln w="6350" algn="ctr">
                <a:solidFill>
                  <a:srgbClr val="C0C0C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인수지원</a:t>
                </a:r>
              </a:p>
            </p:txBody>
          </p:sp>
          <p:sp>
            <p:nvSpPr>
              <p:cNvPr id="406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1476313" y="6822802"/>
                <a:ext cx="1152128" cy="324004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0">
                  <a:duotone>
                    <a:srgbClr val="4F81BD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round/>
                <a:headEnd/>
                <a:tailEnd/>
              </a:ln>
              <a:effectLst>
                <a:outerShdw dist="2694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42975" eaLnBrk="0" fontAlgn="ctr" latinLnBrk="0" hangingPunct="0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비즈니스 및 </a:t>
                </a:r>
                <a:b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</a:b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요구사항 정의</a:t>
                </a:r>
              </a:p>
            </p:txBody>
          </p:sp>
          <p:sp>
            <p:nvSpPr>
              <p:cNvPr id="407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2856466" y="6822802"/>
                <a:ext cx="1152128" cy="324004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0">
                  <a:duotone>
                    <a:srgbClr val="4F81BD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round/>
                <a:headEnd/>
                <a:tailEnd/>
              </a:ln>
              <a:effectLst>
                <a:outerShdw dist="2694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42975" eaLnBrk="0" fontAlgn="ctr" latinLnBrk="0" hangingPunct="0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컴포넌트 식별</a:t>
                </a:r>
                <a:r>
                  <a:rPr kumimoji="0" lang="en-US" altLang="ko-KR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/</a:t>
                </a:r>
              </a:p>
              <a:p>
                <a:pPr marL="0" marR="0" lvl="0" indent="0" algn="ctr" defTabSz="942975" eaLnBrk="0" fontAlgn="ctr" latinLnBrk="0" hangingPunct="0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명세화</a:t>
                </a:r>
                <a:r>
                  <a:rPr kumimoji="0" lang="en-US" altLang="ko-KR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/</a:t>
                </a: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설계</a:t>
                </a:r>
              </a:p>
            </p:txBody>
          </p:sp>
          <p:sp>
            <p:nvSpPr>
              <p:cNvPr id="408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4236619" y="6822802"/>
                <a:ext cx="1152128" cy="324004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0">
                  <a:duotone>
                    <a:srgbClr val="4F81BD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round/>
                <a:headEnd/>
                <a:tailEnd/>
              </a:ln>
              <a:effectLst>
                <a:outerShdw dist="2694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42975" eaLnBrk="0" fontAlgn="ctr" latinLnBrk="0" hangingPunct="0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컴포넌트 구현</a:t>
                </a:r>
              </a:p>
              <a:p>
                <a:pPr marL="0" marR="0" lvl="0" indent="0" algn="ctr" defTabSz="942975" eaLnBrk="0" fontAlgn="ctr" latinLnBrk="0" hangingPunct="0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및 테스트</a:t>
                </a:r>
              </a:p>
            </p:txBody>
          </p:sp>
          <p:sp>
            <p:nvSpPr>
              <p:cNvPr id="409" name="LcShp 28" descr="어두운 상향 대각선"/>
              <p:cNvSpPr>
                <a:spLocks noChangeArrowheads="1"/>
              </p:cNvSpPr>
              <p:nvPr/>
            </p:nvSpPr>
            <p:spPr bwMode="auto">
              <a:xfrm>
                <a:off x="5616773" y="6822802"/>
                <a:ext cx="1152128" cy="324004"/>
              </a:xfrm>
              <a:prstGeom prst="roundRect">
                <a:avLst>
                  <a:gd name="adj" fmla="val 5000"/>
                </a:avLst>
              </a:prstGeom>
              <a:blipFill dpi="0" rotWithShape="1">
                <a:blip r:embed="rId10">
                  <a:duotone>
                    <a:srgbClr val="4F81BD">
                      <a:shade val="45000"/>
                      <a:satMod val="135000"/>
                    </a:srgbClr>
                    <a:prstClr val="white"/>
                  </a:duotone>
                </a:blip>
                <a:srcRect/>
                <a:stretch>
                  <a:fillRect/>
                </a:stretch>
              </a:blipFill>
              <a:ln w="6350" algn="ctr">
                <a:solidFill>
                  <a:srgbClr val="6EA4C8"/>
                </a:solidFill>
                <a:round/>
                <a:headEnd/>
                <a:tailEnd/>
              </a:ln>
              <a:effectLst>
                <a:outerShdw dist="26941" dir="2700000" algn="ctr" rotWithShape="0">
                  <a:srgbClr val="EAEAEA"/>
                </a:outerShdw>
              </a:effectLst>
            </p:spPr>
            <p:txBody>
              <a:bodyPr lIns="0" tIns="0" rIns="0" bIns="0" anchor="ctr"/>
              <a:lstStyle/>
              <a:p>
                <a:pPr marL="0" marR="0" lvl="0" indent="0" algn="ctr" defTabSz="942975" eaLnBrk="0" fontAlgn="ctr" latinLnBrk="0" hangingPunct="0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rPr>
                  <a:t>배포 및 설치 </a:t>
                </a:r>
              </a:p>
            </p:txBody>
          </p:sp>
          <p:cxnSp>
            <p:nvCxnSpPr>
              <p:cNvPr id="410" name="LcShp 30"/>
              <p:cNvCxnSpPr>
                <a:cxnSpLocks noChangeShapeType="1"/>
                <a:endCxn id="396" idx="0"/>
              </p:cNvCxnSpPr>
              <p:nvPr/>
            </p:nvCxnSpPr>
            <p:spPr bwMode="auto">
              <a:xfrm>
                <a:off x="2052377" y="8010934"/>
                <a:ext cx="0" cy="411857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" name="LcShp 30"/>
              <p:cNvCxnSpPr>
                <a:cxnSpLocks noChangeShapeType="1"/>
                <a:stCxn id="397" idx="2"/>
                <a:endCxn id="398" idx="0"/>
              </p:cNvCxnSpPr>
              <p:nvPr/>
            </p:nvCxnSpPr>
            <p:spPr bwMode="auto">
              <a:xfrm>
                <a:off x="3420529" y="7673592"/>
                <a:ext cx="0" cy="433116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2" name="LcShp 30"/>
              <p:cNvCxnSpPr>
                <a:cxnSpLocks noChangeShapeType="1"/>
                <a:stCxn id="399" idx="2"/>
                <a:endCxn id="402" idx="0"/>
              </p:cNvCxnSpPr>
              <p:nvPr/>
            </p:nvCxnSpPr>
            <p:spPr bwMode="auto">
              <a:xfrm>
                <a:off x="4815160" y="7376559"/>
                <a:ext cx="0" cy="126558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3" name="LcShp 30"/>
              <p:cNvCxnSpPr>
                <a:cxnSpLocks noChangeShapeType="1"/>
                <a:stCxn id="402" idx="2"/>
                <a:endCxn id="400" idx="0"/>
              </p:cNvCxnSpPr>
              <p:nvPr/>
            </p:nvCxnSpPr>
            <p:spPr bwMode="auto">
              <a:xfrm>
                <a:off x="4815160" y="7683117"/>
                <a:ext cx="0" cy="126558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4" name="LcShp 30"/>
              <p:cNvCxnSpPr>
                <a:cxnSpLocks noChangeShapeType="1"/>
                <a:stCxn id="400" idx="2"/>
                <a:endCxn id="403" idx="0"/>
              </p:cNvCxnSpPr>
              <p:nvPr/>
            </p:nvCxnSpPr>
            <p:spPr bwMode="auto">
              <a:xfrm>
                <a:off x="4815160" y="7989675"/>
                <a:ext cx="0" cy="126558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5" name="LcShp 30"/>
              <p:cNvCxnSpPr>
                <a:cxnSpLocks noChangeShapeType="1"/>
                <a:stCxn id="403" idx="2"/>
                <a:endCxn id="401" idx="0"/>
              </p:cNvCxnSpPr>
              <p:nvPr/>
            </p:nvCxnSpPr>
            <p:spPr bwMode="auto">
              <a:xfrm>
                <a:off x="4815160" y="8296233"/>
                <a:ext cx="0" cy="126558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6" name="LcShp 30"/>
              <p:cNvCxnSpPr>
                <a:cxnSpLocks noChangeShapeType="1"/>
                <a:stCxn id="404" idx="2"/>
                <a:endCxn id="405" idx="0"/>
              </p:cNvCxnSpPr>
              <p:nvPr/>
            </p:nvCxnSpPr>
            <p:spPr bwMode="auto">
              <a:xfrm>
                <a:off x="6192837" y="7673592"/>
                <a:ext cx="0" cy="433116"/>
              </a:xfrm>
              <a:prstGeom prst="straightConnector1">
                <a:avLst/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7" name="꺾인 연결선 416"/>
              <p:cNvCxnSpPr>
                <a:stCxn id="396" idx="3"/>
                <a:endCxn id="397" idx="1"/>
              </p:cNvCxnSpPr>
              <p:nvPr/>
            </p:nvCxnSpPr>
            <p:spPr bwMode="auto">
              <a:xfrm flipV="1">
                <a:off x="2628441" y="7583592"/>
                <a:ext cx="216024" cy="929199"/>
              </a:xfrm>
              <a:prstGeom prst="bentConnector3">
                <a:avLst>
                  <a:gd name="adj1" fmla="val 23545"/>
                </a:avLst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8" name="꺾인 연결선 417"/>
              <p:cNvCxnSpPr>
                <a:stCxn id="398" idx="3"/>
                <a:endCxn id="399" idx="1"/>
              </p:cNvCxnSpPr>
              <p:nvPr/>
            </p:nvCxnSpPr>
            <p:spPr bwMode="auto">
              <a:xfrm flipV="1">
                <a:off x="3996593" y="7286559"/>
                <a:ext cx="242503" cy="910149"/>
              </a:xfrm>
              <a:prstGeom prst="bentConnector3">
                <a:avLst>
                  <a:gd name="adj1" fmla="val 14650"/>
                </a:avLst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9" name="꺾인 연결선 418"/>
              <p:cNvCxnSpPr>
                <a:stCxn id="401" idx="3"/>
                <a:endCxn id="404" idx="1"/>
              </p:cNvCxnSpPr>
              <p:nvPr/>
            </p:nvCxnSpPr>
            <p:spPr bwMode="auto">
              <a:xfrm flipV="1">
                <a:off x="5391224" y="7583592"/>
                <a:ext cx="225549" cy="929199"/>
              </a:xfrm>
              <a:prstGeom prst="bentConnector3">
                <a:avLst>
                  <a:gd name="adj1" fmla="val 20439"/>
                </a:avLst>
              </a:prstGeom>
              <a:noFill/>
              <a:ln w="6350">
                <a:solidFill>
                  <a:srgbClr val="808080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20" name="그룹 586"/>
            <p:cNvGrpSpPr/>
            <p:nvPr/>
          </p:nvGrpSpPr>
          <p:grpSpPr>
            <a:xfrm>
              <a:off x="2164025" y="3622306"/>
              <a:ext cx="937235" cy="651600"/>
              <a:chOff x="1476934" y="5764817"/>
              <a:chExt cx="1002358" cy="743354"/>
            </a:xfrm>
          </p:grpSpPr>
          <p:sp>
            <p:nvSpPr>
              <p:cNvPr id="421" name="Rectangle 157"/>
              <p:cNvSpPr>
                <a:spLocks noChangeArrowheads="1"/>
              </p:cNvSpPr>
              <p:nvPr/>
            </p:nvSpPr>
            <p:spPr bwMode="auto">
              <a:xfrm>
                <a:off x="1764400" y="5764817"/>
                <a:ext cx="189409" cy="15718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2" name="Rectangle 158"/>
              <p:cNvSpPr>
                <a:spLocks noChangeArrowheads="1"/>
              </p:cNvSpPr>
              <p:nvPr/>
            </p:nvSpPr>
            <p:spPr bwMode="auto">
              <a:xfrm>
                <a:off x="1476934" y="6036616"/>
                <a:ext cx="186056" cy="1588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3" name="Freeform 159"/>
              <p:cNvSpPr>
                <a:spLocks/>
              </p:cNvSpPr>
              <p:nvPr/>
            </p:nvSpPr>
            <p:spPr bwMode="auto">
              <a:xfrm>
                <a:off x="1598457" y="5928551"/>
                <a:ext cx="260647" cy="106427"/>
              </a:xfrm>
              <a:custGeom>
                <a:avLst/>
                <a:gdLst>
                  <a:gd name="T0" fmla="*/ 310 w 311"/>
                  <a:gd name="T1" fmla="*/ 0 h 65"/>
                  <a:gd name="T2" fmla="*/ 310 w 311"/>
                  <a:gd name="T3" fmla="*/ 23 h 65"/>
                  <a:gd name="T4" fmla="*/ 0 w 311"/>
                  <a:gd name="T5" fmla="*/ 23 h 65"/>
                  <a:gd name="T6" fmla="*/ 0 w 311"/>
                  <a:gd name="T7" fmla="*/ 6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1" h="65">
                    <a:moveTo>
                      <a:pt x="310" y="0"/>
                    </a:moveTo>
                    <a:lnTo>
                      <a:pt x="310" y="23"/>
                    </a:lnTo>
                    <a:lnTo>
                      <a:pt x="0" y="23"/>
                    </a:lnTo>
                    <a:lnTo>
                      <a:pt x="0" y="64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4" name="Rectangle 160"/>
              <p:cNvSpPr>
                <a:spLocks noChangeArrowheads="1"/>
              </p:cNvSpPr>
              <p:nvPr/>
            </p:nvSpPr>
            <p:spPr bwMode="auto">
              <a:xfrm>
                <a:off x="1764400" y="6036616"/>
                <a:ext cx="189409" cy="1588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5" name="Line 161"/>
              <p:cNvSpPr>
                <a:spLocks noChangeShapeType="1"/>
              </p:cNvSpPr>
              <p:nvPr/>
            </p:nvSpPr>
            <p:spPr bwMode="auto">
              <a:xfrm>
                <a:off x="1858266" y="5962936"/>
                <a:ext cx="0" cy="736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6" name="Rectangle 162"/>
              <p:cNvSpPr>
                <a:spLocks noChangeArrowheads="1"/>
              </p:cNvSpPr>
              <p:nvPr/>
            </p:nvSpPr>
            <p:spPr bwMode="auto">
              <a:xfrm>
                <a:off x="2054379" y="6036616"/>
                <a:ext cx="187733" cy="1588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7" name="Freeform 163"/>
              <p:cNvSpPr>
                <a:spLocks/>
              </p:cNvSpPr>
              <p:nvPr/>
            </p:nvSpPr>
            <p:spPr bwMode="auto">
              <a:xfrm>
                <a:off x="1858266" y="5930189"/>
                <a:ext cx="228799" cy="96603"/>
              </a:xfrm>
              <a:custGeom>
                <a:avLst/>
                <a:gdLst>
                  <a:gd name="T0" fmla="*/ 0 w 273"/>
                  <a:gd name="T1" fmla="*/ 0 h 59"/>
                  <a:gd name="T2" fmla="*/ 0 w 273"/>
                  <a:gd name="T3" fmla="*/ 21 h 59"/>
                  <a:gd name="T4" fmla="*/ 272 w 273"/>
                  <a:gd name="T5" fmla="*/ 21 h 59"/>
                  <a:gd name="T6" fmla="*/ 272 w 273"/>
                  <a:gd name="T7" fmla="*/ 5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3" h="59">
                    <a:moveTo>
                      <a:pt x="0" y="0"/>
                    </a:moveTo>
                    <a:lnTo>
                      <a:pt x="0" y="21"/>
                    </a:lnTo>
                    <a:lnTo>
                      <a:pt x="272" y="21"/>
                    </a:lnTo>
                    <a:lnTo>
                      <a:pt x="272" y="58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8" name="Rectangle 164"/>
              <p:cNvSpPr>
                <a:spLocks noChangeArrowheads="1"/>
              </p:cNvSpPr>
              <p:nvPr/>
            </p:nvSpPr>
            <p:spPr bwMode="auto">
              <a:xfrm>
                <a:off x="2290721" y="6352623"/>
                <a:ext cx="188571" cy="1555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29" name="Rectangle 165"/>
              <p:cNvSpPr>
                <a:spLocks noChangeArrowheads="1"/>
              </p:cNvSpPr>
              <p:nvPr/>
            </p:nvSpPr>
            <p:spPr bwMode="auto">
              <a:xfrm>
                <a:off x="1781161" y="6350986"/>
                <a:ext cx="188571" cy="15718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30" name="Freeform 166"/>
              <p:cNvSpPr>
                <a:spLocks/>
              </p:cNvSpPr>
              <p:nvPr/>
            </p:nvSpPr>
            <p:spPr bwMode="auto">
              <a:xfrm>
                <a:off x="1873352" y="6223273"/>
                <a:ext cx="263161" cy="127713"/>
              </a:xfrm>
              <a:custGeom>
                <a:avLst/>
                <a:gdLst>
                  <a:gd name="T0" fmla="*/ 313 w 314"/>
                  <a:gd name="T1" fmla="*/ 0 h 78"/>
                  <a:gd name="T2" fmla="*/ 313 w 314"/>
                  <a:gd name="T3" fmla="*/ 16 h 78"/>
                  <a:gd name="T4" fmla="*/ 0 w 314"/>
                  <a:gd name="T5" fmla="*/ 16 h 78"/>
                  <a:gd name="T6" fmla="*/ 0 w 314"/>
                  <a:gd name="T7" fmla="*/ 77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4" h="78">
                    <a:moveTo>
                      <a:pt x="313" y="0"/>
                    </a:moveTo>
                    <a:lnTo>
                      <a:pt x="313" y="16"/>
                    </a:lnTo>
                    <a:lnTo>
                      <a:pt x="0" y="16"/>
                    </a:lnTo>
                    <a:lnTo>
                      <a:pt x="0" y="77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31" name="Rectangle 167"/>
              <p:cNvSpPr>
                <a:spLocks noChangeArrowheads="1"/>
              </p:cNvSpPr>
              <p:nvPr/>
            </p:nvSpPr>
            <p:spPr bwMode="auto">
              <a:xfrm>
                <a:off x="2035941" y="6350986"/>
                <a:ext cx="186895" cy="15718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32" name="Line 168"/>
              <p:cNvSpPr>
                <a:spLocks noChangeShapeType="1"/>
              </p:cNvSpPr>
              <p:nvPr/>
            </p:nvSpPr>
            <p:spPr bwMode="auto">
              <a:xfrm>
                <a:off x="2134836" y="6246196"/>
                <a:ext cx="2480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33" name="Line 169"/>
              <p:cNvSpPr>
                <a:spLocks noChangeShapeType="1"/>
              </p:cNvSpPr>
              <p:nvPr/>
            </p:nvSpPr>
            <p:spPr bwMode="auto">
              <a:xfrm>
                <a:off x="2382073" y="6246196"/>
                <a:ext cx="0" cy="998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34" name="Line 170"/>
              <p:cNvSpPr>
                <a:spLocks noChangeShapeType="1"/>
              </p:cNvSpPr>
              <p:nvPr/>
            </p:nvSpPr>
            <p:spPr bwMode="auto">
              <a:xfrm>
                <a:off x="2134836" y="6198713"/>
                <a:ext cx="0" cy="1522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435" name="그룹 587"/>
            <p:cNvGrpSpPr/>
            <p:nvPr/>
          </p:nvGrpSpPr>
          <p:grpSpPr>
            <a:xfrm>
              <a:off x="3353892" y="3630490"/>
              <a:ext cx="1023621" cy="680144"/>
              <a:chOff x="2770488" y="5775095"/>
              <a:chExt cx="1094748" cy="775917"/>
            </a:xfrm>
          </p:grpSpPr>
          <p:sp>
            <p:nvSpPr>
              <p:cNvPr id="436" name="Line 183"/>
              <p:cNvSpPr>
                <a:spLocks noChangeShapeType="1"/>
              </p:cNvSpPr>
              <p:nvPr/>
            </p:nvSpPr>
            <p:spPr bwMode="auto">
              <a:xfrm flipH="1">
                <a:off x="2770488" y="5927748"/>
                <a:ext cx="31609" cy="712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37" name="Line 184"/>
              <p:cNvSpPr>
                <a:spLocks noChangeShapeType="1"/>
              </p:cNvSpPr>
              <p:nvPr/>
            </p:nvSpPr>
            <p:spPr bwMode="auto">
              <a:xfrm>
                <a:off x="2779707" y="5896384"/>
                <a:ext cx="5355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438" name="그룹 585"/>
              <p:cNvGrpSpPr/>
              <p:nvPr/>
            </p:nvGrpSpPr>
            <p:grpSpPr>
              <a:xfrm>
                <a:off x="2789365" y="5775095"/>
                <a:ext cx="1075871" cy="775917"/>
                <a:chOff x="2789365" y="5775095"/>
                <a:chExt cx="1075871" cy="775917"/>
              </a:xfrm>
            </p:grpSpPr>
            <p:sp>
              <p:nvSpPr>
                <p:cNvPr id="439" name="Rectangle 173"/>
                <p:cNvSpPr>
                  <a:spLocks noChangeArrowheads="1"/>
                </p:cNvSpPr>
                <p:nvPr/>
              </p:nvSpPr>
              <p:spPr bwMode="auto">
                <a:xfrm>
                  <a:off x="2958382" y="5802292"/>
                  <a:ext cx="368764" cy="22717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0" name="Oval 174"/>
                <p:cNvSpPr>
                  <a:spLocks noChangeArrowheads="1"/>
                </p:cNvSpPr>
                <p:nvPr/>
              </p:nvSpPr>
              <p:spPr bwMode="auto">
                <a:xfrm>
                  <a:off x="2998770" y="5839590"/>
                  <a:ext cx="75509" cy="4747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1" name="Oval 175"/>
                <p:cNvSpPr>
                  <a:spLocks noChangeArrowheads="1"/>
                </p:cNvSpPr>
                <p:nvPr/>
              </p:nvSpPr>
              <p:spPr bwMode="auto">
                <a:xfrm>
                  <a:off x="3219590" y="5893841"/>
                  <a:ext cx="76826" cy="4831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2" name="Oval 176"/>
                <p:cNvSpPr>
                  <a:spLocks noChangeArrowheads="1"/>
                </p:cNvSpPr>
                <p:nvPr/>
              </p:nvSpPr>
              <p:spPr bwMode="auto">
                <a:xfrm>
                  <a:off x="2971552" y="5931138"/>
                  <a:ext cx="76826" cy="4916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3" name="Oval 177"/>
                <p:cNvSpPr>
                  <a:spLocks noChangeArrowheads="1"/>
                </p:cNvSpPr>
                <p:nvPr/>
              </p:nvSpPr>
              <p:spPr bwMode="auto">
                <a:xfrm>
                  <a:off x="3113351" y="5953178"/>
                  <a:ext cx="76387" cy="4831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4" name="Oval 178"/>
                <p:cNvSpPr>
                  <a:spLocks noChangeArrowheads="1"/>
                </p:cNvSpPr>
                <p:nvPr/>
              </p:nvSpPr>
              <p:spPr bwMode="auto">
                <a:xfrm>
                  <a:off x="3122131" y="5829417"/>
                  <a:ext cx="76387" cy="4747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5" name="Oval 180"/>
                <p:cNvSpPr>
                  <a:spLocks noChangeArrowheads="1"/>
                </p:cNvSpPr>
                <p:nvPr/>
              </p:nvSpPr>
              <p:spPr bwMode="auto">
                <a:xfrm>
                  <a:off x="2789365" y="5839590"/>
                  <a:ext cx="28096" cy="32211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6" name="Line 181"/>
                <p:cNvSpPr>
                  <a:spLocks noChangeShapeType="1"/>
                </p:cNvSpPr>
                <p:nvPr/>
              </p:nvSpPr>
              <p:spPr bwMode="auto">
                <a:xfrm>
                  <a:off x="2802097" y="5880278"/>
                  <a:ext cx="0" cy="4407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7" name="Line 182"/>
                <p:cNvSpPr>
                  <a:spLocks noChangeShapeType="1"/>
                </p:cNvSpPr>
                <p:nvPr/>
              </p:nvSpPr>
              <p:spPr bwMode="auto">
                <a:xfrm>
                  <a:off x="2802097" y="5927748"/>
                  <a:ext cx="31169" cy="6611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8" name="Line 185"/>
                <p:cNvSpPr>
                  <a:spLocks noChangeShapeType="1"/>
                </p:cNvSpPr>
                <p:nvPr/>
              </p:nvSpPr>
              <p:spPr bwMode="auto">
                <a:xfrm>
                  <a:off x="2833266" y="5924357"/>
                  <a:ext cx="12775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49" name="Oval 187"/>
                <p:cNvSpPr>
                  <a:spLocks noChangeArrowheads="1"/>
                </p:cNvSpPr>
                <p:nvPr/>
              </p:nvSpPr>
              <p:spPr bwMode="auto">
                <a:xfrm>
                  <a:off x="2869780" y="6117458"/>
                  <a:ext cx="69224" cy="5345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0" name="Oval 188"/>
                <p:cNvSpPr>
                  <a:spLocks noChangeArrowheads="1"/>
                </p:cNvSpPr>
                <p:nvPr/>
              </p:nvSpPr>
              <p:spPr bwMode="auto">
                <a:xfrm>
                  <a:off x="2818957" y="6263393"/>
                  <a:ext cx="68786" cy="5260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1" name="Oval 189"/>
                <p:cNvSpPr>
                  <a:spLocks noChangeArrowheads="1"/>
                </p:cNvSpPr>
                <p:nvPr/>
              </p:nvSpPr>
              <p:spPr bwMode="auto">
                <a:xfrm>
                  <a:off x="3041526" y="6234545"/>
                  <a:ext cx="68348" cy="5345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2" name="Oval 190"/>
                <p:cNvSpPr>
                  <a:spLocks noChangeArrowheads="1"/>
                </p:cNvSpPr>
                <p:nvPr/>
              </p:nvSpPr>
              <p:spPr bwMode="auto">
                <a:xfrm>
                  <a:off x="2932432" y="6378783"/>
                  <a:ext cx="68348" cy="5345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3" name="Oval 191"/>
                <p:cNvSpPr>
                  <a:spLocks noChangeArrowheads="1"/>
                </p:cNvSpPr>
                <p:nvPr/>
              </p:nvSpPr>
              <p:spPr bwMode="auto">
                <a:xfrm>
                  <a:off x="3065623" y="6386420"/>
                  <a:ext cx="67910" cy="5260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4" name="Oval 192"/>
                <p:cNvSpPr>
                  <a:spLocks noChangeArrowheads="1"/>
                </p:cNvSpPr>
                <p:nvPr/>
              </p:nvSpPr>
              <p:spPr bwMode="auto">
                <a:xfrm>
                  <a:off x="3187422" y="6383874"/>
                  <a:ext cx="69224" cy="5260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5" name="Line 193"/>
                <p:cNvSpPr>
                  <a:spLocks noChangeShapeType="1"/>
                </p:cNvSpPr>
                <p:nvPr/>
              </p:nvSpPr>
              <p:spPr bwMode="auto">
                <a:xfrm flipH="1" flipV="1">
                  <a:off x="2939442" y="6158184"/>
                  <a:ext cx="103398" cy="1069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 type="stealth" w="med" len="med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6" name="Line 194"/>
                <p:cNvSpPr>
                  <a:spLocks noChangeShapeType="1"/>
                </p:cNvSpPr>
                <p:nvPr/>
              </p:nvSpPr>
              <p:spPr bwMode="auto">
                <a:xfrm flipV="1">
                  <a:off x="2854007" y="6168366"/>
                  <a:ext cx="47318" cy="9248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 type="stealth" w="med" len="med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7" name="Line 195"/>
                <p:cNvSpPr>
                  <a:spLocks noChangeShapeType="1"/>
                </p:cNvSpPr>
                <p:nvPr/>
              </p:nvSpPr>
              <p:spPr bwMode="auto">
                <a:xfrm flipH="1" flipV="1">
                  <a:off x="3110312" y="6270181"/>
                  <a:ext cx="94197" cy="11708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 type="stealth" w="med" len="med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8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2963101" y="6282908"/>
                  <a:ext cx="86311" cy="1009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 type="stealth" w="med" len="med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59" name="Line 197"/>
                <p:cNvSpPr>
                  <a:spLocks noChangeShapeType="1"/>
                </p:cNvSpPr>
                <p:nvPr/>
              </p:nvSpPr>
              <p:spPr bwMode="auto">
                <a:xfrm flipH="1" flipV="1">
                  <a:off x="3078328" y="6282908"/>
                  <a:ext cx="13144" cy="1026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 type="stealth" w="med" len="med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0" name="Rectangle 198"/>
                <p:cNvSpPr>
                  <a:spLocks noChangeArrowheads="1"/>
                </p:cNvSpPr>
                <p:nvPr/>
              </p:nvSpPr>
              <p:spPr bwMode="auto">
                <a:xfrm>
                  <a:off x="2863020" y="5991044"/>
                  <a:ext cx="379459" cy="1904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14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rPr>
                    <a:t>Use Case</a:t>
                  </a:r>
                </a:p>
              </p:txBody>
            </p:sp>
            <p:sp>
              <p:nvSpPr>
                <p:cNvPr id="461" name="Line 200"/>
                <p:cNvSpPr>
                  <a:spLocks noChangeShapeType="1"/>
                </p:cNvSpPr>
                <p:nvPr/>
              </p:nvSpPr>
              <p:spPr bwMode="auto">
                <a:xfrm>
                  <a:off x="3416830" y="6191051"/>
                  <a:ext cx="0" cy="3599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2" name="Line 201"/>
                <p:cNvSpPr>
                  <a:spLocks noChangeShapeType="1"/>
                </p:cNvSpPr>
                <p:nvPr/>
              </p:nvSpPr>
              <p:spPr bwMode="auto">
                <a:xfrm>
                  <a:off x="3537769" y="6191051"/>
                  <a:ext cx="0" cy="3599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3" name="Line 202"/>
                <p:cNvSpPr>
                  <a:spLocks noChangeShapeType="1"/>
                </p:cNvSpPr>
                <p:nvPr/>
              </p:nvSpPr>
              <p:spPr bwMode="auto">
                <a:xfrm>
                  <a:off x="3676691" y="6191051"/>
                  <a:ext cx="0" cy="3599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4" name="Line 203"/>
                <p:cNvSpPr>
                  <a:spLocks noChangeShapeType="1"/>
                </p:cNvSpPr>
                <p:nvPr/>
              </p:nvSpPr>
              <p:spPr bwMode="auto">
                <a:xfrm>
                  <a:off x="3821008" y="6191051"/>
                  <a:ext cx="0" cy="3599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5" name="Line 204"/>
                <p:cNvSpPr>
                  <a:spLocks noChangeShapeType="1"/>
                </p:cNvSpPr>
                <p:nvPr/>
              </p:nvSpPr>
              <p:spPr bwMode="auto">
                <a:xfrm>
                  <a:off x="3412334" y="6265135"/>
                  <a:ext cx="12543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6" name="Line 205"/>
                <p:cNvSpPr>
                  <a:spLocks noChangeShapeType="1"/>
                </p:cNvSpPr>
                <p:nvPr/>
              </p:nvSpPr>
              <p:spPr bwMode="auto">
                <a:xfrm>
                  <a:off x="3537769" y="6370596"/>
                  <a:ext cx="13442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7" name="Line 206"/>
                <p:cNvSpPr>
                  <a:spLocks noChangeShapeType="1"/>
                </p:cNvSpPr>
                <p:nvPr/>
              </p:nvSpPr>
              <p:spPr bwMode="auto">
                <a:xfrm>
                  <a:off x="3676691" y="6470827"/>
                  <a:ext cx="14836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8" name="AutoShape 208"/>
                <p:cNvSpPr>
                  <a:spLocks noChangeArrowheads="1"/>
                </p:cNvSpPr>
                <p:nvPr/>
              </p:nvSpPr>
              <p:spPr bwMode="auto">
                <a:xfrm>
                  <a:off x="3363865" y="5835841"/>
                  <a:ext cx="274081" cy="25944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69" name="AutoShape 209"/>
                <p:cNvSpPr>
                  <a:spLocks noChangeArrowheads="1"/>
                </p:cNvSpPr>
                <p:nvPr/>
              </p:nvSpPr>
              <p:spPr bwMode="auto">
                <a:xfrm>
                  <a:off x="3372629" y="5957965"/>
                  <a:ext cx="273285" cy="26576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70" name="AutoShape 210"/>
                <p:cNvSpPr>
                  <a:spLocks noChangeArrowheads="1"/>
                </p:cNvSpPr>
                <p:nvPr/>
              </p:nvSpPr>
              <p:spPr bwMode="auto">
                <a:xfrm>
                  <a:off x="3379800" y="6087683"/>
                  <a:ext cx="274878" cy="26576"/>
                </a:xfrm>
                <a:prstGeom prst="roundRect">
                  <a:avLst>
                    <a:gd name="adj" fmla="val 12495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71" name="Line 211"/>
                <p:cNvSpPr>
                  <a:spLocks noChangeShapeType="1"/>
                </p:cNvSpPr>
                <p:nvPr/>
              </p:nvSpPr>
              <p:spPr bwMode="auto">
                <a:xfrm>
                  <a:off x="3410873" y="5869378"/>
                  <a:ext cx="0" cy="8605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72" name="Line 212"/>
                <p:cNvSpPr>
                  <a:spLocks noChangeShapeType="1"/>
                </p:cNvSpPr>
                <p:nvPr/>
              </p:nvSpPr>
              <p:spPr bwMode="auto">
                <a:xfrm>
                  <a:off x="3410873" y="5987073"/>
                  <a:ext cx="0" cy="9807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73" name="Line 213"/>
                <p:cNvSpPr>
                  <a:spLocks noChangeShapeType="1"/>
                </p:cNvSpPr>
                <p:nvPr/>
              </p:nvSpPr>
              <p:spPr bwMode="auto">
                <a:xfrm flipV="1">
                  <a:off x="3597312" y="5982643"/>
                  <a:ext cx="0" cy="10250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74" name="Line 214"/>
                <p:cNvSpPr>
                  <a:spLocks noChangeShapeType="1"/>
                </p:cNvSpPr>
                <p:nvPr/>
              </p:nvSpPr>
              <p:spPr bwMode="auto">
                <a:xfrm flipV="1">
                  <a:off x="3597312" y="5869378"/>
                  <a:ext cx="0" cy="8605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75" name="Line 215"/>
                <p:cNvSpPr>
                  <a:spLocks noChangeShapeType="1"/>
                </p:cNvSpPr>
                <p:nvPr/>
              </p:nvSpPr>
              <p:spPr bwMode="auto">
                <a:xfrm>
                  <a:off x="3504889" y="5775095"/>
                  <a:ext cx="0" cy="5441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76" name="Rectangle 216"/>
                <p:cNvSpPr>
                  <a:spLocks noChangeArrowheads="1"/>
                </p:cNvSpPr>
                <p:nvPr/>
              </p:nvSpPr>
              <p:spPr bwMode="auto">
                <a:xfrm>
                  <a:off x="3584178" y="5820114"/>
                  <a:ext cx="281058" cy="2939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14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rPr>
                    <a:t>State</a:t>
                  </a:r>
                </a:p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14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</a:rPr>
                    <a:t>Model</a:t>
                  </a:r>
                </a:p>
              </p:txBody>
            </p:sp>
          </p:grpSp>
        </p:grpSp>
        <p:grpSp>
          <p:nvGrpSpPr>
            <p:cNvPr id="477" name="그룹 584"/>
            <p:cNvGrpSpPr/>
            <p:nvPr/>
          </p:nvGrpSpPr>
          <p:grpSpPr>
            <a:xfrm>
              <a:off x="4539922" y="3627929"/>
              <a:ext cx="1167934" cy="612039"/>
              <a:chOff x="4079254" y="5730104"/>
              <a:chExt cx="1249088" cy="698222"/>
            </a:xfrm>
          </p:grpSpPr>
          <p:sp>
            <p:nvSpPr>
              <p:cNvPr id="478" name="Rectangle 218"/>
              <p:cNvSpPr>
                <a:spLocks noChangeArrowheads="1"/>
              </p:cNvSpPr>
              <p:nvPr/>
            </p:nvSpPr>
            <p:spPr bwMode="auto">
              <a:xfrm>
                <a:off x="4535652" y="5835428"/>
                <a:ext cx="169862" cy="595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79" name="Freeform 219"/>
              <p:cNvSpPr>
                <a:spLocks/>
              </p:cNvSpPr>
              <p:nvPr/>
            </p:nvSpPr>
            <p:spPr bwMode="auto">
              <a:xfrm>
                <a:off x="4659188" y="5798056"/>
                <a:ext cx="389482" cy="1010"/>
              </a:xfrm>
              <a:custGeom>
                <a:avLst/>
                <a:gdLst>
                  <a:gd name="T0" fmla="*/ 0 w 227"/>
                  <a:gd name="T1" fmla="*/ 0 h 1"/>
                  <a:gd name="T2" fmla="*/ 227 w 22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7" h="1">
                    <a:moveTo>
                      <a:pt x="0" y="0"/>
                    </a:moveTo>
                    <a:lnTo>
                      <a:pt x="227" y="0"/>
                    </a:ln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0" name="AutoShape 220"/>
              <p:cNvSpPr>
                <a:spLocks noChangeArrowheads="1"/>
              </p:cNvSpPr>
              <p:nvPr/>
            </p:nvSpPr>
            <p:spPr bwMode="auto">
              <a:xfrm>
                <a:off x="5053817" y="5852599"/>
                <a:ext cx="51473" cy="24241"/>
              </a:xfrm>
              <a:prstGeom prst="triangle">
                <a:avLst>
                  <a:gd name="adj" fmla="val 49995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1" name="Freeform 221"/>
              <p:cNvSpPr>
                <a:spLocks/>
              </p:cNvSpPr>
              <p:nvPr/>
            </p:nvSpPr>
            <p:spPr bwMode="auto">
              <a:xfrm>
                <a:off x="4853071" y="5879870"/>
                <a:ext cx="1716" cy="51512"/>
              </a:xfrm>
              <a:custGeom>
                <a:avLst/>
                <a:gdLst>
                  <a:gd name="T0" fmla="*/ 0 w 1"/>
                  <a:gd name="T1" fmla="*/ 76 h 76"/>
                  <a:gd name="T2" fmla="*/ 1 w 1"/>
                  <a:gd name="T3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6">
                    <a:moveTo>
                      <a:pt x="0" y="76"/>
                    </a:moveTo>
                    <a:lnTo>
                      <a:pt x="1" y="0"/>
                    </a:ln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2" name="Line 222"/>
              <p:cNvSpPr>
                <a:spLocks noChangeShapeType="1"/>
              </p:cNvSpPr>
              <p:nvPr/>
            </p:nvSpPr>
            <p:spPr bwMode="auto">
              <a:xfrm flipV="1">
                <a:off x="5247700" y="5878860"/>
                <a:ext cx="1716" cy="494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3" name="Line 223"/>
              <p:cNvSpPr>
                <a:spLocks noChangeShapeType="1"/>
              </p:cNvSpPr>
              <p:nvPr/>
            </p:nvSpPr>
            <p:spPr bwMode="auto">
              <a:xfrm flipV="1">
                <a:off x="5079554" y="5830378"/>
                <a:ext cx="0" cy="282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4" name="Line 224"/>
              <p:cNvSpPr>
                <a:spLocks noChangeShapeType="1"/>
              </p:cNvSpPr>
              <p:nvPr/>
            </p:nvSpPr>
            <p:spPr bwMode="auto">
              <a:xfrm>
                <a:off x="4854787" y="5878860"/>
                <a:ext cx="3946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5" name="Line 225"/>
              <p:cNvSpPr>
                <a:spLocks noChangeShapeType="1"/>
              </p:cNvSpPr>
              <p:nvPr/>
            </p:nvSpPr>
            <p:spPr bwMode="auto">
              <a:xfrm>
                <a:off x="4654040" y="5798056"/>
                <a:ext cx="0" cy="363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6" name="Rectangle 226"/>
              <p:cNvSpPr>
                <a:spLocks noChangeArrowheads="1"/>
              </p:cNvSpPr>
              <p:nvPr/>
            </p:nvSpPr>
            <p:spPr bwMode="auto">
              <a:xfrm>
                <a:off x="4079254" y="5730104"/>
                <a:ext cx="281058" cy="2732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1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Class</a:t>
                </a:r>
              </a:p>
              <a:p>
                <a:pPr marL="0" marR="0" lvl="0" indent="0" defTabSz="914400" eaLnBrk="0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1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Model</a:t>
                </a:r>
              </a:p>
            </p:txBody>
          </p:sp>
          <p:sp>
            <p:nvSpPr>
              <p:cNvPr id="487" name="Rectangle 227"/>
              <p:cNvSpPr>
                <a:spLocks noChangeArrowheads="1"/>
              </p:cNvSpPr>
              <p:nvPr/>
            </p:nvSpPr>
            <p:spPr bwMode="auto">
              <a:xfrm>
                <a:off x="4101559" y="5923142"/>
                <a:ext cx="614186" cy="18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1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Component Model</a:t>
                </a:r>
              </a:p>
            </p:txBody>
          </p:sp>
          <p:sp>
            <p:nvSpPr>
              <p:cNvPr id="488" name="Rectangle 228"/>
              <p:cNvSpPr>
                <a:spLocks noChangeArrowheads="1"/>
              </p:cNvSpPr>
              <p:nvPr/>
            </p:nvSpPr>
            <p:spPr bwMode="auto">
              <a:xfrm>
                <a:off x="4779292" y="5913202"/>
                <a:ext cx="166431" cy="5757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89" name="Rectangle 229"/>
              <p:cNvSpPr>
                <a:spLocks noChangeArrowheads="1"/>
              </p:cNvSpPr>
              <p:nvPr/>
            </p:nvSpPr>
            <p:spPr bwMode="auto">
              <a:xfrm>
                <a:off x="5158480" y="5917242"/>
                <a:ext cx="169862" cy="5757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0" name="Line 230"/>
              <p:cNvSpPr>
                <a:spLocks noChangeShapeType="1"/>
              </p:cNvSpPr>
              <p:nvPr/>
            </p:nvSpPr>
            <p:spPr bwMode="auto">
              <a:xfrm flipV="1">
                <a:off x="4274853" y="6198035"/>
                <a:ext cx="53189" cy="1838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1" name="Line 231"/>
              <p:cNvSpPr>
                <a:spLocks noChangeShapeType="1"/>
              </p:cNvSpPr>
              <p:nvPr/>
            </p:nvSpPr>
            <p:spPr bwMode="auto">
              <a:xfrm flipH="1" flipV="1">
                <a:off x="4523641" y="6283889"/>
                <a:ext cx="63484" cy="989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2" name="Line 232"/>
              <p:cNvSpPr>
                <a:spLocks noChangeShapeType="1"/>
              </p:cNvSpPr>
              <p:nvPr/>
            </p:nvSpPr>
            <p:spPr bwMode="auto">
              <a:xfrm flipV="1">
                <a:off x="4883955" y="6283889"/>
                <a:ext cx="32600" cy="999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3" name="Line 233"/>
              <p:cNvSpPr>
                <a:spLocks noChangeShapeType="1"/>
              </p:cNvSpPr>
              <p:nvPr/>
            </p:nvSpPr>
            <p:spPr bwMode="auto">
              <a:xfrm flipH="1" flipV="1">
                <a:off x="4969744" y="6282879"/>
                <a:ext cx="144126" cy="1030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4" name="Line 234"/>
              <p:cNvSpPr>
                <a:spLocks noChangeShapeType="1"/>
              </p:cNvSpPr>
              <p:nvPr/>
            </p:nvSpPr>
            <p:spPr bwMode="auto">
              <a:xfrm flipH="1" flipV="1">
                <a:off x="4233674" y="6067739"/>
                <a:ext cx="106378" cy="1030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5" name="Rectangle 235"/>
              <p:cNvSpPr>
                <a:spLocks noChangeArrowheads="1"/>
              </p:cNvSpPr>
              <p:nvPr/>
            </p:nvSpPr>
            <p:spPr bwMode="auto">
              <a:xfrm>
                <a:off x="4288579" y="6169754"/>
                <a:ext cx="108094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6" name="Rectangle 236"/>
              <p:cNvSpPr>
                <a:spLocks noChangeArrowheads="1"/>
              </p:cNvSpPr>
              <p:nvPr/>
            </p:nvSpPr>
            <p:spPr bwMode="auto">
              <a:xfrm>
                <a:off x="4288579" y="6175814"/>
                <a:ext cx="169862" cy="353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7" name="Rectangle 237"/>
              <p:cNvSpPr>
                <a:spLocks noChangeArrowheads="1"/>
              </p:cNvSpPr>
              <p:nvPr/>
            </p:nvSpPr>
            <p:spPr bwMode="auto">
              <a:xfrm>
                <a:off x="4847924" y="6255608"/>
                <a:ext cx="108094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8" name="Rectangle 238"/>
              <p:cNvSpPr>
                <a:spLocks noChangeArrowheads="1"/>
              </p:cNvSpPr>
              <p:nvPr/>
            </p:nvSpPr>
            <p:spPr bwMode="auto">
              <a:xfrm>
                <a:off x="4847924" y="6276819"/>
                <a:ext cx="169862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499" name="Rectangle 239"/>
              <p:cNvSpPr>
                <a:spLocks noChangeArrowheads="1"/>
              </p:cNvSpPr>
              <p:nvPr/>
            </p:nvSpPr>
            <p:spPr bwMode="auto">
              <a:xfrm>
                <a:off x="5124164" y="6177834"/>
                <a:ext cx="109810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0" name="Rectangle 240"/>
              <p:cNvSpPr>
                <a:spLocks noChangeArrowheads="1"/>
              </p:cNvSpPr>
              <p:nvPr/>
            </p:nvSpPr>
            <p:spPr bwMode="auto">
              <a:xfrm>
                <a:off x="5124164" y="6183894"/>
                <a:ext cx="169862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1" name="Line 241"/>
              <p:cNvSpPr>
                <a:spLocks noChangeShapeType="1"/>
              </p:cNvSpPr>
              <p:nvPr/>
            </p:nvSpPr>
            <p:spPr bwMode="auto">
              <a:xfrm flipV="1">
                <a:off x="4398389" y="6064709"/>
                <a:ext cx="89221" cy="1040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2" name="Line 242"/>
              <p:cNvSpPr>
                <a:spLocks noChangeShapeType="1"/>
              </p:cNvSpPr>
              <p:nvPr/>
            </p:nvSpPr>
            <p:spPr bwMode="auto">
              <a:xfrm flipH="1" flipV="1">
                <a:off x="4460157" y="6207126"/>
                <a:ext cx="389482" cy="555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3" name="Line 243"/>
              <p:cNvSpPr>
                <a:spLocks noChangeShapeType="1"/>
              </p:cNvSpPr>
              <p:nvPr/>
            </p:nvSpPr>
            <p:spPr bwMode="auto">
              <a:xfrm flipH="1" flipV="1">
                <a:off x="4736398" y="6067739"/>
                <a:ext cx="121820" cy="18584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4" name="Line 244"/>
              <p:cNvSpPr>
                <a:spLocks noChangeShapeType="1"/>
              </p:cNvSpPr>
              <p:nvPr/>
            </p:nvSpPr>
            <p:spPr bwMode="auto">
              <a:xfrm flipV="1">
                <a:off x="4921702" y="6066729"/>
                <a:ext cx="42895" cy="1848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5" name="Line 245"/>
              <p:cNvSpPr>
                <a:spLocks noChangeShapeType="1"/>
              </p:cNvSpPr>
              <p:nvPr/>
            </p:nvSpPr>
            <p:spPr bwMode="auto">
              <a:xfrm flipV="1">
                <a:off x="5196227" y="6066729"/>
                <a:ext cx="53189" cy="1090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6" name="Rectangle 246"/>
              <p:cNvSpPr>
                <a:spLocks noChangeArrowheads="1"/>
              </p:cNvSpPr>
              <p:nvPr/>
            </p:nvSpPr>
            <p:spPr bwMode="auto">
              <a:xfrm>
                <a:off x="4441284" y="6271769"/>
                <a:ext cx="109810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7" name="Rectangle 247"/>
              <p:cNvSpPr>
                <a:spLocks noChangeArrowheads="1"/>
              </p:cNvSpPr>
              <p:nvPr/>
            </p:nvSpPr>
            <p:spPr bwMode="auto">
              <a:xfrm>
                <a:off x="4441284" y="6277829"/>
                <a:ext cx="169862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8" name="Line 248"/>
              <p:cNvSpPr>
                <a:spLocks noChangeShapeType="1"/>
              </p:cNvSpPr>
              <p:nvPr/>
            </p:nvSpPr>
            <p:spPr bwMode="auto">
              <a:xfrm flipH="1" flipV="1">
                <a:off x="4394958" y="6209146"/>
                <a:ext cx="114957" cy="474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09" name="Line 249"/>
              <p:cNvSpPr>
                <a:spLocks noChangeShapeType="1"/>
              </p:cNvSpPr>
              <p:nvPr/>
            </p:nvSpPr>
            <p:spPr bwMode="auto">
              <a:xfrm flipH="1" flipV="1">
                <a:off x="5034944" y="6066729"/>
                <a:ext cx="109810" cy="1080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0" name="Rectangle 250"/>
              <p:cNvSpPr>
                <a:spLocks noChangeArrowheads="1"/>
              </p:cNvSpPr>
              <p:nvPr/>
            </p:nvSpPr>
            <p:spPr bwMode="auto">
              <a:xfrm>
                <a:off x="4412115" y="6045518"/>
                <a:ext cx="108094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1" name="Rectangle 251"/>
              <p:cNvSpPr>
                <a:spLocks noChangeArrowheads="1"/>
              </p:cNvSpPr>
              <p:nvPr/>
            </p:nvSpPr>
            <p:spPr bwMode="auto">
              <a:xfrm>
                <a:off x="4412115" y="6051578"/>
                <a:ext cx="169862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2" name="Rectangle 252"/>
              <p:cNvSpPr>
                <a:spLocks noChangeArrowheads="1"/>
              </p:cNvSpPr>
              <p:nvPr/>
            </p:nvSpPr>
            <p:spPr bwMode="auto">
              <a:xfrm>
                <a:off x="4153033" y="6045518"/>
                <a:ext cx="106378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3" name="Rectangle 253"/>
              <p:cNvSpPr>
                <a:spLocks noChangeArrowheads="1"/>
              </p:cNvSpPr>
              <p:nvPr/>
            </p:nvSpPr>
            <p:spPr bwMode="auto">
              <a:xfrm>
                <a:off x="4153033" y="6051578"/>
                <a:ext cx="168146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4" name="Rectangle 254"/>
              <p:cNvSpPr>
                <a:spLocks noChangeArrowheads="1"/>
              </p:cNvSpPr>
              <p:nvPr/>
            </p:nvSpPr>
            <p:spPr bwMode="auto">
              <a:xfrm>
                <a:off x="4914839" y="6045518"/>
                <a:ext cx="109810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5" name="Rectangle 255"/>
              <p:cNvSpPr>
                <a:spLocks noChangeArrowheads="1"/>
              </p:cNvSpPr>
              <p:nvPr/>
            </p:nvSpPr>
            <p:spPr bwMode="auto">
              <a:xfrm>
                <a:off x="4914839" y="6051578"/>
                <a:ext cx="169862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6" name="Rectangle 256"/>
              <p:cNvSpPr>
                <a:spLocks noChangeArrowheads="1"/>
              </p:cNvSpPr>
              <p:nvPr/>
            </p:nvSpPr>
            <p:spPr bwMode="auto">
              <a:xfrm>
                <a:off x="4667767" y="6045518"/>
                <a:ext cx="109810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7" name="Rectangle 257"/>
              <p:cNvSpPr>
                <a:spLocks noChangeArrowheads="1"/>
              </p:cNvSpPr>
              <p:nvPr/>
            </p:nvSpPr>
            <p:spPr bwMode="auto">
              <a:xfrm>
                <a:off x="4667767" y="6051578"/>
                <a:ext cx="169862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8" name="Rectangle 258"/>
              <p:cNvSpPr>
                <a:spLocks noChangeArrowheads="1"/>
              </p:cNvSpPr>
              <p:nvPr/>
            </p:nvSpPr>
            <p:spPr bwMode="auto">
              <a:xfrm>
                <a:off x="5158480" y="6046528"/>
                <a:ext cx="108094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19" name="Rectangle 259"/>
              <p:cNvSpPr>
                <a:spLocks noChangeArrowheads="1"/>
              </p:cNvSpPr>
              <p:nvPr/>
            </p:nvSpPr>
            <p:spPr bwMode="auto">
              <a:xfrm>
                <a:off x="5158480" y="6052588"/>
                <a:ext cx="168146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0" name="Rectangle 260"/>
              <p:cNvSpPr>
                <a:spLocks noChangeArrowheads="1"/>
              </p:cNvSpPr>
              <p:nvPr/>
            </p:nvSpPr>
            <p:spPr bwMode="auto">
              <a:xfrm>
                <a:off x="4521925" y="6384894"/>
                <a:ext cx="106378" cy="70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1" name="Rectangle 261"/>
              <p:cNvSpPr>
                <a:spLocks noChangeArrowheads="1"/>
              </p:cNvSpPr>
              <p:nvPr/>
            </p:nvSpPr>
            <p:spPr bwMode="auto">
              <a:xfrm>
                <a:off x="4521925" y="6390954"/>
                <a:ext cx="168146" cy="353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2" name="Rectangle 262"/>
              <p:cNvSpPr>
                <a:spLocks noChangeArrowheads="1"/>
              </p:cNvSpPr>
              <p:nvPr/>
            </p:nvSpPr>
            <p:spPr bwMode="auto">
              <a:xfrm>
                <a:off x="5113869" y="6386914"/>
                <a:ext cx="108094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3" name="Rectangle 263"/>
              <p:cNvSpPr>
                <a:spLocks noChangeArrowheads="1"/>
              </p:cNvSpPr>
              <p:nvPr/>
            </p:nvSpPr>
            <p:spPr bwMode="auto">
              <a:xfrm>
                <a:off x="5113869" y="6393984"/>
                <a:ext cx="169862" cy="32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4" name="Rectangle 264"/>
              <p:cNvSpPr>
                <a:spLocks noChangeArrowheads="1"/>
              </p:cNvSpPr>
              <p:nvPr/>
            </p:nvSpPr>
            <p:spPr bwMode="auto">
              <a:xfrm>
                <a:off x="4820471" y="6386914"/>
                <a:ext cx="108094" cy="6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5" name="Rectangle 265"/>
              <p:cNvSpPr>
                <a:spLocks noChangeArrowheads="1"/>
              </p:cNvSpPr>
              <p:nvPr/>
            </p:nvSpPr>
            <p:spPr bwMode="auto">
              <a:xfrm>
                <a:off x="4820471" y="6393984"/>
                <a:ext cx="169862" cy="343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6" name="Rectangle 266"/>
              <p:cNvSpPr>
                <a:spLocks noChangeArrowheads="1"/>
              </p:cNvSpPr>
              <p:nvPr/>
            </p:nvSpPr>
            <p:spPr bwMode="auto">
              <a:xfrm>
                <a:off x="4216516" y="6384894"/>
                <a:ext cx="108094" cy="70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7" name="Rectangle 267"/>
              <p:cNvSpPr>
                <a:spLocks noChangeArrowheads="1"/>
              </p:cNvSpPr>
              <p:nvPr/>
            </p:nvSpPr>
            <p:spPr bwMode="auto">
              <a:xfrm>
                <a:off x="4216516" y="6390954"/>
                <a:ext cx="169862" cy="353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8" name="Rectangle 268"/>
              <p:cNvSpPr>
                <a:spLocks noChangeArrowheads="1"/>
              </p:cNvSpPr>
              <p:nvPr/>
            </p:nvSpPr>
            <p:spPr bwMode="auto">
              <a:xfrm>
                <a:off x="4992049" y="5767755"/>
                <a:ext cx="171578" cy="5858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529" name="그룹 583"/>
            <p:cNvGrpSpPr/>
            <p:nvPr/>
          </p:nvGrpSpPr>
          <p:grpSpPr>
            <a:xfrm>
              <a:off x="5835597" y="3645057"/>
              <a:ext cx="1347245" cy="602231"/>
              <a:chOff x="5424401" y="5877887"/>
              <a:chExt cx="1440858" cy="687033"/>
            </a:xfrm>
          </p:grpSpPr>
          <p:sp>
            <p:nvSpPr>
              <p:cNvPr id="530" name="Rectangle 270"/>
              <p:cNvSpPr>
                <a:spLocks noChangeArrowheads="1"/>
              </p:cNvSpPr>
              <p:nvPr/>
            </p:nvSpPr>
            <p:spPr bwMode="auto">
              <a:xfrm>
                <a:off x="5610483" y="6108001"/>
                <a:ext cx="620336" cy="1904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14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Deployment Model</a:t>
                </a:r>
              </a:p>
            </p:txBody>
          </p:sp>
          <p:sp>
            <p:nvSpPr>
              <p:cNvPr id="531" name="AutoShape 272"/>
              <p:cNvSpPr>
                <a:spLocks noChangeArrowheads="1"/>
              </p:cNvSpPr>
              <p:nvPr/>
            </p:nvSpPr>
            <p:spPr bwMode="auto">
              <a:xfrm>
                <a:off x="5723157" y="6269900"/>
                <a:ext cx="274591" cy="181070"/>
              </a:xfrm>
              <a:prstGeom prst="cube">
                <a:avLst>
                  <a:gd name="adj" fmla="val 24995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2" name="Line 273"/>
              <p:cNvSpPr>
                <a:spLocks noChangeShapeType="1"/>
              </p:cNvSpPr>
              <p:nvPr/>
            </p:nvSpPr>
            <p:spPr bwMode="auto">
              <a:xfrm>
                <a:off x="6001708" y="6341704"/>
                <a:ext cx="221785" cy="999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3" name="AutoShape 274"/>
              <p:cNvSpPr>
                <a:spLocks noChangeArrowheads="1"/>
              </p:cNvSpPr>
              <p:nvPr/>
            </p:nvSpPr>
            <p:spPr bwMode="auto">
              <a:xfrm>
                <a:off x="6226133" y="6319070"/>
                <a:ext cx="347199" cy="245850"/>
              </a:xfrm>
              <a:prstGeom prst="cube">
                <a:avLst>
                  <a:gd name="adj" fmla="val 24995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4" name="Rectangle 275"/>
              <p:cNvSpPr>
                <a:spLocks noChangeArrowheads="1"/>
              </p:cNvSpPr>
              <p:nvPr/>
            </p:nvSpPr>
            <p:spPr bwMode="auto">
              <a:xfrm>
                <a:off x="5793125" y="6346387"/>
                <a:ext cx="56766" cy="78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5" name="Rectangle 276"/>
              <p:cNvSpPr>
                <a:spLocks noChangeArrowheads="1"/>
              </p:cNvSpPr>
              <p:nvPr/>
            </p:nvSpPr>
            <p:spPr bwMode="auto">
              <a:xfrm>
                <a:off x="5793125" y="6354972"/>
                <a:ext cx="91090" cy="483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6" name="Rectangle 277"/>
              <p:cNvSpPr>
                <a:spLocks noChangeArrowheads="1"/>
              </p:cNvSpPr>
              <p:nvPr/>
            </p:nvSpPr>
            <p:spPr bwMode="auto">
              <a:xfrm>
                <a:off x="6388511" y="6470482"/>
                <a:ext cx="56766" cy="702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7" name="Rectangle 278"/>
              <p:cNvSpPr>
                <a:spLocks noChangeArrowheads="1"/>
              </p:cNvSpPr>
              <p:nvPr/>
            </p:nvSpPr>
            <p:spPr bwMode="auto">
              <a:xfrm>
                <a:off x="6388511" y="6479068"/>
                <a:ext cx="91090" cy="4760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8" name="Rectangle 279"/>
              <p:cNvSpPr>
                <a:spLocks noChangeArrowheads="1"/>
              </p:cNvSpPr>
              <p:nvPr/>
            </p:nvSpPr>
            <p:spPr bwMode="auto">
              <a:xfrm>
                <a:off x="6259137" y="6406483"/>
                <a:ext cx="58086" cy="858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39" name="Rectangle 280"/>
              <p:cNvSpPr>
                <a:spLocks noChangeArrowheads="1"/>
              </p:cNvSpPr>
              <p:nvPr/>
            </p:nvSpPr>
            <p:spPr bwMode="auto">
              <a:xfrm>
                <a:off x="6259137" y="6415849"/>
                <a:ext cx="91090" cy="483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0" name="Rectangle 282"/>
              <p:cNvSpPr>
                <a:spLocks noChangeArrowheads="1"/>
              </p:cNvSpPr>
              <p:nvPr/>
            </p:nvSpPr>
            <p:spPr bwMode="auto">
              <a:xfrm>
                <a:off x="5847781" y="5877887"/>
                <a:ext cx="469474" cy="2091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1" name="Rectangle 285"/>
              <p:cNvSpPr>
                <a:spLocks noChangeArrowheads="1"/>
              </p:cNvSpPr>
              <p:nvPr/>
            </p:nvSpPr>
            <p:spPr bwMode="auto">
              <a:xfrm>
                <a:off x="5936161" y="5925534"/>
                <a:ext cx="193729" cy="6746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2" name="Freeform 286"/>
              <p:cNvSpPr>
                <a:spLocks/>
              </p:cNvSpPr>
              <p:nvPr/>
            </p:nvSpPr>
            <p:spPr bwMode="auto">
              <a:xfrm>
                <a:off x="5933333" y="5902343"/>
                <a:ext cx="80603" cy="21926"/>
              </a:xfrm>
              <a:custGeom>
                <a:avLst/>
                <a:gdLst>
                  <a:gd name="T0" fmla="*/ 0 w 114"/>
                  <a:gd name="T1" fmla="*/ 51 h 52"/>
                  <a:gd name="T2" fmla="*/ 0 w 114"/>
                  <a:gd name="T3" fmla="*/ 0 h 52"/>
                  <a:gd name="T4" fmla="*/ 113 w 114"/>
                  <a:gd name="T5" fmla="*/ 0 h 52"/>
                  <a:gd name="T6" fmla="*/ 113 w 114"/>
                  <a:gd name="T7" fmla="*/ 5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52">
                    <a:moveTo>
                      <a:pt x="0" y="51"/>
                    </a:moveTo>
                    <a:lnTo>
                      <a:pt x="0" y="0"/>
                    </a:lnTo>
                    <a:lnTo>
                      <a:pt x="113" y="0"/>
                    </a:lnTo>
                    <a:lnTo>
                      <a:pt x="113" y="51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3" name="Rectangle 288"/>
              <p:cNvSpPr>
                <a:spLocks noChangeArrowheads="1"/>
              </p:cNvSpPr>
              <p:nvPr/>
            </p:nvSpPr>
            <p:spPr bwMode="auto">
              <a:xfrm>
                <a:off x="5936161" y="6004805"/>
                <a:ext cx="60099" cy="5903"/>
              </a:xfrm>
              <a:prstGeom prst="rect">
                <a:avLst/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4" name="Rectangle 289"/>
              <p:cNvSpPr>
                <a:spLocks noChangeArrowheads="1"/>
              </p:cNvSpPr>
              <p:nvPr/>
            </p:nvSpPr>
            <p:spPr bwMode="auto">
              <a:xfrm>
                <a:off x="5936161" y="6013660"/>
                <a:ext cx="60099" cy="4722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5" name="Rectangle 290"/>
              <p:cNvSpPr>
                <a:spLocks noChangeArrowheads="1"/>
              </p:cNvSpPr>
              <p:nvPr/>
            </p:nvSpPr>
            <p:spPr bwMode="auto">
              <a:xfrm>
                <a:off x="5936161" y="6004805"/>
                <a:ext cx="60099" cy="56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6" name="Line 291"/>
              <p:cNvSpPr>
                <a:spLocks noChangeShapeType="1"/>
              </p:cNvSpPr>
              <p:nvPr/>
            </p:nvSpPr>
            <p:spPr bwMode="auto">
              <a:xfrm>
                <a:off x="5933333" y="6011973"/>
                <a:ext cx="657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7" name="Rectangle 293"/>
              <p:cNvSpPr>
                <a:spLocks noChangeArrowheads="1"/>
              </p:cNvSpPr>
              <p:nvPr/>
            </p:nvSpPr>
            <p:spPr bwMode="auto">
              <a:xfrm>
                <a:off x="6169484" y="6004805"/>
                <a:ext cx="59391" cy="560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8" name="Oval 294"/>
              <p:cNvSpPr>
                <a:spLocks noChangeArrowheads="1"/>
              </p:cNvSpPr>
              <p:nvPr/>
            </p:nvSpPr>
            <p:spPr bwMode="auto">
              <a:xfrm>
                <a:off x="6142616" y="6011130"/>
                <a:ext cx="48786" cy="590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49" name="Rectangle 295"/>
              <p:cNvSpPr>
                <a:spLocks noChangeArrowheads="1"/>
              </p:cNvSpPr>
              <p:nvPr/>
            </p:nvSpPr>
            <p:spPr bwMode="auto">
              <a:xfrm>
                <a:off x="6142616" y="6029683"/>
                <a:ext cx="48786" cy="590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50" name="Rectangle 296"/>
              <p:cNvSpPr>
                <a:spLocks noChangeArrowheads="1"/>
              </p:cNvSpPr>
              <p:nvPr/>
            </p:nvSpPr>
            <p:spPr bwMode="auto">
              <a:xfrm>
                <a:off x="6142616" y="6048235"/>
                <a:ext cx="48786" cy="590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51" name="Rectangle 297"/>
              <p:cNvSpPr>
                <a:spLocks noChangeArrowheads="1"/>
              </p:cNvSpPr>
              <p:nvPr/>
            </p:nvSpPr>
            <p:spPr bwMode="auto">
              <a:xfrm>
                <a:off x="5424401" y="6039296"/>
                <a:ext cx="1440858" cy="1904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14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rPr>
                  <a:t>Implementation Model</a:t>
                </a:r>
              </a:p>
            </p:txBody>
          </p:sp>
        </p:grpSp>
        <p:grpSp>
          <p:nvGrpSpPr>
            <p:cNvPr id="552" name="그룹 551"/>
            <p:cNvGrpSpPr/>
            <p:nvPr/>
          </p:nvGrpSpPr>
          <p:grpSpPr>
            <a:xfrm>
              <a:off x="1432043" y="2655125"/>
              <a:ext cx="5723496" cy="403257"/>
              <a:chOff x="819442" y="4410534"/>
              <a:chExt cx="6100762" cy="469329"/>
            </a:xfrm>
          </p:grpSpPr>
          <p:grpSp>
            <p:nvGrpSpPr>
              <p:cNvPr id="553" name="그룹 552"/>
              <p:cNvGrpSpPr/>
              <p:nvPr/>
            </p:nvGrpSpPr>
            <p:grpSpPr>
              <a:xfrm>
                <a:off x="819442" y="4410534"/>
                <a:ext cx="6100762" cy="469329"/>
                <a:chOff x="842963" y="6918623"/>
                <a:chExt cx="6100762" cy="469329"/>
              </a:xfrm>
            </p:grpSpPr>
            <p:sp>
              <p:nvSpPr>
                <p:cNvPr id="557" name="AutoShape 149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954088" y="6918623"/>
                  <a:ext cx="5876925" cy="15024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2403 w 21600"/>
                    <a:gd name="T13" fmla="*/ 2485 h 21600"/>
                    <a:gd name="T14" fmla="*/ 19197 w 21600"/>
                    <a:gd name="T15" fmla="*/ 19115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1206" y="21600"/>
                      </a:lnTo>
                      <a:lnTo>
                        <a:pt x="20394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72000" tIns="36000" rIns="72000" bIns="36000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558" name="AutoShape 136"/>
                <p:cNvSpPr>
                  <a:spLocks noChangeArrowheads="1"/>
                </p:cNvSpPr>
                <p:nvPr/>
              </p:nvSpPr>
              <p:spPr bwMode="gray">
                <a:xfrm rot="10800000" flipV="1">
                  <a:off x="842963" y="7095852"/>
                  <a:ext cx="6100762" cy="292100"/>
                </a:xfrm>
                <a:prstGeom prst="roundRect">
                  <a:avLst>
                    <a:gd name="adj" fmla="val 43478"/>
                  </a:avLst>
                </a:prstGeom>
                <a:gradFill rotWithShape="1">
                  <a:gsLst>
                    <a:gs pos="0">
                      <a:srgbClr val="F0F0F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25400" dir="16200000" algn="ctr" rotWithShape="0">
                    <a:srgbClr val="74A6D7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34" tIns="45717" rIns="197987" bIns="45717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7338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30188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1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554" name="그룹 553"/>
              <p:cNvGrpSpPr/>
              <p:nvPr/>
            </p:nvGrpSpPr>
            <p:grpSpPr>
              <a:xfrm>
                <a:off x="1745587" y="4587281"/>
                <a:ext cx="4248472" cy="273743"/>
                <a:chOff x="1745587" y="7773195"/>
                <a:chExt cx="4248472" cy="273743"/>
              </a:xfrm>
            </p:grpSpPr>
            <p:sp>
              <p:nvSpPr>
                <p:cNvPr id="555" name="양쪽 모서리가 둥근 사각형 554"/>
                <p:cNvSpPr/>
                <p:nvPr/>
              </p:nvSpPr>
              <p:spPr bwMode="auto">
                <a:xfrm>
                  <a:off x="1745587" y="7773195"/>
                  <a:ext cx="4248472" cy="273743"/>
                </a:xfrm>
                <a:prstGeom prst="round2SameRect">
                  <a:avLst>
                    <a:gd name="adj1" fmla="val 0"/>
                    <a:gd name="adj2" fmla="val 32363"/>
                  </a:avLst>
                </a:prstGeom>
                <a:blipFill dpi="0" rotWithShape="1">
                  <a:blip r:embed="rId13">
                    <a:extLst>
                      <a:ext uri="{BEBA8EAE-BF5A-486C-A8C5-ECC9F3942E4B}">
                        <a14:imgProps xmlns:a14="http://schemas.microsoft.com/office/drawing/2010/main">
                          <a14:imgLayer r:embed="rId14">
                            <a14:imgEffect>
                              <a14:saturation sat="66000"/>
                            </a14:imgEffect>
                          </a14:imgLayer>
                        </a14:imgProps>
                      </a:ext>
                    </a:extLst>
                  </a:blip>
                  <a:srcRect/>
                  <a:stretch>
                    <a:fillRect/>
                  </a:stretch>
                </a:blipFill>
                <a:ln w="6350" algn="ctr">
                  <a:solidFill>
                    <a:srgbClr val="80B8DA"/>
                  </a:solidFill>
                  <a:miter lim="800000"/>
                  <a:headEnd/>
                  <a:tailEnd/>
                </a:ln>
                <a:effectLst>
                  <a:outerShdw dist="26941" dir="2700000" algn="ctr" rotWithShape="0">
                    <a:srgbClr val="EAEAEA"/>
                  </a:outerShdw>
                </a:effectLst>
                <a:extLst/>
              </p:spPr>
              <p:txBody>
                <a:bodyPr lIns="0" tIns="0" rIns="0" bIns="0" anchor="ctr"/>
                <a:lstStyle/>
                <a:p>
                  <a:pPr marL="0" marR="0" lvl="0" indent="0" algn="ctr" defTabSz="942975" eaLnBrk="0" fontAlgn="ctr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6" name="Rectangle 137"/>
                <p:cNvSpPr>
                  <a:spLocks noChangeArrowheads="1"/>
                </p:cNvSpPr>
                <p:nvPr/>
              </p:nvSpPr>
              <p:spPr bwMode="auto">
                <a:xfrm flipH="1">
                  <a:off x="2090368" y="7813040"/>
                  <a:ext cx="3558910" cy="1626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defTabSz="893763">
                    <a:spcBef>
                      <a:spcPct val="20000"/>
                    </a:spcBef>
                    <a:buChar char="•"/>
                    <a:defRPr kumimoji="1" sz="55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25488" indent="-279400" defTabSz="893763">
                    <a:spcBef>
                      <a:spcPct val="20000"/>
                    </a:spcBef>
                    <a:buChar char="–"/>
                    <a:defRPr kumimoji="1" sz="4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16013" indent="-222250" defTabSz="893763">
                    <a:spcBef>
                      <a:spcPct val="20000"/>
                    </a:spcBef>
                    <a:buChar char="•"/>
                    <a:defRPr kumimoji="1" sz="41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563688" indent="-223838" defTabSz="893763">
                    <a:spcBef>
                      <a:spcPct val="20000"/>
                    </a:spcBef>
                    <a:buChar char="–"/>
                    <a:defRPr kumimoji="1" sz="3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09775" indent="-223838" defTabSz="893763">
                    <a:spcBef>
                      <a:spcPct val="20000"/>
                    </a:spcBef>
                    <a:buChar char="»"/>
                    <a:defRPr kumimoji="1" sz="3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466975" indent="-223838" defTabSz="893763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3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24175" indent="-223838" defTabSz="893763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3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381375" indent="-223838" defTabSz="893763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3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38575" indent="-223838" defTabSz="893763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3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marL="0" marR="0" lvl="0" indent="0" algn="ctr" defTabSz="893763" eaLnBrk="0" fontAlgn="ctr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ko-KR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cs typeface="Arial" panose="020B0604020202020204" pitchFamily="34" charset="0"/>
                    </a:rPr>
                    <a:t>국방 </a:t>
                  </a:r>
                  <a:r>
                    <a:rPr kumimoji="1" lang="en-US" altLang="ko-KR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cs typeface="Arial" panose="020B0604020202020204" pitchFamily="34" charset="0"/>
                    </a:rPr>
                    <a:t>CBD </a:t>
                  </a:r>
                  <a:r>
                    <a:rPr kumimoji="1" lang="ko-KR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cs typeface="Arial" panose="020B0604020202020204" pitchFamily="34" charset="0"/>
                    </a:rPr>
                    <a:t>방법론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27875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318772" y="248651"/>
            <a:ext cx="9937336" cy="843519"/>
            <a:chOff x="318763" y="248649"/>
            <a:chExt cx="9937336" cy="843519"/>
          </a:xfrm>
        </p:grpSpPr>
        <p:sp>
          <p:nvSpPr>
            <p:cNvPr id="135" name="TextBox 134"/>
            <p:cNvSpPr txBox="1"/>
            <p:nvPr/>
          </p:nvSpPr>
          <p:spPr>
            <a:xfrm>
              <a:off x="318763" y="568948"/>
              <a:ext cx="9937336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업무연속성 및 시스템의 안정적 성능을 보장하는 시스템 설계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21774" y="248649"/>
              <a:ext cx="2015295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2. 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시스템 설계 방안</a:t>
              </a: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341313" y="1440309"/>
            <a:ext cx="5689352" cy="5703942"/>
            <a:chOff x="2467247" y="1584325"/>
            <a:chExt cx="3240179" cy="5703942"/>
          </a:xfrm>
        </p:grpSpPr>
        <p:grpSp>
          <p:nvGrpSpPr>
            <p:cNvPr id="42" name="그룹 41"/>
            <p:cNvGrpSpPr/>
            <p:nvPr/>
          </p:nvGrpSpPr>
          <p:grpSpPr>
            <a:xfrm>
              <a:off x="2467247" y="1584325"/>
              <a:ext cx="2822071" cy="5703942"/>
              <a:chOff x="549275" y="3368675"/>
              <a:chExt cx="2822071" cy="5976938"/>
            </a:xfrm>
          </p:grpSpPr>
          <p:sp>
            <p:nvSpPr>
              <p:cNvPr id="43" name="직사각형 42"/>
              <p:cNvSpPr/>
              <p:nvPr/>
            </p:nvSpPr>
            <p:spPr bwMode="auto">
              <a:xfrm>
                <a:off x="549275" y="3728675"/>
                <a:ext cx="2822071" cy="561693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101600" lvl="1" indent="-101600" eaLnBrk="0" latinLnBrk="0" hangingPunct="0">
                  <a:buClr>
                    <a:srgbClr val="0000FF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dirty="0" err="1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endParaRPr>
              </a:p>
            </p:txBody>
          </p:sp>
          <p:sp>
            <p:nvSpPr>
              <p:cNvPr id="46" name="Rectangle 88"/>
              <p:cNvSpPr>
                <a:spLocks noChangeArrowheads="1"/>
              </p:cNvSpPr>
              <p:nvPr/>
            </p:nvSpPr>
            <p:spPr bwMode="auto">
              <a:xfrm>
                <a:off x="549275" y="3368675"/>
                <a:ext cx="2822071" cy="360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 w="6350">
                <a:solidFill>
                  <a:schemeClr val="accent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indent="-93299" algn="ctr" defTabSz="1043056" eaLnBrk="0" latinLnBrk="0" hangingPunct="0">
                  <a:buClr>
                    <a:srgbClr val="0000FF"/>
                  </a:buClr>
                  <a:buSzPct val="140000"/>
                  <a:tabLst>
                    <a:tab pos="2692400" algn="l"/>
                    <a:tab pos="5648325" algn="l"/>
                  </a:tabLst>
                </a:pPr>
                <a:r>
                  <a:rPr lang="ko-KR" altLang="en-US" sz="1100" dirty="0">
                    <a:ln w="11430"/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시스템 설계</a:t>
                </a:r>
                <a:r>
                  <a:rPr lang="en-US" altLang="ko-KR" sz="1100" dirty="0">
                    <a:ln w="11430"/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(</a:t>
                </a:r>
                <a:r>
                  <a:rPr lang="ko-KR" altLang="en-US" sz="1100" dirty="0">
                    <a:ln w="11430"/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구축</a:t>
                </a:r>
                <a:r>
                  <a:rPr lang="en-US" altLang="ko-KR" sz="1100" dirty="0">
                    <a:ln w="11430"/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)</a:t>
                </a:r>
                <a:r>
                  <a:rPr lang="ko-KR" altLang="en-US" sz="1100" dirty="0">
                    <a:ln w="11430"/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 시 고려사항</a:t>
                </a:r>
              </a:p>
            </p:txBody>
          </p:sp>
        </p:grpSp>
        <p:grpSp>
          <p:nvGrpSpPr>
            <p:cNvPr id="54" name="그룹 53"/>
            <p:cNvGrpSpPr/>
            <p:nvPr/>
          </p:nvGrpSpPr>
          <p:grpSpPr>
            <a:xfrm>
              <a:off x="2493030" y="2005871"/>
              <a:ext cx="2769870" cy="206134"/>
              <a:chOff x="552450" y="3867942"/>
              <a:chExt cx="2769870" cy="216000"/>
            </a:xfrm>
          </p:grpSpPr>
          <p:sp>
            <p:nvSpPr>
              <p:cNvPr id="55" name="직사각형 54"/>
              <p:cNvSpPr/>
              <p:nvPr/>
            </p:nvSpPr>
            <p:spPr bwMode="auto">
              <a:xfrm>
                <a:off x="552450" y="3867942"/>
                <a:ext cx="2769870" cy="21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defTabSz="1042988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1" lang="ko-KR" altLang="en-US" sz="10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     다수의 사용자</a:t>
                </a:r>
                <a:r>
                  <a:rPr kumimoji="1" lang="en-US" altLang="ko-KR" sz="10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, </a:t>
                </a:r>
                <a:r>
                  <a:rPr kumimoji="1" lang="ko-KR" altLang="en-US" sz="10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전국 단위 사용자</a:t>
                </a:r>
              </a:p>
            </p:txBody>
          </p:sp>
          <p:sp>
            <p:nvSpPr>
              <p:cNvPr id="56" name="모서리가 둥근 직사각형 55"/>
              <p:cNvSpPr/>
              <p:nvPr/>
            </p:nvSpPr>
            <p:spPr bwMode="auto">
              <a:xfrm>
                <a:off x="568115" y="3867942"/>
                <a:ext cx="216000" cy="216000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1</a:t>
                </a:r>
                <a:endParaRPr kumimoji="1" lang="ko-KR" altLang="ko-KR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57" name="그룹 56"/>
            <p:cNvGrpSpPr/>
            <p:nvPr/>
          </p:nvGrpSpPr>
          <p:grpSpPr>
            <a:xfrm>
              <a:off x="2493030" y="3016775"/>
              <a:ext cx="2769870" cy="206134"/>
              <a:chOff x="552450" y="5020070"/>
              <a:chExt cx="2769870" cy="216000"/>
            </a:xfrm>
          </p:grpSpPr>
          <p:sp>
            <p:nvSpPr>
              <p:cNvPr id="58" name="직사각형 57"/>
              <p:cNvSpPr/>
              <p:nvPr/>
            </p:nvSpPr>
            <p:spPr bwMode="auto">
              <a:xfrm>
                <a:off x="552450" y="5020070"/>
                <a:ext cx="2769870" cy="21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defTabSz="1042988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1" lang="ko-KR" altLang="en-US" sz="10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     방대한 개발 대상 업무</a:t>
                </a:r>
              </a:p>
            </p:txBody>
          </p:sp>
          <p:sp>
            <p:nvSpPr>
              <p:cNvPr id="59" name="모서리가 둥근 직사각형 58"/>
              <p:cNvSpPr/>
              <p:nvPr/>
            </p:nvSpPr>
            <p:spPr bwMode="auto">
              <a:xfrm>
                <a:off x="568115" y="5020070"/>
                <a:ext cx="216000" cy="216000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2</a:t>
                </a:r>
                <a:endParaRPr kumimoji="1" lang="ko-KR" altLang="ko-KR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60" name="그룹 59"/>
            <p:cNvGrpSpPr/>
            <p:nvPr/>
          </p:nvGrpSpPr>
          <p:grpSpPr>
            <a:xfrm>
              <a:off x="2493030" y="4056623"/>
              <a:ext cx="2769870" cy="206134"/>
              <a:chOff x="552450" y="6253731"/>
              <a:chExt cx="2769870" cy="216000"/>
            </a:xfrm>
          </p:grpSpPr>
          <p:sp>
            <p:nvSpPr>
              <p:cNvPr id="61" name="직사각형 60"/>
              <p:cNvSpPr/>
              <p:nvPr/>
            </p:nvSpPr>
            <p:spPr bwMode="auto">
              <a:xfrm>
                <a:off x="552450" y="6253731"/>
                <a:ext cx="2769870" cy="21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defTabSz="1042988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1" lang="ko-KR" altLang="en-US" sz="10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     복잡한 연동 대상</a:t>
                </a:r>
              </a:p>
            </p:txBody>
          </p:sp>
          <p:sp>
            <p:nvSpPr>
              <p:cNvPr id="62" name="모서리가 둥근 직사각형 61"/>
              <p:cNvSpPr/>
              <p:nvPr/>
            </p:nvSpPr>
            <p:spPr bwMode="auto">
              <a:xfrm>
                <a:off x="568115" y="6253731"/>
                <a:ext cx="216000" cy="216000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3</a:t>
                </a:r>
                <a:endParaRPr kumimoji="1" lang="ko-KR" altLang="ko-KR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63" name="그룹 62"/>
            <p:cNvGrpSpPr/>
            <p:nvPr/>
          </p:nvGrpSpPr>
          <p:grpSpPr>
            <a:xfrm>
              <a:off x="2493030" y="5197321"/>
              <a:ext cx="2769870" cy="206134"/>
              <a:chOff x="552450" y="7396334"/>
              <a:chExt cx="2769870" cy="216000"/>
            </a:xfrm>
          </p:grpSpPr>
          <p:sp>
            <p:nvSpPr>
              <p:cNvPr id="64" name="직사각형 63"/>
              <p:cNvSpPr/>
              <p:nvPr/>
            </p:nvSpPr>
            <p:spPr bwMode="auto">
              <a:xfrm>
                <a:off x="552450" y="7396334"/>
                <a:ext cx="2769870" cy="21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defTabSz="1042988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1" lang="ko-KR" altLang="en-US" sz="10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     다양한 운영환경</a:t>
                </a:r>
              </a:p>
            </p:txBody>
          </p:sp>
          <p:sp>
            <p:nvSpPr>
              <p:cNvPr id="65" name="모서리가 둥근 직사각형 64"/>
              <p:cNvSpPr/>
              <p:nvPr/>
            </p:nvSpPr>
            <p:spPr bwMode="auto">
              <a:xfrm>
                <a:off x="568115" y="7396334"/>
                <a:ext cx="216000" cy="216000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4</a:t>
                </a:r>
                <a:endParaRPr kumimoji="1" lang="ko-KR" altLang="ko-KR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66" name="그룹 65"/>
            <p:cNvGrpSpPr/>
            <p:nvPr/>
          </p:nvGrpSpPr>
          <p:grpSpPr>
            <a:xfrm>
              <a:off x="2493030" y="6225248"/>
              <a:ext cx="2769870" cy="206134"/>
              <a:chOff x="552450" y="8268492"/>
              <a:chExt cx="2769870" cy="216000"/>
            </a:xfrm>
          </p:grpSpPr>
          <p:sp>
            <p:nvSpPr>
              <p:cNvPr id="67" name="직사각형 66"/>
              <p:cNvSpPr/>
              <p:nvPr/>
            </p:nvSpPr>
            <p:spPr bwMode="auto">
              <a:xfrm>
                <a:off x="552450" y="8268492"/>
                <a:ext cx="2769870" cy="21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defTabSz="1042988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1" lang="ko-KR" altLang="en-US" sz="10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     난이도 높은 복합시스템 및 시스템  통합 </a:t>
                </a:r>
              </a:p>
            </p:txBody>
          </p:sp>
          <p:sp>
            <p:nvSpPr>
              <p:cNvPr id="68" name="모서리가 둥근 직사각형 67"/>
              <p:cNvSpPr/>
              <p:nvPr/>
            </p:nvSpPr>
            <p:spPr bwMode="auto">
              <a:xfrm>
                <a:off x="568115" y="8268492"/>
                <a:ext cx="216000" cy="216000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5</a:t>
                </a:r>
                <a:endParaRPr kumimoji="1" lang="ko-KR" altLang="ko-KR" sz="1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69" name="그룹 68"/>
            <p:cNvGrpSpPr/>
            <p:nvPr/>
          </p:nvGrpSpPr>
          <p:grpSpPr>
            <a:xfrm>
              <a:off x="2574945" y="2288161"/>
              <a:ext cx="2714625" cy="652459"/>
              <a:chOff x="657225" y="4196916"/>
              <a:chExt cx="2714625" cy="683686"/>
            </a:xfrm>
          </p:grpSpPr>
          <p:grpSp>
            <p:nvGrpSpPr>
              <p:cNvPr id="70" name="그룹 69"/>
              <p:cNvGrpSpPr/>
              <p:nvPr/>
            </p:nvGrpSpPr>
            <p:grpSpPr>
              <a:xfrm>
                <a:off x="657225" y="4196916"/>
                <a:ext cx="1092224" cy="683686"/>
                <a:chOff x="-4739415" y="4033867"/>
                <a:chExt cx="1092224" cy="683686"/>
              </a:xfrm>
            </p:grpSpPr>
            <p:sp>
              <p:nvSpPr>
                <p:cNvPr id="72" name="Rectangle 1584"/>
                <p:cNvSpPr>
                  <a:spLocks noChangeArrowheads="1"/>
                </p:cNvSpPr>
                <p:nvPr/>
              </p:nvSpPr>
              <p:spPr bwMode="auto">
                <a:xfrm>
                  <a:off x="-4739415" y="4033867"/>
                  <a:ext cx="1092224" cy="683686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 defTabSz="1068388"/>
                  <a:endPara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  <a:cs typeface="Segoe UI" pitchFamily="34" charset="0"/>
                  </a:endParaRPr>
                </a:p>
              </p:txBody>
            </p:sp>
            <p:pic>
              <p:nvPicPr>
                <p:cNvPr id="73" name="Picture 1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00" t="60662" r="37468" b="11816"/>
                <a:stretch/>
              </p:blipFill>
              <p:spPr bwMode="auto">
                <a:xfrm>
                  <a:off x="-4429152" y="4069698"/>
                  <a:ext cx="471698" cy="6120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71" name="AutoShape 40"/>
              <p:cNvSpPr>
                <a:spLocks noChangeArrowheads="1"/>
              </p:cNvSpPr>
              <p:nvPr/>
            </p:nvSpPr>
            <p:spPr bwMode="auto">
              <a:xfrm>
                <a:off x="1902336" y="4270007"/>
                <a:ext cx="1469514" cy="5375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다수의 교관</a:t>
                </a:r>
                <a:r>
                  <a:rPr kumimoji="1" lang="en-US" altLang="ko-KR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후보생 등</a:t>
                </a:r>
                <a:endParaRPr kumimoji="1" lang="en-US" altLang="ko-KR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훈육 단계별 동시접속</a:t>
                </a:r>
                <a:endParaRPr kumimoji="1" lang="en-US" altLang="ko-KR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전국 </a:t>
                </a:r>
                <a:r>
                  <a:rPr kumimoji="1" lang="en-US" altLang="ko-KR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110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개 학군단</a:t>
                </a: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2591924" y="3299064"/>
              <a:ext cx="2587123" cy="628411"/>
              <a:chOff x="674204" y="5356473"/>
              <a:chExt cx="2587123" cy="658487"/>
            </a:xfrm>
          </p:grpSpPr>
          <p:grpSp>
            <p:nvGrpSpPr>
              <p:cNvPr id="75" name="그룹 74"/>
              <p:cNvGrpSpPr/>
              <p:nvPr/>
            </p:nvGrpSpPr>
            <p:grpSpPr>
              <a:xfrm>
                <a:off x="674204" y="5356473"/>
                <a:ext cx="1092224" cy="658487"/>
                <a:chOff x="-4739415" y="5126624"/>
                <a:chExt cx="1092224" cy="658487"/>
              </a:xfrm>
            </p:grpSpPr>
            <p:sp>
              <p:nvSpPr>
                <p:cNvPr id="77" name="Rectangle 1584"/>
                <p:cNvSpPr>
                  <a:spLocks noChangeArrowheads="1"/>
                </p:cNvSpPr>
                <p:nvPr/>
              </p:nvSpPr>
              <p:spPr bwMode="auto">
                <a:xfrm>
                  <a:off x="-4739415" y="5126624"/>
                  <a:ext cx="1092224" cy="658487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 defTabSz="1068388"/>
                  <a:endPara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  <a:cs typeface="Segoe UI" pitchFamily="34" charset="0"/>
                  </a:endParaRPr>
                </a:p>
              </p:txBody>
            </p:sp>
            <p:pic>
              <p:nvPicPr>
                <p:cNvPr id="7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773" t="31063" r="44506" b="15388"/>
                <a:stretch/>
              </p:blipFill>
              <p:spPr bwMode="auto">
                <a:xfrm>
                  <a:off x="-4683448" y="5174795"/>
                  <a:ext cx="443656" cy="405207"/>
                </a:xfrm>
                <a:prstGeom prst="rect">
                  <a:avLst/>
                </a:prstGeom>
                <a:noFill/>
                <a:ln w="9525">
                  <a:solidFill>
                    <a:schemeClr val="bg1">
                      <a:lumMod val="85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9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773" t="31063" r="44506" b="15388"/>
                <a:stretch/>
              </p:blipFill>
              <p:spPr bwMode="auto">
                <a:xfrm>
                  <a:off x="-4439707" y="5227801"/>
                  <a:ext cx="443656" cy="436839"/>
                </a:xfrm>
                <a:prstGeom prst="rect">
                  <a:avLst/>
                </a:prstGeom>
                <a:noFill/>
                <a:ln w="9525">
                  <a:solidFill>
                    <a:schemeClr val="bg1">
                      <a:lumMod val="85000"/>
                    </a:schemeClr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8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773" t="31063" r="44506" b="15388"/>
                <a:stretch/>
              </p:blipFill>
              <p:spPr bwMode="auto">
                <a:xfrm>
                  <a:off x="-4118267" y="5268088"/>
                  <a:ext cx="443656" cy="4644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76" name="AutoShape 40"/>
              <p:cNvSpPr>
                <a:spLocks noChangeArrowheads="1"/>
              </p:cNvSpPr>
              <p:nvPr/>
            </p:nvSpPr>
            <p:spPr bwMode="auto">
              <a:xfrm>
                <a:off x="1902336" y="5363526"/>
                <a:ext cx="1358991" cy="5626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다수의 업무분야 </a:t>
                </a:r>
              </a:p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분야별 세부 단위업무로 복잡하게 구성</a:t>
                </a: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2574944" y="4268930"/>
              <a:ext cx="2053061" cy="825867"/>
              <a:chOff x="657224" y="6500507"/>
              <a:chExt cx="2053061" cy="865394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657224" y="6573838"/>
                <a:ext cx="1109203" cy="792061"/>
                <a:chOff x="-4739416" y="6292581"/>
                <a:chExt cx="1109203" cy="792061"/>
              </a:xfrm>
            </p:grpSpPr>
            <p:sp>
              <p:nvSpPr>
                <p:cNvPr id="84" name="Rectangle 1584"/>
                <p:cNvSpPr>
                  <a:spLocks noChangeArrowheads="1"/>
                </p:cNvSpPr>
                <p:nvPr/>
              </p:nvSpPr>
              <p:spPr bwMode="auto">
                <a:xfrm>
                  <a:off x="-4739416" y="6292581"/>
                  <a:ext cx="1109203" cy="792061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 defTabSz="1068388"/>
                  <a:endPara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  <a:cs typeface="Segoe UI" pitchFamily="34" charset="0"/>
                  </a:endParaRPr>
                </a:p>
              </p:txBody>
            </p:sp>
            <p:pic>
              <p:nvPicPr>
                <p:cNvPr id="85" name="Picture 2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684933" y="6336814"/>
                  <a:ext cx="1001093" cy="7019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83" name="AutoShape 40"/>
              <p:cNvSpPr>
                <a:spLocks noChangeArrowheads="1"/>
              </p:cNvSpPr>
              <p:nvPr/>
            </p:nvSpPr>
            <p:spPr bwMode="auto">
              <a:xfrm>
                <a:off x="1902336" y="6500507"/>
                <a:ext cx="807949" cy="8653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외부 체계</a:t>
                </a:r>
                <a:endParaRPr kumimoji="1" lang="en-US" altLang="ko-KR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</a:pPr>
                <a:r>
                  <a:rPr kumimoji="1" lang="en-US" altLang="ko-KR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  - </a:t>
                </a:r>
                <a:r>
                  <a:rPr kumimoji="1" lang="ko-KR" altLang="en-US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국방인사정보체계 연동</a:t>
                </a:r>
              </a:p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내부 체계</a:t>
                </a:r>
                <a:endParaRPr kumimoji="1" lang="en-US" altLang="ko-KR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</a:pPr>
                <a:r>
                  <a:rPr kumimoji="1" lang="en-US" altLang="ko-KR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  - </a:t>
                </a:r>
                <a:r>
                  <a:rPr kumimoji="1" lang="ko-KR" altLang="en-US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학교시설정보체계 연동</a:t>
                </a:r>
                <a:endParaRPr kumimoji="1" lang="en-US" altLang="ko-KR" sz="9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</a:pPr>
                <a:r>
                  <a:rPr kumimoji="1" lang="en-US" altLang="ko-KR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  - </a:t>
                </a:r>
                <a:r>
                  <a:rPr kumimoji="1" lang="ko-KR" altLang="en-US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교관 </a:t>
                </a:r>
                <a:r>
                  <a:rPr kumimoji="1" lang="ko-KR" altLang="en-US" sz="900" kern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테블릿</a:t>
                </a:r>
                <a:r>
                  <a:rPr kumimoji="1" lang="en-US" altLang="ko-KR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(PC) </a:t>
                </a:r>
                <a:r>
                  <a:rPr kumimoji="1" lang="ko-KR" altLang="en-US" sz="9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연동</a:t>
                </a:r>
              </a:p>
            </p:txBody>
          </p:sp>
        </p:grpSp>
        <p:grpSp>
          <p:nvGrpSpPr>
            <p:cNvPr id="86" name="그룹 85"/>
            <p:cNvGrpSpPr/>
            <p:nvPr/>
          </p:nvGrpSpPr>
          <p:grpSpPr>
            <a:xfrm>
              <a:off x="2584495" y="5470521"/>
              <a:ext cx="1985994" cy="675396"/>
              <a:chOff x="666775" y="7374907"/>
              <a:chExt cx="1985994" cy="707721"/>
            </a:xfrm>
          </p:grpSpPr>
          <p:grpSp>
            <p:nvGrpSpPr>
              <p:cNvPr id="87" name="그룹 86"/>
              <p:cNvGrpSpPr/>
              <p:nvPr/>
            </p:nvGrpSpPr>
            <p:grpSpPr>
              <a:xfrm>
                <a:off x="666775" y="7374907"/>
                <a:ext cx="1092224" cy="707721"/>
                <a:chOff x="-4739415" y="7402196"/>
                <a:chExt cx="1092224" cy="707721"/>
              </a:xfrm>
            </p:grpSpPr>
            <p:sp>
              <p:nvSpPr>
                <p:cNvPr id="89" name="Rectangle 1584"/>
                <p:cNvSpPr>
                  <a:spLocks noChangeArrowheads="1"/>
                </p:cNvSpPr>
                <p:nvPr/>
              </p:nvSpPr>
              <p:spPr bwMode="auto">
                <a:xfrm>
                  <a:off x="-4739415" y="7402196"/>
                  <a:ext cx="1092224" cy="707721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 defTabSz="1068388"/>
                  <a:endParaRPr lang="ko-KR" altLang="en-US" sz="800" dirty="0">
                    <a:latin typeface="굴림" panose="020B0600000101010101" pitchFamily="50" charset="-127"/>
                    <a:ea typeface="굴림" panose="020B0600000101010101" pitchFamily="50" charset="-127"/>
                    <a:cs typeface="Segoe UI" pitchFamily="34" charset="0"/>
                  </a:endParaRPr>
                </a:p>
              </p:txBody>
            </p:sp>
            <p:grpSp>
              <p:nvGrpSpPr>
                <p:cNvPr id="90" name="그룹 89"/>
                <p:cNvGrpSpPr/>
                <p:nvPr/>
              </p:nvGrpSpPr>
              <p:grpSpPr>
                <a:xfrm>
                  <a:off x="-4681731" y="7585581"/>
                  <a:ext cx="976856" cy="360000"/>
                  <a:chOff x="-4631775" y="7559307"/>
                  <a:chExt cx="976856" cy="360000"/>
                </a:xfrm>
              </p:grpSpPr>
              <p:sp>
                <p:nvSpPr>
                  <p:cNvPr id="91" name="타원 136"/>
                  <p:cNvSpPr>
                    <a:spLocks noChangeArrowheads="1"/>
                  </p:cNvSpPr>
                  <p:nvPr/>
                </p:nvSpPr>
                <p:spPr bwMode="auto">
                  <a:xfrm>
                    <a:off x="-4631775" y="7559307"/>
                    <a:ext cx="360000" cy="360000"/>
                  </a:xfrm>
                  <a:prstGeom prst="ellipse">
                    <a:avLst/>
                  </a:prstGeom>
                  <a:solidFill>
                    <a:srgbClr val="E8E8E8"/>
                  </a:solidFill>
                  <a:ln w="6350">
                    <a:noFill/>
                    <a:miter lim="800000"/>
                    <a:headEnd/>
                    <a:tailEnd type="triangle" w="sm" len="sm"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kumimoji="0" lang="en-US" altLang="ko-KR" sz="800" dirty="0">
                        <a:solidFill>
                          <a:srgbClr val="333333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PC</a:t>
                    </a:r>
                  </a:p>
                </p:txBody>
              </p:sp>
              <p:sp>
                <p:nvSpPr>
                  <p:cNvPr id="92" name="타원 136"/>
                  <p:cNvSpPr>
                    <a:spLocks noChangeArrowheads="1"/>
                  </p:cNvSpPr>
                  <p:nvPr/>
                </p:nvSpPr>
                <p:spPr bwMode="auto">
                  <a:xfrm>
                    <a:off x="-4323347" y="7559307"/>
                    <a:ext cx="360000" cy="360000"/>
                  </a:xfrm>
                  <a:prstGeom prst="ellipse">
                    <a:avLst/>
                  </a:prstGeom>
                  <a:solidFill>
                    <a:srgbClr val="E8E8E8"/>
                  </a:solidFill>
                  <a:ln w="6350">
                    <a:noFill/>
                    <a:miter lim="800000"/>
                    <a:headEnd/>
                    <a:tailEnd type="triangle" w="sm" len="sm"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kumimoji="0" lang="ko-KR" altLang="en-US" sz="800" dirty="0" err="1">
                        <a:solidFill>
                          <a:srgbClr val="333333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테블릿</a:t>
                    </a:r>
                    <a:endParaRPr kumimoji="0" lang="en-US" altLang="ko-KR" sz="8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93" name="타원 136"/>
                  <p:cNvSpPr>
                    <a:spLocks noChangeArrowheads="1"/>
                  </p:cNvSpPr>
                  <p:nvPr/>
                </p:nvSpPr>
                <p:spPr bwMode="auto">
                  <a:xfrm>
                    <a:off x="-4014919" y="7559307"/>
                    <a:ext cx="360000" cy="360000"/>
                  </a:xfrm>
                  <a:prstGeom prst="ellipse">
                    <a:avLst/>
                  </a:prstGeom>
                  <a:solidFill>
                    <a:srgbClr val="E8E8E8"/>
                  </a:solidFill>
                  <a:ln w="6350">
                    <a:noFill/>
                    <a:miter lim="800000"/>
                    <a:headEnd/>
                    <a:tailEnd type="triangle" w="sm" len="sm"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kumimoji="0" lang="ko-KR" altLang="en-US" sz="800" dirty="0" err="1">
                        <a:solidFill>
                          <a:srgbClr val="333333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모바일</a:t>
                    </a:r>
                    <a:endParaRPr kumimoji="0" lang="en-US" altLang="ko-KR" sz="8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</p:grpSp>
          </p:grpSp>
          <p:sp>
            <p:nvSpPr>
              <p:cNvPr id="88" name="AutoShape 40"/>
              <p:cNvSpPr>
                <a:spLocks noChangeArrowheads="1"/>
              </p:cNvSpPr>
              <p:nvPr/>
            </p:nvSpPr>
            <p:spPr bwMode="auto">
              <a:xfrm>
                <a:off x="1902336" y="7460012"/>
                <a:ext cx="750433" cy="5375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일반 </a:t>
                </a:r>
                <a:r>
                  <a:rPr kumimoji="1" lang="en-US" altLang="ko-KR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PC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에서</a:t>
                </a:r>
                <a:r>
                  <a:rPr kumimoji="1" lang="en-US" altLang="ko-KR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운영</a:t>
                </a:r>
              </a:p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테블릿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kumimoji="1" lang="en-US" altLang="ko-KR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PC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에서</a:t>
                </a:r>
                <a:r>
                  <a:rPr kumimoji="1" lang="en-US" altLang="ko-KR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운영</a:t>
                </a:r>
              </a:p>
              <a:p>
                <a:pPr marL="76200" indent="-76200" fontAlgn="base">
                  <a:spcBef>
                    <a:spcPts val="200"/>
                  </a:spcBef>
                  <a:spcAft>
                    <a:spcPct val="0"/>
                  </a:spcAft>
                  <a:buClr>
                    <a:srgbClr val="595959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kumimoji="1" lang="ko-KR" altLang="en-US" sz="1000" kern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모바일</a:t>
                </a:r>
                <a:r>
                  <a:rPr kumimoji="1" lang="ko-KR" altLang="en-US" sz="10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기기에서 운영</a:t>
                </a:r>
              </a:p>
            </p:txBody>
          </p:sp>
        </p:grpSp>
        <p:grpSp>
          <p:nvGrpSpPr>
            <p:cNvPr id="94" name="그룹 93"/>
            <p:cNvGrpSpPr/>
            <p:nvPr/>
          </p:nvGrpSpPr>
          <p:grpSpPr>
            <a:xfrm>
              <a:off x="2574945" y="6498418"/>
              <a:ext cx="1092224" cy="752845"/>
              <a:chOff x="-4739415" y="8569101"/>
              <a:chExt cx="1092224" cy="788877"/>
            </a:xfrm>
          </p:grpSpPr>
          <p:sp>
            <p:nvSpPr>
              <p:cNvPr id="95" name="Rectangle 1584"/>
              <p:cNvSpPr>
                <a:spLocks noChangeArrowheads="1"/>
              </p:cNvSpPr>
              <p:nvPr/>
            </p:nvSpPr>
            <p:spPr bwMode="auto">
              <a:xfrm>
                <a:off x="-4739415" y="8569101"/>
                <a:ext cx="1092224" cy="788877"/>
              </a:xfrm>
              <a:prstGeom prst="rect">
                <a:avLst/>
              </a:prstGeom>
              <a:solidFill>
                <a:schemeClr val="bg1"/>
              </a:solidFill>
              <a:ln w="3175" algn="ctr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defTabSz="1068388"/>
                <a:endParaRPr lang="ko-KR" altLang="en-US" sz="800" dirty="0">
                  <a:latin typeface="굴림" panose="020B0600000101010101" pitchFamily="50" charset="-127"/>
                  <a:ea typeface="굴림" panose="020B0600000101010101" pitchFamily="50" charset="-127"/>
                  <a:cs typeface="Segoe UI" pitchFamily="34" charset="0"/>
                </a:endParaRPr>
              </a:p>
            </p:txBody>
          </p:sp>
          <p:grpSp>
            <p:nvGrpSpPr>
              <p:cNvPr id="96" name="그룹 95"/>
              <p:cNvGrpSpPr/>
              <p:nvPr/>
            </p:nvGrpSpPr>
            <p:grpSpPr>
              <a:xfrm>
                <a:off x="-4691146" y="8597616"/>
                <a:ext cx="995687" cy="723589"/>
                <a:chOff x="-4676314" y="8601309"/>
                <a:chExt cx="995687" cy="723589"/>
              </a:xfrm>
            </p:grpSpPr>
            <p:sp>
              <p:nvSpPr>
                <p:cNvPr id="98" name="타원 136"/>
                <p:cNvSpPr>
                  <a:spLocks noChangeArrowheads="1"/>
                </p:cNvSpPr>
                <p:nvPr/>
              </p:nvSpPr>
              <p:spPr bwMode="auto">
                <a:xfrm>
                  <a:off x="-4048124" y="8692654"/>
                  <a:ext cx="367497" cy="603693"/>
                </a:xfrm>
                <a:prstGeom prst="roundRect">
                  <a:avLst>
                    <a:gd name="adj" fmla="val 9539"/>
                  </a:avLst>
                </a:prstGeom>
                <a:solidFill>
                  <a:srgbClr val="E8E8E8"/>
                </a:solidFill>
                <a:ln w="6350">
                  <a:noFill/>
                  <a:miter lim="800000"/>
                  <a:headEnd/>
                  <a:tailEnd type="triangle" w="sm" len="sm"/>
                </a:ln>
              </p:spPr>
              <p:txBody>
                <a:bodyPr wrap="none" anchor="ctr"/>
                <a:lstStyle/>
                <a:p>
                  <a:pPr algn="ctr"/>
                  <a:r>
                    <a:rPr kumimoji="0" lang="ko-KR" altLang="en-US" sz="8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교육</a:t>
                  </a:r>
                  <a:endParaRPr kumimoji="0" lang="en-US" altLang="ko-KR" sz="8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algn="ctr"/>
                  <a:r>
                    <a:rPr kumimoji="0" lang="ko-KR" altLang="en-US" sz="8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정보</a:t>
                  </a:r>
                  <a:endParaRPr kumimoji="0" lang="en-US" altLang="ko-KR" sz="8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algn="ctr"/>
                  <a:r>
                    <a:rPr kumimoji="0" lang="ko-KR" altLang="en-US" sz="8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종합</a:t>
                  </a:r>
                  <a:endParaRPr kumimoji="0" lang="en-US" altLang="ko-KR" sz="8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algn="ctr"/>
                  <a:r>
                    <a:rPr kumimoji="0" lang="ko-KR" altLang="en-US" sz="8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시스템</a:t>
                  </a:r>
                  <a:endParaRPr kumimoji="0" lang="en-US" altLang="ko-KR" sz="8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99" name="AutoShape 391"/>
                <p:cNvSpPr>
                  <a:spLocks/>
                </p:cNvSpPr>
                <p:nvPr/>
              </p:nvSpPr>
              <p:spPr bwMode="auto">
                <a:xfrm rot="10800000" flipV="1">
                  <a:off x="-4275856" y="8661412"/>
                  <a:ext cx="193260" cy="663486"/>
                </a:xfrm>
                <a:prstGeom prst="leftBrace">
                  <a:avLst>
                    <a:gd name="adj1" fmla="val 45229"/>
                    <a:gd name="adj2" fmla="val 50000"/>
                  </a:avLst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>
                  <a:solidFill>
                    <a:srgbClr val="FFFFFF"/>
                  </a:solidFill>
                  <a:round/>
                  <a:headEnd/>
                  <a:tailEnd/>
                </a:ln>
                <a:effectLst>
                  <a:outerShdw dist="12700" algn="ctr" rotWithShape="0">
                    <a:srgbClr val="DBDBDB"/>
                  </a:outerShdw>
                </a:effectLst>
              </p:spPr>
              <p:txBody>
                <a:bodyPr wrap="none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charset="-127"/>
                      <a:ea typeface="굴림" charset="-127"/>
                      <a:cs typeface="+mn-cs"/>
                    </a:defRPr>
                  </a:lvl9pPr>
                </a:lstStyle>
                <a:p>
                  <a:pPr algn="ctr" latinLnBrk="0">
                    <a:defRPr/>
                  </a:pPr>
                  <a:endParaRPr kumimoji="0" lang="ko-KR" altLang="en-US" sz="800">
                    <a:solidFill>
                      <a:srgbClr val="000000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00" name="직사각형 99"/>
                <p:cNvSpPr/>
                <p:nvPr/>
              </p:nvSpPr>
              <p:spPr>
                <a:xfrm>
                  <a:off x="-4676314" y="8601309"/>
                  <a:ext cx="381456" cy="221187"/>
                </a:xfrm>
                <a:prstGeom prst="rect">
                  <a:avLst/>
                </a:prstGeom>
                <a:solidFill>
                  <a:srgbClr val="E8E8E8"/>
                </a:solidFill>
                <a:ln w="6350">
                  <a:solidFill>
                    <a:schemeClr val="bg1">
                      <a:lumMod val="85000"/>
                    </a:schemeClr>
                  </a:solidFill>
                  <a:miter lim="800000"/>
                  <a:headEnd/>
                  <a:tailEnd type="triangle" w="sm" len="sm"/>
                </a:ln>
              </p:spPr>
              <p:txBody>
                <a:bodyPr wrap="none" anchor="ctr"/>
                <a:lstStyle/>
                <a:p>
                  <a:pPr algn="ctr"/>
                  <a:r>
                    <a:rPr kumimoji="0" lang="ko-KR" altLang="en-US" sz="6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학사행정</a:t>
                  </a:r>
                  <a:endParaRPr kumimoji="0" lang="en-US" altLang="ko-KR" sz="6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algn="ctr"/>
                  <a:r>
                    <a:rPr lang="ko-KR" altLang="en-US" sz="6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업무</a:t>
                  </a:r>
                  <a:endParaRPr kumimoji="0" lang="ko-KR" altLang="en-US" sz="6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01" name="직사각형 100"/>
                <p:cNvSpPr/>
                <p:nvPr/>
              </p:nvSpPr>
              <p:spPr>
                <a:xfrm>
                  <a:off x="-4676314" y="8855765"/>
                  <a:ext cx="381456" cy="221187"/>
                </a:xfrm>
                <a:prstGeom prst="rect">
                  <a:avLst/>
                </a:prstGeom>
                <a:solidFill>
                  <a:srgbClr val="E8E8E8"/>
                </a:solidFill>
                <a:ln w="6350">
                  <a:solidFill>
                    <a:schemeClr val="bg1">
                      <a:lumMod val="85000"/>
                    </a:schemeClr>
                  </a:solidFill>
                  <a:miter lim="800000"/>
                  <a:headEnd/>
                  <a:tailEnd type="triangle" w="sm" len="sm"/>
                </a:ln>
              </p:spPr>
              <p:txBody>
                <a:bodyPr wrap="none" anchor="ctr"/>
                <a:lstStyle/>
                <a:p>
                  <a:pPr algn="ctr"/>
                  <a:r>
                    <a:rPr kumimoji="0" lang="ko-KR" altLang="en-US" sz="600" dirty="0" err="1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학군교</a:t>
                  </a:r>
                  <a:endParaRPr kumimoji="0" lang="en-US" altLang="ko-KR" sz="6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algn="ctr"/>
                  <a:r>
                    <a:rPr lang="ko-KR" altLang="en-US" sz="6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특화업무</a:t>
                  </a:r>
                  <a:endParaRPr kumimoji="0" lang="ko-KR" altLang="en-US" sz="6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02" name="직사각형 101"/>
                <p:cNvSpPr/>
                <p:nvPr/>
              </p:nvSpPr>
              <p:spPr>
                <a:xfrm>
                  <a:off x="-4676314" y="9101470"/>
                  <a:ext cx="381456" cy="221187"/>
                </a:xfrm>
                <a:prstGeom prst="rect">
                  <a:avLst/>
                </a:prstGeom>
                <a:solidFill>
                  <a:srgbClr val="E8E8E8"/>
                </a:solidFill>
                <a:ln w="6350">
                  <a:solidFill>
                    <a:schemeClr val="bg1">
                      <a:lumMod val="85000"/>
                    </a:schemeClr>
                  </a:solidFill>
                  <a:miter lim="800000"/>
                  <a:headEnd/>
                  <a:tailEnd type="triangle" w="sm" len="sm"/>
                </a:ln>
              </p:spPr>
              <p:txBody>
                <a:bodyPr wrap="none" anchor="ctr"/>
                <a:lstStyle/>
                <a:p>
                  <a:pPr algn="ctr"/>
                  <a:r>
                    <a:rPr kumimoji="0" lang="ko-KR" altLang="en-US" sz="6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과학화</a:t>
                  </a:r>
                  <a:endParaRPr kumimoji="0" lang="en-US" altLang="ko-KR" sz="6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algn="ctr"/>
                  <a:r>
                    <a:rPr lang="ko-KR" altLang="en-US" sz="600" dirty="0">
                      <a:solidFill>
                        <a:srgbClr val="333333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교육훈련</a:t>
                  </a:r>
                  <a:endParaRPr kumimoji="0" lang="ko-KR" altLang="en-US" sz="600" dirty="0">
                    <a:solidFill>
                      <a:srgbClr val="333333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sp>
          <p:nvSpPr>
            <p:cNvPr id="103" name="AutoShape 40"/>
            <p:cNvSpPr>
              <a:spLocks noChangeArrowheads="1"/>
            </p:cNvSpPr>
            <p:nvPr/>
          </p:nvSpPr>
          <p:spPr bwMode="auto">
            <a:xfrm>
              <a:off x="3820056" y="6618361"/>
              <a:ext cx="1358991" cy="51296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76200" indent="-76200" fontAlgn="base">
                <a:spcBef>
                  <a:spcPts val="200"/>
                </a:spcBef>
                <a:spcAft>
                  <a:spcPct val="0"/>
                </a:spcAft>
                <a:buClr>
                  <a:srgbClr val="595959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웹 시스템 기반 과학화 교육훈련 체계 복합</a:t>
              </a:r>
              <a:endParaRPr kumimoji="1" lang="en-US" altLang="ko-KR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76200" indent="-76200" fontAlgn="base">
                <a:spcBef>
                  <a:spcPts val="200"/>
                </a:spcBef>
                <a:spcAft>
                  <a:spcPct val="0"/>
                </a:spcAft>
                <a:buClr>
                  <a:srgbClr val="595959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kumimoji="1" lang="ko-KR" altLang="en-US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데이터 표준화</a:t>
              </a:r>
              <a:r>
                <a:rPr kumimoji="1" lang="en-US" altLang="ko-KR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DB</a:t>
              </a:r>
              <a:r>
                <a:rPr kumimoji="1" lang="ko-KR" altLang="en-US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통합개발표준</a:t>
              </a:r>
              <a:r>
                <a:rPr kumimoji="1" lang="en-US" altLang="ko-KR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kumimoji="1" lang="ko-KR" altLang="en-US" sz="10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연계표준</a:t>
              </a:r>
            </a:p>
          </p:txBody>
        </p:sp>
        <p:sp>
          <p:nvSpPr>
            <p:cNvPr id="105" name="TextBox 104"/>
            <p:cNvSpPr txBox="1"/>
            <p:nvPr/>
          </p:nvSpPr>
          <p:spPr bwMode="auto">
            <a:xfrm flipH="1">
              <a:off x="5707389" y="2195882"/>
              <a:ext cx="3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eaLnBrk="1" latinLnBrk="0" hangingPunct="1">
                <a:defRPr kumimoji="0" sz="1200">
                  <a:latin typeface="나눔명조OTF Bold"/>
                  <a:ea typeface="나눔명조OTF Bold"/>
                  <a:cs typeface="나눔명조OTF Bold"/>
                </a:defRPr>
              </a:lvl1pPr>
              <a:lvl2pPr marL="742950" indent="-285750" eaLnBrk="0" hangingPunct="0"/>
              <a:lvl3pPr marL="1143000" indent="-228600" eaLnBrk="0" hangingPunct="0"/>
              <a:lvl4pPr marL="1600200" indent="-228600" eaLnBrk="0" hangingPunct="0"/>
              <a:lvl5pPr marL="2057400" indent="-228600" eaLnBrk="0" hangingPunct="0"/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>
                <a:defRPr/>
              </a:pPr>
              <a:endParaRPr lang="ko-KR" alt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8" name="TextBox 107"/>
            <p:cNvSpPr txBox="1"/>
            <p:nvPr/>
          </p:nvSpPr>
          <p:spPr bwMode="auto">
            <a:xfrm flipH="1">
              <a:off x="5707389" y="3639401"/>
              <a:ext cx="3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eaLnBrk="1" latinLnBrk="0" hangingPunct="1">
                <a:defRPr kumimoji="0" sz="1200">
                  <a:latin typeface="나눔명조OTF Bold"/>
                  <a:ea typeface="나눔명조OTF Bold"/>
                  <a:cs typeface="나눔명조OTF Bold"/>
                </a:defRPr>
              </a:lvl1pPr>
              <a:lvl2pPr marL="742950" indent="-285750" eaLnBrk="0" hangingPunct="0"/>
              <a:lvl3pPr marL="1143000" indent="-228600" eaLnBrk="0" hangingPunct="0"/>
              <a:lvl4pPr marL="1600200" indent="-228600" eaLnBrk="0" hangingPunct="0"/>
              <a:lvl5pPr marL="2057400" indent="-228600" eaLnBrk="0" hangingPunct="0"/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>
                <a:defRPr/>
              </a:pPr>
              <a:endParaRPr lang="ko-KR" alt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1" name="TextBox 110"/>
            <p:cNvSpPr txBox="1"/>
            <p:nvPr/>
          </p:nvSpPr>
          <p:spPr bwMode="auto">
            <a:xfrm flipH="1">
              <a:off x="5707389" y="5529175"/>
              <a:ext cx="3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eaLnBrk="1" latinLnBrk="0" hangingPunct="1">
                <a:defRPr kumimoji="0" sz="1200">
                  <a:latin typeface="나눔명조OTF Bold"/>
                  <a:ea typeface="나눔명조OTF Bold"/>
                  <a:cs typeface="나눔명조OTF Bold"/>
                </a:defRPr>
              </a:lvl1pPr>
              <a:lvl2pPr marL="742950" indent="-285750" eaLnBrk="0" hangingPunct="0"/>
              <a:lvl3pPr marL="1143000" indent="-228600" eaLnBrk="0" hangingPunct="0"/>
              <a:lvl4pPr marL="1600200" indent="-228600" eaLnBrk="0" hangingPunct="0"/>
              <a:lvl5pPr marL="2057400" indent="-228600" eaLnBrk="0" hangingPunct="0"/>
              <a:lvl6pPr marL="25146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1042988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>
                <a:defRPr/>
              </a:pPr>
              <a:endParaRPr lang="ko-KR" alt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598666" y="1440309"/>
            <a:ext cx="5040560" cy="5703942"/>
            <a:chOff x="5404374" y="1584325"/>
            <a:chExt cx="2858588" cy="5703942"/>
          </a:xfrm>
        </p:grpSpPr>
        <p:grpSp>
          <p:nvGrpSpPr>
            <p:cNvPr id="48" name="그룹 47"/>
            <p:cNvGrpSpPr/>
            <p:nvPr/>
          </p:nvGrpSpPr>
          <p:grpSpPr>
            <a:xfrm>
              <a:off x="5404374" y="1584325"/>
              <a:ext cx="2822071" cy="5703942"/>
              <a:chOff x="549275" y="3368675"/>
              <a:chExt cx="2822071" cy="5976938"/>
            </a:xfrm>
          </p:grpSpPr>
          <p:sp>
            <p:nvSpPr>
              <p:cNvPr id="52" name="직사각형 51"/>
              <p:cNvSpPr/>
              <p:nvPr/>
            </p:nvSpPr>
            <p:spPr bwMode="auto">
              <a:xfrm>
                <a:off x="549275" y="3728675"/>
                <a:ext cx="2822071" cy="561693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101600" lvl="1" indent="-101600" eaLnBrk="0" latinLnBrk="0" hangingPunct="0">
                  <a:buClr>
                    <a:srgbClr val="0000FF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dirty="0" err="1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endParaRPr>
              </a:p>
            </p:txBody>
          </p:sp>
          <p:sp>
            <p:nvSpPr>
              <p:cNvPr id="53" name="Rectangle 88"/>
              <p:cNvSpPr>
                <a:spLocks noChangeArrowheads="1"/>
              </p:cNvSpPr>
              <p:nvPr/>
            </p:nvSpPr>
            <p:spPr bwMode="auto">
              <a:xfrm>
                <a:off x="549275" y="3368675"/>
                <a:ext cx="2822071" cy="360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 w="6350">
                <a:solidFill>
                  <a:schemeClr val="accent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indent="-93299" algn="ctr" defTabSz="1043056" eaLnBrk="0" latinLnBrk="0" hangingPunct="0">
                  <a:buClr>
                    <a:srgbClr val="0000FF"/>
                  </a:buClr>
                  <a:buSzPct val="140000"/>
                  <a:tabLst>
                    <a:tab pos="2692400" algn="l"/>
                    <a:tab pos="5648325" algn="l"/>
                  </a:tabLst>
                </a:pPr>
                <a:r>
                  <a:rPr lang="ko-KR" altLang="en-US" sz="1100" dirty="0">
                    <a:ln w="11430"/>
                    <a:solidFill>
                      <a:prstClr val="white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시스템 설계요소</a:t>
                </a:r>
              </a:p>
            </p:txBody>
          </p:sp>
        </p:grpSp>
        <p:sp>
          <p:nvSpPr>
            <p:cNvPr id="104" name="양쪽 모서리가 둥근 사각형 103"/>
            <p:cNvSpPr/>
            <p:nvPr/>
          </p:nvSpPr>
          <p:spPr>
            <a:xfrm rot="5400000">
              <a:off x="5596169" y="1883275"/>
              <a:ext cx="291084" cy="614508"/>
            </a:xfrm>
            <a:prstGeom prst="round2SameRect">
              <a:avLst>
                <a:gd name="adj1" fmla="val 12537"/>
                <a:gd name="adj2" fmla="val 0"/>
              </a:avLst>
            </a:prstGeom>
            <a:gradFill flip="none" rotWithShape="1">
              <a:gsLst>
                <a:gs pos="49000">
                  <a:srgbClr val="00759E"/>
                </a:gs>
                <a:gs pos="50000">
                  <a:srgbClr val="0085B4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indent="-101600" algn="ctr" eaLnBrk="0" latinLnBrk="0" hangingPunct="0"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6" name="Rectangle 218"/>
            <p:cNvSpPr>
              <a:spLocks noChangeArrowheads="1"/>
            </p:cNvSpPr>
            <p:nvPr/>
          </p:nvSpPr>
          <p:spPr bwMode="auto">
            <a:xfrm>
              <a:off x="5529313" y="2098196"/>
              <a:ext cx="25363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contourClr>
                  <a:schemeClr val="bg1"/>
                </a:contourClr>
              </a:sp3d>
            </a:bodyPr>
            <a:lstStyle/>
            <a:p>
              <a:pPr defTabSz="1042364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2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 </a:t>
              </a:r>
              <a:r>
                <a:rPr lang="en-US" altLang="ko-KR" sz="12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1</a:t>
              </a:r>
              <a:endParaRPr lang="ko-KR" altLang="en-US" sz="12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7" name="양쪽 모서리가 둥근 사각형 106"/>
            <p:cNvSpPr/>
            <p:nvPr/>
          </p:nvSpPr>
          <p:spPr>
            <a:xfrm rot="5400000">
              <a:off x="5596169" y="3424480"/>
              <a:ext cx="291084" cy="614508"/>
            </a:xfrm>
            <a:prstGeom prst="round2SameRect">
              <a:avLst>
                <a:gd name="adj1" fmla="val 12537"/>
                <a:gd name="adj2" fmla="val 0"/>
              </a:avLst>
            </a:prstGeom>
            <a:gradFill flip="none" rotWithShape="1">
              <a:gsLst>
                <a:gs pos="49000">
                  <a:srgbClr val="00759E"/>
                </a:gs>
                <a:gs pos="50000">
                  <a:srgbClr val="0085B4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indent="-101600" algn="ctr" eaLnBrk="0" latinLnBrk="0" hangingPunct="0"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9" name="Rectangle 218"/>
            <p:cNvSpPr>
              <a:spLocks noChangeArrowheads="1"/>
            </p:cNvSpPr>
            <p:nvPr/>
          </p:nvSpPr>
          <p:spPr bwMode="auto">
            <a:xfrm>
              <a:off x="5529313" y="3639401"/>
              <a:ext cx="25363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contourClr>
                  <a:schemeClr val="bg1"/>
                </a:contourClr>
              </a:sp3d>
            </a:bodyPr>
            <a:lstStyle/>
            <a:p>
              <a:pPr defTabSz="1042364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2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 </a:t>
              </a:r>
              <a:r>
                <a:rPr lang="en-US" altLang="ko-KR" sz="12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</a:t>
              </a:r>
              <a:endParaRPr lang="ko-KR" altLang="en-US" sz="12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0" name="양쪽 모서리가 둥근 사각형 109"/>
            <p:cNvSpPr/>
            <p:nvPr/>
          </p:nvSpPr>
          <p:spPr>
            <a:xfrm rot="5400000">
              <a:off x="5596169" y="5314255"/>
              <a:ext cx="291084" cy="614507"/>
            </a:xfrm>
            <a:prstGeom prst="round2SameRect">
              <a:avLst>
                <a:gd name="adj1" fmla="val 12537"/>
                <a:gd name="adj2" fmla="val 0"/>
              </a:avLst>
            </a:prstGeom>
            <a:gradFill flip="none" rotWithShape="1">
              <a:gsLst>
                <a:gs pos="49000">
                  <a:srgbClr val="00759E"/>
                </a:gs>
                <a:gs pos="50000">
                  <a:srgbClr val="0085B4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indent="-101600" algn="ctr" eaLnBrk="0" latinLnBrk="0" hangingPunct="0">
                <a:buClr>
                  <a:srgbClr val="0000FF"/>
                </a:buClr>
                <a:buSzPct val="140000"/>
                <a:tabLst>
                  <a:tab pos="5648325" algn="l"/>
                </a:tabLst>
              </a:pP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2" name="Rectangle 218"/>
            <p:cNvSpPr>
              <a:spLocks noChangeArrowheads="1"/>
            </p:cNvSpPr>
            <p:nvPr/>
          </p:nvSpPr>
          <p:spPr bwMode="auto">
            <a:xfrm>
              <a:off x="5529313" y="5529175"/>
              <a:ext cx="25363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contourClr>
                  <a:schemeClr val="bg1"/>
                </a:contourClr>
              </a:sp3d>
            </a:bodyPr>
            <a:lstStyle/>
            <a:p>
              <a:pPr defTabSz="1042364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2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전략 </a:t>
              </a:r>
              <a:r>
                <a:rPr lang="en-US" altLang="ko-KR" sz="12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3</a:t>
              </a:r>
              <a:endParaRPr lang="ko-KR" altLang="en-US" sz="12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3" name="TextBox 11"/>
            <p:cNvSpPr txBox="1">
              <a:spLocks noChangeArrowheads="1"/>
            </p:cNvSpPr>
            <p:nvPr/>
          </p:nvSpPr>
          <p:spPr bwMode="gray">
            <a:xfrm>
              <a:off x="6126366" y="2095889"/>
              <a:ext cx="213659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9pPr>
            </a:lstStyle>
            <a:p>
              <a:pPr eaLnBrk="1" latinLnBrk="0" hangingPunct="1"/>
              <a:r>
                <a:rPr lang="ko-KR" altLang="en-US" sz="1100" dirty="0">
                  <a:latin typeface="굴림" panose="020B0600000101010101" pitchFamily="50" charset="-127"/>
                  <a:ea typeface="굴림" panose="020B0600000101010101" pitchFamily="50" charset="-127"/>
                </a:rPr>
                <a:t>기능 업무 연속성</a:t>
              </a:r>
              <a:r>
                <a:rPr lang="en-US" altLang="ko-KR" sz="1100" dirty="0">
                  <a:latin typeface="굴림" panose="020B0600000101010101" pitchFamily="50" charset="-127"/>
                  <a:ea typeface="굴림" panose="020B0600000101010101" pitchFamily="50" charset="-127"/>
                </a:rPr>
                <a:t>,</a:t>
              </a:r>
              <a:r>
                <a:rPr lang="ko-KR" altLang="en-US" sz="1100" dirty="0">
                  <a:latin typeface="굴림" panose="020B0600000101010101" pitchFamily="50" charset="-127"/>
                  <a:ea typeface="굴림" panose="020B0600000101010101" pitchFamily="50" charset="-127"/>
                </a:rPr>
                <a:t>편의성 확보</a:t>
              </a:r>
            </a:p>
          </p:txBody>
        </p:sp>
        <p:sp>
          <p:nvSpPr>
            <p:cNvPr id="114" name="TextBox 11"/>
            <p:cNvSpPr txBox="1">
              <a:spLocks noChangeArrowheads="1"/>
            </p:cNvSpPr>
            <p:nvPr/>
          </p:nvSpPr>
          <p:spPr bwMode="gray">
            <a:xfrm>
              <a:off x="6126366" y="3650962"/>
              <a:ext cx="852727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9pPr>
            </a:lstStyle>
            <a:p>
              <a:pPr eaLnBrk="1" latinLnBrk="0" hangingPunct="1"/>
              <a:r>
                <a:rPr lang="ko-KR" altLang="en-US" sz="1100" dirty="0">
                  <a:latin typeface="굴림" panose="020B0600000101010101" pitchFamily="50" charset="-127"/>
                  <a:ea typeface="굴림" panose="020B0600000101010101" pitchFamily="50" charset="-127"/>
                </a:rPr>
                <a:t>체계통합의 완전성 보장</a:t>
              </a:r>
            </a:p>
          </p:txBody>
        </p:sp>
        <p:sp>
          <p:nvSpPr>
            <p:cNvPr id="115" name="TextBox 11"/>
            <p:cNvSpPr txBox="1">
              <a:spLocks noChangeArrowheads="1"/>
            </p:cNvSpPr>
            <p:nvPr/>
          </p:nvSpPr>
          <p:spPr bwMode="gray">
            <a:xfrm>
              <a:off x="6126366" y="5540735"/>
              <a:ext cx="612727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Yoon 윤고딕 540_TT" pitchFamily="18" charset="-127"/>
                  <a:ea typeface="Yoon 윤고딕 540_TT" pitchFamily="18" charset="-127"/>
                </a:defRPr>
              </a:lvl9pPr>
            </a:lstStyle>
            <a:p>
              <a:pPr eaLnBrk="1" latinLnBrk="0" hangingPunct="1"/>
              <a:r>
                <a:rPr lang="ko-KR" altLang="en-US" sz="1100" dirty="0">
                  <a:latin typeface="굴림" panose="020B0600000101010101" pitchFamily="50" charset="-127"/>
                  <a:ea typeface="굴림" panose="020B0600000101010101" pitchFamily="50" charset="-127"/>
                </a:rPr>
                <a:t>안정적 성능 보장</a:t>
              </a: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5461020" y="2431840"/>
              <a:ext cx="2731770" cy="107096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5461020" y="3959440"/>
              <a:ext cx="2731770" cy="14254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5461020" y="5841058"/>
              <a:ext cx="2731770" cy="13729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19" name="Rectangle 17"/>
            <p:cNvSpPr>
              <a:spLocks noChangeArrowheads="1"/>
            </p:cNvSpPr>
            <p:nvPr/>
          </p:nvSpPr>
          <p:spPr bwMode="auto">
            <a:xfrm>
              <a:off x="5470544" y="2608252"/>
              <a:ext cx="2647951" cy="718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marL="85725" indent="-85725" defTabSz="882650" latinLnBrk="0">
                <a:spcBef>
                  <a:spcPts val="4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다수의 사용자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방대한 개발 대상 업무 의 적시 분석을 위한 차별적 분석절차 수립 필요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85725" indent="-85725" defTabSz="882650" latinLnBrk="0">
                <a:spcBef>
                  <a:spcPts val="4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업무분야 기능 개발 일정 준수를 위한 효율적 설계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개발 전략 수립 필요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85725" indent="-85725" defTabSz="882650" latinLnBrk="0">
                <a:spcBef>
                  <a:spcPts val="4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새로운 시스템에 대한 사용자의 편의성 확보 필수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</p:txBody>
        </p:sp>
        <p:sp>
          <p:nvSpPr>
            <p:cNvPr id="120" name="Rectangle 17"/>
            <p:cNvSpPr>
              <a:spLocks noChangeArrowheads="1"/>
            </p:cNvSpPr>
            <p:nvPr/>
          </p:nvSpPr>
          <p:spPr bwMode="auto">
            <a:xfrm>
              <a:off x="5476632" y="4313105"/>
              <a:ext cx="2634650" cy="718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marL="85725" indent="-85725" defTabSz="882650" latinLnBrk="0">
                <a:spcBef>
                  <a:spcPts val="400"/>
                </a:spcBef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[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표준화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]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다양한 개발 환경의 성공적 통합 위한 기술적 표준화 필수 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(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데이터베이스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lang="ko-KR" altLang="en-US" sz="1000" dirty="0" err="1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개발표준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아키텍처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lang="ko-KR" altLang="en-US" sz="1000" dirty="0" err="1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연계표준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)</a:t>
              </a:r>
            </a:p>
            <a:p>
              <a:pPr marL="85725" indent="-85725" defTabSz="882650" latinLnBrk="0">
                <a:spcBef>
                  <a:spcPts val="400"/>
                </a:spcBef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[DB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통합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]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방대한 데이터 전환  통합 데이터의 신뢰도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품질 확보 필수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85725" indent="-85725" defTabSz="882650" latinLnBrk="0">
                <a:spcBef>
                  <a:spcPts val="400"/>
                </a:spcBef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[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연계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]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안정적 연계를 통한 다양한 연계 기술 이해 필수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</p:txBody>
        </p:sp>
        <p:sp>
          <p:nvSpPr>
            <p:cNvPr id="121" name="Rectangle 17"/>
            <p:cNvSpPr>
              <a:spLocks noChangeArrowheads="1"/>
            </p:cNvSpPr>
            <p:nvPr/>
          </p:nvSpPr>
          <p:spPr bwMode="auto">
            <a:xfrm>
              <a:off x="5474751" y="6181295"/>
              <a:ext cx="2643744" cy="6924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marL="85725" indent="-85725" defTabSz="882650" latinLnBrk="0">
                <a:spcBef>
                  <a:spcPts val="2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고품질 시스템 보장을 위한 단계별 품질 관리 필수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85725" indent="-85725" defTabSz="882650" latinLnBrk="0">
                <a:spcBef>
                  <a:spcPts val="2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고성능을 보장하는 시스템 구성</a:t>
              </a:r>
              <a:r>
                <a:rPr lang="en-US" altLang="ko-KR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표준화 방안 필수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85725" indent="-85725" defTabSz="882650" latinLnBrk="0">
                <a:spcBef>
                  <a:spcPts val="2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사용자 혼란 최소화를 위한 무결점 시스템 구축 필수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85725" indent="-85725" defTabSz="882650" latinLnBrk="0">
                <a:spcBef>
                  <a:spcPts val="2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다양한 운영 환경에 대한 오류 없는 운영체계 전환 및 운영체계  구현필수</a:t>
              </a:r>
              <a:endParaRPr lang="en-US" altLang="ko-KR" sz="10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9678035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318772" y="248651"/>
            <a:ext cx="7031092" cy="843519"/>
            <a:chOff x="318763" y="248649"/>
            <a:chExt cx="7031092" cy="843519"/>
          </a:xfrm>
        </p:grpSpPr>
        <p:sp>
          <p:nvSpPr>
            <p:cNvPr id="135" name="TextBox 134"/>
            <p:cNvSpPr txBox="1"/>
            <p:nvPr/>
          </p:nvSpPr>
          <p:spPr>
            <a:xfrm>
              <a:off x="318763" y="568948"/>
              <a:ext cx="7031092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업무별 기능분석 및 구현방안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후보생 관리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endParaRPr lang="en-US" altLang="ko-KR" sz="2800" b="1" dirty="0">
                <a:gradFill>
                  <a:gsLst>
                    <a:gs pos="0">
                      <a:schemeClr val="tx2">
                        <a:lumMod val="50000"/>
                      </a:schemeClr>
                    </a:gs>
                    <a:gs pos="45000">
                      <a:schemeClr val="accent1">
                        <a:lumMod val="75000"/>
                      </a:schemeClr>
                    </a:gs>
                    <a:gs pos="55000">
                      <a:schemeClr val="accent1">
                        <a:lumMod val="75000"/>
                      </a:schemeClr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21774" y="248649"/>
              <a:ext cx="2286203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2. 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세부 개발 방안</a:t>
              </a: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(1/2)</a:t>
              </a:r>
              <a:endParaRPr lang="ko-KR" altLang="en-US" sz="1600" dirty="0">
                <a:solidFill>
                  <a:srgbClr val="707B8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124" name="TEMP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816361"/>
              </p:ext>
            </p:extLst>
          </p:nvPr>
        </p:nvGraphicFramePr>
        <p:xfrm>
          <a:off x="126058" y="1224286"/>
          <a:ext cx="3502967" cy="5991202"/>
        </p:xfrm>
        <a:graphic>
          <a:graphicData uri="http://schemas.openxmlformats.org/drawingml/2006/table">
            <a:tbl>
              <a:tblPr/>
              <a:tblGrid>
                <a:gridCol w="3389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89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49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703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분야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분석 결과 및 구현 방안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5830">
                <a:tc rowSpan="3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모집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홍보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모집홍보계획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결과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모집홍보계획서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결과보고서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작성 기능 구현</a:t>
                      </a:r>
                      <a:endParaRPr lang="en-US" altLang="ko-KR" sz="8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04705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모집홍보자료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홍보용 사진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홍보 광고시안 등의 파일 업로드 기능 구현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업로드 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다운로드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가능하도록 처리</a:t>
                      </a:r>
                      <a:endParaRPr lang="en-US" altLang="ko-KR" sz="8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업로드 파일용량 제한 필요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64142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홍보대사관리</a:t>
                      </a:r>
                      <a:endParaRPr 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홍보대사선발계획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지원자 등록 기능 구현</a:t>
                      </a:r>
                      <a:endParaRPr lang="en-US" altLang="ko-KR" sz="8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지원자 등록 시 대학성적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평가성적 등 입력기능 제공</a:t>
                      </a:r>
                      <a:endParaRPr lang="en-US" altLang="ko-KR" sz="8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온라인 홍보대사 선발 결과발표 기능 구현</a:t>
                      </a:r>
                      <a:endParaRPr 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53764">
                <a:tc rowSpan="3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후보생선발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선발관련 공지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학군단별 선발인원 할당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모집계획서 작성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기능 제공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학군단별 선발인원 할당 기능 추가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및 해당 내역 조회기능 추가</a:t>
                      </a:r>
                      <a:endParaRPr lang="en-US" altLang="ko-KR" sz="8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사용자 별 권한 부여로 조회할 수 있는 학군단 제어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42455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지원자 기본자료 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인터넷 지원기능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지원자 특이사항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선발 경쟁률 공개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인터넷 지원서 작성 도입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지원서 작성 기간을 관리하여 지원기간내일 경우에만 등록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지원기간 종료 이후 지원자의 기본자료 일괄 입력 처리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지원자 특이사항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과거 부정행위 등의 자료 입력 및 열람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온라인 실시간 경쟁률 조회 기능 제공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36075"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9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차 전형관리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검증자료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고교성적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생활기록부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수능성적표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관리기능 탑재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응시 후 자진포기 기능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포기사유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자필 확인서 기능 탑재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선발결과 입력 및 결과 부분 공개 처리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결과 조회 기간 설정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사용자 별 권한부여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인터넷 합격자 발표 페이지 구현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125" name="TEMP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468209"/>
              </p:ext>
            </p:extLst>
          </p:nvPr>
        </p:nvGraphicFramePr>
        <p:xfrm>
          <a:off x="3629025" y="1224286"/>
          <a:ext cx="4489921" cy="5981534"/>
        </p:xfrm>
        <a:graphic>
          <a:graphicData uri="http://schemas.openxmlformats.org/drawingml/2006/table">
            <a:tbl>
              <a:tblPr/>
              <a:tblGrid>
                <a:gridCol w="5971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886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041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73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분야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분석 결과 및 구현 방안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30478">
                <a:tc rowSpan="4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후보생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선발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차 전형관리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검증자료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체력검정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면접평가 결과</a:t>
                      </a:r>
                      <a:r>
                        <a:rPr lang="en-US" altLang="ko-KR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관리기능 탑재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응시 후 자진포기 기능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포기사유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자필 확인서 기능 탑재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선발결과 입력 및 결과 부분 공개 처리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결과 조회 기간 설정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사용자 별 권한부여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인터넷 합격자 발표 페이지 구현</a:t>
                      </a:r>
                      <a:endParaRPr lang="ko-KR" altLang="en-US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21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차 전형관리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검증자료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신원조사 </a:t>
                      </a:r>
                      <a:r>
                        <a:rPr lang="ko-KR" altLang="en-US" sz="7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연명부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체력검사 보고서 탑재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응시 후 자진포기 기능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포기사유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자필 확인서 기능 탑재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결재 기능 도입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선발결과 입력 및 결과 부분 공개 처리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결과 조회 기간 설정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사용자 별 권한부여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인터넷 합격자 발표 페이지 구현</a:t>
                      </a:r>
                      <a:endParaRPr lang="ko-KR" altLang="en-US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50975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최종합격자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선발결과 입력 및 결과 부분 공개 처리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결과 조회 기간 설정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사용자 별 권한부여</a:t>
                      </a:r>
                      <a:endParaRPr lang="en-US" altLang="ko-KR" sz="75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인터넷 합격자 발표 페이지 구현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7063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 err="1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안보학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교수관리</a:t>
                      </a: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모든 학군단 열람 가능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750" kern="1200" dirty="0" err="1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안보학</a:t>
                      </a: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교수의 기본정보</a:t>
                      </a:r>
                      <a:r>
                        <a:rPr kumimoji="1" lang="en-US" altLang="ko-KR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국방부 적격심사 등의 자료 관리</a:t>
                      </a:r>
                      <a:endParaRPr kumimoji="1" lang="en-US" altLang="ko-KR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사용자별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조회권한 부여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525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후보생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관리</a:t>
                      </a:r>
                      <a:endParaRPr 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후보생에 관한 신상정보</a:t>
                      </a:r>
                      <a:r>
                        <a:rPr kumimoji="1" lang="en-US" altLang="ko-KR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현황 관리</a:t>
                      </a: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관리번호 부여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최종 합격자와 연동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군장학생 관리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관리번호 부여</a:t>
                      </a:r>
                      <a:endParaRPr kumimoji="1" lang="en-US" altLang="ko-KR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최종합격자에 한해서 관리번호 일괄 부여 기능 도입</a:t>
                      </a:r>
                      <a:endParaRPr kumimoji="1" lang="en-US" altLang="ko-KR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신상관리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학적관리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구현 및 해당 화면에서 후보생의 신상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성적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교육현황 등의 자료 통합 조회</a:t>
                      </a:r>
                      <a:endParaRPr kumimoji="1" lang="en-US" altLang="ko-KR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군 장학생관리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군 장학정보 입력 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수혜금액</a:t>
                      </a:r>
                      <a:r>
                        <a:rPr lang="en-US" altLang="ko-KR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등</a:t>
                      </a:r>
                      <a:r>
                        <a:rPr lang="en-US" altLang="ko-KR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baseline="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사용자별</a:t>
                      </a:r>
                      <a:r>
                        <a:rPr lang="ko-KR" altLang="en-US" sz="7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조회권한 부여</a:t>
                      </a:r>
                      <a:endParaRPr lang="ko-KR" altLang="en-US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126" name="TEMP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32240"/>
              </p:ext>
            </p:extLst>
          </p:nvPr>
        </p:nvGraphicFramePr>
        <p:xfrm>
          <a:off x="8118946" y="1224284"/>
          <a:ext cx="2664297" cy="5964009"/>
        </p:xfrm>
        <a:graphic>
          <a:graphicData uri="http://schemas.openxmlformats.org/drawingml/2006/table">
            <a:tbl>
              <a:tblPr/>
              <a:tblGrid>
                <a:gridCol w="30826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550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009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9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분야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분석 결과 및 구현 방안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655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후보생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병과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분류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병과분류 자료 입력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병과분류 결과 등록 및 열람 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병과분류를 코드화 하여 관리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병과분류 참고자료 탑재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군사교육 성적 연동</a:t>
                      </a:r>
                      <a:endParaRPr kumimoji="1" lang="en-US" altLang="ko-KR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병과분류 결과 등록 기능 및 학군단별 열람 기능 제공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40720">
                <a:tc>
                  <a:txBody>
                    <a:bodyPr/>
                    <a:lstStyle/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후보생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임관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수료</a:t>
                      </a:r>
                      <a:r>
                        <a:rPr lang="en-US" altLang="ko-KR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 err="1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구분별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임관</a:t>
                      </a:r>
                      <a:r>
                        <a:rPr kumimoji="1" lang="en-US" altLang="ko-KR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수료</a:t>
                      </a:r>
                      <a:r>
                        <a:rPr kumimoji="1" lang="en-US" altLang="ko-KR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운용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임관자격심의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군번 부여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심의 결과 등록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임관자격심의 및 검증자료 입력 기능 제공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신원조사 </a:t>
                      </a:r>
                      <a:r>
                        <a:rPr lang="ko-KR" altLang="en-US" sz="7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연명부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체력검사 보고서 등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검증자료 입력기간 관리 및 제어</a:t>
                      </a:r>
                      <a:endParaRPr kumimoji="1" lang="en-US" altLang="ko-KR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심의 결과 등록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임관대상자에 한해서 군번 자동 생성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생성기준 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성명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생년월일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주민등록번호 뒷자리</a:t>
                      </a:r>
                      <a:endParaRPr kumimoji="1" lang="ko-KR" altLang="en-US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68386">
                <a:tc>
                  <a:txBody>
                    <a:bodyPr/>
                    <a:lstStyle/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후보생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임관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수료</a:t>
                      </a:r>
                      <a:r>
                        <a:rPr lang="en-US" altLang="ko-KR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학사사관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임관자격심의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군번 부여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심의 결과 등록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임관자격심의 및 검증자료 입력 기능 제공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신원조사 </a:t>
                      </a:r>
                      <a:r>
                        <a:rPr lang="ko-KR" altLang="en-US" sz="7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연명부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체력검사 보고서 등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검증자료 입력기간 관리 및 제어</a:t>
                      </a:r>
                      <a:endParaRPr kumimoji="1" lang="en-US" altLang="ko-KR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7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심의 결과 등록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임관대상자에 한해서 군번 자동 생성</a:t>
                      </a:r>
                      <a:endParaRPr lang="en-US" altLang="ko-KR" sz="7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생성기준 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성명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생년월일</a:t>
                      </a:r>
                      <a:r>
                        <a:rPr lang="en-US" altLang="ko-KR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주민등록번호 뒷자리</a:t>
                      </a:r>
                      <a:endParaRPr kumimoji="1" lang="ko-KR" altLang="en-US" sz="7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592567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318772" y="248651"/>
            <a:ext cx="6561412" cy="843519"/>
            <a:chOff x="318763" y="248649"/>
            <a:chExt cx="6561412" cy="843519"/>
          </a:xfrm>
        </p:grpSpPr>
        <p:sp>
          <p:nvSpPr>
            <p:cNvPr id="135" name="TextBox 134"/>
            <p:cNvSpPr txBox="1"/>
            <p:nvPr/>
          </p:nvSpPr>
          <p:spPr>
            <a:xfrm>
              <a:off x="318763" y="568948"/>
              <a:ext cx="6561412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업무별 기능분석 및 구현방안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훈육관리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endParaRPr lang="en-US" altLang="ko-KR" sz="2800" b="1" dirty="0">
                <a:gradFill>
                  <a:gsLst>
                    <a:gs pos="0">
                      <a:schemeClr val="tx2">
                        <a:lumMod val="50000"/>
                      </a:schemeClr>
                    </a:gs>
                    <a:gs pos="45000">
                      <a:schemeClr val="accent1">
                        <a:lumMod val="75000"/>
                      </a:schemeClr>
                    </a:gs>
                    <a:gs pos="55000">
                      <a:schemeClr val="accent1">
                        <a:lumMod val="75000"/>
                      </a:schemeClr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21774" y="248649"/>
              <a:ext cx="2286203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2. 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세부 개발 방안</a:t>
              </a: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(2/2)</a:t>
              </a:r>
              <a:endParaRPr lang="ko-KR" altLang="en-US" sz="1600" dirty="0">
                <a:solidFill>
                  <a:srgbClr val="707B8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5" name="TEMP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87544"/>
              </p:ext>
            </p:extLst>
          </p:nvPr>
        </p:nvGraphicFramePr>
        <p:xfrm>
          <a:off x="163316" y="1217340"/>
          <a:ext cx="3502966" cy="5976615"/>
        </p:xfrm>
        <a:graphic>
          <a:graphicData uri="http://schemas.openxmlformats.org/drawingml/2006/table">
            <a:tbl>
              <a:tblPr/>
              <a:tblGrid>
                <a:gridCol w="3672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86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070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9292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분야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분석 결과 및 구현 방안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4732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교육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훈련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관리</a:t>
                      </a:r>
                      <a:endParaRPr 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훈련계획 수립 및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일일</a:t>
                      </a:r>
                      <a:r>
                        <a:rPr kumimoji="1" lang="en-US" altLang="ko-KR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과정별 훈련계획 관리 기능 제공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학군다별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훈련계획정보 열람 기능 추가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달력형태의 훈련일정 조회 기능 제공</a:t>
                      </a:r>
                      <a:endParaRPr kumimoji="1" lang="ko-KR" altLang="en-US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45463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훈련대상자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훈련대상자 명부 생성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훈련대상정보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훈련입소정보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훈련진행정보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훈련퇴소정보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포함</a:t>
                      </a:r>
                      <a:endParaRPr kumimoji="1" lang="ko-KR" altLang="en-US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훈련대상자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대상자명부 업로드 양식 제공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대상자명부 업로드 기능 제공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개인별 종합훈련</a:t>
                      </a: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명부 생성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학적</a:t>
                      </a:r>
                      <a:r>
                        <a:rPr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</a:t>
                      </a:r>
                      <a:r>
                        <a:rPr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입</a:t>
                      </a:r>
                      <a:r>
                        <a:rPr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kern="1200" baseline="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퇴소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정보 등을 포함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종합훈련명부 출력기능 제공</a:t>
                      </a:r>
                      <a:endParaRPr kumimoji="1" lang="ko-KR" altLang="en-US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2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정보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통신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장비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개인소유 정보통신 장비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직책 별 장비 열람 범위 제한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정보통신 장비를 코드화하여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 err="1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장비별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접근권한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 err="1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학군달별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소유 정보통신 장비 등록 기능 제공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50901">
                <a:tc>
                  <a:txBody>
                    <a:bodyPr/>
                    <a:lstStyle/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임관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지원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물품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임관지원물품 제작을 위한 데이터 다운로드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임관지원물품용 기초데이터 다운로드 기능 제공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필요</a:t>
                      </a: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데이터 양식 수신 후 처리</a:t>
                      </a:r>
                      <a:endParaRPr kumimoji="1" lang="ko-KR" altLang="en-US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414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의무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지원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관리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예방접종 현황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입영 신체검사 현황</a:t>
                      </a:r>
                      <a:endParaRPr kumimoji="1" lang="en-US" altLang="ko-KR" sz="850" kern="1200" baseline="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방독면 </a:t>
                      </a:r>
                      <a:r>
                        <a:rPr kumimoji="1" lang="ko-KR" altLang="en-US" sz="850" kern="1200" baseline="0" dirty="0" err="1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저시력자용</a:t>
                      </a: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안경</a:t>
                      </a:r>
                      <a:endParaRPr kumimoji="1" lang="en-US" altLang="ko-KR" sz="850" kern="1200" baseline="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입</a:t>
                      </a:r>
                      <a:r>
                        <a:rPr kumimoji="1" lang="en-US" altLang="ko-KR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50" kern="1200" baseline="0" dirty="0" err="1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퇴실자</a:t>
                      </a: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관리</a:t>
                      </a:r>
                      <a:endParaRPr kumimoji="1" lang="en-US" altLang="ko-KR" sz="850" kern="1200" baseline="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지구병원 외진 기록 조회</a:t>
                      </a:r>
                      <a:endParaRPr kumimoji="1" lang="en-US" altLang="ko-KR" sz="850" kern="1200" baseline="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예방접종대상자 및 결과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예방접종항목을 코드화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후보생별 접종여부 관리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입영 신체검사 현황관리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kumimoji="0"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정밀신체검사 의뢰 및 내용</a:t>
                      </a:r>
                      <a:r>
                        <a:rPr kumimoji="0"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결과 등 관리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외진기록</a:t>
                      </a:r>
                      <a:r>
                        <a:rPr kumimoji="1" lang="en-US" altLang="ko-KR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입</a:t>
                      </a:r>
                      <a:r>
                        <a:rPr kumimoji="1" lang="en-US" altLang="ko-KR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퇴실 정보 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kumimoji="0"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후보생별 입</a:t>
                      </a:r>
                      <a:r>
                        <a:rPr kumimoji="0"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퇴실 정보를 내역으로 관리</a:t>
                      </a:r>
                      <a:endParaRPr kumimoji="0"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후보생별 외진기록 관리</a:t>
                      </a:r>
                      <a:endParaRPr kumimoji="1"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누적횟수 등의 통계자료 제공</a:t>
                      </a:r>
                      <a:endParaRPr kumimoji="1" lang="ko-KR" altLang="en-US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6" name="TEMP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590157"/>
              </p:ext>
            </p:extLst>
          </p:nvPr>
        </p:nvGraphicFramePr>
        <p:xfrm>
          <a:off x="7110833" y="1217340"/>
          <a:ext cx="3672409" cy="5983560"/>
        </p:xfrm>
        <a:graphic>
          <a:graphicData uri="http://schemas.openxmlformats.org/drawingml/2006/table">
            <a:tbl>
              <a:tblPr/>
              <a:tblGrid>
                <a:gridCol w="3819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983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9213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967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분야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분석 결과 및 구현 방안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5098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임관</a:t>
                      </a:r>
                      <a:endParaRPr lang="en-US" altLang="ko-KR" sz="85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지원</a:t>
                      </a:r>
                      <a:endParaRPr lang="ko-KR" alt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임관지원물품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군번부여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임관지원 물품 제작을 위한 기본데이터 엑셀 다운로드 기능 제공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35140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임관지원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임관사령장 발급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</a:t>
                      </a:r>
                      <a:r>
                        <a:rPr lang="en-US" altLang="ko-KR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수료</a:t>
                      </a:r>
                      <a:r>
                        <a:rPr lang="en-US" altLang="ko-KR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자를 대상으로 과정</a:t>
                      </a:r>
                      <a:r>
                        <a:rPr lang="en-US" altLang="ko-KR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기수별로 임관사령장 발급기능 제공</a:t>
                      </a: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한글</a:t>
                      </a:r>
                      <a:r>
                        <a:rPr lang="en-US" altLang="ko-KR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엑셀</a:t>
                      </a:r>
                      <a:r>
                        <a:rPr lang="en-US" altLang="ko-KR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PDF </a:t>
                      </a: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등의 다운로드 기능 제공</a:t>
                      </a:r>
                      <a:endParaRPr lang="ko-KR" altLang="en-US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1780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신분증</a:t>
                      </a:r>
                      <a:endParaRPr lang="en-US" altLang="ko-KR" sz="85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발급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학군사관후보생 신분증 </a:t>
                      </a:r>
                      <a:r>
                        <a:rPr lang="en-US" altLang="ko-KR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– </a:t>
                      </a: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연명부</a:t>
                      </a:r>
                      <a:endParaRPr lang="en-US" altLang="ko-KR" sz="850" kern="120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 신분증 </a:t>
                      </a:r>
                      <a:r>
                        <a:rPr lang="en-US" altLang="ko-KR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50" kern="120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재발급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학적 정보를 바탕으로 신분증 발급용 기초자료 다운로드 기능 제공신분증 재발급신청서 작성 기능 제공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재발급신청서는 설정된 유효기간에 따라서 보관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폐기 처리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신분증 발급 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History</a:t>
                      </a:r>
                      <a:r>
                        <a:rPr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관리</a:t>
                      </a:r>
                      <a:endParaRPr lang="ko-KR" altLang="en-US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687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평가</a:t>
                      </a:r>
                      <a:endParaRPr lang="en-US" altLang="ko-KR" sz="85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관리</a:t>
                      </a:r>
                      <a:endParaRPr lang="ko-KR" alt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성적관리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성적보고서 출력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교육성적 입력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임관종합평가</a:t>
                      </a:r>
                      <a:r>
                        <a:rPr kumimoji="1" lang="ko-KR" altLang="en-US" sz="850" kern="1200" baseline="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및 원격평가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후보생별 성적관리 기능 제공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각 과정별 종합된 성적을 바탕으로 성적 집계 기능 추가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본인의 성적 조회 및 성적 이의 신청 기능 제공</a:t>
                      </a:r>
                      <a:endParaRPr lang="ko-KR" altLang="en-US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성적보고서 출력</a:t>
                      </a: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제공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교육성적 입력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훈련 종료 후 학군단별 후보생의 성적을 입력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후보생이 본인의 성적을 조회한 후 성적 이의신청이 가능하도록 처리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이의신청기간은 별도 관리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후보생의 성적이의신청서를 판단하여 성적을 정정처리 후 최종 성적으로 이관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임관종합평가 및 원격평가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과정</a:t>
                      </a:r>
                      <a:r>
                        <a:rPr kumimoji="1" lang="en-US" altLang="ko-KR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시기별 평가계획을 등록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평가계획을 열람한 후 평가계획에 대한 질의 응답 기능 추가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임관종합평가 대상자 선정 및 조회 기능 제공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kumimoji="1" lang="ko-KR" altLang="en-US" sz="80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대상자는 선정기준에 따라 자동 생성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7" name="TEMP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203429"/>
              </p:ext>
            </p:extLst>
          </p:nvPr>
        </p:nvGraphicFramePr>
        <p:xfrm>
          <a:off x="3668286" y="1217340"/>
          <a:ext cx="3456384" cy="5978363"/>
        </p:xfrm>
        <a:graphic>
          <a:graphicData uri="http://schemas.openxmlformats.org/drawingml/2006/table">
            <a:tbl>
              <a:tblPr/>
              <a:tblGrid>
                <a:gridCol w="28357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79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3483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149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분야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dirty="0">
                          <a:solidFill>
                            <a:schemeClr val="bg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분석 결과 및 구현 방안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8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28482">
                <a:tc>
                  <a:txBody>
                    <a:bodyPr/>
                    <a:lstStyle/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학군단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marL="0" marR="0" indent="0" algn="ctr" defTabSz="1354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운영</a:t>
                      </a:r>
                      <a:endParaRPr lang="en-US" altLang="ko-KR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 현황</a:t>
                      </a:r>
                      <a:endParaRPr kumimoji="1" lang="en-US" altLang="ko-KR" sz="85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 이력카드 탑재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 운영현황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85000"/>
                            <a:lumOff val="1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5648325" algn="l"/>
                        </a:tabLst>
                        <a:defRPr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 코드를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학군단별 기본정보와 이력카드를 관리</a:t>
                      </a: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이력카드는 대학별 관리자만 등록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이력카드 조회 기능은 전체 사용자에게 제공</a:t>
                      </a:r>
                      <a:endParaRPr kumimoji="1" lang="en-US" altLang="ko-KR" sz="800" kern="120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50" kern="1200" dirty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 운영현황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활동구분을 카테고리로 분류하여 관리</a:t>
                      </a: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학군단 활동사항의 세부계획을 탑재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80181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</a:t>
                      </a:r>
                      <a:endParaRPr kumimoji="0" lang="en-US" altLang="ko-KR" sz="8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지원</a:t>
                      </a:r>
                      <a:endParaRPr lang="ko-KR" altLang="en-US" sz="85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교육시설물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시설물 사용신청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시설물 사용승인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정비소요 종합현황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정비소요 승인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학교 시설물 관리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교장별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시설물 현황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건물일 경우 건물 별 호실 정보도 관리 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도면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기타첨부파일 업로드 기능 제공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시설물 사용신청서 작성 기능 제공 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시설물 사용일자</a:t>
                      </a:r>
                      <a:r>
                        <a:rPr lang="en-US" altLang="ko-KR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시간 중복체크 기능 포함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사용결과 미등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시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신청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제한처리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시설물 사용 이후 정비소요내역 입력 기능 구축 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정비소요 내역 미 입력 시 이후 시설물 사용신청에 제한</a:t>
                      </a:r>
                      <a:endParaRPr lang="en-US" altLang="ko-KR" sz="80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정비소요 사진 등록기능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31385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교육장비 현황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교육장비 수불관리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교보재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현황 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교보재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수불관리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교육장비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교보재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사용신청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교육장비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교보재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사용승인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정비신청 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승인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손망실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보고</a:t>
                      </a:r>
                      <a:r>
                        <a:rPr lang="en-US" altLang="ko-KR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승인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lvl="1" indent="-92075" algn="l" defTabSz="135459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5648325" algn="l"/>
                        </a:tabLst>
                      </a:pPr>
                      <a:r>
                        <a:rPr lang="ko-KR" altLang="en-US" sz="850" kern="120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교육지원 조교관리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5">
                          <a:lumMod val="9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교보재와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교육장비 코드화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기본현황</a:t>
                      </a:r>
                      <a:r>
                        <a:rPr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유지관리</a:t>
                      </a:r>
                      <a:r>
                        <a:rPr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사용가능 등의 현황 및 수불관리 기능 포함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baseline="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교보재</a:t>
                      </a:r>
                      <a:r>
                        <a:rPr lang="en-US" altLang="ko-KR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교육장비 사용신청서와 연동하여 사용 승인된 내역에 대해서 불출과 자동 연동 처리</a:t>
                      </a: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 err="1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교보재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교육장비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조교 사용신청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사용신청서 통합작성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수불관리와 연동하여 재고확인 및 신청제한 기능 제공</a:t>
                      </a: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교육장비 사용 이후 정비소요내역 입력 기능 구축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180975" marR="0" lvl="2" indent="-952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80000"/>
                        <a:buFont typeface="맑은 고딕" panose="020B0503020000020004" pitchFamily="50" charset="-127"/>
                        <a:buChar char="–"/>
                        <a:tabLst>
                          <a:tab pos="5648325" algn="l"/>
                        </a:tabLst>
                      </a:pPr>
                      <a:r>
                        <a:rPr lang="ko-KR" altLang="en-US" sz="80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정비소요 내역 미 입력 시 이후 교육장비 사용신청에 제한</a:t>
                      </a:r>
                      <a:endParaRPr lang="en-US" altLang="ko-KR" sz="800" kern="1200" baseline="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135459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조교 지원 및 지원결과를 관리하여 지원횟수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내용</a:t>
                      </a:r>
                      <a:r>
                        <a:rPr lang="en-US" altLang="ko-KR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kern="1200" baseline="0" dirty="0">
                          <a:solidFill>
                            <a:srgbClr val="595959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평가 등의 자료 연동</a:t>
                      </a:r>
                      <a:endParaRPr lang="en-US" altLang="ko-KR" sz="850" kern="1200" dirty="0">
                        <a:solidFill>
                          <a:srgbClr val="595959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098813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그룹 95"/>
          <p:cNvGrpSpPr/>
          <p:nvPr/>
        </p:nvGrpSpPr>
        <p:grpSpPr>
          <a:xfrm>
            <a:off x="318772" y="248651"/>
            <a:ext cx="8675773" cy="843519"/>
            <a:chOff x="318763" y="248649"/>
            <a:chExt cx="8675773" cy="843519"/>
          </a:xfrm>
        </p:grpSpPr>
        <p:sp>
          <p:nvSpPr>
            <p:cNvPr id="114" name="TextBox 113"/>
            <p:cNvSpPr txBox="1"/>
            <p:nvPr/>
          </p:nvSpPr>
          <p:spPr>
            <a:xfrm>
              <a:off x="318763" y="568948"/>
              <a:ext cx="8675773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디자인 전문가 활용 및 </a:t>
              </a:r>
              <a:r>
                <a:rPr lang="ko-KR" altLang="en-US" sz="2800" b="1" dirty="0" err="1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사용성</a:t>
              </a:r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 평가 수행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디자인 개발</a:t>
              </a:r>
              <a:r>
                <a:rPr lang="en-US" altLang="ko-KR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endParaRPr lang="ko-KR" altLang="en-US" sz="2800" b="1" dirty="0">
                <a:gradFill>
                  <a:gsLst>
                    <a:gs pos="0">
                      <a:schemeClr val="tx2">
                        <a:lumMod val="50000"/>
                      </a:schemeClr>
                    </a:gs>
                    <a:gs pos="45000">
                      <a:schemeClr val="accent1">
                        <a:lumMod val="75000"/>
                      </a:schemeClr>
                    </a:gs>
                    <a:gs pos="55000">
                      <a:schemeClr val="accent1">
                        <a:lumMod val="75000"/>
                      </a:schemeClr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21774" y="248649"/>
              <a:ext cx="2289409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 smtClean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3.</a:t>
              </a:r>
              <a:r>
                <a:rPr lang="ko-KR" altLang="en-US" sz="1600" dirty="0" smtClean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디자인 개발 및 </a:t>
              </a:r>
              <a:r>
                <a:rPr lang="ko-KR" altLang="en-US" sz="1600" dirty="0" smtClean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적용</a:t>
              </a:r>
              <a:endParaRPr lang="ko-KR" altLang="en-US" sz="1600" dirty="0">
                <a:solidFill>
                  <a:srgbClr val="707B8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92" name="그룹 127"/>
          <p:cNvGrpSpPr/>
          <p:nvPr/>
        </p:nvGrpSpPr>
        <p:grpSpPr>
          <a:xfrm>
            <a:off x="5745106" y="1581696"/>
            <a:ext cx="4086495" cy="153888"/>
            <a:chOff x="707191" y="3079366"/>
            <a:chExt cx="4086495" cy="153887"/>
          </a:xfrm>
        </p:grpSpPr>
        <p:sp>
          <p:nvSpPr>
            <p:cNvPr id="93" name="텍스트 개체 틀 6"/>
            <p:cNvSpPr txBox="1">
              <a:spLocks/>
            </p:cNvSpPr>
            <p:nvPr/>
          </p:nvSpPr>
          <p:spPr bwMode="auto">
            <a:xfrm>
              <a:off x="716707" y="3079366"/>
              <a:ext cx="4076979" cy="153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16000" tIns="0" rIns="72000" bIns="0">
              <a:spAutoFit/>
            </a:bodyPr>
            <a:lstStyle/>
            <a:p>
              <a:pPr defTabSz="1042988" eaLnBrk="0" latinLnBrk="0" hangingPunct="0">
                <a:spcBef>
                  <a:spcPct val="20000"/>
                </a:spcBef>
                <a:defRPr/>
              </a:pPr>
              <a:r>
                <a:rPr lang="en-US" altLang="ko-KR" sz="1000" spc="-78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UX </a:t>
              </a:r>
              <a:r>
                <a:rPr lang="ko-KR" altLang="en-US" sz="1000" spc="-78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진단평가 기법</a:t>
              </a:r>
            </a:p>
          </p:txBody>
        </p:sp>
        <p:sp>
          <p:nvSpPr>
            <p:cNvPr id="94" name="모서리가 둥근 직사각형 93"/>
            <p:cNvSpPr/>
            <p:nvPr/>
          </p:nvSpPr>
          <p:spPr>
            <a:xfrm>
              <a:off x="710779" y="3087200"/>
              <a:ext cx="138180" cy="141131"/>
            </a:xfrm>
            <a:prstGeom prst="roundRect">
              <a:avLst/>
            </a:prstGeom>
            <a:solidFill>
              <a:srgbClr val="F9B4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54594"/>
              <a:endParaRPr lang="ko-KR" altLang="en-US" sz="270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95" name="오른쪽 화살표 94"/>
            <p:cNvSpPr/>
            <p:nvPr/>
          </p:nvSpPr>
          <p:spPr>
            <a:xfrm>
              <a:off x="707191" y="3108159"/>
              <a:ext cx="116854" cy="99212"/>
            </a:xfrm>
            <a:prstGeom prst="rightArrow">
              <a:avLst>
                <a:gd name="adj1" fmla="val 44444"/>
                <a:gd name="adj2" fmla="val 604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54594"/>
              <a:endParaRPr lang="ko-KR" altLang="en-US" sz="270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97" name="그룹 1"/>
          <p:cNvGrpSpPr/>
          <p:nvPr/>
        </p:nvGrpSpPr>
        <p:grpSpPr>
          <a:xfrm>
            <a:off x="355027" y="1221052"/>
            <a:ext cx="5432749" cy="5979847"/>
            <a:chOff x="548283" y="3224808"/>
            <a:chExt cx="5817501" cy="6120680"/>
          </a:xfrm>
        </p:grpSpPr>
        <p:sp>
          <p:nvSpPr>
            <p:cNvPr id="98" name="직사각형 97"/>
            <p:cNvSpPr/>
            <p:nvPr/>
          </p:nvSpPr>
          <p:spPr>
            <a:xfrm>
              <a:off x="548283" y="9160009"/>
              <a:ext cx="5760442" cy="185479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78797" y="9185707"/>
              <a:ext cx="5635614" cy="1417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2pPr marL="85725" lvl="1" indent="-85725" defTabSz="1042988" fontAlgn="base" latinLnBrk="0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 kumimoji="1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고딕 Bold" pitchFamily="50" charset="-127"/>
                  <a:ea typeface="나눔고딕 Bold" pitchFamily="50" charset="-127"/>
                </a:defRPr>
              </a:lvl2pPr>
              <a:lvl3pPr marL="180975" lvl="2" indent="-95250">
                <a:spcBef>
                  <a:spcPts val="200"/>
                </a:spcBef>
                <a:buClr>
                  <a:srgbClr val="595959"/>
                </a:buClr>
                <a:buSzPct val="80000"/>
                <a:buFont typeface="맑은 고딕" panose="020B0503020000020004" pitchFamily="50" charset="-127"/>
                <a:buChar char="–"/>
                <a:defRPr sz="900">
                  <a:solidFill>
                    <a:srgbClr val="595959"/>
                  </a:solidFill>
                  <a:latin typeface="나눔고딕 Bold" panose="020D0804000000000000" pitchFamily="50" charset="-127"/>
                  <a:ea typeface="나눔고딕 Bold" panose="020D0804000000000000" pitchFamily="50" charset="-127"/>
                </a:defRPr>
              </a:lvl3pPr>
            </a:lstStyle>
            <a:p>
              <a:pPr marL="0" marR="0" lvl="1" indent="0" defTabSz="1042988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None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※ 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전문가 평가 수행은 사업의 규모</a:t>
              </a: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, 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기간</a:t>
              </a: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, 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범위에 따라 </a:t>
              </a:r>
              <a:r>
                <a:rPr kumimoji="1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테일러링하여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 적용</a:t>
              </a:r>
              <a:endPara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endParaRPr>
            </a:p>
          </p:txBody>
        </p:sp>
        <p:sp>
          <p:nvSpPr>
            <p:cNvPr id="100" name="AutoShape 5"/>
            <p:cNvSpPr>
              <a:spLocks noChangeArrowheads="1"/>
            </p:cNvSpPr>
            <p:nvPr/>
          </p:nvSpPr>
          <p:spPr bwMode="auto">
            <a:xfrm flipH="1" flipV="1">
              <a:off x="585385" y="6968723"/>
              <a:ext cx="5678081" cy="462040"/>
            </a:xfrm>
            <a:custGeom>
              <a:avLst/>
              <a:gdLst>
                <a:gd name="T0" fmla="*/ 267228141 w 21600"/>
                <a:gd name="T1" fmla="*/ 36049 h 21600"/>
                <a:gd name="T2" fmla="*/ 142772999 w 21600"/>
                <a:gd name="T3" fmla="*/ 71894 h 21600"/>
                <a:gd name="T4" fmla="*/ 18317856 w 21600"/>
                <a:gd name="T5" fmla="*/ 36049 h 21600"/>
                <a:gd name="T6" fmla="*/ 14277299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200 h 21600"/>
                <a:gd name="T14" fmla="*/ 18412 w 21600"/>
                <a:gd name="T15" fmla="*/ 184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1" y="21600"/>
                  </a:lnTo>
                  <a:lnTo>
                    <a:pt x="1882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DEDEDE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endParaRPr lang="ko-KR" altLang="en-US" sz="180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1" name="AutoShape 105"/>
            <p:cNvSpPr>
              <a:spLocks noChangeArrowheads="1"/>
            </p:cNvSpPr>
            <p:nvPr/>
          </p:nvSpPr>
          <p:spPr bwMode="auto">
            <a:xfrm>
              <a:off x="1655648" y="3584848"/>
              <a:ext cx="3507924" cy="442506"/>
            </a:xfrm>
            <a:prstGeom prst="triangle">
              <a:avLst>
                <a:gd name="adj" fmla="val 49715"/>
              </a:avLst>
            </a:prstGeom>
            <a:gradFill rotWithShape="1">
              <a:gsLst>
                <a:gs pos="0">
                  <a:sysClr val="window" lastClr="FFFFFF">
                    <a:lumMod val="85000"/>
                  </a:sysClr>
                </a:gs>
                <a:gs pos="100000">
                  <a:srgbClr val="FFFFFF">
                    <a:alpha val="20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ko-K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102" name="그룹 251"/>
            <p:cNvGrpSpPr/>
            <p:nvPr/>
          </p:nvGrpSpPr>
          <p:grpSpPr>
            <a:xfrm>
              <a:off x="842004" y="3224808"/>
              <a:ext cx="5173992" cy="402784"/>
              <a:chOff x="821330" y="3474999"/>
              <a:chExt cx="5173992" cy="402784"/>
            </a:xfrm>
          </p:grpSpPr>
          <p:sp>
            <p:nvSpPr>
              <p:cNvPr id="194" name="제목 3"/>
              <p:cNvSpPr txBox="1">
                <a:spLocks/>
              </p:cNvSpPr>
              <p:nvPr/>
            </p:nvSpPr>
            <p:spPr bwMode="auto">
              <a:xfrm>
                <a:off x="821330" y="3547007"/>
                <a:ext cx="5173992" cy="3307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648325" algn="l"/>
                  </a:tabLst>
                  <a:defRPr/>
                </a:pPr>
                <a:r>
                  <a:rPr lang="ko-KR" altLang="en-US" sz="1800" kern="0" dirty="0">
                    <a:ln w="11430"/>
                    <a:solidFill>
                      <a:srgbClr val="10216A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디자인 개발</a:t>
                </a:r>
                <a:r>
                  <a:rPr kumimoji="0" lang="ko-KR" altLang="en-US" sz="1800" b="0" i="0" u="none" strike="noStrike" kern="0" cap="none" spc="0" normalizeH="0" baseline="0" noProof="0" dirty="0">
                    <a:ln w="11430"/>
                    <a:solidFill>
                      <a:srgbClr val="10216A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전략 도출</a:t>
                </a:r>
              </a:p>
            </p:txBody>
          </p:sp>
          <p:sp>
            <p:nvSpPr>
              <p:cNvPr id="195" name="양쪽 대괄호 194"/>
              <p:cNvSpPr/>
              <p:nvPr/>
            </p:nvSpPr>
            <p:spPr>
              <a:xfrm>
                <a:off x="2048042" y="3474999"/>
                <a:ext cx="2720567" cy="389376"/>
              </a:xfrm>
              <a:prstGeom prst="bracketPair">
                <a:avLst/>
              </a:prstGeom>
              <a:noFill/>
              <a:ln w="3810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3" name="그룹 254"/>
            <p:cNvGrpSpPr/>
            <p:nvPr/>
          </p:nvGrpSpPr>
          <p:grpSpPr>
            <a:xfrm>
              <a:off x="549275" y="7431532"/>
              <a:ext cx="5816509" cy="1730700"/>
              <a:chOff x="549275" y="4875389"/>
              <a:chExt cx="5816509" cy="1730700"/>
            </a:xfrm>
          </p:grpSpPr>
          <p:grpSp>
            <p:nvGrpSpPr>
              <p:cNvPr id="185" name="그룹 255"/>
              <p:cNvGrpSpPr/>
              <p:nvPr/>
            </p:nvGrpSpPr>
            <p:grpSpPr>
              <a:xfrm>
                <a:off x="549275" y="4875389"/>
                <a:ext cx="2828637" cy="1730700"/>
                <a:chOff x="549275" y="4875389"/>
                <a:chExt cx="2828637" cy="1730700"/>
              </a:xfrm>
            </p:grpSpPr>
            <p:sp>
              <p:nvSpPr>
                <p:cNvPr id="191" name="직사각형 190"/>
                <p:cNvSpPr/>
                <p:nvPr/>
              </p:nvSpPr>
              <p:spPr bwMode="auto">
                <a:xfrm>
                  <a:off x="549275" y="4875389"/>
                  <a:ext cx="2828350" cy="1730700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 cap="flat" cmpd="sng" algn="ctr">
                  <a:solidFill>
                    <a:sysClr val="windowText" lastClr="000000">
                      <a:lumMod val="50000"/>
                      <a:lumOff val="50000"/>
                    </a:sys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101600" marR="0" lvl="1" indent="-101600" defTabSz="914400" eaLnBrk="0" fontAlgn="auto" latinLnBrk="0" hangingPunct="0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FF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</p:txBody>
            </p:sp>
            <p:sp>
              <p:nvSpPr>
                <p:cNvPr id="192" name="Rectangle 88"/>
                <p:cNvSpPr>
                  <a:spLocks noChangeArrowheads="1"/>
                </p:cNvSpPr>
                <p:nvPr/>
              </p:nvSpPr>
              <p:spPr bwMode="auto">
                <a:xfrm>
                  <a:off x="549277" y="4880447"/>
                  <a:ext cx="2828635" cy="360000"/>
                </a:xfrm>
                <a:prstGeom prst="rect">
                  <a:avLst/>
                </a:prstGeom>
                <a:solidFill>
                  <a:sysClr val="windowText" lastClr="000000">
                    <a:lumMod val="65000"/>
                    <a:lumOff val="35000"/>
                  </a:sysClr>
                </a:solidFill>
                <a:ln w="6350" cap="flat" cmpd="sng" algn="ctr">
                  <a:noFill/>
                  <a:prstDash val="solid"/>
                </a:ln>
                <a:effectLst/>
              </p:spPr>
              <p:txBody>
                <a:bodyPr tIns="36000" anchor="ctr"/>
                <a:lstStyle/>
                <a:p>
                  <a:pPr marL="0" marR="0" lvl="0" indent="0" algn="ctr" defTabSz="1043056" eaLnBrk="0" fontAlgn="auto" latinLnBrk="0" hangingPunct="0">
                    <a:lnSpc>
                      <a:spcPct val="100000"/>
                    </a:lnSpc>
                    <a:spcBef>
                      <a:spcPts val="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2692400" algn="l"/>
                      <a:tab pos="5648325" algn="l"/>
                    </a:tabLst>
                    <a:defRPr/>
                  </a:pPr>
                  <a:r>
                    <a:rPr kumimoji="0" lang="ko-KR" altLang="en-US" sz="1200" b="0" i="0" u="none" strike="noStrike" kern="0" cap="none" spc="0" normalizeH="0" baseline="0" noProof="0" dirty="0">
                      <a:ln w="11430"/>
                      <a:solidFill>
                        <a:prstClr val="white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cs typeface="Arial" pitchFamily="34" charset="0"/>
                    </a:rPr>
                    <a:t>전문가 선행 분석</a:t>
                  </a:r>
                </a:p>
              </p:txBody>
            </p:sp>
            <p:sp>
              <p:nvSpPr>
                <p:cNvPr id="193" name="TextBox 192"/>
                <p:cNvSpPr txBox="1"/>
                <p:nvPr/>
              </p:nvSpPr>
              <p:spPr>
                <a:xfrm>
                  <a:off x="656266" y="5299824"/>
                  <a:ext cx="2721359" cy="7875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2pPr marL="85725" lvl="1" indent="-85725" defTabSz="1042988" fontAlgn="base" latinLnBrk="0">
                    <a:lnSpc>
                      <a:spcPct val="100000"/>
                    </a:lnSpc>
                    <a:spcBef>
                      <a:spcPts val="20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 kumimoji="1" sz="100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나눔고딕 Bold" pitchFamily="50" charset="-127"/>
                      <a:ea typeface="나눔고딕 Bold" pitchFamily="50" charset="-127"/>
                    </a:defRPr>
                  </a:lvl2pPr>
                  <a:lvl3pPr marL="180975" lvl="2" indent="-95250">
                    <a:spcBef>
                      <a:spcPts val="200"/>
                    </a:spcBef>
                    <a:buClr>
                      <a:srgbClr val="595959"/>
                    </a:buClr>
                    <a:buSzPct val="80000"/>
                    <a:buFont typeface="맑은 고딕" panose="020B0503020000020004" pitchFamily="50" charset="-127"/>
                    <a:buChar char="–"/>
                    <a:defRPr sz="900">
                      <a:solidFill>
                        <a:srgbClr val="595959"/>
                      </a:solidFill>
                      <a:latin typeface="나눔고딕 Bold" panose="020D0804000000000000" pitchFamily="50" charset="-127"/>
                      <a:ea typeface="나눔고딕 Bold" panose="020D0804000000000000" pitchFamily="50" charset="-127"/>
                    </a:defRPr>
                  </a:lvl3pPr>
                </a:lstStyle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선발</a:t>
                  </a:r>
                  <a:r>
                    <a:rPr kumimoji="1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, </a:t>
                  </a:r>
                  <a:r>
                    <a:rPr kumimoji="1" lang="ko-KR" altLang="en-US" sz="10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학적관리</a:t>
                  </a:r>
                  <a:r>
                    <a:rPr kumimoji="1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 </a:t>
                  </a: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등 </a:t>
                  </a:r>
                  <a:r>
                    <a:rPr kumimoji="1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6</a:t>
                  </a: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개 체계 선행 자료 분석</a:t>
                  </a:r>
                </a:p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분석 지표에 따른  주요 문제점과 원인파악</a:t>
                  </a:r>
                </a:p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초기 방향성 도출로 시간과 비용 절약</a:t>
                  </a:r>
                </a:p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사용자 인터뷰 질의서 도출</a:t>
                  </a:r>
                </a:p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10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사용성</a:t>
                  </a: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 테스트 필요사항 도출</a:t>
                  </a:r>
                </a:p>
              </p:txBody>
            </p:sp>
          </p:grpSp>
          <p:grpSp>
            <p:nvGrpSpPr>
              <p:cNvPr id="186" name="그룹 256"/>
              <p:cNvGrpSpPr/>
              <p:nvPr/>
            </p:nvGrpSpPr>
            <p:grpSpPr>
              <a:xfrm>
                <a:off x="3480683" y="4875389"/>
                <a:ext cx="2885101" cy="1730700"/>
                <a:chOff x="3480683" y="4875389"/>
                <a:chExt cx="2885101" cy="1730700"/>
              </a:xfrm>
            </p:grpSpPr>
            <p:sp>
              <p:nvSpPr>
                <p:cNvPr id="187" name="직사각형 186"/>
                <p:cNvSpPr/>
                <p:nvPr/>
              </p:nvSpPr>
              <p:spPr bwMode="auto">
                <a:xfrm>
                  <a:off x="3480683" y="4875389"/>
                  <a:ext cx="2828350" cy="1730700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 cap="flat" cmpd="sng" algn="ctr">
                  <a:solidFill>
                    <a:sysClr val="windowText" lastClr="000000">
                      <a:lumMod val="50000"/>
                      <a:lumOff val="50000"/>
                    </a:sys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101600" marR="0" lvl="1" indent="-101600" defTabSz="914400" eaLnBrk="0" fontAlgn="auto" latinLnBrk="0" hangingPunct="0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FF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</p:txBody>
            </p:sp>
            <p:sp>
              <p:nvSpPr>
                <p:cNvPr id="188" name="Rectangle 88"/>
                <p:cNvSpPr>
                  <a:spLocks noChangeArrowheads="1"/>
                </p:cNvSpPr>
                <p:nvPr/>
              </p:nvSpPr>
              <p:spPr bwMode="auto">
                <a:xfrm>
                  <a:off x="3480685" y="4880447"/>
                  <a:ext cx="2828635" cy="360000"/>
                </a:xfrm>
                <a:prstGeom prst="rect">
                  <a:avLst/>
                </a:prstGeom>
                <a:solidFill>
                  <a:sysClr val="windowText" lastClr="000000">
                    <a:lumMod val="65000"/>
                    <a:lumOff val="35000"/>
                  </a:sysClr>
                </a:solidFill>
                <a:ln w="6350" cap="flat" cmpd="sng" algn="ctr">
                  <a:noFill/>
                  <a:prstDash val="solid"/>
                </a:ln>
                <a:effectLst/>
              </p:spPr>
              <p:txBody>
                <a:bodyPr tIns="36000" anchor="ctr"/>
                <a:lstStyle/>
                <a:p>
                  <a:pPr marL="0" marR="0" lvl="0" indent="0" algn="ctr" defTabSz="1043056" eaLnBrk="0" fontAlgn="auto" latinLnBrk="0" hangingPunct="0">
                    <a:lnSpc>
                      <a:spcPct val="100000"/>
                    </a:lnSpc>
                    <a:spcBef>
                      <a:spcPts val="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2692400" algn="l"/>
                      <a:tab pos="5648325" algn="l"/>
                    </a:tabLst>
                    <a:defRPr/>
                  </a:pPr>
                  <a:r>
                    <a:rPr kumimoji="0" lang="ko-KR" altLang="en-US" sz="1200" b="0" i="0" u="none" strike="noStrike" kern="0" cap="none" spc="0" normalizeH="0" baseline="0" noProof="0" dirty="0">
                      <a:ln w="11430"/>
                      <a:solidFill>
                        <a:prstClr val="white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cs typeface="Arial" pitchFamily="34" charset="0"/>
                    </a:rPr>
                    <a:t>벤치마킹 및 </a:t>
                  </a:r>
                  <a:r>
                    <a:rPr kumimoji="0" lang="ko-KR" altLang="en-US" sz="1200" b="0" i="0" u="none" strike="noStrike" kern="0" cap="none" spc="0" normalizeH="0" baseline="0" noProof="0" dirty="0" err="1">
                      <a:ln w="11430"/>
                      <a:solidFill>
                        <a:prstClr val="white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cs typeface="Arial" pitchFamily="34" charset="0"/>
                    </a:rPr>
                    <a:t>트랜드</a:t>
                  </a:r>
                  <a:r>
                    <a:rPr kumimoji="0" lang="ko-KR" altLang="en-US" sz="1200" b="0" i="0" u="none" strike="noStrike" kern="0" cap="none" spc="0" normalizeH="0" baseline="0" noProof="0" dirty="0">
                      <a:ln w="11430"/>
                      <a:solidFill>
                        <a:prstClr val="white"/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cs typeface="Arial" pitchFamily="34" charset="0"/>
                    </a:rPr>
                    <a:t> 분석</a:t>
                  </a: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3587673" y="5451738"/>
                  <a:ext cx="2778111" cy="4489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2pPr marL="85725" lvl="1" indent="-85725" defTabSz="1042988" fontAlgn="base" latinLnBrk="0">
                    <a:lnSpc>
                      <a:spcPct val="100000"/>
                    </a:lnSpc>
                    <a:spcBef>
                      <a:spcPts val="20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 kumimoji="1" sz="100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나눔고딕 Bold" pitchFamily="50" charset="-127"/>
                      <a:ea typeface="나눔고딕 Bold" pitchFamily="50" charset="-127"/>
                    </a:defRPr>
                  </a:lvl2pPr>
                  <a:lvl3pPr marL="180975" lvl="2" indent="-95250">
                    <a:spcBef>
                      <a:spcPts val="200"/>
                    </a:spcBef>
                    <a:buClr>
                      <a:srgbClr val="595959"/>
                    </a:buClr>
                    <a:buSzPct val="80000"/>
                    <a:buFont typeface="맑은 고딕" panose="020B0503020000020004" pitchFamily="50" charset="-127"/>
                    <a:buChar char="–"/>
                    <a:defRPr sz="900">
                      <a:solidFill>
                        <a:srgbClr val="595959"/>
                      </a:solidFill>
                      <a:latin typeface="나눔고딕 Bold" panose="020D0804000000000000" pitchFamily="50" charset="-127"/>
                      <a:ea typeface="나눔고딕 Bold" panose="020D0804000000000000" pitchFamily="50" charset="-127"/>
                    </a:defRPr>
                  </a:lvl3pPr>
                </a:lstStyle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심미성</a:t>
                  </a:r>
                  <a:r>
                    <a:rPr kumimoji="1" lang="en-US" altLang="ko-KR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, </a:t>
                  </a:r>
                  <a:r>
                    <a:rPr kumimoji="1" lang="ko-KR" altLang="en-US" sz="95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브랜딩</a:t>
                  </a:r>
                  <a:r>
                    <a:rPr kumimoji="1" lang="en-US" altLang="ko-KR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, </a:t>
                  </a:r>
                  <a:r>
                    <a:rPr kumimoji="1" lang="ko-KR" altLang="en-US" sz="95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사용성</a:t>
                  </a:r>
                  <a:r>
                    <a:rPr kumimoji="1" lang="ko-KR" altLang="en-US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 측면</a:t>
                  </a:r>
                </a:p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최신 사례들을 보여주는 사이트를 벤치마킹</a:t>
                  </a:r>
                </a:p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공공기관</a:t>
                  </a:r>
                  <a:r>
                    <a:rPr kumimoji="1" lang="en-US" altLang="ko-KR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, </a:t>
                  </a:r>
                  <a:r>
                    <a:rPr kumimoji="1" lang="ko-KR" altLang="en-US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금융</a:t>
                  </a:r>
                  <a:r>
                    <a:rPr kumimoji="1" lang="en-US" altLang="ko-KR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, </a:t>
                  </a:r>
                  <a:r>
                    <a:rPr kumimoji="1" lang="ko-KR" altLang="en-US" sz="9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정보서비스 사이트 벤치마킹</a:t>
                  </a:r>
                </a:p>
              </p:txBody>
            </p:sp>
            <p:sp>
              <p:nvSpPr>
                <p:cNvPr id="190" name="TextBox 189"/>
                <p:cNvSpPr txBox="1"/>
                <p:nvPr/>
              </p:nvSpPr>
              <p:spPr>
                <a:xfrm>
                  <a:off x="3587675" y="6126061"/>
                  <a:ext cx="2541625" cy="4725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2pPr marL="85725" lvl="1" indent="-85725" defTabSz="1042988" fontAlgn="base" latinLnBrk="0">
                    <a:lnSpc>
                      <a:spcPct val="100000"/>
                    </a:lnSpc>
                    <a:spcBef>
                      <a:spcPts val="20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 kumimoji="1" sz="100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나눔고딕 Bold" pitchFamily="50" charset="-127"/>
                      <a:ea typeface="나눔고딕 Bold" pitchFamily="50" charset="-127"/>
                    </a:defRPr>
                  </a:lvl2pPr>
                  <a:lvl3pPr marL="180975" lvl="2" indent="-95250">
                    <a:spcBef>
                      <a:spcPts val="200"/>
                    </a:spcBef>
                    <a:buClr>
                      <a:srgbClr val="595959"/>
                    </a:buClr>
                    <a:buSzPct val="80000"/>
                    <a:buFont typeface="맑은 고딕" panose="020B0503020000020004" pitchFamily="50" charset="-127"/>
                    <a:buChar char="–"/>
                    <a:defRPr sz="900">
                      <a:solidFill>
                        <a:srgbClr val="595959"/>
                      </a:solidFill>
                      <a:latin typeface="나눔고딕 Bold" panose="020D0804000000000000" pitchFamily="50" charset="-127"/>
                      <a:ea typeface="나눔고딕 Bold" panose="020D0804000000000000" pitchFamily="50" charset="-127"/>
                    </a:defRPr>
                  </a:lvl3pPr>
                </a:lstStyle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Interface Design </a:t>
                  </a: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및 </a:t>
                  </a:r>
                  <a:r>
                    <a:rPr kumimoji="1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Visual Design </a:t>
                  </a: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측면</a:t>
                  </a:r>
                </a:p>
                <a:p>
                  <a:pPr marL="85725" marR="0" lvl="1" indent="-85725" defTabSz="1042988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>
                      <a:prstClr val="black">
                        <a:lumMod val="85000"/>
                        <a:lumOff val="15000"/>
                      </a:prstClr>
                    </a:buClr>
                    <a:buSzPct val="80000"/>
                    <a:buFont typeface="Arial" pitchFamily="34" charset="0"/>
                    <a:buChar char="•"/>
                    <a:tabLst>
                      <a:tab pos="5648325" algn="l"/>
                    </a:tabLst>
                    <a:defRPr/>
                  </a:pP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업무효율성 강화 할 수 있는 </a:t>
                  </a:r>
                  <a:r>
                    <a:rPr kumimoji="1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UI</a:t>
                  </a:r>
                  <a:r>
                    <a:rPr kumimoji="1" lang="ko-KR" altLang="en-US" sz="10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트렌드</a:t>
                  </a:r>
                  <a:r>
                    <a:rPr kumimoji="1" lang="ko-KR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굴림" panose="020B0600000101010101" pitchFamily="50" charset="-127"/>
                      <a:ea typeface="굴림" panose="020B0600000101010101" pitchFamily="50" charset="-127"/>
                      <a:sym typeface="Monotype Sorts"/>
                    </a:rPr>
                    <a:t> 선별 적용</a:t>
                  </a:r>
                </a:p>
              </p:txBody>
            </p:sp>
          </p:grpSp>
        </p:grpSp>
        <p:grpSp>
          <p:nvGrpSpPr>
            <p:cNvPr id="104" name="그룹 264"/>
            <p:cNvGrpSpPr/>
            <p:nvPr/>
          </p:nvGrpSpPr>
          <p:grpSpPr>
            <a:xfrm>
              <a:off x="3501008" y="7838423"/>
              <a:ext cx="943862" cy="169458"/>
              <a:chOff x="3396593" y="4160912"/>
              <a:chExt cx="790575" cy="212725"/>
            </a:xfrm>
          </p:grpSpPr>
          <p:sp>
            <p:nvSpPr>
              <p:cNvPr id="183" name="AutoShape 1682"/>
              <p:cNvSpPr>
                <a:spLocks noChangeArrowheads="1"/>
              </p:cNvSpPr>
              <p:nvPr/>
            </p:nvSpPr>
            <p:spPr bwMode="auto">
              <a:xfrm rot="10800000" flipH="1" flipV="1">
                <a:off x="3396593" y="4160912"/>
                <a:ext cx="790575" cy="212725"/>
              </a:xfrm>
              <a:prstGeom prst="rect">
                <a:avLst/>
              </a:prstGeom>
              <a:solidFill>
                <a:sysClr val="window" lastClr="FFFFFF">
                  <a:lumMod val="75000"/>
                </a:sys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tIns="36000" anchor="ctr"/>
              <a:lstStyle/>
              <a:p>
                <a:pPr marL="339725" marR="0" lvl="0" indent="-339725" algn="ctr" defTabSz="1042988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  <a:sym typeface="Monotype Sorts" pitchFamily="2" charset="2"/>
                </a:endParaRPr>
              </a:p>
            </p:txBody>
          </p:sp>
          <p:sp>
            <p:nvSpPr>
              <p:cNvPr id="184" name="Rectangle 549"/>
              <p:cNvSpPr>
                <a:spLocks noChangeArrowheads="1"/>
              </p:cNvSpPr>
              <p:nvPr/>
            </p:nvSpPr>
            <p:spPr bwMode="auto">
              <a:xfrm rot="10800000" flipH="1" flipV="1">
                <a:off x="3607844" y="4190819"/>
                <a:ext cx="368066" cy="152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339725" marR="0" lvl="0" indent="-339725" algn="ctr" defTabSz="91440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벤치마킹</a:t>
                </a:r>
                <a:endPara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</p:grpSp>
        <p:grpSp>
          <p:nvGrpSpPr>
            <p:cNvPr id="105" name="그룹 267"/>
            <p:cNvGrpSpPr/>
            <p:nvPr/>
          </p:nvGrpSpPr>
          <p:grpSpPr>
            <a:xfrm>
              <a:off x="3501008" y="8512746"/>
              <a:ext cx="943862" cy="169458"/>
              <a:chOff x="3396593" y="4073287"/>
              <a:chExt cx="790575" cy="212725"/>
            </a:xfrm>
          </p:grpSpPr>
          <p:sp>
            <p:nvSpPr>
              <p:cNvPr id="181" name="AutoShape 1682"/>
              <p:cNvSpPr>
                <a:spLocks noChangeArrowheads="1"/>
              </p:cNvSpPr>
              <p:nvPr/>
            </p:nvSpPr>
            <p:spPr bwMode="auto">
              <a:xfrm rot="10800000" flipH="1" flipV="1">
                <a:off x="3396593" y="4073287"/>
                <a:ext cx="790575" cy="212725"/>
              </a:xfrm>
              <a:prstGeom prst="rect">
                <a:avLst/>
              </a:prstGeom>
              <a:solidFill>
                <a:sysClr val="window" lastClr="FFFFFF">
                  <a:lumMod val="75000"/>
                </a:sys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tIns="36000" anchor="ctr"/>
              <a:lstStyle/>
              <a:p>
                <a:pPr marL="339725" marR="0" lvl="0" indent="-339725" algn="ctr" defTabSz="1042988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  <a:sym typeface="Monotype Sorts" pitchFamily="2" charset="2"/>
                </a:endParaRPr>
              </a:p>
            </p:txBody>
          </p:sp>
          <p:sp>
            <p:nvSpPr>
              <p:cNvPr id="182" name="Rectangle 549"/>
              <p:cNvSpPr>
                <a:spLocks noChangeArrowheads="1"/>
              </p:cNvSpPr>
              <p:nvPr/>
            </p:nvSpPr>
            <p:spPr bwMode="auto">
              <a:xfrm rot="10800000" flipH="1" flipV="1">
                <a:off x="3653853" y="4098295"/>
                <a:ext cx="276050" cy="152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339725" marR="0" lvl="0" indent="-339725" algn="ctr" defTabSz="91440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트랜드</a:t>
                </a:r>
                <a:endPara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</p:grpSp>
        <p:sp>
          <p:nvSpPr>
            <p:cNvPr id="117" name="직사각형 116"/>
            <p:cNvSpPr/>
            <p:nvPr/>
          </p:nvSpPr>
          <p:spPr bwMode="auto">
            <a:xfrm>
              <a:off x="549871" y="3865451"/>
              <a:ext cx="5758854" cy="329306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101600" marR="0" lvl="1" indent="-101600" defTabSz="91440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18" name="Rectangle 88"/>
            <p:cNvSpPr>
              <a:spLocks noChangeArrowheads="1"/>
            </p:cNvSpPr>
            <p:nvPr/>
          </p:nvSpPr>
          <p:spPr bwMode="auto">
            <a:xfrm>
              <a:off x="549870" y="3836876"/>
              <a:ext cx="5759433" cy="314040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6350">
              <a:solidFill>
                <a:srgbClr val="4F81BD">
                  <a:lumMod val="75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 w="11430"/>
                  <a:solidFill>
                    <a:prstClr val="white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사용자 인터뷰</a:t>
              </a:r>
            </a:p>
          </p:txBody>
        </p:sp>
        <p:sp>
          <p:nvSpPr>
            <p:cNvPr id="119" name="직사각형 118"/>
            <p:cNvSpPr/>
            <p:nvPr/>
          </p:nvSpPr>
          <p:spPr bwMode="auto">
            <a:xfrm>
              <a:off x="634463" y="4232921"/>
              <a:ext cx="1021186" cy="2803474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20" name="직사각형 119"/>
            <p:cNvSpPr/>
            <p:nvPr/>
          </p:nvSpPr>
          <p:spPr bwMode="auto">
            <a:xfrm>
              <a:off x="1871115" y="4232921"/>
              <a:ext cx="2457985" cy="2803474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21" name="직사각형 120"/>
            <p:cNvSpPr/>
            <p:nvPr/>
          </p:nvSpPr>
          <p:spPr bwMode="auto">
            <a:xfrm>
              <a:off x="4521725" y="4232921"/>
              <a:ext cx="1701815" cy="2803474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22" name="오른쪽 화살표 121"/>
            <p:cNvSpPr/>
            <p:nvPr/>
          </p:nvSpPr>
          <p:spPr>
            <a:xfrm rot="10800000" flipH="1">
              <a:off x="1628800" y="4700972"/>
              <a:ext cx="240379" cy="268865"/>
            </a:xfrm>
            <a:prstGeom prst="rightArrow">
              <a:avLst>
                <a:gd name="adj1" fmla="val 53173"/>
                <a:gd name="adj2" fmla="val 60513"/>
              </a:avLst>
            </a:prstGeom>
            <a:gradFill>
              <a:gsLst>
                <a:gs pos="100000">
                  <a:srgbClr val="EAEAEA">
                    <a:alpha val="0"/>
                  </a:srgbClr>
                </a:gs>
                <a:gs pos="0">
                  <a:sysClr val="window" lastClr="FFFFFF">
                    <a:lumMod val="65000"/>
                  </a:sysClr>
                </a:gs>
              </a:gsLst>
              <a:lin ang="1080000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33059" tIns="33059" rIns="33059" bIns="33059" anchor="ctr"/>
            <a:lstStyle/>
            <a:p>
              <a:pPr marL="0" marR="0" lvl="0" indent="0" algn="ctr" defTabSz="1003275" eaLnBrk="1" fontAlgn="auto" latinLnBrk="0" hangingPunct="1">
                <a:lnSpc>
                  <a:spcPts val="918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748312" algn="l"/>
                </a:tabLst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3" name="오른쪽 화살표 122"/>
            <p:cNvSpPr/>
            <p:nvPr/>
          </p:nvSpPr>
          <p:spPr>
            <a:xfrm rot="10800000" flipH="1">
              <a:off x="4281260" y="5313040"/>
              <a:ext cx="240379" cy="720079"/>
            </a:xfrm>
            <a:prstGeom prst="rightArrow">
              <a:avLst>
                <a:gd name="adj1" fmla="val 53173"/>
                <a:gd name="adj2" fmla="val 60513"/>
              </a:avLst>
            </a:prstGeom>
            <a:gradFill>
              <a:gsLst>
                <a:gs pos="100000">
                  <a:srgbClr val="EAEAEA">
                    <a:alpha val="0"/>
                  </a:srgbClr>
                </a:gs>
                <a:gs pos="0">
                  <a:sysClr val="window" lastClr="FFFFFF">
                    <a:lumMod val="65000"/>
                  </a:sysClr>
                </a:gs>
              </a:gsLst>
              <a:lin ang="1080000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33059" tIns="33059" rIns="33059" bIns="33059" anchor="ctr"/>
            <a:lstStyle/>
            <a:p>
              <a:pPr marL="0" marR="0" lvl="0" indent="0" algn="ctr" defTabSz="1003275" eaLnBrk="1" fontAlgn="auto" latinLnBrk="0" hangingPunct="1">
                <a:lnSpc>
                  <a:spcPts val="918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748312" algn="l"/>
                </a:tabLst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4" name="오른쪽 화살표 123"/>
            <p:cNvSpPr/>
            <p:nvPr/>
          </p:nvSpPr>
          <p:spPr>
            <a:xfrm rot="10800000" flipH="1">
              <a:off x="1630736" y="5889104"/>
              <a:ext cx="240379" cy="268865"/>
            </a:xfrm>
            <a:prstGeom prst="rightArrow">
              <a:avLst>
                <a:gd name="adj1" fmla="val 53173"/>
                <a:gd name="adj2" fmla="val 60513"/>
              </a:avLst>
            </a:prstGeom>
            <a:gradFill>
              <a:gsLst>
                <a:gs pos="100000">
                  <a:srgbClr val="EAEAEA">
                    <a:alpha val="0"/>
                  </a:srgbClr>
                </a:gs>
                <a:gs pos="0">
                  <a:sysClr val="window" lastClr="FFFFFF">
                    <a:lumMod val="65000"/>
                  </a:sysClr>
                </a:gs>
              </a:gsLst>
              <a:lin ang="1080000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33059" tIns="33059" rIns="33059" bIns="33059" anchor="ctr"/>
            <a:lstStyle/>
            <a:p>
              <a:pPr marL="0" marR="0" lvl="0" indent="0" algn="ctr" defTabSz="1003275" eaLnBrk="1" fontAlgn="auto" latinLnBrk="0" hangingPunct="1">
                <a:lnSpc>
                  <a:spcPts val="918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748312" algn="l"/>
                </a:tabLst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5" name="Rectangle 88"/>
            <p:cNvSpPr>
              <a:spLocks noChangeArrowheads="1"/>
            </p:cNvSpPr>
            <p:nvPr/>
          </p:nvSpPr>
          <p:spPr bwMode="auto">
            <a:xfrm>
              <a:off x="634376" y="4232920"/>
              <a:ext cx="1021273" cy="27471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인터뷰 대상</a:t>
              </a:r>
            </a:p>
          </p:txBody>
        </p:sp>
        <p:sp>
          <p:nvSpPr>
            <p:cNvPr id="137" name="Rectangle 88"/>
            <p:cNvSpPr>
              <a:spLocks noChangeArrowheads="1"/>
            </p:cNvSpPr>
            <p:nvPr/>
          </p:nvSpPr>
          <p:spPr bwMode="auto">
            <a:xfrm>
              <a:off x="1871029" y="4232920"/>
              <a:ext cx="2458233" cy="27471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인터뷰 방법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4607223" y="4812838"/>
              <a:ext cx="779305" cy="11130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2pPr marL="85725" lvl="1" indent="-85725" defTabSz="1042988" fontAlgn="base" latinLnBrk="0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 kumimoji="1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고딕 Bold" pitchFamily="50" charset="-127"/>
                  <a:ea typeface="나눔고딕 Bold" pitchFamily="50" charset="-127"/>
                </a:defRPr>
              </a:lvl2pPr>
              <a:lvl3pPr marL="180975" lvl="2" indent="-95250">
                <a:spcBef>
                  <a:spcPts val="200"/>
                </a:spcBef>
                <a:buClr>
                  <a:srgbClr val="595959"/>
                </a:buClr>
                <a:buSzPct val="80000"/>
                <a:buFont typeface="맑은 고딕" panose="020B0503020000020004" pitchFamily="50" charset="-127"/>
                <a:buChar char="–"/>
                <a:defRPr sz="900">
                  <a:solidFill>
                    <a:srgbClr val="595959"/>
                  </a:solidFill>
                  <a:latin typeface="나눔고딕 Bold" panose="020D0804000000000000" pitchFamily="50" charset="-127"/>
                  <a:ea typeface="나눔고딕 Bold" panose="020D0804000000000000" pitchFamily="50" charset="-127"/>
                </a:defRPr>
              </a:lvl3pPr>
            </a:lstStyle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화면 해상도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화면 </a:t>
              </a: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Flow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Layout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Navigation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Labeling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메뉴구조</a:t>
              </a:r>
            </a:p>
          </p:txBody>
        </p:sp>
        <p:sp>
          <p:nvSpPr>
            <p:cNvPr id="160" name="Rectangle 88"/>
            <p:cNvSpPr>
              <a:spLocks noChangeArrowheads="1"/>
            </p:cNvSpPr>
            <p:nvPr/>
          </p:nvSpPr>
          <p:spPr bwMode="auto">
            <a:xfrm>
              <a:off x="4521639" y="4232920"/>
              <a:ext cx="1701987" cy="27471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F81BD">
                <a:lumMod val="40000"/>
                <a:lumOff val="60000"/>
              </a:srgbClr>
            </a:solidFill>
            <a:ln w="6350" algn="ctr">
              <a:solidFill>
                <a:srgbClr val="4F81BD">
                  <a:lumMod val="40000"/>
                  <a:lumOff val="6000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분석항목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5411116" y="4812838"/>
              <a:ext cx="779305" cy="9188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2pPr marL="85725" lvl="1" indent="-85725" defTabSz="1042988" fontAlgn="base" latinLnBrk="0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 kumimoji="1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고딕 Bold" pitchFamily="50" charset="-127"/>
                  <a:ea typeface="나눔고딕 Bold" pitchFamily="50" charset="-127"/>
                </a:defRPr>
              </a:lvl2pPr>
              <a:lvl3pPr marL="180975" lvl="2" indent="-95250">
                <a:spcBef>
                  <a:spcPts val="200"/>
                </a:spcBef>
                <a:buClr>
                  <a:srgbClr val="595959"/>
                </a:buClr>
                <a:buSzPct val="80000"/>
                <a:buFont typeface="맑은 고딕" panose="020B0503020000020004" pitchFamily="50" charset="-127"/>
                <a:buChar char="–"/>
                <a:defRPr sz="900">
                  <a:solidFill>
                    <a:srgbClr val="595959"/>
                  </a:solidFill>
                  <a:latin typeface="나눔고딕 Bold" panose="020D0804000000000000" pitchFamily="50" charset="-127"/>
                  <a:ea typeface="나눔고딕 Bold" panose="020D0804000000000000" pitchFamily="50" charset="-127"/>
                </a:defRPr>
              </a:lvl3pPr>
            </a:lstStyle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Button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Font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Color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Image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기타요소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5411116" y="6440197"/>
              <a:ext cx="779305" cy="4252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2pPr marL="85725" lvl="1" indent="-85725" defTabSz="1042988" fontAlgn="base" latinLnBrk="0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 kumimoji="1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고딕 Bold" pitchFamily="50" charset="-127"/>
                  <a:ea typeface="나눔고딕 Bold" pitchFamily="50" charset="-127"/>
                </a:defRPr>
              </a:lvl2pPr>
              <a:lvl3pPr marL="180975" lvl="2" indent="-95250">
                <a:spcBef>
                  <a:spcPts val="200"/>
                </a:spcBef>
                <a:buClr>
                  <a:srgbClr val="595959"/>
                </a:buClr>
                <a:buSzPct val="80000"/>
                <a:buFont typeface="맑은 고딕" panose="020B0503020000020004" pitchFamily="50" charset="-127"/>
                <a:buChar char="–"/>
                <a:defRPr sz="900">
                  <a:solidFill>
                    <a:srgbClr val="595959"/>
                  </a:solidFill>
                  <a:latin typeface="나눔고딕 Bold" panose="020D0804000000000000" pitchFamily="50" charset="-127"/>
                  <a:ea typeface="나눔고딕 Bold" panose="020D0804000000000000" pitchFamily="50" charset="-127"/>
                </a:defRPr>
              </a:lvl3pPr>
            </a:lstStyle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웹 </a:t>
              </a:r>
              <a:r>
                <a:rPr kumimoji="1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접근성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 관련 고려사항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607223" y="6440196"/>
              <a:ext cx="779305" cy="283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2pPr marL="85725" lvl="1" indent="-85725" defTabSz="1042988" fontAlgn="base" latinLnBrk="0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 kumimoji="1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고딕 Bold" pitchFamily="50" charset="-127"/>
                  <a:ea typeface="나눔고딕 Bold" pitchFamily="50" charset="-127"/>
                </a:defRPr>
              </a:lvl2pPr>
              <a:lvl3pPr marL="180975" lvl="2" indent="-95250">
                <a:spcBef>
                  <a:spcPts val="200"/>
                </a:spcBef>
                <a:buClr>
                  <a:srgbClr val="595959"/>
                </a:buClr>
                <a:buSzPct val="80000"/>
                <a:buFont typeface="맑은 고딕" panose="020B0503020000020004" pitchFamily="50" charset="-127"/>
                <a:buChar char="–"/>
                <a:defRPr sz="900">
                  <a:solidFill>
                    <a:srgbClr val="595959"/>
                  </a:solidFill>
                  <a:latin typeface="나눔고딕 Bold" panose="020D0804000000000000" pitchFamily="50" charset="-127"/>
                  <a:ea typeface="나눔고딕 Bold" panose="020D0804000000000000" pitchFamily="50" charset="-127"/>
                </a:defRPr>
              </a:lvl3pPr>
            </a:lstStyle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사용편의성</a:t>
              </a:r>
              <a:b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</a:b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관점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4607222" y="4558902"/>
              <a:ext cx="1522077" cy="21706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UI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4593733" y="6139157"/>
              <a:ext cx="743479" cy="21706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기능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5384103" y="6139157"/>
              <a:ext cx="817205" cy="21706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접근성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685267" y="4592960"/>
              <a:ext cx="935802" cy="468052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고객 의사결정자 및 실무 대표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685267" y="5245866"/>
              <a:ext cx="935802" cy="165135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실사용자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  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-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육군학생군사학교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   -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지역별 </a:t>
              </a:r>
              <a:r>
                <a:rPr kumimoji="0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학군다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  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-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후보생 등</a:t>
              </a: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1916832" y="4592960"/>
              <a:ext cx="2373601" cy="468052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square" lIns="72000" tIns="0" rIns="0" bIns="0" rtlCol="0" anchor="ctr">
              <a:no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운영자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관리자 관점의 요구사항 파악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초기 방향성 확인</a:t>
              </a: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916832" y="5261679"/>
              <a:ext cx="2373601" cy="1635537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square" lIns="72000" tIns="0" rIns="0" bIns="0" rtlCol="0" anchor="ctr">
              <a:no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기존 체계 불편사항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Q&amp;A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현행체계의 만족도 파악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사용자 그룹의 환경 및 업무특성 관찰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기존 체계의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UI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문제점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Q&amp;A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구축 </a:t>
              </a:r>
              <a:r>
                <a:rPr kumimoji="0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쳬계의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UI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요구사항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Q&amp;A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주 사용자 확인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초기 방향성 확인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사용성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 테스트와 병행하여 수행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웹 </a:t>
              </a:r>
              <a:r>
                <a:rPr kumimoji="0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접근성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 향상을 위한 사용자 요구사항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</a:rPr>
                <a:t>Q&amp;A</a:t>
              </a:r>
            </a:p>
          </p:txBody>
        </p:sp>
        <p:grpSp>
          <p:nvGrpSpPr>
            <p:cNvPr id="172" name="그룹 292"/>
            <p:cNvGrpSpPr/>
            <p:nvPr/>
          </p:nvGrpSpPr>
          <p:grpSpPr>
            <a:xfrm>
              <a:off x="620688" y="8661412"/>
              <a:ext cx="2714284" cy="187483"/>
              <a:chOff x="3396593" y="4160912"/>
              <a:chExt cx="790575" cy="212725"/>
            </a:xfrm>
          </p:grpSpPr>
          <p:sp>
            <p:nvSpPr>
              <p:cNvPr id="178" name="AutoShape 1682"/>
              <p:cNvSpPr>
                <a:spLocks noChangeArrowheads="1"/>
              </p:cNvSpPr>
              <p:nvPr/>
            </p:nvSpPr>
            <p:spPr bwMode="auto">
              <a:xfrm rot="10800000" flipH="1" flipV="1">
                <a:off x="3396593" y="4160912"/>
                <a:ext cx="790575" cy="212725"/>
              </a:xfrm>
              <a:prstGeom prst="rect">
                <a:avLst/>
              </a:prstGeom>
              <a:solidFill>
                <a:sysClr val="window" lastClr="FFFFFF">
                  <a:lumMod val="75000"/>
                </a:sys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tIns="36000" anchor="ctr"/>
              <a:lstStyle/>
              <a:p>
                <a:pPr marL="339725" marR="0" lvl="0" indent="-339725" algn="ctr" defTabSz="1042988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  <a:sym typeface="Monotype Sorts" pitchFamily="2" charset="2"/>
                </a:endParaRPr>
              </a:p>
            </p:txBody>
          </p:sp>
          <p:sp>
            <p:nvSpPr>
              <p:cNvPr id="180" name="Rectangle 549"/>
              <p:cNvSpPr>
                <a:spLocks noChangeArrowheads="1"/>
              </p:cNvSpPr>
              <p:nvPr/>
            </p:nvSpPr>
            <p:spPr bwMode="auto">
              <a:xfrm rot="10800000" flipH="1" flipV="1">
                <a:off x="3727886" y="4198168"/>
                <a:ext cx="127991" cy="138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339725" marR="0" lvl="0" indent="-339725" algn="ctr" defTabSz="91440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분석관점</a:t>
                </a:r>
                <a:endPara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</p:grpSp>
        <p:sp>
          <p:nvSpPr>
            <p:cNvPr id="173" name="직사각형 172"/>
            <p:cNvSpPr/>
            <p:nvPr/>
          </p:nvSpPr>
          <p:spPr>
            <a:xfrm>
              <a:off x="620688" y="8888047"/>
              <a:ext cx="509606" cy="206749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3600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심미성</a:t>
              </a: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1171857" y="8888047"/>
              <a:ext cx="509606" cy="206749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3600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브랜딩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1723026" y="8888047"/>
              <a:ext cx="509606" cy="206749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3600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접근성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2274195" y="8888047"/>
              <a:ext cx="509606" cy="206749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3600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사용성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2825366" y="8888047"/>
              <a:ext cx="509606" cy="206749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3600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제작성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</p:grpSp>
      <p:sp>
        <p:nvSpPr>
          <p:cNvPr id="196" name="직사각형 195"/>
          <p:cNvSpPr/>
          <p:nvPr/>
        </p:nvSpPr>
        <p:spPr>
          <a:xfrm>
            <a:off x="6553451" y="7747444"/>
            <a:ext cx="5760442" cy="18547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" lastClr="FFFFFF">
                <a:lumMod val="85000"/>
              </a:sys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5762251" y="7044793"/>
            <a:ext cx="5147049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2pPr marL="85725" lvl="1" indent="-85725" defTabSz="1042988" fontAlgn="base" latinLnBrk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prstClr val="black">
                  <a:lumMod val="85000"/>
                  <a:lumOff val="15000"/>
                </a:prstClr>
              </a:buClr>
              <a:buSzPct val="80000"/>
              <a:buFont typeface="Arial" pitchFamily="34" charset="0"/>
              <a:buChar char="•"/>
              <a:tabLst>
                <a:tab pos="5648325" algn="l"/>
              </a:tabLst>
              <a:defRPr kumimoji="1" sz="1000">
                <a:solidFill>
                  <a:prstClr val="black">
                    <a:lumMod val="65000"/>
                    <a:lumOff val="35000"/>
                  </a:prstClr>
                </a:solidFill>
                <a:latin typeface="나눔고딕 Bold" pitchFamily="50" charset="-127"/>
                <a:ea typeface="나눔고딕 Bold" pitchFamily="50" charset="-127"/>
              </a:defRPr>
            </a:lvl2pPr>
            <a:lvl3pPr marL="180975" lvl="2" indent="-95250">
              <a:spcBef>
                <a:spcPts val="200"/>
              </a:spcBef>
              <a:buClr>
                <a:srgbClr val="595959"/>
              </a:buClr>
              <a:buSzPct val="80000"/>
              <a:buFont typeface="맑은 고딕" panose="020B0503020000020004" pitchFamily="50" charset="-127"/>
              <a:buChar char="–"/>
              <a:defRPr sz="900">
                <a:solidFill>
                  <a:srgbClr val="595959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</a:lstStyle>
          <a:p>
            <a:pPr marL="0" marR="0" lvl="1" indent="0" defTabSz="1042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prstClr val="black">
                  <a:lumMod val="85000"/>
                  <a:lumOff val="15000"/>
                </a:prstClr>
              </a:buClr>
              <a:buSzPct val="80000"/>
              <a:buFont typeface="Arial" pitchFamily="34" charset="0"/>
              <a:buNone/>
              <a:tabLst>
                <a:tab pos="5648325" algn="l"/>
              </a:tabLst>
              <a:defRPr/>
            </a:pPr>
            <a:r>
              <a:rPr kumimoji="1" lang="en-US" altLang="ko-KR" sz="8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※ </a:t>
            </a:r>
            <a:r>
              <a:rPr kumimoji="1" lang="ko-KR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프로젝트의 상황에 맞게 </a:t>
            </a:r>
            <a:r>
              <a:rPr kumimoji="1" lang="ko-KR" altLang="en-US" sz="85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사용성</a:t>
            </a:r>
            <a:r>
              <a:rPr kumimoji="1" lang="ko-KR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 테스트를 진행하며</a:t>
            </a:r>
            <a:r>
              <a:rPr kumimoji="1" lang="en-US" altLang="ko-KR" sz="8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, </a:t>
            </a:r>
            <a:r>
              <a:rPr kumimoji="1" lang="ko-KR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평가방법 및 결과 분석 적용 방법은 진행</a:t>
            </a:r>
            <a:r>
              <a:rPr lang="en-US" altLang="ko-KR" sz="850" kern="0" dirty="0"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 </a:t>
            </a:r>
            <a:r>
              <a:rPr kumimoji="1" lang="ko-KR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/>
              </a:rPr>
              <a:t>시점에 따라 다름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8909668" y="4680668"/>
            <a:ext cx="1722839" cy="2336525"/>
            <a:chOff x="9102707" y="4680668"/>
            <a:chExt cx="1529800" cy="2270771"/>
          </a:xfrm>
        </p:grpSpPr>
        <p:sp>
          <p:nvSpPr>
            <p:cNvPr id="203" name="직사각형 202"/>
            <p:cNvSpPr/>
            <p:nvPr/>
          </p:nvSpPr>
          <p:spPr bwMode="auto">
            <a:xfrm>
              <a:off x="9102707" y="4680669"/>
              <a:ext cx="1529583" cy="226918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101600" marR="0" lvl="1" indent="-101600" defTabSz="91440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04" name="Rectangle 88"/>
            <p:cNvSpPr>
              <a:spLocks noChangeArrowheads="1"/>
            </p:cNvSpPr>
            <p:nvPr/>
          </p:nvSpPr>
          <p:spPr bwMode="auto">
            <a:xfrm>
              <a:off x="9102707" y="4680668"/>
              <a:ext cx="1529800" cy="38358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F81BD">
                <a:lumMod val="75000"/>
              </a:srgbClr>
            </a:solidFill>
            <a:ln w="6350">
              <a:solidFill>
                <a:srgbClr val="4F81BD">
                  <a:lumMod val="75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 w="11430"/>
                  <a:solidFill>
                    <a:prstClr val="white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결과 분석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9229547" y="5976813"/>
              <a:ext cx="1348896" cy="9746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2pPr marL="85725" lvl="1" indent="-85725" defTabSz="1042988" fontAlgn="base" latinLnBrk="0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 kumimoji="1" sz="100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고딕 Bold" pitchFamily="50" charset="-127"/>
                  <a:ea typeface="나눔고딕 Bold" pitchFamily="50" charset="-127"/>
                </a:defRPr>
              </a:lvl2pPr>
              <a:lvl3pPr marL="180975" lvl="2" indent="-95250">
                <a:spcBef>
                  <a:spcPts val="200"/>
                </a:spcBef>
                <a:buClr>
                  <a:srgbClr val="595959"/>
                </a:buClr>
                <a:buSzPct val="80000"/>
                <a:buFont typeface="맑은 고딕" panose="020B0503020000020004" pitchFamily="50" charset="-127"/>
                <a:buChar char="–"/>
                <a:defRPr sz="900">
                  <a:solidFill>
                    <a:srgbClr val="595959"/>
                  </a:solidFill>
                  <a:latin typeface="나눔고딕 Bold" panose="020D0804000000000000" pitchFamily="50" charset="-127"/>
                  <a:ea typeface="나눔고딕 Bold" panose="020D0804000000000000" pitchFamily="50" charset="-127"/>
                </a:defRPr>
              </a:lvl3pPr>
            </a:lstStyle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실패한 </a:t>
              </a:r>
              <a:r>
                <a:rPr kumimoji="1" lang="en-US" altLang="ko-KR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Task </a:t>
              </a:r>
              <a:r>
                <a:rPr kumimoji="1" lang="ko-KR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중심으로 원인 분석 하되</a:t>
              </a:r>
              <a:r>
                <a:rPr kumimoji="1" lang="en-US" altLang="ko-KR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, </a:t>
              </a:r>
              <a:r>
                <a:rPr kumimoji="1" lang="ko-KR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성공한 </a:t>
              </a:r>
              <a:r>
                <a:rPr kumimoji="1" lang="en-US" altLang="ko-KR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Task</a:t>
              </a:r>
              <a:r>
                <a:rPr kumimoji="1" lang="ko-KR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라도 수행 중 문제가 발생한 경우 원인 분석함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실패 원인 분석 시 참가자들의 시스템에 대한 숙련 정도와 업무 이해도 등을 고려하여 분석함</a:t>
              </a:r>
            </a:p>
            <a:p>
              <a:pPr marL="85725" marR="0" lvl="1" indent="-85725" defTabSz="1042988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80000"/>
                <a:buFont typeface="Arial" pitchFamily="34" charset="0"/>
                <a:buChar char="•"/>
                <a:tabLst>
                  <a:tab pos="5648325" algn="l"/>
                </a:tabLst>
                <a:defRPr/>
              </a:pPr>
              <a:r>
                <a:rPr kumimoji="1" lang="ko-KR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rPr>
                <a:t>분석결과를 토대로 개선안과 개선 순위를 도출함</a:t>
              </a:r>
            </a:p>
          </p:txBody>
        </p:sp>
      </p:grpSp>
      <p:graphicFrame>
        <p:nvGraphicFramePr>
          <p:cNvPr id="206" name="TEMP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519435"/>
              </p:ext>
            </p:extLst>
          </p:nvPr>
        </p:nvGraphicFramePr>
        <p:xfrm>
          <a:off x="9063584" y="5075356"/>
          <a:ext cx="1568679" cy="893772"/>
        </p:xfrm>
        <a:graphic>
          <a:graphicData uri="http://schemas.openxmlformats.org/drawingml/2006/table">
            <a:tbl>
              <a:tblPr/>
              <a:tblGrid>
                <a:gridCol w="2768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29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292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2292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230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5536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Task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테스트 참가자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dirty="0">
                        <a:solidFill>
                          <a:schemeClr val="bg1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평균점수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결과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5363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dirty="0">
                        <a:solidFill>
                          <a:schemeClr val="bg1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User</a:t>
                      </a:r>
                      <a:r>
                        <a:rPr lang="en-US" altLang="ko-KR" sz="800" baseline="0" dirty="0">
                          <a:solidFill>
                            <a:schemeClr val="bg1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 1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User 2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dirty="0">
                        <a:solidFill>
                          <a:schemeClr val="bg1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dirty="0">
                        <a:solidFill>
                          <a:schemeClr val="bg1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76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S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P1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9.2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성공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76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2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F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F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1.7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실패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76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3</a:t>
                      </a:r>
                      <a:endParaRPr lang="ko-KR" alt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P1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E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8.7</a:t>
                      </a: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dirty="0">
                          <a:solidFill>
                            <a:srgbClr val="595959"/>
                          </a:solidFill>
                          <a:latin typeface="나눔고딕 Bold" pitchFamily="50" charset="-127"/>
                          <a:ea typeface="나눔고딕 Bold" pitchFamily="50" charset="-127"/>
                        </a:rPr>
                        <a:t>성공</a:t>
                      </a:r>
                      <a:endParaRPr lang="en-US" sz="800" dirty="0">
                        <a:solidFill>
                          <a:srgbClr val="595959"/>
                        </a:solidFill>
                        <a:latin typeface="나눔고딕 Bold" pitchFamily="50" charset="-127"/>
                        <a:ea typeface="나눔고딕 Bold" pitchFamily="50" charset="-127"/>
                      </a:endParaRPr>
                    </a:p>
                  </a:txBody>
                  <a:tcPr marL="46800" marR="468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07" name="직사각형 206"/>
          <p:cNvSpPr/>
          <p:nvPr/>
        </p:nvSpPr>
        <p:spPr>
          <a:xfrm rot="20870941">
            <a:off x="9434689" y="5412203"/>
            <a:ext cx="817004" cy="273174"/>
          </a:xfrm>
          <a:prstGeom prst="rect">
            <a:avLst/>
          </a:prstGeom>
          <a:solidFill>
            <a:srgbClr val="FFFFFF">
              <a:alpha val="80000"/>
            </a:srgbClr>
          </a:solidFill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rPr>
              <a:t>예시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5762143" y="4680669"/>
            <a:ext cx="1749951" cy="2334891"/>
            <a:chOff x="5958220" y="4680669"/>
            <a:chExt cx="1553874" cy="2269183"/>
          </a:xfrm>
        </p:grpSpPr>
        <p:sp>
          <p:nvSpPr>
            <p:cNvPr id="199" name="직사각형 198"/>
            <p:cNvSpPr/>
            <p:nvPr/>
          </p:nvSpPr>
          <p:spPr bwMode="auto">
            <a:xfrm>
              <a:off x="5958316" y="4680669"/>
              <a:ext cx="1553778" cy="226918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101600" marR="0" lvl="1" indent="-101600" defTabSz="91440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00" name="Rectangle 88"/>
            <p:cNvSpPr>
              <a:spLocks noChangeArrowheads="1"/>
            </p:cNvSpPr>
            <p:nvPr/>
          </p:nvSpPr>
          <p:spPr bwMode="auto">
            <a:xfrm>
              <a:off x="5958220" y="4685834"/>
              <a:ext cx="1553874" cy="36755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F81BD">
                <a:lumMod val="75000"/>
              </a:srgbClr>
            </a:solidFill>
            <a:ln w="6350">
              <a:solidFill>
                <a:srgbClr val="4F81BD">
                  <a:lumMod val="75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 w="11430"/>
                  <a:solidFill>
                    <a:prstClr val="white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주요 평가 기준</a:t>
              </a: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5991572" y="5207076"/>
              <a:ext cx="1487264" cy="282721"/>
              <a:chOff x="6029632" y="5278522"/>
              <a:chExt cx="1594517" cy="420924"/>
            </a:xfrm>
          </p:grpSpPr>
          <p:sp>
            <p:nvSpPr>
              <p:cNvPr id="209" name="직사각형 208"/>
              <p:cNvSpPr/>
              <p:nvPr/>
            </p:nvSpPr>
            <p:spPr bwMode="auto">
              <a:xfrm>
                <a:off x="6029632" y="5278522"/>
                <a:ext cx="1594517" cy="420924"/>
              </a:xfrm>
              <a:prstGeom prst="rect">
                <a:avLst/>
              </a:prstGeom>
              <a:solidFill>
                <a:srgbClr val="4F81BD">
                  <a:lumMod val="20000"/>
                  <a:lumOff val="80000"/>
                </a:srgb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marR="0" lvl="0" indent="0" defTabSz="1042988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화면 흐름의 적절성</a:t>
                </a:r>
              </a:p>
            </p:txBody>
          </p:sp>
          <p:sp>
            <p:nvSpPr>
              <p:cNvPr id="210" name="모서리가 둥근 직사각형 209"/>
              <p:cNvSpPr/>
              <p:nvPr/>
            </p:nvSpPr>
            <p:spPr bwMode="auto">
              <a:xfrm>
                <a:off x="6060997" y="5380984"/>
                <a:ext cx="236900" cy="216000"/>
              </a:xfrm>
              <a:prstGeom prst="roundRect">
                <a:avLst/>
              </a:prstGeom>
              <a:solidFill>
                <a:srgbClr val="1F497D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1</a:t>
                </a:r>
                <a:endParaRPr kumimoji="1" lang="ko-KR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5991523" y="5538186"/>
              <a:ext cx="1487264" cy="277371"/>
              <a:chOff x="6029632" y="5806800"/>
              <a:chExt cx="1594517" cy="420924"/>
            </a:xfrm>
          </p:grpSpPr>
          <p:sp>
            <p:nvSpPr>
              <p:cNvPr id="212" name="직사각형 211"/>
              <p:cNvSpPr/>
              <p:nvPr/>
            </p:nvSpPr>
            <p:spPr bwMode="auto">
              <a:xfrm>
                <a:off x="6029632" y="5806800"/>
                <a:ext cx="1594517" cy="420924"/>
              </a:xfrm>
              <a:prstGeom prst="rect">
                <a:avLst/>
              </a:prstGeom>
              <a:solidFill>
                <a:srgbClr val="4F81BD">
                  <a:lumMod val="20000"/>
                  <a:lumOff val="80000"/>
                </a:srgb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marR="0" lvl="0" indent="0" defTabSz="1042988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작업 동선의 효율성</a:t>
                </a:r>
              </a:p>
            </p:txBody>
          </p:sp>
          <p:sp>
            <p:nvSpPr>
              <p:cNvPr id="213" name="모서리가 둥근 직사각형 212"/>
              <p:cNvSpPr/>
              <p:nvPr/>
            </p:nvSpPr>
            <p:spPr bwMode="auto">
              <a:xfrm>
                <a:off x="6060997" y="5909262"/>
                <a:ext cx="236900" cy="216000"/>
              </a:xfrm>
              <a:prstGeom prst="roundRect">
                <a:avLst/>
              </a:prstGeom>
              <a:solidFill>
                <a:srgbClr val="1F497D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2</a:t>
                </a:r>
                <a:endParaRPr kumimoji="1" lang="ko-KR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5991524" y="5878807"/>
              <a:ext cx="1487264" cy="277371"/>
              <a:chOff x="6029632" y="6335078"/>
              <a:chExt cx="1594517" cy="420924"/>
            </a:xfrm>
          </p:grpSpPr>
          <p:sp>
            <p:nvSpPr>
              <p:cNvPr id="215" name="직사각형 214"/>
              <p:cNvSpPr/>
              <p:nvPr/>
            </p:nvSpPr>
            <p:spPr bwMode="auto">
              <a:xfrm>
                <a:off x="6029632" y="6335078"/>
                <a:ext cx="1594517" cy="420924"/>
              </a:xfrm>
              <a:prstGeom prst="rect">
                <a:avLst/>
              </a:prstGeom>
              <a:solidFill>
                <a:srgbClr val="4F81BD">
                  <a:lumMod val="20000"/>
                  <a:lumOff val="80000"/>
                </a:srgb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marR="0" lvl="0" indent="0" defTabSz="1042988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네비게이션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방식의 적합성</a:t>
                </a:r>
              </a:p>
            </p:txBody>
          </p:sp>
          <p:sp>
            <p:nvSpPr>
              <p:cNvPr id="216" name="모서리가 둥근 직사각형 215"/>
              <p:cNvSpPr/>
              <p:nvPr/>
            </p:nvSpPr>
            <p:spPr bwMode="auto">
              <a:xfrm>
                <a:off x="6060997" y="6437540"/>
                <a:ext cx="236900" cy="216000"/>
              </a:xfrm>
              <a:prstGeom prst="roundRect">
                <a:avLst/>
              </a:prstGeom>
              <a:solidFill>
                <a:srgbClr val="1F497D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3</a:t>
                </a:r>
                <a:endParaRPr kumimoji="1" lang="ko-KR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>
              <a:off x="5991572" y="6196852"/>
              <a:ext cx="1487264" cy="282399"/>
              <a:chOff x="6029632" y="6863356"/>
              <a:chExt cx="1594517" cy="420924"/>
            </a:xfrm>
          </p:grpSpPr>
          <p:sp>
            <p:nvSpPr>
              <p:cNvPr id="218" name="직사각형 217"/>
              <p:cNvSpPr/>
              <p:nvPr/>
            </p:nvSpPr>
            <p:spPr bwMode="auto">
              <a:xfrm>
                <a:off x="6029632" y="6863356"/>
                <a:ext cx="1594517" cy="420924"/>
              </a:xfrm>
              <a:prstGeom prst="rect">
                <a:avLst/>
              </a:prstGeom>
              <a:solidFill>
                <a:srgbClr val="4F81BD">
                  <a:lumMod val="20000"/>
                  <a:lumOff val="80000"/>
                </a:srgb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marR="0" lvl="0" indent="0" defTabSz="1042988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레이블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(Label)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의 정확성 </a:t>
                </a:r>
              </a:p>
            </p:txBody>
          </p:sp>
          <p:sp>
            <p:nvSpPr>
              <p:cNvPr id="219" name="모서리가 둥근 직사각형 218"/>
              <p:cNvSpPr/>
              <p:nvPr/>
            </p:nvSpPr>
            <p:spPr bwMode="auto">
              <a:xfrm>
                <a:off x="6060997" y="6965818"/>
                <a:ext cx="236900" cy="216000"/>
              </a:xfrm>
              <a:prstGeom prst="roundRect">
                <a:avLst/>
              </a:prstGeom>
              <a:solidFill>
                <a:srgbClr val="1F497D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4</a:t>
                </a:r>
                <a:endParaRPr kumimoji="1" lang="ko-KR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5991572" y="6543788"/>
              <a:ext cx="1487264" cy="284000"/>
              <a:chOff x="6029632" y="7391634"/>
              <a:chExt cx="1594517" cy="420924"/>
            </a:xfrm>
          </p:grpSpPr>
          <p:sp>
            <p:nvSpPr>
              <p:cNvPr id="221" name="직사각형 220"/>
              <p:cNvSpPr/>
              <p:nvPr/>
            </p:nvSpPr>
            <p:spPr bwMode="auto">
              <a:xfrm>
                <a:off x="6029632" y="7391634"/>
                <a:ext cx="1594517" cy="420924"/>
              </a:xfrm>
              <a:prstGeom prst="rect">
                <a:avLst/>
              </a:prstGeom>
              <a:solidFill>
                <a:srgbClr val="4F81BD">
                  <a:lumMod val="20000"/>
                  <a:lumOff val="80000"/>
                </a:srgbClr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266700" marR="0" lvl="0" indent="0" defTabSz="1042988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1" lang="ko-KR" altLang="en-US" sz="8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가독성</a:t>
                </a: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 및 </a:t>
                </a:r>
                <a: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UI </a:t>
                </a: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요소의 일관성 </a:t>
                </a:r>
              </a:p>
            </p:txBody>
          </p:sp>
          <p:sp>
            <p:nvSpPr>
              <p:cNvPr id="222" name="모서리가 둥근 직사각형 221"/>
              <p:cNvSpPr/>
              <p:nvPr/>
            </p:nvSpPr>
            <p:spPr bwMode="auto">
              <a:xfrm>
                <a:off x="6060997" y="7494096"/>
                <a:ext cx="236900" cy="216000"/>
              </a:xfrm>
              <a:prstGeom prst="roundRect">
                <a:avLst/>
              </a:prstGeom>
              <a:solidFill>
                <a:srgbClr val="1F497D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5</a:t>
                </a:r>
                <a:endParaRPr kumimoji="1" lang="ko-KR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</p:grpSp>
      <p:grpSp>
        <p:nvGrpSpPr>
          <p:cNvPr id="223" name="그룹 3"/>
          <p:cNvGrpSpPr/>
          <p:nvPr/>
        </p:nvGrpSpPr>
        <p:grpSpPr>
          <a:xfrm>
            <a:off x="5762141" y="1819036"/>
            <a:ext cx="4870365" cy="2825280"/>
            <a:chOff x="7510696" y="3161862"/>
            <a:chExt cx="5760040" cy="2914398"/>
          </a:xfrm>
        </p:grpSpPr>
        <p:grpSp>
          <p:nvGrpSpPr>
            <p:cNvPr id="224" name="그룹 427"/>
            <p:cNvGrpSpPr/>
            <p:nvPr/>
          </p:nvGrpSpPr>
          <p:grpSpPr>
            <a:xfrm>
              <a:off x="7510696" y="3161863"/>
              <a:ext cx="2828635" cy="2914397"/>
              <a:chOff x="549275" y="3376489"/>
              <a:chExt cx="2828637" cy="2914399"/>
            </a:xfrm>
          </p:grpSpPr>
          <p:sp>
            <p:nvSpPr>
              <p:cNvPr id="268" name="직사각형 267"/>
              <p:cNvSpPr/>
              <p:nvPr/>
            </p:nvSpPr>
            <p:spPr bwMode="auto">
              <a:xfrm>
                <a:off x="549275" y="3454080"/>
                <a:ext cx="2828350" cy="2825222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101600" marR="0" lvl="1" indent="-101600" defTabSz="91440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endParaRPr>
              </a:p>
            </p:txBody>
          </p:sp>
          <p:sp>
            <p:nvSpPr>
              <p:cNvPr id="269" name="Rectangle 88"/>
              <p:cNvSpPr>
                <a:spLocks noChangeArrowheads="1"/>
              </p:cNvSpPr>
              <p:nvPr/>
            </p:nvSpPr>
            <p:spPr bwMode="auto">
              <a:xfrm>
                <a:off x="549277" y="3376489"/>
                <a:ext cx="2828635" cy="316493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/>
                </a:pPr>
                <a:r>
                  <a:rPr kumimoji="0" lang="ko-KR" altLang="en-US" sz="1200" b="0" i="0" u="none" strike="noStrike" kern="0" cap="none" spc="0" normalizeH="0" baseline="0" noProof="0" dirty="0">
                    <a:ln w="11430"/>
                    <a:solidFill>
                      <a:prstClr val="white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테스트 환경 구성</a:t>
                </a:r>
              </a:p>
            </p:txBody>
          </p:sp>
          <p:sp>
            <p:nvSpPr>
              <p:cNvPr id="270" name="TextBox 269"/>
              <p:cNvSpPr txBox="1"/>
              <p:nvPr/>
            </p:nvSpPr>
            <p:spPr>
              <a:xfrm>
                <a:off x="610546" y="5266999"/>
                <a:ext cx="2705809" cy="10238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필요인원 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: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진행자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관찰자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업무전문가 </a:t>
                </a:r>
              </a:p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진행자 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: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테스트 시나리오 대로 인터뷰 및 테스트 진행</a:t>
                </a:r>
              </a:p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관찰자 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: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참여자의 실수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동선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행동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태도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의견을 정확히 관찰하여 기록</a:t>
                </a:r>
              </a:p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업무전문가 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: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참여자가 업무적인 질문이나 의견을 구할 때 답변</a:t>
                </a:r>
              </a:p>
            </p:txBody>
          </p:sp>
        </p:grpSp>
        <p:grpSp>
          <p:nvGrpSpPr>
            <p:cNvPr id="225" name="그룹 431"/>
            <p:cNvGrpSpPr/>
            <p:nvPr/>
          </p:nvGrpSpPr>
          <p:grpSpPr>
            <a:xfrm>
              <a:off x="10442101" y="3161862"/>
              <a:ext cx="2828635" cy="2902810"/>
              <a:chOff x="3480683" y="3376488"/>
              <a:chExt cx="2828637" cy="2902812"/>
            </a:xfrm>
          </p:grpSpPr>
          <p:sp>
            <p:nvSpPr>
              <p:cNvPr id="261" name="직사각형 260"/>
              <p:cNvSpPr/>
              <p:nvPr/>
            </p:nvSpPr>
            <p:spPr bwMode="auto">
              <a:xfrm>
                <a:off x="3480683" y="3376490"/>
                <a:ext cx="2828350" cy="290281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101600" marR="0" lvl="1" indent="-101600" defTabSz="91440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endParaRPr>
              </a:p>
            </p:txBody>
          </p:sp>
          <p:sp>
            <p:nvSpPr>
              <p:cNvPr id="262" name="Rectangle 88"/>
              <p:cNvSpPr>
                <a:spLocks noChangeArrowheads="1"/>
              </p:cNvSpPr>
              <p:nvPr/>
            </p:nvSpPr>
            <p:spPr bwMode="auto">
              <a:xfrm>
                <a:off x="3480685" y="3376488"/>
                <a:ext cx="2828635" cy="316493"/>
              </a:xfrm>
              <a:prstGeom prst="rect">
                <a:avLst/>
              </a:prstGeom>
              <a:solidFill>
                <a:srgbClr val="4F81BD">
                  <a:lumMod val="75000"/>
                </a:srgbClr>
              </a:solidFill>
              <a:ln w="6350">
                <a:solidFill>
                  <a:srgbClr val="4F81BD">
                    <a:lumMod val="75000"/>
                  </a:srgbClr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marL="0" marR="0" lvl="0" indent="-93299" algn="ctr" defTabSz="1043056" eaLnBrk="0" fontAlgn="auto" latinLnBrk="0" hangingPunct="0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Tx/>
                  <a:buNone/>
                  <a:tabLst>
                    <a:tab pos="2692400" algn="l"/>
                    <a:tab pos="5648325" algn="l"/>
                  </a:tabLst>
                  <a:defRPr/>
                </a:pPr>
                <a:r>
                  <a:rPr kumimoji="0" lang="ko-KR" altLang="en-US" sz="1200" b="0" i="0" u="none" strike="noStrike" kern="0" cap="none" spc="0" normalizeH="0" baseline="0" noProof="0" dirty="0">
                    <a:ln w="11430"/>
                    <a:solidFill>
                      <a:prstClr val="white"/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테스트 진행 절차</a:t>
                </a:r>
              </a:p>
            </p:txBody>
          </p:sp>
          <p:sp>
            <p:nvSpPr>
              <p:cNvPr id="263" name="TextBox 262"/>
              <p:cNvSpPr txBox="1"/>
              <p:nvPr/>
            </p:nvSpPr>
            <p:spPr>
              <a:xfrm>
                <a:off x="4831317" y="3810607"/>
                <a:ext cx="14780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테스트 준비</a:t>
                </a:r>
              </a:p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테스트 안내</a:t>
                </a:r>
                <a:endParaRPr kumimoji="1" lang="en-US" altLang="ko-KR" sz="8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  <p:sp>
            <p:nvSpPr>
              <p:cNvPr id="264" name="TextBox 263"/>
              <p:cNvSpPr txBox="1"/>
              <p:nvPr/>
            </p:nvSpPr>
            <p:spPr>
              <a:xfrm>
                <a:off x="4831317" y="4246984"/>
                <a:ext cx="14780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사용자 프로파일 및 </a:t>
                </a:r>
                <a:b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</a:b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이용 경험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,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요구 파악</a:t>
                </a:r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4831317" y="4679032"/>
                <a:ext cx="14780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자유롭게 이용하는 </a:t>
                </a:r>
                <a:b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</a:b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행동패턴 관찰</a:t>
                </a:r>
              </a:p>
            </p:txBody>
          </p:sp>
          <p:sp>
            <p:nvSpPr>
              <p:cNvPr id="266" name="TextBox 265"/>
              <p:cNvSpPr txBox="1"/>
              <p:nvPr/>
            </p:nvSpPr>
            <p:spPr>
              <a:xfrm>
                <a:off x="4831317" y="5058817"/>
                <a:ext cx="147800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테스트 시나리오에 따른</a:t>
                </a:r>
                <a:b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</a:b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Task 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수행</a:t>
                </a:r>
              </a:p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Log</a:t>
                </a: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 </a:t>
                </a:r>
                <a:r>
                  <a:rPr kumimoji="1" lang="en-US" altLang="ko-KR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Analysis, Mouse Tracking, Eye Tracking</a:t>
                </a:r>
              </a:p>
            </p:txBody>
          </p:sp>
          <p:sp>
            <p:nvSpPr>
              <p:cNvPr id="267" name="TextBox 266"/>
              <p:cNvSpPr txBox="1"/>
              <p:nvPr/>
            </p:nvSpPr>
            <p:spPr>
              <a:xfrm>
                <a:off x="4831317" y="5753926"/>
                <a:ext cx="1478003" cy="4047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2pPr marL="85725" lvl="1" indent="-85725" defTabSz="1042988" fontAlgn="base" latinLnBrk="0">
                  <a:lnSpc>
                    <a:spcPct val="100000"/>
                  </a:lnSpc>
                  <a:spcBef>
                    <a:spcPts val="20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 kumimoji="1" sz="10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나눔고딕 Bold" pitchFamily="50" charset="-127"/>
                    <a:ea typeface="나눔고딕 Bold" pitchFamily="50" charset="-127"/>
                  </a:defRPr>
                </a:lvl2pPr>
                <a:lvl3pPr marL="180975" lvl="2" indent="-95250">
                  <a:spcBef>
                    <a:spcPts val="200"/>
                  </a:spcBef>
                  <a:buClr>
                    <a:srgbClr val="595959"/>
                  </a:buClr>
                  <a:buSzPct val="80000"/>
                  <a:buFont typeface="맑은 고딕" panose="020B0503020000020004" pitchFamily="50" charset="-127"/>
                  <a:buChar char="–"/>
                  <a:defRPr sz="900">
                    <a:solidFill>
                      <a:srgbClr val="595959"/>
                    </a:solidFill>
                    <a:latin typeface="나눔고딕 Bold" panose="020D0804000000000000" pitchFamily="50" charset="-127"/>
                    <a:ea typeface="나눔고딕 Bold" panose="020D0804000000000000" pitchFamily="50" charset="-127"/>
                  </a:defRPr>
                </a:lvl3pPr>
              </a:lstStyle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불편사항 및 만족도 파악</a:t>
                </a:r>
              </a:p>
              <a:p>
                <a:pPr marL="85725" marR="0" lvl="1" indent="-85725" defTabSz="1042988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prstClr val="black">
                      <a:lumMod val="85000"/>
                      <a:lumOff val="15000"/>
                    </a:prstClr>
                  </a:buClr>
                  <a:buSzPct val="80000"/>
                  <a:buFont typeface="Arial" pitchFamily="34" charset="0"/>
                  <a:buChar char="•"/>
                  <a:tabLst>
                    <a:tab pos="5648325" algn="l"/>
                  </a:tabLst>
                  <a:defRPr/>
                </a:pPr>
                <a:r>
                  <a:rPr kumimoji="1" lang="ko-KR" altLang="en-US" sz="8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개선안 확인</a:t>
                </a:r>
              </a:p>
            </p:txBody>
          </p:sp>
        </p:grpSp>
        <p:grpSp>
          <p:nvGrpSpPr>
            <p:cNvPr id="226" name="그룹 447"/>
            <p:cNvGrpSpPr/>
            <p:nvPr/>
          </p:nvGrpSpPr>
          <p:grpSpPr>
            <a:xfrm>
              <a:off x="10514761" y="3548046"/>
              <a:ext cx="1185026" cy="2376262"/>
              <a:chOff x="3553343" y="3548844"/>
              <a:chExt cx="827047" cy="2376264"/>
            </a:xfrm>
          </p:grpSpPr>
          <p:sp>
            <p:nvSpPr>
              <p:cNvPr id="251" name="갈매기형 수장 250"/>
              <p:cNvSpPr/>
              <p:nvPr/>
            </p:nvSpPr>
            <p:spPr bwMode="auto">
              <a:xfrm rot="5400000">
                <a:off x="3681309" y="4774740"/>
                <a:ext cx="571115" cy="827047"/>
              </a:xfrm>
              <a:prstGeom prst="chevron">
                <a:avLst>
                  <a:gd name="adj" fmla="val 26382"/>
                </a:avLst>
              </a:prstGeom>
              <a:solidFill>
                <a:sysClr val="window" lastClr="FFFFFF">
                  <a:lumMod val="75000"/>
                </a:sysClr>
              </a:solidFill>
              <a:ln w="6350">
                <a:solidFill>
                  <a:sysClr val="window" lastClr="FFFFFF">
                    <a:lumMod val="65000"/>
                  </a:sys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marL="88900" marR="0" lvl="0" indent="-115895" algn="ctr" defTabSz="1092535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 typeface="Wingdings" pitchFamily="2" charset="2"/>
                  <a:buChar char="§"/>
                  <a:tabLst>
                    <a:tab pos="814888" algn="l"/>
                  </a:tabLst>
                  <a:defRPr/>
                </a:pP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  <p:sp>
            <p:nvSpPr>
              <p:cNvPr id="252" name="오각형 251"/>
              <p:cNvSpPr/>
              <p:nvPr/>
            </p:nvSpPr>
            <p:spPr bwMode="auto">
              <a:xfrm rot="5400000">
                <a:off x="3681309" y="3420878"/>
                <a:ext cx="571115" cy="827047"/>
              </a:xfrm>
              <a:prstGeom prst="homePlate">
                <a:avLst>
                  <a:gd name="adj" fmla="val 26109"/>
                </a:avLst>
              </a:prstGeom>
              <a:solidFill>
                <a:sysClr val="window" lastClr="FFFFFF"/>
              </a:solidFill>
              <a:ln w="9525" algn="ctr">
                <a:gradFill flip="none" rotWithShape="1">
                  <a:gsLst>
                    <a:gs pos="48000">
                      <a:sysClr val="window" lastClr="FFFFFF">
                        <a:lumMod val="85000"/>
                      </a:sysClr>
                    </a:gs>
                    <a:gs pos="50000">
                      <a:sysClr val="window" lastClr="FFFFFF">
                        <a:lumMod val="75000"/>
                      </a:sysClr>
                    </a:gs>
                  </a:gsLst>
                  <a:lin ang="5400000" scaled="1"/>
                  <a:tileRect/>
                </a:gra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88900" marR="0" lvl="0" indent="-88900" defTabSz="1042988" eaLnBrk="0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ct val="140000"/>
                  <a:buFont typeface="Wingdings" pitchFamily="2" charset="2"/>
                  <a:buChar char="§"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77777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  <p:sp>
            <p:nvSpPr>
              <p:cNvPr id="253" name="갈매기형 수장 252"/>
              <p:cNvSpPr/>
              <p:nvPr/>
            </p:nvSpPr>
            <p:spPr bwMode="auto">
              <a:xfrm rot="5400000">
                <a:off x="3681309" y="4323452"/>
                <a:ext cx="571115" cy="827047"/>
              </a:xfrm>
              <a:prstGeom prst="chevron">
                <a:avLst>
                  <a:gd name="adj" fmla="val 26382"/>
                </a:avLst>
              </a:prstGeom>
              <a:solidFill>
                <a:sysClr val="window" lastClr="FFFFFF">
                  <a:lumMod val="85000"/>
                </a:sysClr>
              </a:solidFill>
              <a:ln w="6350">
                <a:solidFill>
                  <a:sysClr val="window" lastClr="FFFFFF">
                    <a:lumMod val="75000"/>
                  </a:sys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marL="88900" marR="0" lvl="0" indent="-115895" algn="ctr" defTabSz="1092535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 typeface="Wingdings" pitchFamily="2" charset="2"/>
                  <a:buChar char="§"/>
                  <a:tabLst>
                    <a:tab pos="814888" algn="l"/>
                  </a:tabLst>
                  <a:defRPr/>
                </a:pP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  <p:sp>
            <p:nvSpPr>
              <p:cNvPr id="254" name="갈매기형 수장 253"/>
              <p:cNvSpPr/>
              <p:nvPr/>
            </p:nvSpPr>
            <p:spPr bwMode="auto">
              <a:xfrm rot="5400000">
                <a:off x="3681309" y="3872165"/>
                <a:ext cx="571115" cy="827047"/>
              </a:xfrm>
              <a:prstGeom prst="chevron">
                <a:avLst>
                  <a:gd name="adj" fmla="val 26382"/>
                </a:avLst>
              </a:prstGeom>
              <a:solidFill>
                <a:sysClr val="window" lastClr="FFFFFF">
                  <a:lumMod val="95000"/>
                </a:sysClr>
              </a:solidFill>
              <a:ln w="6350">
                <a:solidFill>
                  <a:sysClr val="window" lastClr="FFFFFF">
                    <a:lumMod val="85000"/>
                  </a:sys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marL="88900" marR="0" lvl="0" indent="-115895" algn="ctr" defTabSz="1092535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 typeface="Wingdings" pitchFamily="2" charset="2"/>
                  <a:buChar char="§"/>
                  <a:tabLst>
                    <a:tab pos="814888" algn="l"/>
                  </a:tabLst>
                  <a:defRPr/>
                </a:pP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  <p:sp>
            <p:nvSpPr>
              <p:cNvPr id="255" name="갈매기형 수장 254"/>
              <p:cNvSpPr/>
              <p:nvPr/>
            </p:nvSpPr>
            <p:spPr bwMode="auto">
              <a:xfrm rot="5400000">
                <a:off x="3681309" y="5226027"/>
                <a:ext cx="571115" cy="827047"/>
              </a:xfrm>
              <a:prstGeom prst="chevron">
                <a:avLst>
                  <a:gd name="adj" fmla="val 26382"/>
                </a:avLst>
              </a:prstGeom>
              <a:solidFill>
                <a:sysClr val="window" lastClr="FFFFFF">
                  <a:lumMod val="65000"/>
                </a:sysClr>
              </a:solidFill>
              <a:ln w="6350">
                <a:solidFill>
                  <a:sysClr val="window" lastClr="FFFFFF">
                    <a:lumMod val="50000"/>
                  </a:sys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marL="0" marR="0" lvl="0" indent="-88900" defTabSz="91440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ct val="140000"/>
                  <a:buFont typeface="Wingdings" pitchFamily="2" charset="2"/>
                  <a:buChar char="§"/>
                  <a:tabLst>
                    <a:tab pos="5648325" algn="l"/>
                  </a:tabLst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/>
                </a:endParaRPr>
              </a:p>
            </p:txBody>
          </p:sp>
          <p:sp>
            <p:nvSpPr>
              <p:cNvPr id="256" name="TextBox 184"/>
              <p:cNvSpPr txBox="1">
                <a:spLocks noChangeArrowheads="1"/>
              </p:cNvSpPr>
              <p:nvPr/>
            </p:nvSpPr>
            <p:spPr bwMode="auto">
              <a:xfrm>
                <a:off x="3565546" y="5564078"/>
                <a:ext cx="793261" cy="1994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  <a:defRPr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marR="0" lvl="0" indent="0"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사후 인터뷰</a:t>
                </a:r>
              </a:p>
            </p:txBody>
          </p:sp>
          <p:sp>
            <p:nvSpPr>
              <p:cNvPr id="257" name="TextBox 256"/>
              <p:cNvSpPr txBox="1">
                <a:spLocks noChangeArrowheads="1"/>
              </p:cNvSpPr>
              <p:nvPr/>
            </p:nvSpPr>
            <p:spPr bwMode="auto">
              <a:xfrm>
                <a:off x="3565546" y="5133020"/>
                <a:ext cx="793261" cy="1994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  <a:defRPr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marR="0" lvl="0" indent="0"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사용자 테스트 </a:t>
                </a:r>
              </a:p>
              <a:p>
                <a:pPr marL="0" marR="0" lvl="0" indent="0"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및 관찰</a:t>
                </a:r>
              </a:p>
            </p:txBody>
          </p:sp>
          <p:sp>
            <p:nvSpPr>
              <p:cNvPr id="258" name="TextBox 184"/>
              <p:cNvSpPr txBox="1">
                <a:spLocks noChangeArrowheads="1"/>
              </p:cNvSpPr>
              <p:nvPr/>
            </p:nvSpPr>
            <p:spPr bwMode="auto">
              <a:xfrm>
                <a:off x="3565546" y="4700972"/>
                <a:ext cx="793261" cy="1994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  <a:defRPr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marR="0" lvl="0" indent="0"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사용 행태 관찰</a:t>
                </a:r>
              </a:p>
            </p:txBody>
          </p:sp>
          <p:sp>
            <p:nvSpPr>
              <p:cNvPr id="259" name="TextBox 184"/>
              <p:cNvSpPr txBox="1">
                <a:spLocks noChangeArrowheads="1"/>
              </p:cNvSpPr>
              <p:nvPr/>
            </p:nvSpPr>
            <p:spPr bwMode="auto">
              <a:xfrm>
                <a:off x="3565546" y="4249529"/>
                <a:ext cx="793261" cy="1994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  <a:defRPr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marR="0" lvl="0" indent="0"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사전 인터뷰</a:t>
                </a:r>
              </a:p>
            </p:txBody>
          </p:sp>
          <p:sp>
            <p:nvSpPr>
              <p:cNvPr id="260" name="TextBox 184"/>
              <p:cNvSpPr txBox="1">
                <a:spLocks noChangeArrowheads="1"/>
              </p:cNvSpPr>
              <p:nvPr/>
            </p:nvSpPr>
            <p:spPr bwMode="auto">
              <a:xfrm>
                <a:off x="3565546" y="3709469"/>
                <a:ext cx="793261" cy="1994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  <a:defRPr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marR="0" lvl="0" indent="0" algn="ctr" defTabSz="1042988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테스트 진행 안내</a:t>
                </a:r>
              </a:p>
            </p:txBody>
          </p:sp>
        </p:grpSp>
        <p:cxnSp>
          <p:nvCxnSpPr>
            <p:cNvPr id="227" name="직선 연결선 226"/>
            <p:cNvCxnSpPr/>
            <p:nvPr/>
          </p:nvCxnSpPr>
          <p:spPr>
            <a:xfrm>
              <a:off x="11761192" y="5456257"/>
              <a:ext cx="1437536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dash"/>
            </a:ln>
            <a:effectLst/>
          </p:spPr>
        </p:cxnSp>
        <p:cxnSp>
          <p:nvCxnSpPr>
            <p:cNvPr id="228" name="직선 연결선 227"/>
            <p:cNvCxnSpPr/>
            <p:nvPr/>
          </p:nvCxnSpPr>
          <p:spPr>
            <a:xfrm>
              <a:off x="11761192" y="4808186"/>
              <a:ext cx="1437536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dash"/>
            </a:ln>
            <a:effectLst/>
          </p:spPr>
        </p:cxnSp>
        <p:cxnSp>
          <p:nvCxnSpPr>
            <p:cNvPr id="229" name="직선 연결선 228"/>
            <p:cNvCxnSpPr/>
            <p:nvPr/>
          </p:nvCxnSpPr>
          <p:spPr>
            <a:xfrm>
              <a:off x="11761192" y="4422045"/>
              <a:ext cx="1437536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dash"/>
            </a:ln>
            <a:effectLst/>
          </p:spPr>
        </p:cxnSp>
        <p:cxnSp>
          <p:nvCxnSpPr>
            <p:cNvPr id="230" name="직선 연결선 229"/>
            <p:cNvCxnSpPr/>
            <p:nvPr/>
          </p:nvCxnSpPr>
          <p:spPr>
            <a:xfrm>
              <a:off x="11761192" y="3997500"/>
              <a:ext cx="1437536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dash"/>
            </a:ln>
            <a:effectLst/>
          </p:spPr>
        </p:cxnSp>
        <p:sp>
          <p:nvSpPr>
            <p:cNvPr id="231" name="TextBox 230"/>
            <p:cNvSpPr txBox="1"/>
            <p:nvPr/>
          </p:nvSpPr>
          <p:spPr>
            <a:xfrm>
              <a:off x="7579133" y="3599577"/>
              <a:ext cx="1283303" cy="1422157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square" lIns="0" tIns="0" rIns="0" bIns="0" rtlCol="0" anchor="b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8979637" y="3599578"/>
              <a:ext cx="1283304" cy="1422157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</p:spPr>
          <p:txBody>
            <a:bodyPr wrap="square" lIns="0" tIns="0" rIns="0" bIns="0" rtlCol="0" anchor="b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233" name="Picture 94"/>
            <p:cNvPicPr preferRelativeResize="0"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3471" y="3692063"/>
              <a:ext cx="552773" cy="456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4" name="Picture 95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2703" y="3692063"/>
              <a:ext cx="554586" cy="456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" name="Picture 96"/>
            <p:cNvPicPr preferRelativeResize="0"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2597" y="4194381"/>
              <a:ext cx="554586" cy="455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" name="Picture 97" descr="DSC00046"/>
            <p:cNvPicPr>
              <a:picLocks noChangeAspect="1" noChangeArrowheads="1"/>
            </p:cNvPicPr>
            <p:nvPr/>
          </p:nvPicPr>
          <p:blipFill>
            <a:blip r:embed="rId5">
              <a:lum bright="-16000" contrast="2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3641" y="4187126"/>
              <a:ext cx="567272" cy="455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" name="Rectangle 99"/>
            <p:cNvSpPr>
              <a:spLocks noChangeArrowheads="1"/>
            </p:cNvSpPr>
            <p:nvPr/>
          </p:nvSpPr>
          <p:spPr bwMode="auto">
            <a:xfrm>
              <a:off x="9267671" y="3728065"/>
              <a:ext cx="762974" cy="56800"/>
            </a:xfrm>
            <a:prstGeom prst="rect">
              <a:avLst/>
            </a:prstGeom>
            <a:solidFill>
              <a:srgbClr val="EEEC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086" tIns="52043" rIns="104086" bIns="52043" anchor="ctr"/>
            <a:lstStyle/>
            <a:p>
              <a:pPr marL="0" marR="0" lvl="0" indent="0" defTabSz="1041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38" name="Rectangle 100"/>
            <p:cNvSpPr>
              <a:spLocks noChangeArrowheads="1"/>
            </p:cNvSpPr>
            <p:nvPr/>
          </p:nvSpPr>
          <p:spPr bwMode="auto">
            <a:xfrm>
              <a:off x="9342716" y="3786490"/>
              <a:ext cx="633206" cy="23856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086" tIns="52043" rIns="104086" bIns="52043" anchor="ctr"/>
            <a:lstStyle/>
            <a:p>
              <a:pPr defTabSz="1041400" fontAlgn="auto">
                <a:spcBef>
                  <a:spcPts val="0"/>
                </a:spcBef>
                <a:spcAft>
                  <a:spcPts val="0"/>
                </a:spcAft>
              </a:pPr>
              <a:endParaRPr lang="ko-KR" altLang="ko-KR" sz="11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39" name="Oval 111"/>
            <p:cNvSpPr>
              <a:spLocks noChangeArrowheads="1"/>
            </p:cNvSpPr>
            <p:nvPr/>
          </p:nvSpPr>
          <p:spPr bwMode="auto">
            <a:xfrm>
              <a:off x="9628832" y="4033164"/>
              <a:ext cx="145403" cy="146057"/>
            </a:xfrm>
            <a:prstGeom prst="ellipse">
              <a:avLst/>
            </a:prstGeom>
            <a:solidFill>
              <a:srgbClr val="0077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pattFill prst="dkUpDiag">
                    <a:fgClr>
                      <a:schemeClr val="tx2"/>
                    </a:fgClr>
                    <a:bgClr>
                      <a:srgbClr val="CC3300"/>
                    </a:bgClr>
                  </a:pattFill>
                  <a:round/>
                  <a:headEnd/>
                  <a:tailEnd/>
                </a14:hiddenLine>
              </a:ext>
            </a:extLst>
          </p:spPr>
          <p:txBody>
            <a:bodyPr lIns="104086" tIns="52043" rIns="104086" bIns="52043" anchor="ctr"/>
            <a:lstStyle/>
            <a:p>
              <a:pPr defTabSz="1041400" fontAlgn="auto">
                <a:spcBef>
                  <a:spcPts val="0"/>
                </a:spcBef>
                <a:spcAft>
                  <a:spcPts val="0"/>
                </a:spcAft>
              </a:pPr>
              <a:endParaRPr lang="ko-KR" altLang="ko-KR" sz="11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40" name="Oval 110"/>
            <p:cNvSpPr>
              <a:spLocks noChangeArrowheads="1"/>
            </p:cNvSpPr>
            <p:nvPr/>
          </p:nvSpPr>
          <p:spPr bwMode="auto">
            <a:xfrm>
              <a:off x="9070787" y="4160114"/>
              <a:ext cx="143839" cy="144434"/>
            </a:xfrm>
            <a:prstGeom prst="ellipse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04086" tIns="52043" rIns="104086" bIns="52043" anchor="ctr"/>
            <a:lstStyle/>
            <a:p>
              <a:pPr marL="0" marR="0" lvl="0" indent="0" defTabSz="1041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41" name="Oval 110"/>
            <p:cNvSpPr>
              <a:spLocks noChangeArrowheads="1"/>
            </p:cNvSpPr>
            <p:nvPr/>
          </p:nvSpPr>
          <p:spPr bwMode="auto">
            <a:xfrm>
              <a:off x="9311405" y="4052102"/>
              <a:ext cx="143839" cy="144434"/>
            </a:xfrm>
            <a:prstGeom prst="ellipse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04086" tIns="52043" rIns="104086" bIns="52043" anchor="ctr"/>
            <a:lstStyle/>
            <a:p>
              <a:pPr marL="0" marR="0" lvl="0" indent="0" defTabSz="1041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42" name="Oval 110"/>
            <p:cNvSpPr>
              <a:spLocks noChangeArrowheads="1"/>
            </p:cNvSpPr>
            <p:nvPr/>
          </p:nvSpPr>
          <p:spPr bwMode="auto">
            <a:xfrm>
              <a:off x="9922544" y="4119162"/>
              <a:ext cx="143839" cy="144434"/>
            </a:xfrm>
            <a:prstGeom prst="ellipse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04086" tIns="52043" rIns="104086" bIns="52043" anchor="ctr"/>
            <a:lstStyle/>
            <a:p>
              <a:pPr marL="0" marR="0" lvl="0" indent="0" defTabSz="1041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44" name="TextBox 161"/>
            <p:cNvSpPr txBox="1"/>
            <p:nvPr/>
          </p:nvSpPr>
          <p:spPr>
            <a:xfrm>
              <a:off x="9022268" y="4343231"/>
              <a:ext cx="432976" cy="25716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 extrusionH="12700">
                <a:bevelT w="0"/>
              </a:sp3d>
            </a:bodyPr>
            <a:lstStyle/>
            <a:p>
              <a:pPr>
                <a:lnSpc>
                  <a:spcPct val="90000"/>
                </a:lnSpc>
                <a:buClr>
                  <a:srgbClr val="595959"/>
                </a:buClr>
                <a:buSzPct val="140000"/>
                <a:defRPr/>
              </a:pPr>
              <a:r>
                <a:rPr kumimoji="1" lang="ko-KR" altLang="en-US" sz="9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업무</a:t>
              </a:r>
              <a:endParaRPr kumimoji="1" lang="en-US" altLang="ko-KR" sz="900" dirty="0">
                <a:solidFill>
                  <a:srgbClr val="595959"/>
                </a:solidFill>
                <a:latin typeface="굴림" panose="020B0600000101010101" pitchFamily="50" charset="-127"/>
                <a:ea typeface="굴림" panose="020B0600000101010101" pitchFamily="50" charset="-127"/>
                <a:cs typeface="Yoon 윤명조 540_TT"/>
              </a:endParaRPr>
            </a:p>
            <a:p>
              <a:pPr>
                <a:lnSpc>
                  <a:spcPct val="90000"/>
                </a:lnSpc>
                <a:buClr>
                  <a:srgbClr val="595959"/>
                </a:buClr>
                <a:buSzPct val="140000"/>
                <a:defRPr/>
              </a:pPr>
              <a:r>
                <a:rPr kumimoji="1" lang="ko-KR" altLang="en-US" sz="9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전문가</a:t>
              </a:r>
            </a:p>
          </p:txBody>
        </p:sp>
        <p:sp>
          <p:nvSpPr>
            <p:cNvPr id="245" name="TextBox 161"/>
            <p:cNvSpPr txBox="1"/>
            <p:nvPr/>
          </p:nvSpPr>
          <p:spPr>
            <a:xfrm>
              <a:off x="9238292" y="4251488"/>
              <a:ext cx="385301" cy="1142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 extrusionH="12700">
                <a:bevelT w="0"/>
              </a:sp3d>
            </a:bodyPr>
            <a:lstStyle/>
            <a:p>
              <a:pPr>
                <a:lnSpc>
                  <a:spcPct val="90000"/>
                </a:lnSpc>
                <a:buClr>
                  <a:srgbClr val="595959"/>
                </a:buClr>
                <a:buSzPct val="140000"/>
                <a:defRPr/>
              </a:pPr>
              <a:r>
                <a:rPr kumimoji="1" lang="ko-KR" altLang="en-US" sz="8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진행자</a:t>
              </a:r>
            </a:p>
          </p:txBody>
        </p:sp>
        <p:sp>
          <p:nvSpPr>
            <p:cNvPr id="246" name="TextBox 161"/>
            <p:cNvSpPr txBox="1"/>
            <p:nvPr/>
          </p:nvSpPr>
          <p:spPr>
            <a:xfrm>
              <a:off x="9818170" y="4310656"/>
              <a:ext cx="385301" cy="1142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 extrusionH="12700">
                <a:bevelT w="0"/>
              </a:sp3d>
            </a:bodyPr>
            <a:lstStyle/>
            <a:p>
              <a:pPr>
                <a:lnSpc>
                  <a:spcPct val="90000"/>
                </a:lnSpc>
                <a:buClr>
                  <a:srgbClr val="595959"/>
                </a:buClr>
                <a:buSzPct val="140000"/>
                <a:defRPr/>
              </a:pPr>
              <a:r>
                <a:rPr kumimoji="1" lang="ko-KR" altLang="en-US" sz="8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관찰자</a:t>
              </a:r>
            </a:p>
          </p:txBody>
        </p:sp>
        <p:sp>
          <p:nvSpPr>
            <p:cNvPr id="247" name="직사각형 246"/>
            <p:cNvSpPr/>
            <p:nvPr/>
          </p:nvSpPr>
          <p:spPr>
            <a:xfrm>
              <a:off x="9490319" y="3818413"/>
              <a:ext cx="382875" cy="17086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3600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rPr>
                <a:t>PC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sp>
          <p:nvSpPr>
            <p:cNvPr id="248" name="TextBox 161"/>
            <p:cNvSpPr txBox="1"/>
            <p:nvPr/>
          </p:nvSpPr>
          <p:spPr>
            <a:xfrm>
              <a:off x="9113045" y="4874921"/>
              <a:ext cx="1003486" cy="12465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 extrusionH="12700">
                <a:bevelT w="0"/>
              </a:sp3d>
            </a:bodyPr>
            <a:lstStyle/>
            <a:p>
              <a:pPr>
                <a:lnSpc>
                  <a:spcPct val="90000"/>
                </a:lnSpc>
                <a:buClr>
                  <a:srgbClr val="595959"/>
                </a:buClr>
                <a:buSzPct val="140000"/>
                <a:defRPr/>
              </a:pPr>
              <a:r>
                <a:rPr kumimoji="1" lang="ko-KR" altLang="en-US" sz="85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이동식 </a:t>
              </a:r>
              <a:r>
                <a:rPr kumimoji="1" lang="en-US" altLang="ko-KR" sz="85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UX Lab</a:t>
              </a:r>
            </a:p>
          </p:txBody>
        </p:sp>
        <p:sp>
          <p:nvSpPr>
            <p:cNvPr id="249" name="TextBox 161"/>
            <p:cNvSpPr txBox="1"/>
            <p:nvPr/>
          </p:nvSpPr>
          <p:spPr>
            <a:xfrm>
              <a:off x="7633515" y="4878132"/>
              <a:ext cx="1184018" cy="12143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 extrusionH="12700">
                <a:bevelT w="0"/>
              </a:sp3d>
            </a:bodyPr>
            <a:lstStyle/>
            <a:p>
              <a:pPr>
                <a:lnSpc>
                  <a:spcPct val="90000"/>
                </a:lnSpc>
                <a:buClr>
                  <a:srgbClr val="595959"/>
                </a:buClr>
                <a:buSzPct val="140000"/>
                <a:defRPr/>
              </a:pPr>
              <a:r>
                <a:rPr kumimoji="1" lang="en-US" altLang="ko-KR" sz="85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UX Lab(</a:t>
              </a:r>
              <a:r>
                <a:rPr kumimoji="1" lang="ko-KR" altLang="en-US" sz="850" dirty="0" err="1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제안사</a:t>
              </a:r>
              <a:r>
                <a:rPr kumimoji="1" lang="ko-KR" altLang="en-US" sz="85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 본사</a:t>
              </a:r>
              <a:r>
                <a:rPr kumimoji="1" lang="en-US" altLang="ko-KR" sz="85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)</a:t>
              </a:r>
            </a:p>
          </p:txBody>
        </p:sp>
        <p:sp>
          <p:nvSpPr>
            <p:cNvPr id="250" name="TextBox 161"/>
            <p:cNvSpPr txBox="1"/>
            <p:nvPr/>
          </p:nvSpPr>
          <p:spPr>
            <a:xfrm>
              <a:off x="9569417" y="4189518"/>
              <a:ext cx="385301" cy="11429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 extrusionH="12700">
                <a:bevelT w="0"/>
              </a:sp3d>
            </a:bodyPr>
            <a:lstStyle/>
            <a:p>
              <a:pPr>
                <a:lnSpc>
                  <a:spcPct val="90000"/>
                </a:lnSpc>
                <a:buClr>
                  <a:srgbClr val="595959"/>
                </a:buClr>
                <a:buSzPct val="140000"/>
                <a:defRPr/>
              </a:pPr>
              <a:r>
                <a:rPr kumimoji="1" lang="ko-KR" altLang="en-US" sz="800" dirty="0">
                  <a:solidFill>
                    <a:srgbClr val="595959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Yoon 윤명조 540_TT"/>
                </a:rPr>
                <a:t>참여자</a:t>
              </a: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7333200" y="4680668"/>
            <a:ext cx="1772099" cy="2341191"/>
            <a:chOff x="7531759" y="4680669"/>
            <a:chExt cx="1573540" cy="2275306"/>
          </a:xfrm>
        </p:grpSpPr>
        <p:sp>
          <p:nvSpPr>
            <p:cNvPr id="201" name="직사각형 200"/>
            <p:cNvSpPr/>
            <p:nvPr/>
          </p:nvSpPr>
          <p:spPr bwMode="auto">
            <a:xfrm>
              <a:off x="7532197" y="4680669"/>
              <a:ext cx="1536058" cy="227530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101600" marR="0" lvl="1" indent="-101600" defTabSz="91440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7536329" y="5029937"/>
              <a:ext cx="1523402" cy="401558"/>
              <a:chOff x="8170793" y="5232188"/>
              <a:chExt cx="1872355" cy="520787"/>
            </a:xfrm>
          </p:grpSpPr>
          <p:sp>
            <p:nvSpPr>
              <p:cNvPr id="272" name="AutoShape 136"/>
              <p:cNvSpPr>
                <a:spLocks noChangeArrowheads="1"/>
              </p:cNvSpPr>
              <p:nvPr/>
            </p:nvSpPr>
            <p:spPr bwMode="auto">
              <a:xfrm rot="10800000">
                <a:off x="8810542" y="5232188"/>
                <a:ext cx="1232606" cy="519144"/>
              </a:xfrm>
              <a:prstGeom prst="homePlate">
                <a:avLst>
                  <a:gd name="adj" fmla="val 16602"/>
                </a:avLst>
              </a:prstGeom>
              <a:noFill/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lIns="40979" tIns="0" rIns="40979" bIns="0" anchor="ctr"/>
              <a:lstStyle/>
              <a:p>
                <a:pPr defTabSz="1041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ko-KR" altLang="ko-KR" sz="90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73" name="AutoShape 137" descr="5차전산센터ob-10"/>
              <p:cNvSpPr>
                <a:spLocks noChangeArrowheads="1"/>
              </p:cNvSpPr>
              <p:nvPr/>
            </p:nvSpPr>
            <p:spPr bwMode="auto">
              <a:xfrm>
                <a:off x="8170793" y="5235474"/>
                <a:ext cx="1235956" cy="517501"/>
              </a:xfrm>
              <a:prstGeom prst="homePlate">
                <a:avLst>
                  <a:gd name="adj" fmla="val 16695"/>
                </a:avLst>
              </a:prstGeom>
              <a:blipFill dpi="0" rotWithShape="1">
                <a:blip r:embed="rId6" cstate="print"/>
                <a:srcRect/>
                <a:stretch>
                  <a:fillRect/>
                </a:stretch>
              </a:blipFill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ffectLst>
                <a:outerShdw dist="12700" dir="5400000" algn="ctr" rotWithShape="0">
                  <a:srgbClr val="E4E8E6"/>
                </a:outerShdw>
              </a:effectLst>
            </p:spPr>
            <p:txBody>
              <a:bodyPr lIns="0" tIns="0" rIns="0" bIns="0" anchor="ctr"/>
              <a:lstStyle/>
              <a:p>
                <a:pPr algn="ctr" defTabSz="1068388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1" lang="ko-KR" altLang="en-US" sz="8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어떤 어려움이나 망설임 없이 </a:t>
                </a:r>
                <a:r>
                  <a:rPr kumimoji="1" lang="en-US" altLang="ko-KR" sz="8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Task</a:t>
                </a:r>
                <a:r>
                  <a:rPr kumimoji="1" lang="ko-KR" altLang="en-US" sz="8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를 수행</a:t>
                </a:r>
              </a:p>
            </p:txBody>
          </p:sp>
          <p:sp>
            <p:nvSpPr>
              <p:cNvPr id="282" name="Rectangle 131"/>
              <p:cNvSpPr>
                <a:spLocks noChangeArrowheads="1"/>
              </p:cNvSpPr>
              <p:nvPr/>
            </p:nvSpPr>
            <p:spPr bwMode="auto">
              <a:xfrm>
                <a:off x="9400050" y="5338233"/>
                <a:ext cx="623002" cy="310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 defTabSz="8667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성공</a:t>
                </a:r>
                <a:b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(S→10</a:t>
                </a: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점</a:t>
                </a: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)</a:t>
                </a: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7538455" y="6585396"/>
              <a:ext cx="1521275" cy="370578"/>
              <a:chOff x="8170793" y="7307122"/>
              <a:chExt cx="1874030" cy="519144"/>
            </a:xfrm>
          </p:grpSpPr>
          <p:sp>
            <p:nvSpPr>
              <p:cNvPr id="280" name="AutoShape 144"/>
              <p:cNvSpPr>
                <a:spLocks noChangeArrowheads="1"/>
              </p:cNvSpPr>
              <p:nvPr/>
            </p:nvSpPr>
            <p:spPr bwMode="auto">
              <a:xfrm rot="10800000">
                <a:off x="8812217" y="7307122"/>
                <a:ext cx="1232606" cy="519144"/>
              </a:xfrm>
              <a:prstGeom prst="homePlate">
                <a:avLst>
                  <a:gd name="adj" fmla="val 16602"/>
                </a:avLst>
              </a:prstGeom>
              <a:noFill/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lIns="40979" tIns="0" rIns="40979" bIns="0" anchor="ctr"/>
              <a:lstStyle/>
              <a:p>
                <a:pPr defTabSz="1041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ko-KR" altLang="ko-KR" sz="90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1" name="AutoShape 145" descr="5차전산센터ob-10"/>
              <p:cNvSpPr>
                <a:spLocks noChangeArrowheads="1"/>
              </p:cNvSpPr>
              <p:nvPr/>
            </p:nvSpPr>
            <p:spPr bwMode="auto">
              <a:xfrm>
                <a:off x="8170793" y="7307122"/>
                <a:ext cx="1235956" cy="515858"/>
              </a:xfrm>
              <a:prstGeom prst="homePlate">
                <a:avLst>
                  <a:gd name="adj" fmla="val 16748"/>
                </a:avLst>
              </a:prstGeom>
              <a:blipFill dpi="0" rotWithShape="1">
                <a:blip r:embed="rId7" cstate="print">
                  <a:lum bright="-12000"/>
                </a:blip>
                <a:srcRect/>
                <a:stretch>
                  <a:fillRect/>
                </a:stretch>
              </a:blipFill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ffectLst>
                <a:outerShdw dist="12700" dir="5400000" algn="ctr" rotWithShape="0">
                  <a:srgbClr val="E4E8E6"/>
                </a:outerShdw>
              </a:effectLst>
            </p:spPr>
            <p:txBody>
              <a:bodyPr lIns="0" tIns="0" rIns="0" bIns="0" anchor="ctr"/>
              <a:lstStyle/>
              <a:p>
                <a:pPr algn="ctr" defTabSz="1068388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1" lang="ko-KR" altLang="en-US" sz="8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테스트 의도와 상관없이 수행된 경우</a:t>
                </a:r>
              </a:p>
            </p:txBody>
          </p:sp>
          <p:sp>
            <p:nvSpPr>
              <p:cNvPr id="283" name="Rectangle 132"/>
              <p:cNvSpPr>
                <a:spLocks noChangeArrowheads="1"/>
              </p:cNvSpPr>
              <p:nvPr/>
            </p:nvSpPr>
            <p:spPr bwMode="auto">
              <a:xfrm>
                <a:off x="9408423" y="7395796"/>
                <a:ext cx="607929" cy="335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 defTabSz="8667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제외</a:t>
                </a:r>
                <a:b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(E→</a:t>
                </a: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제외</a:t>
                </a: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)</a:t>
                </a:r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7536329" y="5431495"/>
              <a:ext cx="1568970" cy="396199"/>
              <a:chOff x="8170793" y="5752975"/>
              <a:chExt cx="1932646" cy="519144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8170793" y="5752975"/>
                <a:ext cx="1874030" cy="519144"/>
                <a:chOff x="8170793" y="5752975"/>
                <a:chExt cx="1874030" cy="519144"/>
              </a:xfrm>
            </p:grpSpPr>
            <p:sp>
              <p:nvSpPr>
                <p:cNvPr id="274" name="AutoShape 138"/>
                <p:cNvSpPr>
                  <a:spLocks noChangeArrowheads="1"/>
                </p:cNvSpPr>
                <p:nvPr/>
              </p:nvSpPr>
              <p:spPr bwMode="auto">
                <a:xfrm rot="10800000">
                  <a:off x="8812217" y="5752975"/>
                  <a:ext cx="1232606" cy="519144"/>
                </a:xfrm>
                <a:prstGeom prst="homePlate">
                  <a:avLst>
                    <a:gd name="adj" fmla="val 16602"/>
                  </a:avLst>
                </a:prstGeom>
                <a:noFill/>
                <a:ln w="6350" algn="ctr">
                  <a:solidFill>
                    <a:srgbClr val="B2B2B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lIns="40979" tIns="0" rIns="40979" bIns="0" anchor="ctr"/>
                <a:lstStyle/>
                <a:p>
                  <a:pPr defTabSz="10414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ko-KR" altLang="ko-KR" sz="900">
                    <a:solidFill>
                      <a:srgbClr val="000000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75" name="AutoShape 139" descr="5차전산센터ob-10"/>
                <p:cNvSpPr>
                  <a:spLocks noChangeArrowheads="1"/>
                </p:cNvSpPr>
                <p:nvPr/>
              </p:nvSpPr>
              <p:spPr bwMode="auto">
                <a:xfrm>
                  <a:off x="8170793" y="5752975"/>
                  <a:ext cx="1235956" cy="519144"/>
                </a:xfrm>
                <a:prstGeom prst="homePlate">
                  <a:avLst>
                    <a:gd name="adj" fmla="val 16642"/>
                  </a:avLst>
                </a:prstGeom>
                <a:blipFill dpi="0" rotWithShape="1">
                  <a:blip r:embed="rId6" cstate="print"/>
                  <a:srcRect/>
                  <a:stretch>
                    <a:fillRect/>
                  </a:stretch>
                </a:blipFill>
                <a:ln w="6350" algn="ctr">
                  <a:solidFill>
                    <a:srgbClr val="B2B2B2"/>
                  </a:solidFill>
                  <a:miter lim="800000"/>
                  <a:headEnd/>
                  <a:tailEnd/>
                </a:ln>
                <a:effectLst>
                  <a:outerShdw dist="12700" dir="5400000" algn="ctr" rotWithShape="0">
                    <a:srgbClr val="E4E8E6"/>
                  </a:outerShdw>
                </a:effectLst>
              </p:spPr>
              <p:txBody>
                <a:bodyPr lIns="0" tIns="0" rIns="0" bIns="0" anchor="ctr"/>
                <a:lstStyle/>
                <a:p>
                  <a:pPr algn="ctr" defTabSz="1068388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1" lang="en-US" altLang="ko-KR" sz="8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Task</a:t>
                  </a:r>
                  <a:r>
                    <a:rPr kumimoji="1" lang="ko-KR" altLang="en-US" sz="80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는 완료하였으나</a:t>
                  </a:r>
                  <a:r>
                    <a:rPr kumimoji="1" lang="en-US" altLang="ko-KR" sz="8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/>
                  </a:r>
                  <a:br>
                    <a:rPr kumimoji="1" lang="en-US" altLang="ko-KR" sz="8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</a:br>
                  <a:r>
                    <a:rPr kumimoji="1" lang="ko-KR" altLang="en-US" sz="80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약간 망설인 경우</a:t>
                  </a:r>
                </a:p>
              </p:txBody>
            </p:sp>
          </p:grpSp>
          <p:sp>
            <p:nvSpPr>
              <p:cNvPr id="284" name="Rectangle 133"/>
              <p:cNvSpPr>
                <a:spLocks noChangeArrowheads="1"/>
              </p:cNvSpPr>
              <p:nvPr/>
            </p:nvSpPr>
            <p:spPr bwMode="auto">
              <a:xfrm>
                <a:off x="9321337" y="5877131"/>
                <a:ext cx="782102" cy="3135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 defTabSz="8667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부분성공</a:t>
                </a:r>
              </a:p>
              <a:p>
                <a:pPr algn="ctr" defTabSz="8667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(P1→7.5</a:t>
                </a: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점</a:t>
                </a: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)</a:t>
                </a:r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7537958" y="5834791"/>
              <a:ext cx="1519755" cy="383838"/>
              <a:chOff x="8170793" y="6270476"/>
              <a:chExt cx="1874030" cy="520787"/>
            </a:xfrm>
          </p:grpSpPr>
          <p:sp>
            <p:nvSpPr>
              <p:cNvPr id="276" name="AutoShape 140"/>
              <p:cNvSpPr>
                <a:spLocks noChangeArrowheads="1"/>
              </p:cNvSpPr>
              <p:nvPr/>
            </p:nvSpPr>
            <p:spPr bwMode="auto">
              <a:xfrm rot="10800000">
                <a:off x="8812217" y="6272119"/>
                <a:ext cx="1232606" cy="519144"/>
              </a:xfrm>
              <a:prstGeom prst="homePlate">
                <a:avLst>
                  <a:gd name="adj" fmla="val 16602"/>
                </a:avLst>
              </a:prstGeom>
              <a:noFill/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lIns="40979" tIns="0" rIns="40979" bIns="0" anchor="ctr"/>
              <a:lstStyle/>
              <a:p>
                <a:pPr defTabSz="1041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ko-KR" altLang="ko-KR" sz="90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77" name="AutoShape 141" descr="5차전산센터ob-10"/>
              <p:cNvSpPr>
                <a:spLocks noChangeArrowheads="1"/>
              </p:cNvSpPr>
              <p:nvPr/>
            </p:nvSpPr>
            <p:spPr bwMode="auto">
              <a:xfrm>
                <a:off x="8170793" y="6270476"/>
                <a:ext cx="1235956" cy="519144"/>
              </a:xfrm>
              <a:prstGeom prst="homePlate">
                <a:avLst>
                  <a:gd name="adj" fmla="val 16642"/>
                </a:avLst>
              </a:prstGeom>
              <a:blipFill dpi="0" rotWithShape="1">
                <a:blip r:embed="rId6" cstate="print">
                  <a:lum bright="-12000"/>
                </a:blip>
                <a:srcRect/>
                <a:stretch>
                  <a:fillRect/>
                </a:stretch>
              </a:blipFill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ffectLst>
                <a:outerShdw dist="12700" dir="5400000" algn="ctr" rotWithShape="0">
                  <a:srgbClr val="E4E8E6"/>
                </a:outerShdw>
              </a:effectLst>
            </p:spPr>
            <p:txBody>
              <a:bodyPr lIns="0" tIns="0" rIns="0" bIns="0" anchor="ctr"/>
              <a:lstStyle/>
              <a:p>
                <a:pPr algn="ctr" defTabSz="1068388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1" lang="en-US" altLang="ko-KR" sz="8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Task</a:t>
                </a:r>
                <a:r>
                  <a:rPr kumimoji="1" lang="ko-KR" altLang="en-US" sz="80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는 완료하였으나</a:t>
                </a:r>
                <a:endParaRPr kumimoji="1" lang="en-US" altLang="ko-KR" sz="8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 defTabSz="1068388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1" lang="ko-KR" altLang="en-US" sz="8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한참 동안 헤맨  경우</a:t>
                </a:r>
              </a:p>
            </p:txBody>
          </p:sp>
          <p:sp>
            <p:nvSpPr>
              <p:cNvPr id="285" name="Rectangle 134"/>
              <p:cNvSpPr>
                <a:spLocks noChangeArrowheads="1"/>
              </p:cNvSpPr>
              <p:nvPr/>
            </p:nvSpPr>
            <p:spPr bwMode="auto">
              <a:xfrm>
                <a:off x="9406749" y="6364429"/>
                <a:ext cx="609604" cy="3246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 defTabSz="8667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부분성공</a:t>
                </a:r>
              </a:p>
              <a:p>
                <a:pPr algn="ctr" defTabSz="8667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(P2→5</a:t>
                </a:r>
                <a:r>
                  <a:rPr lang="ko-KR" altLang="en-US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점</a:t>
                </a:r>
                <a:r>
                  <a:rPr lang="en-US" altLang="ko-KR" sz="800" b="1" dirty="0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)</a:t>
                </a:r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7538455" y="6217418"/>
              <a:ext cx="1521275" cy="357994"/>
              <a:chOff x="8170793" y="6787978"/>
              <a:chExt cx="1874030" cy="519144"/>
            </a:xfrm>
          </p:grpSpPr>
          <p:sp>
            <p:nvSpPr>
              <p:cNvPr id="278" name="AutoShape 142"/>
              <p:cNvSpPr>
                <a:spLocks noChangeArrowheads="1"/>
              </p:cNvSpPr>
              <p:nvPr/>
            </p:nvSpPr>
            <p:spPr bwMode="auto">
              <a:xfrm rot="10800000">
                <a:off x="8812217" y="6789621"/>
                <a:ext cx="1232606" cy="517501"/>
              </a:xfrm>
              <a:prstGeom prst="homePlate">
                <a:avLst>
                  <a:gd name="adj" fmla="val 16655"/>
                </a:avLst>
              </a:prstGeom>
              <a:noFill/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lIns="40979" tIns="0" rIns="40979" bIns="0" anchor="ctr"/>
              <a:lstStyle/>
              <a:p>
                <a:pPr defTabSz="1041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ko-KR" altLang="ko-KR" sz="900">
                  <a:solidFill>
                    <a:srgbClr val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79" name="AutoShape 143" descr="5차전산센터ob-10"/>
              <p:cNvSpPr>
                <a:spLocks noChangeArrowheads="1"/>
              </p:cNvSpPr>
              <p:nvPr/>
            </p:nvSpPr>
            <p:spPr bwMode="auto">
              <a:xfrm>
                <a:off x="8170793" y="6787978"/>
                <a:ext cx="1235956" cy="519144"/>
              </a:xfrm>
              <a:prstGeom prst="homePlate">
                <a:avLst>
                  <a:gd name="adj" fmla="val 16642"/>
                </a:avLst>
              </a:prstGeom>
              <a:blipFill dpi="0" rotWithShape="1">
                <a:blip r:embed="rId6" cstate="print">
                  <a:lum bright="-12000"/>
                </a:blip>
                <a:srcRect/>
                <a:stretch>
                  <a:fillRect/>
                </a:stretch>
              </a:blipFill>
              <a:ln w="6350" algn="ctr">
                <a:solidFill>
                  <a:srgbClr val="B2B2B2"/>
                </a:solidFill>
                <a:miter lim="800000"/>
                <a:headEnd/>
                <a:tailEnd/>
              </a:ln>
              <a:effectLst>
                <a:outerShdw dist="12700" dir="5400000" algn="ctr" rotWithShape="0">
                  <a:srgbClr val="E4E8E6"/>
                </a:outerShdw>
              </a:effectLst>
            </p:spPr>
            <p:txBody>
              <a:bodyPr lIns="0" tIns="0" rIns="0" bIns="0" anchor="ctr"/>
              <a:lstStyle/>
              <a:p>
                <a:pPr algn="ctr" defTabSz="1068388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1" lang="ko-KR" altLang="en-US" sz="8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치명적인 오류를 범하거나 포기한 경우</a:t>
                </a:r>
              </a:p>
            </p:txBody>
          </p:sp>
          <p:sp>
            <p:nvSpPr>
              <p:cNvPr id="286" name="Rectangle 135"/>
              <p:cNvSpPr>
                <a:spLocks noChangeArrowheads="1"/>
              </p:cNvSpPr>
              <p:nvPr/>
            </p:nvSpPr>
            <p:spPr bwMode="auto">
              <a:xfrm>
                <a:off x="9445268" y="6869118"/>
                <a:ext cx="532566" cy="347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 defTabSz="8667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800" b="1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실패</a:t>
                </a:r>
                <a:br>
                  <a:rPr lang="ko-KR" altLang="en-US" sz="800" b="1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en-US" altLang="ko-KR" sz="800" b="1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(F→0</a:t>
                </a:r>
                <a:r>
                  <a:rPr lang="ko-KR" altLang="en-US" sz="800" b="1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점</a:t>
                </a:r>
                <a:r>
                  <a:rPr lang="en-US" altLang="ko-KR" sz="800" b="1">
                    <a:solidFill>
                      <a:srgbClr val="262626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)</a:t>
                </a:r>
              </a:p>
            </p:txBody>
          </p:sp>
        </p:grpSp>
        <p:sp>
          <p:nvSpPr>
            <p:cNvPr id="202" name="Rectangle 88"/>
            <p:cNvSpPr>
              <a:spLocks noChangeArrowheads="1"/>
            </p:cNvSpPr>
            <p:nvPr/>
          </p:nvSpPr>
          <p:spPr bwMode="auto">
            <a:xfrm>
              <a:off x="7531759" y="4680669"/>
              <a:ext cx="1536497" cy="37272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F81BD">
                <a:lumMod val="75000"/>
              </a:srgbClr>
            </a:solidFill>
            <a:ln w="6350">
              <a:solidFill>
                <a:srgbClr val="4F81BD">
                  <a:lumMod val="75000"/>
                </a:srgb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-93299" algn="ctr" defTabSz="104305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2692400" algn="l"/>
                  <a:tab pos="5648325" algn="l"/>
                </a:tabLst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 w="11430"/>
                  <a:solidFill>
                    <a:prstClr val="white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rPr>
                <a:t>평가 방법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0076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318772" y="248651"/>
            <a:ext cx="9820317" cy="843519"/>
            <a:chOff x="318763" y="248649"/>
            <a:chExt cx="9820317" cy="843519"/>
          </a:xfrm>
        </p:grpSpPr>
        <p:sp>
          <p:nvSpPr>
            <p:cNvPr id="135" name="TextBox 134"/>
            <p:cNvSpPr txBox="1"/>
            <p:nvPr/>
          </p:nvSpPr>
          <p:spPr>
            <a:xfrm>
              <a:off x="318763" y="568948"/>
              <a:ext cx="9820317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r>
                <a:rPr lang="ko-KR" altLang="en-US" sz="2800" b="1" dirty="0">
                  <a:gradFill>
                    <a:gsLst>
                      <a:gs pos="0">
                        <a:schemeClr val="tx2">
                          <a:lumMod val="50000"/>
                        </a:schemeClr>
                      </a:gs>
                      <a:gs pos="45000">
                        <a:schemeClr val="accent1">
                          <a:lumMod val="75000"/>
                        </a:schemeClr>
                      </a:gs>
                      <a:gs pos="55000">
                        <a:schemeClr val="accent1">
                          <a:lumMod val="75000"/>
                        </a:schemeClr>
                      </a:gs>
                      <a:gs pos="100000">
                        <a:schemeClr val="tx2">
                          <a:lumMod val="75000"/>
                        </a:scheme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정부표준보안정책을 준수한 설계 및 개발로 보안 취약점 제거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21774" y="248649"/>
              <a:ext cx="2561920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 smtClean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4. 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정부표준보안정책 적용</a:t>
              </a:r>
            </a:p>
          </p:txBody>
        </p:sp>
      </p:grpSp>
      <p:sp>
        <p:nvSpPr>
          <p:cNvPr id="18" name="직사각형 17"/>
          <p:cNvSpPr/>
          <p:nvPr/>
        </p:nvSpPr>
        <p:spPr bwMode="auto">
          <a:xfrm>
            <a:off x="342081" y="1366838"/>
            <a:ext cx="4994750" cy="5825603"/>
          </a:xfrm>
          <a:prstGeom prst="rect">
            <a:avLst/>
          </a:prstGeom>
          <a:solidFill>
            <a:schemeClr val="bg1"/>
          </a:solidFill>
          <a:ln w="12700">
            <a:solidFill>
              <a:srgbClr val="84B2E4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342081" y="1366838"/>
            <a:ext cx="4998253" cy="489373"/>
            <a:chOff x="414338" y="1366838"/>
            <a:chExt cx="4875406" cy="489373"/>
          </a:xfrm>
        </p:grpSpPr>
        <p:sp>
          <p:nvSpPr>
            <p:cNvPr id="21" name="직사각형 20"/>
            <p:cNvSpPr/>
            <p:nvPr/>
          </p:nvSpPr>
          <p:spPr bwMode="auto">
            <a:xfrm>
              <a:off x="414338" y="1366838"/>
              <a:ext cx="4875406" cy="489373"/>
            </a:xfrm>
            <a:prstGeom prst="rect">
              <a:avLst/>
            </a:prstGeom>
            <a:gradFill flip="none" rotWithShape="1">
              <a:gsLst>
                <a:gs pos="0">
                  <a:srgbClr val="72A6E0"/>
                </a:gs>
                <a:gs pos="98000">
                  <a:srgbClr val="2C79CE"/>
                </a:gs>
                <a:gs pos="100000">
                  <a:srgbClr val="2D417B"/>
                </a:gs>
              </a:gsLst>
              <a:lin ang="540000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018051">
                <a:defRPr/>
              </a:pPr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2" name="사다리꼴 21"/>
            <p:cNvSpPr/>
            <p:nvPr/>
          </p:nvSpPr>
          <p:spPr bwMode="auto">
            <a:xfrm flipV="1">
              <a:off x="422882" y="1374338"/>
              <a:ext cx="4856610" cy="30000"/>
            </a:xfrm>
            <a:prstGeom prst="trapezoid">
              <a:avLst/>
            </a:prstGeom>
            <a:gradFill flip="none" rotWithShape="1">
              <a:gsLst>
                <a:gs pos="0">
                  <a:schemeClr val="bg1">
                    <a:alpha val="70000"/>
                  </a:schemeClr>
                </a:gs>
                <a:gs pos="76000">
                  <a:schemeClr val="bg1">
                    <a:alpha val="29000"/>
                  </a:schemeClr>
                </a:gs>
                <a:gs pos="92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0"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879399" y="1403609"/>
              <a:ext cx="3945287" cy="415498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algn="ctr" defTabSz="101838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80000"/>
                <a:defRPr/>
              </a:pPr>
              <a:r>
                <a:rPr lang="ko-KR" altLang="en-US" dirty="0">
                  <a:solidFill>
                    <a:schemeClr val="bg1"/>
                  </a:solidFill>
                  <a:effectLst>
                    <a:glow rad="63500">
                      <a:schemeClr val="tx2">
                        <a:lumMod val="60000"/>
                        <a:lumOff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보안 취약점을 고려한 개발 수행</a:t>
              </a:r>
            </a:p>
          </p:txBody>
        </p:sp>
        <p:pic>
          <p:nvPicPr>
            <p:cNvPr id="24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428327" y="1366838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그룹 1"/>
          <p:cNvGrpSpPr/>
          <p:nvPr/>
        </p:nvGrpSpPr>
        <p:grpSpPr>
          <a:xfrm>
            <a:off x="5526410" y="1366838"/>
            <a:ext cx="5019670" cy="5823728"/>
            <a:chOff x="5598669" y="1366838"/>
            <a:chExt cx="4896297" cy="5823728"/>
          </a:xfrm>
        </p:grpSpPr>
        <p:sp>
          <p:nvSpPr>
            <p:cNvPr id="184" name="직사각형 183"/>
            <p:cNvSpPr/>
            <p:nvPr/>
          </p:nvSpPr>
          <p:spPr bwMode="auto">
            <a:xfrm>
              <a:off x="5619560" y="1366838"/>
              <a:ext cx="4871989" cy="58237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101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0"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5" name="직사각형 184"/>
            <p:cNvSpPr/>
            <p:nvPr/>
          </p:nvSpPr>
          <p:spPr bwMode="auto">
            <a:xfrm>
              <a:off x="5619560" y="1366838"/>
              <a:ext cx="4875406" cy="489373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187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5598669" y="1366838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" name="TextBox 187"/>
            <p:cNvSpPr txBox="1"/>
            <p:nvPr/>
          </p:nvSpPr>
          <p:spPr bwMode="auto">
            <a:xfrm>
              <a:off x="5789381" y="1403605"/>
              <a:ext cx="4558220" cy="415498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algn="ctr" defTabSz="101838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80000"/>
                <a:defRPr/>
              </a:pPr>
              <a:r>
                <a:rPr lang="ko-KR" altLang="en-US" dirty="0">
                  <a:solidFill>
                    <a:schemeClr val="bg1"/>
                  </a:solidFill>
                  <a:effectLst>
                    <a:glow rad="63500">
                      <a:schemeClr val="accent1">
                        <a:lumMod val="75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웹 취약점 사전 분석을 통한 </a:t>
              </a:r>
              <a:r>
                <a:rPr lang="ko-KR" altLang="en-US" dirty="0" err="1">
                  <a:solidFill>
                    <a:schemeClr val="bg1"/>
                  </a:solidFill>
                  <a:effectLst>
                    <a:glow rad="63500">
                      <a:schemeClr val="accent1">
                        <a:lumMod val="75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대응개발</a:t>
              </a:r>
              <a:endParaRPr lang="ko-KR" altLang="en-US" dirty="0">
                <a:solidFill>
                  <a:schemeClr val="bg1"/>
                </a:solidFill>
                <a:effectLst>
                  <a:glow rad="63500">
                    <a:schemeClr val="accent1">
                      <a:lumMod val="75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9" name="사다리꼴 188"/>
            <p:cNvSpPr/>
            <p:nvPr/>
          </p:nvSpPr>
          <p:spPr bwMode="auto">
            <a:xfrm flipV="1">
              <a:off x="5628101" y="1374338"/>
              <a:ext cx="4856609" cy="30000"/>
            </a:xfrm>
            <a:prstGeom prst="trapezoid">
              <a:avLst/>
            </a:prstGeom>
            <a:gradFill flip="none" rotWithShape="1">
              <a:gsLst>
                <a:gs pos="0">
                  <a:schemeClr val="bg1">
                    <a:alpha val="70000"/>
                  </a:schemeClr>
                </a:gs>
                <a:gs pos="76000">
                  <a:schemeClr val="bg1">
                    <a:alpha val="29000"/>
                  </a:schemeClr>
                </a:gs>
                <a:gs pos="92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69" tIns="45683" rIns="91369" bIns="45683" anchor="ctr"/>
            <a:lstStyle/>
            <a:p>
              <a:pPr algn="ctr">
                <a:defRPr/>
              </a:pPr>
              <a:endParaRPr kumimoji="0"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직사각형 32"/>
          <p:cNvSpPr/>
          <p:nvPr/>
        </p:nvSpPr>
        <p:spPr bwMode="auto">
          <a:xfrm>
            <a:off x="5549900" y="7146722"/>
            <a:ext cx="4996180" cy="54227"/>
          </a:xfrm>
          <a:prstGeom prst="rect">
            <a:avLst/>
          </a:prstGeom>
          <a:solidFill>
            <a:srgbClr val="4371BB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 indent="-142751" algn="ctr" defTabSz="913607">
              <a:lnSpc>
                <a:spcPct val="110000"/>
              </a:lnSpc>
              <a:buClr>
                <a:sysClr val="windowText" lastClr="000000"/>
              </a:buClr>
              <a:tabLst>
                <a:tab pos="5643425" algn="l"/>
              </a:tabLst>
              <a:defRPr/>
            </a:pPr>
            <a:endParaRPr lang="ko-KR" altLang="en-US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350358" y="7146722"/>
            <a:ext cx="4989976" cy="45719"/>
          </a:xfrm>
          <a:prstGeom prst="rect">
            <a:avLst/>
          </a:prstGeom>
          <a:solidFill>
            <a:srgbClr val="84B2E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 indent="-159174" algn="ctr" defTabSz="1018714">
              <a:lnSpc>
                <a:spcPct val="110000"/>
              </a:lnSpc>
              <a:buClr>
                <a:sysClr val="windowText" lastClr="000000"/>
              </a:buClr>
              <a:tabLst>
                <a:tab pos="6292683" algn="l"/>
              </a:tabLst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455032" y="1934001"/>
            <a:ext cx="4773320" cy="1438553"/>
            <a:chOff x="455032" y="1951342"/>
            <a:chExt cx="4773320" cy="1438553"/>
          </a:xfrm>
        </p:grpSpPr>
        <p:grpSp>
          <p:nvGrpSpPr>
            <p:cNvPr id="44" name="그룹 43"/>
            <p:cNvGrpSpPr/>
            <p:nvPr/>
          </p:nvGrpSpPr>
          <p:grpSpPr>
            <a:xfrm>
              <a:off x="455032" y="1951342"/>
              <a:ext cx="4773320" cy="1438553"/>
              <a:chOff x="7819448" y="1958879"/>
              <a:chExt cx="4629756" cy="1438553"/>
            </a:xfrm>
          </p:grpSpPr>
          <p:grpSp>
            <p:nvGrpSpPr>
              <p:cNvPr id="45" name="그룹 44"/>
              <p:cNvGrpSpPr/>
              <p:nvPr/>
            </p:nvGrpSpPr>
            <p:grpSpPr>
              <a:xfrm>
                <a:off x="7819448" y="1958879"/>
                <a:ext cx="4629756" cy="1438553"/>
                <a:chOff x="8856497" y="2079103"/>
                <a:chExt cx="2476563" cy="1438553"/>
              </a:xfrm>
            </p:grpSpPr>
            <p:sp>
              <p:nvSpPr>
                <p:cNvPr id="48" name="AutoShape 68" descr="강-2단"/>
                <p:cNvSpPr>
                  <a:spLocks noChangeArrowheads="1"/>
                </p:cNvSpPr>
                <p:nvPr/>
              </p:nvSpPr>
              <p:spPr bwMode="auto">
                <a:xfrm>
                  <a:off x="8856497" y="2079103"/>
                  <a:ext cx="2476562" cy="1438553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096" algn="ctr" defTabSz="1481357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89586" algn="l"/>
                    </a:tabLst>
                  </a:pPr>
                  <a:endParaRPr lang="ko-KR" altLang="en-US" sz="13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</p:txBody>
            </p:sp>
            <p:sp>
              <p:nvSpPr>
                <p:cNvPr id="49" name="AutoShape 68" descr="강-2단"/>
                <p:cNvSpPr>
                  <a:spLocks noChangeArrowheads="1"/>
                </p:cNvSpPr>
                <p:nvPr/>
              </p:nvSpPr>
              <p:spPr bwMode="auto">
                <a:xfrm>
                  <a:off x="8856498" y="2079106"/>
                  <a:ext cx="2476562" cy="302946"/>
                </a:xfrm>
                <a:prstGeom prst="round2Same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369" tIns="45683" rIns="91369" bIns="45683" anchor="ctr">
                  <a:scene3d>
                    <a:camera prst="orthographicFront"/>
                    <a:lightRig rig="threePt" dir="t"/>
                  </a:scene3d>
                  <a:sp3d contourW="381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096" algn="ctr" defTabSz="1018212">
                    <a:lnSpc>
                      <a:spcPct val="90000"/>
                    </a:lnSpc>
                    <a:buClr>
                      <a:sysClr val="windowText" lastClr="000000"/>
                    </a:buClr>
                    <a:buSzPct val="140000"/>
                    <a:tabLst>
                      <a:tab pos="6289586" algn="l"/>
                    </a:tabLst>
                  </a:pPr>
                  <a:r>
                    <a:rPr lang="ko-KR" altLang="en-US" sz="140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개발 표준 적용</a:t>
                  </a:r>
                </a:p>
              </p:txBody>
            </p:sp>
          </p:grpSp>
          <p:sp>
            <p:nvSpPr>
              <p:cNvPr id="46" name="Rectangle 71"/>
              <p:cNvSpPr>
                <a:spLocks noChangeArrowheads="1"/>
              </p:cNvSpPr>
              <p:nvPr/>
            </p:nvSpPr>
            <p:spPr bwMode="gray">
              <a:xfrm flipH="1">
                <a:off x="7957150" y="2333507"/>
                <a:ext cx="4492052" cy="96180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/>
            </p:spPr>
            <p:txBody>
              <a:bodyPr wrap="square" lIns="0" tIns="0" rIns="0" bIns="0" anchor="t">
                <a:spAutoFit/>
              </a:bodyPr>
              <a:lstStyle/>
              <a:p>
                <a:pPr marL="108000" indent="-85725" defTabSz="914327" fontAlgn="ctr">
                  <a:spcBef>
                    <a:spcPts val="300"/>
                  </a:spcBef>
                  <a:buClr>
                    <a:srgbClr val="808080"/>
                  </a:buClr>
                  <a:buSzPct val="80000"/>
                  <a:buFont typeface="Arial" pitchFamily="34" charset="0"/>
                  <a:buChar char="•"/>
                </a:pP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W3C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에서 제공하는 </a:t>
                </a:r>
                <a:b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웹 표준화 스펙 적용</a:t>
                </a:r>
              </a:p>
              <a:p>
                <a:pPr marL="108000" indent="-85725" defTabSz="914327" fontAlgn="ctr">
                  <a:spcBef>
                    <a:spcPts val="300"/>
                  </a:spcBef>
                  <a:buClr>
                    <a:srgbClr val="808080"/>
                  </a:buClr>
                  <a:buSzPct val="80000"/>
                  <a:buFont typeface="Arial" pitchFamily="34" charset="0"/>
                  <a:buChar char="•"/>
                </a:pP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표준 </a:t>
                </a: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HTML 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사용</a:t>
                </a:r>
              </a:p>
              <a:p>
                <a:pPr marL="108000" indent="-85725" defTabSz="914327" fontAlgn="ctr">
                  <a:spcBef>
                    <a:spcPts val="300"/>
                  </a:spcBef>
                  <a:buClr>
                    <a:srgbClr val="808080"/>
                  </a:buClr>
                  <a:buSzPct val="80000"/>
                  <a:buFont typeface="Arial" pitchFamily="34" charset="0"/>
                  <a:buChar char="•"/>
                </a:pP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CSS 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사용</a:t>
                </a:r>
              </a:p>
              <a:p>
                <a:pPr marL="108000" indent="-85725" defTabSz="914327" fontAlgn="ctr">
                  <a:spcBef>
                    <a:spcPts val="300"/>
                  </a:spcBef>
                  <a:buClr>
                    <a:srgbClr val="808080"/>
                  </a:buClr>
                  <a:buSzPct val="80000"/>
                  <a:buFont typeface="Arial" pitchFamily="34" charset="0"/>
                  <a:buChar char="•"/>
                </a:pPr>
                <a:r>
                  <a:rPr lang="ko-KR" altLang="en-US" sz="1100" spc="-50" dirty="0" err="1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안전행정부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SW 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개발보안가이드</a:t>
                </a: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(</a:t>
                </a:r>
                <a:r>
                  <a:rPr lang="ko-KR" altLang="en-US" sz="1100" spc="-50" dirty="0" err="1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시큐어코딩</a:t>
                </a: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), </a:t>
                </a:r>
                <a:r>
                  <a:rPr lang="ko-KR" altLang="en-US" sz="1100" spc="-50" dirty="0" err="1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보안약점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ko-KR" altLang="en-US" sz="1100" spc="-50" dirty="0" err="1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진단가이드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 준수</a:t>
                </a:r>
              </a:p>
            </p:txBody>
          </p:sp>
        </p:grpSp>
        <p:sp>
          <p:nvSpPr>
            <p:cNvPr id="50" name="Rectangle 71"/>
            <p:cNvSpPr>
              <a:spLocks noChangeArrowheads="1"/>
            </p:cNvSpPr>
            <p:nvPr/>
          </p:nvSpPr>
          <p:spPr bwMode="gray">
            <a:xfrm flipH="1">
              <a:off x="2756533" y="2342716"/>
              <a:ext cx="1717296" cy="5847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/>
          </p:spPr>
          <p:txBody>
            <a:bodyPr wrap="square" lIns="0" tIns="0" rIns="0" bIns="0" anchor="t">
              <a:spAutoFit/>
            </a:bodyPr>
            <a:lstStyle/>
            <a:p>
              <a:pPr marL="108000" indent="-85725" defTabSz="914327" fontAlgn="ctr">
                <a:spcBef>
                  <a:spcPts val="300"/>
                </a:spcBef>
                <a:buClr>
                  <a:srgbClr val="808080"/>
                </a:buClr>
                <a:buSzPct val="80000"/>
                <a:buFont typeface="Arial" pitchFamily="34" charset="0"/>
                <a:buChar char="•"/>
              </a:pPr>
              <a:r>
                <a:rPr lang="en-US" altLang="ko-KR" sz="11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XML </a:t>
              </a:r>
              <a:r>
                <a:rPr lang="ko-KR" altLang="en-US" sz="11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사용</a:t>
              </a:r>
            </a:p>
            <a:p>
              <a:pPr marL="108000" indent="-85725" defTabSz="914327" fontAlgn="ctr">
                <a:spcBef>
                  <a:spcPts val="300"/>
                </a:spcBef>
                <a:buClr>
                  <a:srgbClr val="808080"/>
                </a:buClr>
                <a:buSzPct val="80000"/>
                <a:buFont typeface="Arial" pitchFamily="34" charset="0"/>
                <a:buChar char="•"/>
              </a:pPr>
              <a:r>
                <a:rPr lang="en-US" altLang="ko-KR" sz="11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DOM </a:t>
              </a:r>
              <a:r>
                <a:rPr lang="ko-KR" altLang="en-US" sz="11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사용</a:t>
              </a:r>
            </a:p>
            <a:p>
              <a:pPr marL="108000" indent="-85725" defTabSz="914327" fontAlgn="ctr">
                <a:spcBef>
                  <a:spcPts val="300"/>
                </a:spcBef>
                <a:buClr>
                  <a:srgbClr val="808080"/>
                </a:buClr>
                <a:buSzPct val="80000"/>
                <a:buFont typeface="Arial" pitchFamily="34" charset="0"/>
                <a:buChar char="•"/>
              </a:pPr>
              <a:r>
                <a:rPr lang="en-US" altLang="ko-KR" sz="11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ECMA Script</a:t>
              </a:r>
              <a:r>
                <a:rPr lang="ko-KR" altLang="en-US" sz="11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사용</a:t>
              </a: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455034" y="3483826"/>
            <a:ext cx="4773320" cy="1276848"/>
            <a:chOff x="455034" y="3437593"/>
            <a:chExt cx="4773320" cy="1276848"/>
          </a:xfrm>
        </p:grpSpPr>
        <p:grpSp>
          <p:nvGrpSpPr>
            <p:cNvPr id="51" name="그룹 50"/>
            <p:cNvGrpSpPr/>
            <p:nvPr/>
          </p:nvGrpSpPr>
          <p:grpSpPr>
            <a:xfrm>
              <a:off x="455034" y="3437593"/>
              <a:ext cx="4773320" cy="1276848"/>
              <a:chOff x="7819448" y="1958880"/>
              <a:chExt cx="4629756" cy="1276848"/>
            </a:xfrm>
          </p:grpSpPr>
          <p:grpSp>
            <p:nvGrpSpPr>
              <p:cNvPr id="52" name="그룹 51"/>
              <p:cNvGrpSpPr/>
              <p:nvPr/>
            </p:nvGrpSpPr>
            <p:grpSpPr>
              <a:xfrm>
                <a:off x="7819448" y="1958880"/>
                <a:ext cx="4629756" cy="1276848"/>
                <a:chOff x="8856497" y="2079104"/>
                <a:chExt cx="2476563" cy="1276848"/>
              </a:xfrm>
            </p:grpSpPr>
            <p:sp>
              <p:nvSpPr>
                <p:cNvPr id="54" name="AutoShape 68" descr="강-2단"/>
                <p:cNvSpPr>
                  <a:spLocks noChangeArrowheads="1"/>
                </p:cNvSpPr>
                <p:nvPr/>
              </p:nvSpPr>
              <p:spPr bwMode="auto">
                <a:xfrm>
                  <a:off x="8856497" y="2079104"/>
                  <a:ext cx="2476562" cy="1276848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096" algn="ctr" defTabSz="1481357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89586" algn="l"/>
                    </a:tabLst>
                  </a:pPr>
                  <a:endParaRPr lang="ko-KR" altLang="en-US" sz="13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</p:txBody>
            </p:sp>
            <p:sp>
              <p:nvSpPr>
                <p:cNvPr id="55" name="AutoShape 68" descr="강-2단"/>
                <p:cNvSpPr>
                  <a:spLocks noChangeArrowheads="1"/>
                </p:cNvSpPr>
                <p:nvPr/>
              </p:nvSpPr>
              <p:spPr bwMode="auto">
                <a:xfrm>
                  <a:off x="8856498" y="2079106"/>
                  <a:ext cx="2476562" cy="302946"/>
                </a:xfrm>
                <a:prstGeom prst="round2Same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369" tIns="45683" rIns="91369" bIns="45683" anchor="ctr">
                  <a:scene3d>
                    <a:camera prst="orthographicFront"/>
                    <a:lightRig rig="threePt" dir="t"/>
                  </a:scene3d>
                  <a:sp3d contourW="381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096" algn="ctr" defTabSz="1018212">
                    <a:lnSpc>
                      <a:spcPct val="90000"/>
                    </a:lnSpc>
                    <a:buClr>
                      <a:sysClr val="windowText" lastClr="000000"/>
                    </a:buClr>
                    <a:buSzPct val="140000"/>
                    <a:tabLst>
                      <a:tab pos="6289586" algn="l"/>
                    </a:tabLst>
                  </a:pPr>
                  <a:r>
                    <a:rPr lang="ko-KR" altLang="en-US" sz="140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개발 시 취약점 제거</a:t>
                  </a:r>
                </a:p>
              </p:txBody>
            </p:sp>
          </p:grpSp>
          <p:sp>
            <p:nvSpPr>
              <p:cNvPr id="53" name="Rectangle 71"/>
              <p:cNvSpPr>
                <a:spLocks noChangeArrowheads="1"/>
              </p:cNvSpPr>
              <p:nvPr/>
            </p:nvSpPr>
            <p:spPr bwMode="gray">
              <a:xfrm flipH="1">
                <a:off x="7957150" y="2333507"/>
                <a:ext cx="2341784" cy="338554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/>
            </p:spPr>
            <p:txBody>
              <a:bodyPr wrap="square" lIns="0" tIns="0" rIns="0" bIns="0" anchor="t">
                <a:spAutoFit/>
              </a:bodyPr>
              <a:lstStyle/>
              <a:p>
                <a:pPr marL="108000" indent="-85725" defTabSz="914327" fontAlgn="ctr">
                  <a:spcBef>
                    <a:spcPts val="300"/>
                  </a:spcBef>
                  <a:buClr>
                    <a:srgbClr val="808080"/>
                  </a:buClr>
                  <a:buSzPct val="80000"/>
                  <a:buFont typeface="Arial" pitchFamily="34" charset="0"/>
                  <a:buChar char="•"/>
                </a:pP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OWASP 1) 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웹 취약점</a:t>
                </a:r>
                <a:r>
                  <a:rPr lang="en-US" altLang="ko-KR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en-US" sz="1100" spc="-50" dirty="0" err="1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제안사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 웹 개발 보안 체크리스트 등을 개발 시 참조</a:t>
                </a:r>
              </a:p>
            </p:txBody>
          </p:sp>
        </p:grpSp>
        <p:pic>
          <p:nvPicPr>
            <p:cNvPr id="57" name="Picture 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2402" y="3795447"/>
              <a:ext cx="1900188" cy="911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그룹 4"/>
          <p:cNvGrpSpPr/>
          <p:nvPr/>
        </p:nvGrpSpPr>
        <p:grpSpPr>
          <a:xfrm>
            <a:off x="467175" y="6305941"/>
            <a:ext cx="4790361" cy="762432"/>
            <a:chOff x="587786" y="4347960"/>
            <a:chExt cx="6765859" cy="762432"/>
          </a:xfrm>
        </p:grpSpPr>
        <p:sp>
          <p:nvSpPr>
            <p:cNvPr id="71" name="AutoShape 49"/>
            <p:cNvSpPr>
              <a:spLocks noChangeArrowheads="1"/>
            </p:cNvSpPr>
            <p:nvPr/>
          </p:nvSpPr>
          <p:spPr bwMode="auto">
            <a:xfrm>
              <a:off x="2244731" y="4351784"/>
              <a:ext cx="4708422" cy="74540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2000">
                  <a:srgbClr val="FEFEFE"/>
                </a:gs>
                <a:gs pos="100000">
                  <a:srgbClr val="EAEAEA"/>
                </a:gs>
              </a:gsLst>
              <a:lin ang="108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lang="ko-KR" altLang="ko-KR" sz="9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72" name="그룹 71"/>
            <p:cNvGrpSpPr/>
            <p:nvPr/>
          </p:nvGrpSpPr>
          <p:grpSpPr>
            <a:xfrm>
              <a:off x="587786" y="4347960"/>
              <a:ext cx="1640645" cy="762432"/>
              <a:chOff x="6746402" y="3834397"/>
              <a:chExt cx="1404312" cy="950712"/>
            </a:xfrm>
          </p:grpSpPr>
          <p:sp>
            <p:nvSpPr>
              <p:cNvPr id="73" name="Freeform 8"/>
              <p:cNvSpPr>
                <a:spLocks/>
              </p:cNvSpPr>
              <p:nvPr/>
            </p:nvSpPr>
            <p:spPr bwMode="auto">
              <a:xfrm rot="16200000" flipH="1" flipV="1">
                <a:off x="7386999" y="3194506"/>
                <a:ext cx="123824" cy="1403606"/>
              </a:xfrm>
              <a:custGeom>
                <a:avLst/>
                <a:gdLst>
                  <a:gd name="T0" fmla="*/ 0 w 294"/>
                  <a:gd name="T1" fmla="*/ 0 h 635"/>
                  <a:gd name="T2" fmla="*/ 0 w 294"/>
                  <a:gd name="T3" fmla="*/ 0 h 635"/>
                  <a:gd name="T4" fmla="*/ 0 w 294"/>
                  <a:gd name="T5" fmla="*/ 968702 h 635"/>
                  <a:gd name="T6" fmla="*/ 0 w 294"/>
                  <a:gd name="T7" fmla="*/ 968702 h 6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635"/>
                  <a:gd name="T14" fmla="*/ 294 w 294"/>
                  <a:gd name="T15" fmla="*/ 635 h 6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635">
                    <a:moveTo>
                      <a:pt x="294" y="0"/>
                    </a:moveTo>
                    <a:lnTo>
                      <a:pt x="0" y="0"/>
                    </a:lnTo>
                    <a:lnTo>
                      <a:pt x="0" y="635"/>
                    </a:lnTo>
                    <a:lnTo>
                      <a:pt x="294" y="635"/>
                    </a:lnTo>
                  </a:path>
                </a:pathLst>
              </a:custGeom>
              <a:noFill/>
              <a:ln w="38100">
                <a:solidFill>
                  <a:srgbClr val="689BC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74" name="Freeform 9"/>
              <p:cNvSpPr>
                <a:spLocks/>
              </p:cNvSpPr>
              <p:nvPr/>
            </p:nvSpPr>
            <p:spPr bwMode="auto">
              <a:xfrm rot="5400000" flipH="1">
                <a:off x="7039921" y="3675022"/>
                <a:ext cx="816568" cy="1403606"/>
              </a:xfrm>
              <a:custGeom>
                <a:avLst/>
                <a:gdLst>
                  <a:gd name="T0" fmla="*/ 14 w 294"/>
                  <a:gd name="T1" fmla="*/ 0 h 635"/>
                  <a:gd name="T2" fmla="*/ 0 w 294"/>
                  <a:gd name="T3" fmla="*/ 0 h 635"/>
                  <a:gd name="T4" fmla="*/ 0 w 294"/>
                  <a:gd name="T5" fmla="*/ 968702 h 635"/>
                  <a:gd name="T6" fmla="*/ 14 w 294"/>
                  <a:gd name="T7" fmla="*/ 968702 h 6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635"/>
                  <a:gd name="T14" fmla="*/ 294 w 294"/>
                  <a:gd name="T15" fmla="*/ 635 h 6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635">
                    <a:moveTo>
                      <a:pt x="294" y="0"/>
                    </a:moveTo>
                    <a:lnTo>
                      <a:pt x="0" y="0"/>
                    </a:lnTo>
                    <a:lnTo>
                      <a:pt x="0" y="635"/>
                    </a:lnTo>
                    <a:lnTo>
                      <a:pt x="294" y="635"/>
                    </a:lnTo>
                  </a:path>
                </a:pathLst>
              </a:custGeom>
              <a:noFill/>
              <a:ln w="38100">
                <a:solidFill>
                  <a:srgbClr val="AAC9E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75" name="Rectangle 12"/>
              <p:cNvSpPr>
                <a:spLocks noChangeArrowheads="1"/>
              </p:cNvSpPr>
              <p:nvPr/>
            </p:nvSpPr>
            <p:spPr bwMode="auto">
              <a:xfrm>
                <a:off x="6938658" y="4178305"/>
                <a:ext cx="1054234" cy="2935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lvl="1" algn="ctr" defTabSz="1066286" latinLnBrk="0">
                  <a:lnSpc>
                    <a:spcPct val="90000"/>
                  </a:lnSpc>
                  <a:buClr>
                    <a:srgbClr val="000000"/>
                  </a:buClr>
                  <a:buSzPct val="80000"/>
                  <a:tabLst>
                    <a:tab pos="814888" algn="l"/>
                  </a:tabLst>
                  <a:defRPr/>
                </a:pPr>
                <a:r>
                  <a:rPr lang="ko-KR" altLang="en-US" sz="1700" dirty="0">
                    <a:solidFill>
                      <a:srgbClr val="21212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고려사항</a:t>
                </a:r>
              </a:p>
            </p:txBody>
          </p:sp>
        </p:grpSp>
        <p:sp>
          <p:nvSpPr>
            <p:cNvPr id="76" name="Rectangle 67"/>
            <p:cNvSpPr>
              <a:spLocks noChangeArrowheads="1"/>
            </p:cNvSpPr>
            <p:nvPr/>
          </p:nvSpPr>
          <p:spPr bwMode="auto">
            <a:xfrm>
              <a:off x="2313228" y="4474576"/>
              <a:ext cx="5040417" cy="50013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marL="108000" indent="-85725" defTabSz="914327" fontAlgn="ctr">
                <a:spcBef>
                  <a:spcPts val="300"/>
                </a:spcBef>
                <a:spcAft>
                  <a:spcPct val="0"/>
                </a:spcAft>
                <a:buClr>
                  <a:srgbClr val="808080"/>
                </a:buClr>
                <a:buSzPct val="80000"/>
                <a:buFont typeface="Arial" pitchFamily="34" charset="0"/>
                <a:buChar char="•"/>
                <a:defRPr/>
              </a:pPr>
              <a:r>
                <a:rPr lang="ko-KR" altLang="en-US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보안 취약점 진단 및 문제점을 제거할 수 있도록 개발에 반영</a:t>
              </a:r>
            </a:p>
            <a:p>
              <a:pPr marL="108000" indent="-85725" defTabSz="914327" fontAlgn="ctr">
                <a:spcBef>
                  <a:spcPts val="300"/>
                </a:spcBef>
                <a:spcAft>
                  <a:spcPct val="0"/>
                </a:spcAft>
                <a:buClr>
                  <a:srgbClr val="808080"/>
                </a:buClr>
                <a:buSzPct val="80000"/>
                <a:buFont typeface="Arial" pitchFamily="34" charset="0"/>
                <a:buChar char="•"/>
                <a:defRPr/>
              </a:pPr>
              <a:r>
                <a:rPr lang="ko-KR" altLang="en-US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웹 접근성 문제를 해결하는 방안은 엄격한 ‘웹 표준화 </a:t>
              </a:r>
              <a:r>
                <a:rPr lang="ko-KR" altLang="en-US" sz="1000" spc="-50" dirty="0" err="1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가이드’에</a:t>
              </a:r>
              <a:r>
                <a:rPr lang="ko-KR" altLang="en-US" sz="10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 맞추어 웹 사이트를 개발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55030" y="4871946"/>
            <a:ext cx="4773320" cy="1313096"/>
            <a:chOff x="455030" y="4810302"/>
            <a:chExt cx="4773320" cy="1313096"/>
          </a:xfrm>
        </p:grpSpPr>
        <p:grpSp>
          <p:nvGrpSpPr>
            <p:cNvPr id="78" name="그룹 77"/>
            <p:cNvGrpSpPr/>
            <p:nvPr/>
          </p:nvGrpSpPr>
          <p:grpSpPr>
            <a:xfrm>
              <a:off x="455030" y="4810302"/>
              <a:ext cx="4773320" cy="1313096"/>
              <a:chOff x="7819448" y="1958880"/>
              <a:chExt cx="4629756" cy="1313096"/>
            </a:xfrm>
          </p:grpSpPr>
          <p:grpSp>
            <p:nvGrpSpPr>
              <p:cNvPr id="79" name="그룹 78"/>
              <p:cNvGrpSpPr/>
              <p:nvPr/>
            </p:nvGrpSpPr>
            <p:grpSpPr>
              <a:xfrm>
                <a:off x="7819448" y="1958880"/>
                <a:ext cx="4629756" cy="1313096"/>
                <a:chOff x="8856497" y="2079104"/>
                <a:chExt cx="2476563" cy="1313096"/>
              </a:xfrm>
            </p:grpSpPr>
            <p:sp>
              <p:nvSpPr>
                <p:cNvPr id="81" name="AutoShape 68" descr="강-2단"/>
                <p:cNvSpPr>
                  <a:spLocks noChangeArrowheads="1"/>
                </p:cNvSpPr>
                <p:nvPr/>
              </p:nvSpPr>
              <p:spPr bwMode="auto">
                <a:xfrm>
                  <a:off x="8856497" y="2079104"/>
                  <a:ext cx="2476562" cy="1313096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096" algn="ctr" defTabSz="1481357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89586" algn="l"/>
                    </a:tabLst>
                  </a:pPr>
                  <a:endParaRPr lang="ko-KR" altLang="en-US" sz="13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</p:txBody>
            </p:sp>
            <p:sp>
              <p:nvSpPr>
                <p:cNvPr id="82" name="AutoShape 68" descr="강-2단"/>
                <p:cNvSpPr>
                  <a:spLocks noChangeArrowheads="1"/>
                </p:cNvSpPr>
                <p:nvPr/>
              </p:nvSpPr>
              <p:spPr bwMode="auto">
                <a:xfrm>
                  <a:off x="8856498" y="2079106"/>
                  <a:ext cx="2476562" cy="302946"/>
                </a:xfrm>
                <a:prstGeom prst="round2Same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369" tIns="45683" rIns="91369" bIns="45683" anchor="ctr">
                  <a:scene3d>
                    <a:camera prst="orthographicFront"/>
                    <a:lightRig rig="threePt" dir="t"/>
                  </a:scene3d>
                  <a:sp3d contourW="381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096" algn="ctr" defTabSz="1018212">
                    <a:lnSpc>
                      <a:spcPct val="90000"/>
                    </a:lnSpc>
                    <a:buClr>
                      <a:sysClr val="windowText" lastClr="000000"/>
                    </a:buClr>
                    <a:buSzPct val="140000"/>
                    <a:tabLst>
                      <a:tab pos="6289586" algn="l"/>
                    </a:tabLst>
                  </a:pPr>
                  <a:r>
                    <a:rPr lang="ko-KR" altLang="en-US" sz="140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웹 취약점 점검 및 보완</a:t>
                  </a:r>
                </a:p>
              </p:txBody>
            </p:sp>
          </p:grpSp>
          <p:sp>
            <p:nvSpPr>
              <p:cNvPr id="80" name="Rectangle 71"/>
              <p:cNvSpPr>
                <a:spLocks noChangeArrowheads="1"/>
              </p:cNvSpPr>
              <p:nvPr/>
            </p:nvSpPr>
            <p:spPr bwMode="gray">
              <a:xfrm flipH="1">
                <a:off x="7957150" y="2333507"/>
                <a:ext cx="2341784" cy="338554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/>
            </p:spPr>
            <p:txBody>
              <a:bodyPr wrap="square" lIns="0" tIns="0" rIns="0" bIns="0" anchor="t">
                <a:spAutoFit/>
              </a:bodyPr>
              <a:lstStyle/>
              <a:p>
                <a:pPr marL="108000" indent="-85725" defTabSz="914327" fontAlgn="ctr">
                  <a:spcBef>
                    <a:spcPts val="300"/>
                  </a:spcBef>
                  <a:buClr>
                    <a:srgbClr val="808080"/>
                  </a:buClr>
                  <a:buSzPct val="80000"/>
                  <a:buFont typeface="Arial" pitchFamily="34" charset="0"/>
                  <a:buChar char="•"/>
                </a:pP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전문 </a:t>
                </a:r>
                <a:r>
                  <a:rPr lang="ko-KR" altLang="en-US" sz="1100" spc="-50" dirty="0" err="1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진단인력에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 의한 웹 취약점 진단 및 보완을 통한 </a:t>
                </a:r>
                <a:r>
                  <a:rPr lang="ko-KR" altLang="en-US" sz="1100" spc="-50" dirty="0" err="1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보안성</a:t>
                </a:r>
                <a:r>
                  <a:rPr lang="ko-KR" altLang="en-US" sz="1100" spc="-50" dirty="0">
                    <a:gradFill>
                      <a:gsLst>
                        <a:gs pos="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 검증</a:t>
                </a:r>
              </a:p>
            </p:txBody>
          </p:sp>
        </p:grpSp>
        <p:sp>
          <p:nvSpPr>
            <p:cNvPr id="63" name="object 38"/>
            <p:cNvSpPr/>
            <p:nvPr/>
          </p:nvSpPr>
          <p:spPr>
            <a:xfrm>
              <a:off x="3222401" y="5152030"/>
              <a:ext cx="1965467" cy="9351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sz="130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08" name="모서리가 둥근 직사각형 107"/>
          <p:cNvSpPr/>
          <p:nvPr/>
        </p:nvSpPr>
        <p:spPr bwMode="auto">
          <a:xfrm>
            <a:off x="5667107" y="5155061"/>
            <a:ext cx="4764149" cy="19545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42751" algn="ctr" defTabSz="1329173" eaLnBrk="0" hangingPunct="0">
              <a:buClr>
                <a:sysClr val="windowText" lastClr="000000"/>
              </a:buClr>
              <a:tabLst>
                <a:tab pos="5643425" algn="l"/>
              </a:tabLst>
            </a:pPr>
            <a:endParaRPr lang="ko-KR" altLang="en-US" sz="1100" kern="0" dirty="0">
              <a:solidFill>
                <a:srgbClr val="292929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9" name="양쪽 모서리가 둥근 사각형 108"/>
          <p:cNvSpPr/>
          <p:nvPr/>
        </p:nvSpPr>
        <p:spPr bwMode="auto">
          <a:xfrm>
            <a:off x="5666622" y="5002609"/>
            <a:ext cx="4762521" cy="364742"/>
          </a:xfrm>
          <a:prstGeom prst="round2SameRect">
            <a:avLst/>
          </a:prstGeom>
          <a:solidFill>
            <a:srgbClr val="4371BB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142751" algn="ctr" defTabSz="913607">
              <a:lnSpc>
                <a:spcPct val="90000"/>
              </a:lnSpc>
              <a:buClr>
                <a:sysClr val="windowText" lastClr="000000"/>
              </a:buClr>
              <a:buSzPct val="90000"/>
              <a:tabLst>
                <a:tab pos="5643425" algn="l"/>
              </a:tabLst>
              <a:defRPr/>
            </a:pPr>
            <a:r>
              <a:rPr lang="ko-KR" altLang="en-US" sz="14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주요 대응 기술</a:t>
            </a:r>
          </a:p>
        </p:txBody>
      </p:sp>
      <p:sp>
        <p:nvSpPr>
          <p:cNvPr id="96" name="AutoShape 64" descr="Untitled-1"/>
          <p:cNvSpPr>
            <a:spLocks noChangeArrowheads="1"/>
          </p:cNvSpPr>
          <p:nvPr/>
        </p:nvSpPr>
        <p:spPr bwMode="auto">
          <a:xfrm>
            <a:off x="5740791" y="5467949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en-US" altLang="ko-KR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Hidden URL </a:t>
            </a: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탐색</a:t>
            </a:r>
          </a:p>
        </p:txBody>
      </p:sp>
      <p:sp>
        <p:nvSpPr>
          <p:cNvPr id="112" name="AutoShape 64" descr="Untitled-1"/>
          <p:cNvSpPr>
            <a:spLocks noChangeArrowheads="1"/>
          </p:cNvSpPr>
          <p:nvPr/>
        </p:nvSpPr>
        <p:spPr bwMode="auto">
          <a:xfrm>
            <a:off x="8089733" y="5465506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en-US" altLang="ko-KR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SQL Injection </a:t>
            </a: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점검</a:t>
            </a:r>
          </a:p>
        </p:txBody>
      </p:sp>
      <p:sp>
        <p:nvSpPr>
          <p:cNvPr id="113" name="AutoShape 64" descr="Untitled-1"/>
          <p:cNvSpPr>
            <a:spLocks noChangeArrowheads="1"/>
          </p:cNvSpPr>
          <p:nvPr/>
        </p:nvSpPr>
        <p:spPr bwMode="auto">
          <a:xfrm>
            <a:off x="5740791" y="5882313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en-US" altLang="ko-KR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File Up/Download </a:t>
            </a: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취약점 분석</a:t>
            </a:r>
          </a:p>
        </p:txBody>
      </p:sp>
      <p:sp>
        <p:nvSpPr>
          <p:cNvPr id="114" name="AutoShape 64" descr="Untitled-1"/>
          <p:cNvSpPr>
            <a:spLocks noChangeArrowheads="1"/>
          </p:cNvSpPr>
          <p:nvPr/>
        </p:nvSpPr>
        <p:spPr bwMode="auto">
          <a:xfrm>
            <a:off x="8089733" y="5879870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인자 값에 의한 오류 가능성 점검</a:t>
            </a:r>
          </a:p>
        </p:txBody>
      </p:sp>
      <p:sp>
        <p:nvSpPr>
          <p:cNvPr id="115" name="AutoShape 64" descr="Untitled-1"/>
          <p:cNvSpPr>
            <a:spLocks noChangeArrowheads="1"/>
          </p:cNvSpPr>
          <p:nvPr/>
        </p:nvSpPr>
        <p:spPr bwMode="auto">
          <a:xfrm>
            <a:off x="5740791" y="6296677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000" spc="-50" dirty="0" err="1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쿠키변조</a:t>
            </a: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가능성 점검</a:t>
            </a:r>
          </a:p>
        </p:txBody>
      </p:sp>
      <p:sp>
        <p:nvSpPr>
          <p:cNvPr id="116" name="AutoShape 64" descr="Untitled-1"/>
          <p:cNvSpPr>
            <a:spLocks noChangeArrowheads="1"/>
          </p:cNvSpPr>
          <p:nvPr/>
        </p:nvSpPr>
        <p:spPr bwMode="auto">
          <a:xfrm>
            <a:off x="8089733" y="6294234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사이트 위장 공격 대응  분석</a:t>
            </a:r>
          </a:p>
        </p:txBody>
      </p:sp>
      <p:sp>
        <p:nvSpPr>
          <p:cNvPr id="117" name="AutoShape 64" descr="Untitled-1"/>
          <p:cNvSpPr>
            <a:spLocks noChangeArrowheads="1"/>
          </p:cNvSpPr>
          <p:nvPr/>
        </p:nvSpPr>
        <p:spPr bwMode="auto">
          <a:xfrm>
            <a:off x="5740791" y="6711042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개인 정보 </a:t>
            </a:r>
            <a:r>
              <a:rPr lang="ko-KR" altLang="en-US" sz="1000" spc="-50" dirty="0" err="1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추출가능</a:t>
            </a: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여부 분석</a:t>
            </a:r>
          </a:p>
        </p:txBody>
      </p:sp>
      <p:sp>
        <p:nvSpPr>
          <p:cNvPr id="118" name="AutoShape 64" descr="Untitled-1"/>
          <p:cNvSpPr>
            <a:spLocks noChangeArrowheads="1"/>
          </p:cNvSpPr>
          <p:nvPr/>
        </p:nvSpPr>
        <p:spPr bwMode="auto">
          <a:xfrm>
            <a:off x="8089733" y="6708599"/>
            <a:ext cx="2229662" cy="338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rgbClr val="95C0D3"/>
            </a:solidFill>
            <a:miter lim="800000"/>
            <a:headEnd/>
            <a:tailEnd/>
          </a:ln>
          <a:effectLst>
            <a:innerShdw blurRad="228600">
              <a:srgbClr val="85B2D1"/>
            </a:innerShdw>
          </a:effectLst>
        </p:spPr>
        <p:txBody>
          <a:bodyPr wrap="none" lIns="36000" tIns="36000" rIns="36000" bIns="36000" anchor="ctr"/>
          <a:lstStyle/>
          <a:p>
            <a:pPr algn="ctr" defTabSz="1018286" fontAlgn="ctr">
              <a:spcBef>
                <a:spcPts val="600"/>
              </a:spcBef>
              <a:spcAft>
                <a:spcPct val="0"/>
              </a:spcAft>
            </a:pPr>
            <a:r>
              <a:rPr lang="ko-KR" altLang="en-US" sz="10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굴림" panose="020B0600000101010101" pitchFamily="50" charset="-127"/>
                <a:ea typeface="굴림" panose="020B0600000101010101" pitchFamily="50" charset="-127"/>
              </a:rPr>
              <a:t> 기타 취약점 발생 가능성 대응 기술 적용</a:t>
            </a:r>
          </a:p>
        </p:txBody>
      </p:sp>
      <p:pic>
        <p:nvPicPr>
          <p:cNvPr id="122" name="Picture 17" descr="Untitled-3 copy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16200000">
            <a:off x="7857452" y="3646023"/>
            <a:ext cx="459665" cy="2240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" name="그룹 16"/>
          <p:cNvGrpSpPr/>
          <p:nvPr/>
        </p:nvGrpSpPr>
        <p:grpSpPr>
          <a:xfrm>
            <a:off x="5657938" y="1923112"/>
            <a:ext cx="4773320" cy="2816528"/>
            <a:chOff x="5657938" y="1923112"/>
            <a:chExt cx="4773320" cy="2816528"/>
          </a:xfrm>
        </p:grpSpPr>
        <p:grpSp>
          <p:nvGrpSpPr>
            <p:cNvPr id="92" name="그룹 91"/>
            <p:cNvGrpSpPr/>
            <p:nvPr/>
          </p:nvGrpSpPr>
          <p:grpSpPr>
            <a:xfrm>
              <a:off x="5657938" y="1923112"/>
              <a:ext cx="4773320" cy="2816528"/>
              <a:chOff x="8856497" y="2079103"/>
              <a:chExt cx="2476563" cy="2891660"/>
            </a:xfrm>
          </p:grpSpPr>
          <p:sp>
            <p:nvSpPr>
              <p:cNvPr id="94" name="AutoShape 68" descr="강-2단"/>
              <p:cNvSpPr>
                <a:spLocks noChangeArrowheads="1"/>
              </p:cNvSpPr>
              <p:nvPr/>
            </p:nvSpPr>
            <p:spPr bwMode="auto">
              <a:xfrm>
                <a:off x="8856497" y="2079103"/>
                <a:ext cx="2476562" cy="2891660"/>
              </a:xfrm>
              <a:prstGeom prst="round2SameRect">
                <a:avLst>
                  <a:gd name="adj1" fmla="val 4545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50000"/>
                  </a:schemeClr>
                </a:solidFill>
                <a:prstDash val="solid"/>
              </a:ln>
              <a:effectLst>
                <a:outerShdw blurRad="25400" algn="ctr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096" algn="ctr" defTabSz="1481357" eaLnBrk="0" hangingPunct="0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6289586" algn="l"/>
                  </a:tabLst>
                </a:pPr>
                <a:endParaRPr lang="ko-KR" altLang="en-US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sym typeface="Monotype Sorts" pitchFamily="2" charset="2"/>
                </a:endParaRPr>
              </a:p>
            </p:txBody>
          </p:sp>
          <p:sp>
            <p:nvSpPr>
              <p:cNvPr id="95" name="AutoShape 68" descr="강-2단"/>
              <p:cNvSpPr>
                <a:spLocks noChangeArrowheads="1"/>
              </p:cNvSpPr>
              <p:nvPr/>
            </p:nvSpPr>
            <p:spPr bwMode="auto">
              <a:xfrm>
                <a:off x="8856498" y="2079106"/>
                <a:ext cx="2476562" cy="302946"/>
              </a:xfrm>
              <a:prstGeom prst="round2Same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9" tIns="45683" rIns="91369" bIns="45683" anchor="ctr"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096" algn="ctr" defTabSz="1018212">
                  <a:lnSpc>
                    <a:spcPct val="90000"/>
                  </a:lnSpc>
                  <a:buClr>
                    <a:sysClr val="windowText" lastClr="000000"/>
                  </a:buClr>
                  <a:buSzPct val="140000"/>
                  <a:tabLst>
                    <a:tab pos="6289586" algn="l"/>
                  </a:tabLst>
                </a:pPr>
                <a:r>
                  <a:rPr lang="en-US" altLang="ko-KR" sz="14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OWASP</a:t>
                </a:r>
                <a:r>
                  <a:rPr lang="ko-KR" altLang="en-US" sz="14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의 </a:t>
                </a:r>
                <a:r>
                  <a:rPr lang="en-US" altLang="ko-KR" sz="14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10</a:t>
                </a:r>
                <a:r>
                  <a:rPr lang="ko-KR" altLang="en-US" sz="14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rPr>
                  <a:t>대 웹 취약점</a:t>
                </a:r>
              </a:p>
            </p:txBody>
          </p:sp>
        </p:grpSp>
        <p:sp>
          <p:nvSpPr>
            <p:cNvPr id="98" name="모서리가 둥근 직사각형 97"/>
            <p:cNvSpPr/>
            <p:nvPr/>
          </p:nvSpPr>
          <p:spPr bwMode="auto">
            <a:xfrm rot="10800000" flipV="1">
              <a:off x="5742681" y="2299370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검증되지 않은 </a:t>
              </a:r>
              <a:r>
                <a:rPr lang="ko-KR" altLang="en-US" sz="10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파라미터의</a:t>
              </a: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허용</a:t>
              </a:r>
            </a:p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en-US" altLang="ko-KR" sz="10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Unvalidated</a:t>
              </a: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Parameters)</a:t>
              </a:r>
            </a:p>
          </p:txBody>
        </p:sp>
        <p:sp>
          <p:nvSpPr>
            <p:cNvPr id="99" name="모서리가 둥근 직사각형 98"/>
            <p:cNvSpPr/>
            <p:nvPr/>
          </p:nvSpPr>
          <p:spPr bwMode="auto">
            <a:xfrm rot="10800000" flipV="1">
              <a:off x="8115802" y="2294757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시스템 명령어 삽입 허용</a:t>
              </a:r>
            </a:p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(Command Injection  Flaws)</a:t>
              </a:r>
            </a:p>
          </p:txBody>
        </p:sp>
        <p:sp>
          <p:nvSpPr>
            <p:cNvPr id="100" name="모서리가 둥근 직사각형 99"/>
            <p:cNvSpPr/>
            <p:nvPr/>
          </p:nvSpPr>
          <p:spPr bwMode="auto">
            <a:xfrm rot="10800000" flipV="1">
              <a:off x="5742681" y="2787836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부적절한 접근 통제</a:t>
              </a:r>
            </a:p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(Broken Access Control)</a:t>
              </a:r>
            </a:p>
          </p:txBody>
        </p:sp>
        <p:sp>
          <p:nvSpPr>
            <p:cNvPr id="101" name="모서리가 둥근 직사각형 100"/>
            <p:cNvSpPr/>
            <p:nvPr/>
          </p:nvSpPr>
          <p:spPr bwMode="auto">
            <a:xfrm rot="10800000" flipV="1">
              <a:off x="8115802" y="2783223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잘못된 오류 처리 </a:t>
              </a:r>
            </a:p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(Error Handling Problems)</a:t>
              </a:r>
            </a:p>
          </p:txBody>
        </p:sp>
        <p:sp>
          <p:nvSpPr>
            <p:cNvPr id="102" name="모서리가 둥근 직사각형 101"/>
            <p:cNvSpPr/>
            <p:nvPr/>
          </p:nvSpPr>
          <p:spPr bwMode="auto">
            <a:xfrm rot="10800000" flipV="1">
              <a:off x="5742681" y="3276302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부적절한 계정과 세션 관리 </a:t>
              </a:r>
            </a:p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(Broken Account and </a:t>
              </a:r>
              <a:b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Session Management)</a:t>
              </a:r>
            </a:p>
          </p:txBody>
        </p:sp>
        <p:sp>
          <p:nvSpPr>
            <p:cNvPr id="103" name="모서리가 둥근 직사각형 102"/>
            <p:cNvSpPr/>
            <p:nvPr/>
          </p:nvSpPr>
          <p:spPr bwMode="auto">
            <a:xfrm rot="10800000" flipV="1">
              <a:off x="8115802" y="3271689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안전하지 않은 </a:t>
              </a:r>
            </a:p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암호화 메커니즘 사용</a:t>
              </a:r>
            </a:p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(Insecure Use of Cryptography)</a:t>
              </a:r>
            </a:p>
          </p:txBody>
        </p:sp>
        <p:sp>
          <p:nvSpPr>
            <p:cNvPr id="104" name="모서리가 둥근 직사각형 103"/>
            <p:cNvSpPr/>
            <p:nvPr/>
          </p:nvSpPr>
          <p:spPr bwMode="auto">
            <a:xfrm rot="10800000" flipV="1">
              <a:off x="5742682" y="3764768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크로스 사이트 </a:t>
              </a:r>
              <a:r>
                <a:rPr lang="ko-KR" altLang="en-US" sz="10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스크립팅</a:t>
              </a: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허점 </a:t>
              </a:r>
            </a:p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(Cross-Site Scripting(XSS) Flaws)</a:t>
              </a:r>
            </a:p>
          </p:txBody>
        </p:sp>
        <p:sp>
          <p:nvSpPr>
            <p:cNvPr id="105" name="모서리가 둥근 직사각형 104"/>
            <p:cNvSpPr/>
            <p:nvPr/>
          </p:nvSpPr>
          <p:spPr bwMode="auto">
            <a:xfrm rot="10800000" flipV="1">
              <a:off x="8115802" y="3760155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관리 허점</a:t>
              </a:r>
            </a:p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(Remote Administration Flaws)</a:t>
              </a:r>
            </a:p>
          </p:txBody>
        </p:sp>
        <p:sp>
          <p:nvSpPr>
            <p:cNvPr id="106" name="모서리가 둥근 직사각형 105"/>
            <p:cNvSpPr/>
            <p:nvPr/>
          </p:nvSpPr>
          <p:spPr bwMode="auto">
            <a:xfrm rot="10800000" flipV="1">
              <a:off x="5742682" y="4253234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버퍼 </a:t>
              </a:r>
              <a:r>
                <a:rPr lang="ko-KR" altLang="en-US" sz="10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오버플로우</a:t>
              </a:r>
              <a:endPara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marL="0" lvl="1" indent="-159111" algn="ctr" defTabSz="1018306"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(Buffer Overflows)</a:t>
              </a:r>
            </a:p>
          </p:txBody>
        </p:sp>
        <p:sp>
          <p:nvSpPr>
            <p:cNvPr id="107" name="모서리가 둥근 직사각형 106"/>
            <p:cNvSpPr/>
            <p:nvPr/>
          </p:nvSpPr>
          <p:spPr bwMode="auto">
            <a:xfrm rot="10800000" flipV="1">
              <a:off x="8115802" y="4248621"/>
              <a:ext cx="2227772" cy="413615"/>
            </a:xfrm>
            <a:prstGeom prst="roundRect">
              <a:avLst>
                <a:gd name="adj" fmla="val 10471"/>
              </a:avLst>
            </a:prstGeom>
            <a:solidFill>
              <a:srgbClr val="DFDF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30" tIns="50915" rIns="101830" bIns="50915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웹과 </a:t>
              </a: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WAS </a:t>
              </a:r>
              <a:r>
                <a:rPr lang="ko-KR" altLang="en-US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서버의 구성 설정상의 오류</a:t>
              </a:r>
            </a:p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(Web and Application Server </a:t>
              </a:r>
            </a:p>
            <a:p>
              <a:pPr marL="0" lvl="1" indent="-159111" algn="ctr" defTabSz="1018306">
                <a:lnSpc>
                  <a:spcPct val="80000"/>
                </a:lnSpc>
                <a:buClr>
                  <a:sysClr val="windowText" lastClr="000000"/>
                </a:buClr>
                <a:tabLst>
                  <a:tab pos="6290163" algn="l"/>
                </a:tabLst>
                <a:defRPr/>
              </a:pPr>
              <a:r>
                <a:rPr lang="en-US" altLang="ko-KR" sz="10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Misconfiguration)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578128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130" y="2336357"/>
            <a:ext cx="3175708" cy="400025"/>
          </a:xfrm>
          <a:prstGeom prst="rect">
            <a:avLst/>
          </a:prstGeom>
          <a:noFill/>
        </p:spPr>
        <p:txBody>
          <a:bodyPr wrap="none" lIns="91360" tIns="45678" rIns="91360" bIns="45678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indent="0">
              <a:spcBef>
                <a:spcPts val="1000"/>
              </a:spcBef>
              <a:buNone/>
              <a:defRPr sz="2400">
                <a:solidFill>
                  <a:srgbClr val="FF6600"/>
                </a:solidFill>
              </a:defRPr>
            </a:lvl1pPr>
          </a:lstStyle>
          <a:p>
            <a:pPr defTabSz="1066799"/>
            <a:r>
              <a: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성공적인 프로젝트를 위한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2275267" y="2645163"/>
            <a:ext cx="4081989" cy="59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ko-KR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사업관리 방안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047095" y="2271043"/>
            <a:ext cx="901815" cy="102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6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6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1754699" y="2522051"/>
            <a:ext cx="901815" cy="718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30" tIns="50915" rIns="101830" bIns="50915">
            <a:spAutoFit/>
          </a:bodyPr>
          <a:lstStyle/>
          <a:p>
            <a:pPr defTabSz="1196849">
              <a:spcBef>
                <a:spcPct val="0"/>
              </a:spcBef>
            </a:pPr>
            <a:r>
              <a:rPr lang="en-US" altLang="ko-KR" sz="4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4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9190559" y="648222"/>
            <a:ext cx="1655243" cy="487626"/>
            <a:chOff x="9190558" y="648221"/>
            <a:chExt cx="1655243" cy="487626"/>
          </a:xfrm>
        </p:grpSpPr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91905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Ⅰ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9774758" y="648221"/>
              <a:ext cx="526411" cy="48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Ⅱ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0333559" y="648221"/>
              <a:ext cx="512242" cy="48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1910" tIns="50955" rIns="101910" bIns="50955">
              <a:spAutoFit/>
              <a:scene3d>
                <a:camera prst="orthographicFront"/>
                <a:lightRig rig="threePt" dir="t"/>
              </a:scene3d>
              <a:sp3d contourW="31750">
                <a:bevelT w="0" h="19050"/>
                <a:extrusionClr>
                  <a:schemeClr val="accent1">
                    <a:lumMod val="50000"/>
                  </a:schemeClr>
                </a:extrusionClr>
                <a:contourClr>
                  <a:schemeClr val="bg1"/>
                </a:contourClr>
              </a:sp3d>
            </a:bodyPr>
            <a:lstStyle/>
            <a:p>
              <a:pPr defTabSz="1196849">
                <a:spcBef>
                  <a:spcPct val="0"/>
                </a:spcBef>
              </a:pPr>
              <a:r>
                <a:rPr lang="en-US" altLang="ko-KR" sz="2500" dirty="0">
                  <a:solidFill>
                    <a:prstClr val="white">
                      <a:lumMod val="50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Ⅲ</a:t>
              </a:r>
              <a:endParaRPr lang="ko-KR" altLang="en-US" sz="2500" dirty="0">
                <a:solidFill>
                  <a:prstClr val="white">
                    <a:lumMod val="50000"/>
                  </a:prstClr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2" name="텍스트 개체 틀 36">
            <a:extLst>
              <a:ext uri="{FF2B5EF4-FFF2-40B4-BE49-F238E27FC236}">
                <a16:creationId xmlns:a16="http://schemas.microsoft.com/office/drawing/2014/main" xmlns="" id="{8359E8A1-2AE7-415A-BF4E-906F550DD607}"/>
              </a:ext>
            </a:extLst>
          </p:cNvPr>
          <p:cNvSpPr txBox="1">
            <a:spLocks/>
          </p:cNvSpPr>
          <p:nvPr/>
        </p:nvSpPr>
        <p:spPr>
          <a:xfrm>
            <a:off x="3437157" y="3997967"/>
            <a:ext cx="247824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수행조직 및 투입인력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" name="텍스트 개체 틀 36">
            <a:extLst>
              <a:ext uri="{FF2B5EF4-FFF2-40B4-BE49-F238E27FC236}">
                <a16:creationId xmlns:a16="http://schemas.microsoft.com/office/drawing/2014/main" xmlns="" id="{C1351C4F-5D50-406B-9E32-F33AD02942FF}"/>
              </a:ext>
            </a:extLst>
          </p:cNvPr>
          <p:cNvSpPr txBox="1">
            <a:spLocks/>
          </p:cNvSpPr>
          <p:nvPr/>
        </p:nvSpPr>
        <p:spPr>
          <a:xfrm>
            <a:off x="3437157" y="4534540"/>
            <a:ext cx="162384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contourW="31750" prstMaterial="flat">
              <a:bevelT w="1270" h="6350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761940" eaLnBrk="0" hangingPunct="0">
              <a:tabLst>
                <a:tab pos="5647876" algn="l"/>
              </a:tabLst>
              <a:defRPr sz="1600">
                <a:ln w="11430">
                  <a:noFill/>
                </a:ln>
                <a:gradFill flip="none" rotWithShape="1">
                  <a:gsLst>
                    <a:gs pos="100000">
                      <a:schemeClr val="tx2">
                        <a:lumMod val="50000"/>
                      </a:schemeClr>
                    </a:gs>
                    <a:gs pos="24000">
                      <a:srgbClr val="0058B0"/>
                    </a:gs>
                    <a:gs pos="58000">
                      <a:srgbClr val="003399"/>
                    </a:gs>
                  </a:gsLst>
                  <a:lin ang="16200000" scaled="1"/>
                  <a:tileRect/>
                </a:gradFill>
                <a:latin typeface="나눔고딕 ExtraBold" pitchFamily="50" charset="-127"/>
                <a:ea typeface="나눔고딕 ExtraBold" pitchFamily="50" charset="-127"/>
                <a:cs typeface="Arial" pitchFamily="34" charset="0"/>
              </a:defRPr>
            </a:lvl1pPr>
            <a:lvl2pPr marL="457164" defTabSz="914327">
              <a:defRPr sz="1800"/>
            </a:lvl2pPr>
            <a:lvl3pPr marL="914327" defTabSz="914327">
              <a:defRPr sz="1800"/>
            </a:lvl3pPr>
            <a:lvl4pPr marL="1371491" defTabSz="914327">
              <a:defRPr sz="1800"/>
            </a:lvl4pPr>
            <a:lvl5pPr marL="1828655" defTabSz="914327">
              <a:defRPr sz="1800"/>
            </a:lvl5pPr>
            <a:lvl6pPr marL="2285818" defTabSz="914327">
              <a:defRPr sz="1800"/>
            </a:lvl6pPr>
            <a:lvl7pPr marL="2742982" defTabSz="914327">
              <a:defRPr sz="1800"/>
            </a:lvl7pPr>
            <a:lvl8pPr marL="3200146" defTabSz="914327">
              <a:defRPr sz="1800"/>
            </a:lvl8pPr>
            <a:lvl9pPr marL="3657309" defTabSz="914327">
              <a:defRPr sz="1800"/>
            </a:lvl9pPr>
          </a:lstStyle>
          <a:p>
            <a:pPr algn="l"/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사업수행 일정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871109F0-4EBD-4B30-A859-226C1ACA24E6}"/>
              </a:ext>
            </a:extLst>
          </p:cNvPr>
          <p:cNvGrpSpPr/>
          <p:nvPr/>
        </p:nvGrpSpPr>
        <p:grpSpPr>
          <a:xfrm>
            <a:off x="2678972" y="3969135"/>
            <a:ext cx="545242" cy="365436"/>
            <a:chOff x="2678971" y="3665215"/>
            <a:chExt cx="545242" cy="365436"/>
          </a:xfrm>
        </p:grpSpPr>
        <p:sp>
          <p:nvSpPr>
            <p:cNvPr id="19" name="양쪽 모서리가 둥근 사각형 18">
              <a:extLst>
                <a:ext uri="{FF2B5EF4-FFF2-40B4-BE49-F238E27FC236}">
                  <a16:creationId xmlns:a16="http://schemas.microsoft.com/office/drawing/2014/main" xmlns="" id="{DD8EC9F2-D3A3-4142-A2F1-4A820F4E214F}"/>
                </a:ext>
              </a:extLst>
            </p:cNvPr>
            <p:cNvSpPr/>
            <p:nvPr/>
          </p:nvSpPr>
          <p:spPr>
            <a:xfrm rot="16200000">
              <a:off x="2768874" y="3575312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E93104A4-44E1-4283-A2DF-07D2495713C0}"/>
                </a:ext>
              </a:extLst>
            </p:cNvPr>
            <p:cNvSpPr txBox="1"/>
            <p:nvPr/>
          </p:nvSpPr>
          <p:spPr>
            <a:xfrm>
              <a:off x="2856457" y="3715861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01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E1EA3E7D-F7B2-4296-9E8A-22BA01B82FF7}"/>
              </a:ext>
            </a:extLst>
          </p:cNvPr>
          <p:cNvGrpSpPr/>
          <p:nvPr/>
        </p:nvGrpSpPr>
        <p:grpSpPr>
          <a:xfrm>
            <a:off x="2678972" y="4505710"/>
            <a:ext cx="545242" cy="365436"/>
            <a:chOff x="2678971" y="4201790"/>
            <a:chExt cx="545242" cy="365436"/>
          </a:xfrm>
        </p:grpSpPr>
        <p:sp>
          <p:nvSpPr>
            <p:cNvPr id="22" name="양쪽 모서리가 둥근 사각형 34">
              <a:extLst>
                <a:ext uri="{FF2B5EF4-FFF2-40B4-BE49-F238E27FC236}">
                  <a16:creationId xmlns:a16="http://schemas.microsoft.com/office/drawing/2014/main" xmlns="" id="{D3BB3EFB-D684-4324-AB57-52DAF1F84EF3}"/>
                </a:ext>
              </a:extLst>
            </p:cNvPr>
            <p:cNvSpPr/>
            <p:nvPr/>
          </p:nvSpPr>
          <p:spPr>
            <a:xfrm rot="16200000">
              <a:off x="2768874" y="4111887"/>
              <a:ext cx="365436" cy="54524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4785D1"/>
                </a:gs>
                <a:gs pos="73000">
                  <a:srgbClr val="4371BB"/>
                </a:gs>
                <a:gs pos="3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 w="12700">
              <a:noFill/>
            </a:ln>
            <a:effectLst>
              <a:innerShdw blurRad="381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accent1">
                    <a:lumMod val="50000"/>
                  </a:schemeClr>
                </a:contourClr>
              </a:sp3d>
            </a:bodyPr>
            <a:lstStyle/>
            <a:p>
              <a:pPr algn="ctr" defTabSz="913607"/>
              <a:endParaRPr lang="ko-KR" altLang="en-US" sz="1100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CFC85B40-F83C-4CCD-8376-229A9BF8E4FC}"/>
                </a:ext>
              </a:extLst>
            </p:cNvPr>
            <p:cNvSpPr txBox="1"/>
            <p:nvPr/>
          </p:nvSpPr>
          <p:spPr>
            <a:xfrm>
              <a:off x="2856457" y="4252436"/>
              <a:ext cx="237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02</a:t>
              </a:r>
              <a:endParaRPr lang="ko-KR" altLang="en-US" sz="16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E55BE8EE-ADB0-4AB2-A6B5-EA8C1BB8201D}"/>
              </a:ext>
            </a:extLst>
          </p:cNvPr>
          <p:cNvGrpSpPr/>
          <p:nvPr/>
        </p:nvGrpSpPr>
        <p:grpSpPr>
          <a:xfrm>
            <a:off x="2678972" y="5042285"/>
            <a:ext cx="1784106" cy="365436"/>
            <a:chOff x="2678971" y="4738365"/>
            <a:chExt cx="1784106" cy="365436"/>
          </a:xfrm>
        </p:grpSpPr>
        <p:sp>
          <p:nvSpPr>
            <p:cNvPr id="25" name="텍스트 개체 틀 36">
              <a:extLst>
                <a:ext uri="{FF2B5EF4-FFF2-40B4-BE49-F238E27FC236}">
                  <a16:creationId xmlns:a16="http://schemas.microsoft.com/office/drawing/2014/main" xmlns="" id="{13F9A6FD-CCD6-4DB7-B01D-FB305885FEFC}"/>
                </a:ext>
              </a:extLst>
            </p:cNvPr>
            <p:cNvSpPr txBox="1">
              <a:spLocks/>
            </p:cNvSpPr>
            <p:nvPr/>
          </p:nvSpPr>
          <p:spPr>
            <a:xfrm>
              <a:off x="3437155" y="4767197"/>
              <a:ext cx="102592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품질관리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xmlns="" id="{13F187C4-1390-4825-9118-D0BDCF068CBE}"/>
                </a:ext>
              </a:extLst>
            </p:cNvPr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27" name="양쪽 모서리가 둥근 사각형 37">
                <a:extLst>
                  <a:ext uri="{FF2B5EF4-FFF2-40B4-BE49-F238E27FC236}">
                    <a16:creationId xmlns:a16="http://schemas.microsoft.com/office/drawing/2014/main" xmlns="" id="{DC8EAF64-6665-41AB-9240-82D5CB5F44B5}"/>
                  </a:ext>
                </a:extLst>
              </p:cNvPr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1F7BE3D5-7CE5-40EC-98C7-149979D5FDA5}"/>
                  </a:ext>
                </a:extLst>
              </p:cNvPr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03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29" name="자유형 47">
            <a:extLst>
              <a:ext uri="{FF2B5EF4-FFF2-40B4-BE49-F238E27FC236}">
                <a16:creationId xmlns:a16="http://schemas.microsoft.com/office/drawing/2014/main" xmlns="" id="{5A3651DE-1AAD-4EBF-9D20-CE551433FC59}"/>
              </a:ext>
            </a:extLst>
          </p:cNvPr>
          <p:cNvSpPr/>
          <p:nvPr/>
        </p:nvSpPr>
        <p:spPr>
          <a:xfrm>
            <a:off x="3224216" y="440852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자유형 48">
            <a:extLst>
              <a:ext uri="{FF2B5EF4-FFF2-40B4-BE49-F238E27FC236}">
                <a16:creationId xmlns:a16="http://schemas.microsoft.com/office/drawing/2014/main" xmlns="" id="{2E33A175-2ADE-4EEC-B016-80F7302633FB}"/>
              </a:ext>
            </a:extLst>
          </p:cNvPr>
          <p:cNvSpPr/>
          <p:nvPr/>
        </p:nvSpPr>
        <p:spPr>
          <a:xfrm>
            <a:off x="3224216" y="496097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" name="자유형 49">
            <a:extLst>
              <a:ext uri="{FF2B5EF4-FFF2-40B4-BE49-F238E27FC236}">
                <a16:creationId xmlns:a16="http://schemas.microsoft.com/office/drawing/2014/main" xmlns="" id="{349E976C-6832-4084-BC88-1E9C16ACF7F8}"/>
              </a:ext>
            </a:extLst>
          </p:cNvPr>
          <p:cNvSpPr/>
          <p:nvPr/>
        </p:nvSpPr>
        <p:spPr>
          <a:xfrm>
            <a:off x="3224216" y="549437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398B5E2E-03DD-4A0A-A411-5FC83E2E1152}"/>
              </a:ext>
            </a:extLst>
          </p:cNvPr>
          <p:cNvGrpSpPr/>
          <p:nvPr/>
        </p:nvGrpSpPr>
        <p:grpSpPr>
          <a:xfrm>
            <a:off x="2688413" y="5594735"/>
            <a:ext cx="1784106" cy="365436"/>
            <a:chOff x="2678971" y="4738365"/>
            <a:chExt cx="1784106" cy="365436"/>
          </a:xfrm>
        </p:grpSpPr>
        <p:sp>
          <p:nvSpPr>
            <p:cNvPr id="33" name="텍스트 개체 틀 36">
              <a:extLst>
                <a:ext uri="{FF2B5EF4-FFF2-40B4-BE49-F238E27FC236}">
                  <a16:creationId xmlns:a16="http://schemas.microsoft.com/office/drawing/2014/main" xmlns="" id="{B0409CF8-0255-415C-87C2-38358B3E72EF}"/>
                </a:ext>
              </a:extLst>
            </p:cNvPr>
            <p:cNvSpPr txBox="1">
              <a:spLocks/>
            </p:cNvSpPr>
            <p:nvPr/>
          </p:nvSpPr>
          <p:spPr>
            <a:xfrm>
              <a:off x="3437155" y="4767197"/>
              <a:ext cx="102592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contourW="31750" prstMaterial="flat">
                <a:bevelT w="1270" h="6350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 defTabSz="761940" eaLnBrk="0" hangingPunct="0">
                <a:tabLst>
                  <a:tab pos="5647876" algn="l"/>
                </a:tabLst>
                <a:defRPr sz="1600">
                  <a:ln w="11430">
                    <a:noFill/>
                  </a:ln>
                  <a:gradFill flip="none" rotWithShape="1">
                    <a:gsLst>
                      <a:gs pos="100000">
                        <a:schemeClr val="tx2">
                          <a:lumMod val="50000"/>
                        </a:schemeClr>
                      </a:gs>
                      <a:gs pos="24000">
                        <a:srgbClr val="0058B0"/>
                      </a:gs>
                      <a:gs pos="58000">
                        <a:srgbClr val="003399"/>
                      </a:gs>
                    </a:gsLst>
                    <a:lin ang="162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  <a:cs typeface="Arial" pitchFamily="34" charset="0"/>
                </a:defRPr>
              </a:lvl1pPr>
              <a:lvl2pPr marL="457164" defTabSz="914327">
                <a:defRPr sz="1800"/>
              </a:lvl2pPr>
              <a:lvl3pPr marL="914327" defTabSz="914327">
                <a:defRPr sz="1800"/>
              </a:lvl3pPr>
              <a:lvl4pPr marL="1371491" defTabSz="914327">
                <a:defRPr sz="1800"/>
              </a:lvl4pPr>
              <a:lvl5pPr marL="1828655" defTabSz="914327">
                <a:defRPr sz="1800"/>
              </a:lvl5pPr>
              <a:lvl6pPr marL="2285818" defTabSz="914327">
                <a:defRPr sz="1800"/>
              </a:lvl6pPr>
              <a:lvl7pPr marL="2742982" defTabSz="914327">
                <a:defRPr sz="1800"/>
              </a:lvl7pPr>
              <a:lvl8pPr marL="3200146" defTabSz="914327">
                <a:defRPr sz="1800"/>
              </a:lvl8pPr>
              <a:lvl9pPr marL="3657309" defTabSz="914327">
                <a:defRPr sz="1800"/>
              </a:lvl9pPr>
            </a:lstStyle>
            <a:p>
              <a:pPr algn="l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위험관리</a:t>
              </a:r>
              <a:endPara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xmlns="" id="{BE853E25-B4DA-4872-AF5A-72DA01F53729}"/>
                </a:ext>
              </a:extLst>
            </p:cNvPr>
            <p:cNvGrpSpPr/>
            <p:nvPr/>
          </p:nvGrpSpPr>
          <p:grpSpPr>
            <a:xfrm>
              <a:off x="2678971" y="4738365"/>
              <a:ext cx="545242" cy="365436"/>
              <a:chOff x="2678971" y="4738365"/>
              <a:chExt cx="545242" cy="365436"/>
            </a:xfrm>
          </p:grpSpPr>
          <p:sp>
            <p:nvSpPr>
              <p:cNvPr id="35" name="양쪽 모서리가 둥근 사각형 29">
                <a:extLst>
                  <a:ext uri="{FF2B5EF4-FFF2-40B4-BE49-F238E27FC236}">
                    <a16:creationId xmlns:a16="http://schemas.microsoft.com/office/drawing/2014/main" xmlns="" id="{F1F94B43-6A55-4EFB-A84B-72958CAEC610}"/>
                  </a:ext>
                </a:extLst>
              </p:cNvPr>
              <p:cNvSpPr/>
              <p:nvPr/>
            </p:nvSpPr>
            <p:spPr>
              <a:xfrm rot="16200000">
                <a:off x="2768874" y="4648462"/>
                <a:ext cx="365436" cy="54524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785D1"/>
                  </a:gs>
                  <a:gs pos="73000">
                    <a:srgbClr val="4371BB"/>
                  </a:gs>
                  <a:gs pos="3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913607"/>
                <a:endParaRPr lang="ko-KR" altLang="en-US" sz="1100" dirty="0">
                  <a:solidFill>
                    <a:schemeClr val="bg1"/>
                  </a:solidFill>
                  <a:effectLst>
                    <a:glow rad="101600">
                      <a:schemeClr val="tx2">
                        <a:alpha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70749A85-8251-434F-AE9D-54EE170D557E}"/>
                  </a:ext>
                </a:extLst>
              </p:cNvPr>
              <p:cNvSpPr txBox="1"/>
              <p:nvPr/>
            </p:nvSpPr>
            <p:spPr>
              <a:xfrm>
                <a:off x="2856457" y="4789011"/>
                <a:ext cx="237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04</a:t>
                </a:r>
                <a:endParaRPr lang="ko-KR" altLang="en-US" sz="16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37" name="자유형 31">
            <a:extLst>
              <a:ext uri="{FF2B5EF4-FFF2-40B4-BE49-F238E27FC236}">
                <a16:creationId xmlns:a16="http://schemas.microsoft.com/office/drawing/2014/main" xmlns="" id="{F4889E93-8BB7-4D8E-802E-E8B6E4A9B557}"/>
              </a:ext>
            </a:extLst>
          </p:cNvPr>
          <p:cNvSpPr/>
          <p:nvPr/>
        </p:nvSpPr>
        <p:spPr>
          <a:xfrm>
            <a:off x="3233657" y="6046824"/>
            <a:ext cx="2446460" cy="45719"/>
          </a:xfrm>
          <a:custGeom>
            <a:avLst/>
            <a:gdLst>
              <a:gd name="connsiteX0" fmla="*/ 0 w 3876675"/>
              <a:gd name="connsiteY0" fmla="*/ 0 h 0"/>
              <a:gd name="connsiteX1" fmla="*/ 3876675 w 38766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76675">
                <a:moveTo>
                  <a:pt x="0" y="0"/>
                </a:moveTo>
                <a:lnTo>
                  <a:pt x="3876675" y="0"/>
                </a:lnTo>
              </a:path>
            </a:pathLst>
          </a:custGeom>
          <a:noFill/>
          <a:ln w="6350" algn="ctr">
            <a:solidFill>
              <a:schemeClr val="bg1">
                <a:lumMod val="75000"/>
              </a:schemeClr>
            </a:solidFill>
            <a:prstDash val="dash"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055035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/>
          <p:cNvSpPr/>
          <p:nvPr/>
        </p:nvSpPr>
        <p:spPr bwMode="auto">
          <a:xfrm>
            <a:off x="414339" y="1726547"/>
            <a:ext cx="7022868" cy="5314395"/>
          </a:xfrm>
          <a:prstGeom prst="rect">
            <a:avLst/>
          </a:prstGeom>
          <a:solidFill>
            <a:schemeClr val="bg1"/>
          </a:solidFill>
          <a:ln w="12700">
            <a:solidFill>
              <a:srgbClr val="84B2E4"/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1018212"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56" name="Picture 167" descr="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19" t="8446" r="2921" b="25337"/>
          <a:stretch>
            <a:fillRect/>
          </a:stretch>
        </p:blipFill>
        <p:spPr bwMode="auto">
          <a:xfrm>
            <a:off x="4201489" y="1935484"/>
            <a:ext cx="2981318" cy="217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8" name="그룹 107"/>
          <p:cNvGrpSpPr/>
          <p:nvPr/>
        </p:nvGrpSpPr>
        <p:grpSpPr>
          <a:xfrm>
            <a:off x="318767" y="248651"/>
            <a:ext cx="7117654" cy="843519"/>
            <a:chOff x="318763" y="248649"/>
            <a:chExt cx="7117653" cy="843519"/>
          </a:xfrm>
        </p:grpSpPr>
        <p:sp>
          <p:nvSpPr>
            <p:cNvPr id="111" name="TextBox 110"/>
            <p:cNvSpPr txBox="1"/>
            <p:nvPr/>
          </p:nvSpPr>
          <p:spPr>
            <a:xfrm>
              <a:off x="318763" y="568948"/>
              <a:ext cx="7117653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2800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분야별 전문 인력으로 구성된 협업체계 구성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321774" y="248649"/>
              <a:ext cx="2425664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1. 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수행조직 및 투입인력</a:t>
              </a:r>
            </a:p>
          </p:txBody>
        </p:sp>
      </p:grpSp>
      <p:sp>
        <p:nvSpPr>
          <p:cNvPr id="117" name="직사각형 116"/>
          <p:cNvSpPr/>
          <p:nvPr/>
        </p:nvSpPr>
        <p:spPr bwMode="auto">
          <a:xfrm>
            <a:off x="414348" y="1472427"/>
            <a:ext cx="7026363" cy="448266"/>
          </a:xfrm>
          <a:prstGeom prst="rect">
            <a:avLst/>
          </a:prstGeom>
          <a:gradFill flip="none" rotWithShape="1">
            <a:gsLst>
              <a:gs pos="0">
                <a:srgbClr val="72A6E0"/>
              </a:gs>
              <a:gs pos="98000">
                <a:srgbClr val="2C79CE"/>
              </a:gs>
              <a:gs pos="100000">
                <a:srgbClr val="2D417B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1017956"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23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418282" y="1478331"/>
            <a:ext cx="793732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사다리꼴 124"/>
          <p:cNvSpPr/>
          <p:nvPr/>
        </p:nvSpPr>
        <p:spPr bwMode="auto">
          <a:xfrm flipV="1">
            <a:off x="426144" y="1479631"/>
            <a:ext cx="6998822" cy="27005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/>
          <a:lstStyle/>
          <a:p>
            <a:pPr algn="ctr" defTabSz="1018212"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 bwMode="auto">
          <a:xfrm>
            <a:off x="3372081" y="1542667"/>
            <a:ext cx="1110882" cy="307777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defTabSz="1018292">
              <a:defRPr/>
            </a:pPr>
            <a:r>
              <a:rPr lang="ko-KR" altLang="en-US" sz="2000" dirty="0">
                <a:solidFill>
                  <a:prstClr val="white"/>
                </a:solidFill>
                <a:effectLst>
                  <a:glow rad="63500">
                    <a:srgbClr val="1F497D">
                      <a:lumMod val="60000"/>
                      <a:lumOff val="40000"/>
                    </a:srgb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조직 구성</a:t>
            </a:r>
          </a:p>
        </p:txBody>
      </p:sp>
      <p:sp>
        <p:nvSpPr>
          <p:cNvPr id="127" name="양쪽 모서리가 둥근 사각형 126"/>
          <p:cNvSpPr/>
          <p:nvPr/>
        </p:nvSpPr>
        <p:spPr bwMode="auto">
          <a:xfrm>
            <a:off x="2966889" y="1973733"/>
            <a:ext cx="1823461" cy="622399"/>
          </a:xfrm>
          <a:prstGeom prst="round2SameRect">
            <a:avLst>
              <a:gd name="adj1" fmla="val 5357"/>
              <a:gd name="adj2" fmla="val 0"/>
            </a:avLst>
          </a:prstGeom>
          <a:solidFill>
            <a:srgbClr val="CDE2FB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9" name="양쪽 모서리가 둥근 사각형 128"/>
          <p:cNvSpPr/>
          <p:nvPr/>
        </p:nvSpPr>
        <p:spPr bwMode="auto">
          <a:xfrm>
            <a:off x="2968527" y="1973729"/>
            <a:ext cx="1823044" cy="241708"/>
          </a:xfrm>
          <a:prstGeom prst="round2SameRect">
            <a:avLst/>
          </a:prstGeom>
          <a:solidFill>
            <a:srgbClr val="4371BB"/>
          </a:solidFill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59096" algn="ctr" defTabSz="1018212">
              <a:buClr>
                <a:sysClr val="windowText" lastClr="000000"/>
              </a:buClr>
              <a:tabLst>
                <a:tab pos="6289586" algn="l"/>
              </a:tabLst>
            </a:pPr>
            <a:r>
              <a:rPr lang="en-US" altLang="ko-KR" sz="160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PM</a:t>
            </a:r>
            <a:endParaRPr lang="ko-KR" altLang="en-US" sz="16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2" name="모서리가 둥근 직사각형 131"/>
          <p:cNvSpPr/>
          <p:nvPr/>
        </p:nvSpPr>
        <p:spPr bwMode="auto">
          <a:xfrm>
            <a:off x="5223653" y="2940480"/>
            <a:ext cx="1823461" cy="346333"/>
          </a:xfrm>
          <a:prstGeom prst="roundRect">
            <a:avLst>
              <a:gd name="adj" fmla="val 1581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endParaRPr lang="ko-KR" altLang="en-US" sz="1200" kern="0" dirty="0">
              <a:solidFill>
                <a:srgbClr val="292929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3" name="양쪽 모서리가 둥근 사각형 132"/>
          <p:cNvSpPr/>
          <p:nvPr/>
        </p:nvSpPr>
        <p:spPr bwMode="auto">
          <a:xfrm>
            <a:off x="5223343" y="2736453"/>
            <a:ext cx="1823520" cy="270970"/>
          </a:xfrm>
          <a:prstGeom prst="round2SameRect">
            <a:avLst/>
          </a:prstGeom>
          <a:solidFill>
            <a:srgbClr val="A6C7EC"/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018212"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6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기술지원</a:t>
            </a:r>
          </a:p>
        </p:txBody>
      </p:sp>
      <p:sp>
        <p:nvSpPr>
          <p:cNvPr id="134" name="모서리가 둥근 직사각형 133"/>
          <p:cNvSpPr/>
          <p:nvPr/>
        </p:nvSpPr>
        <p:spPr bwMode="auto">
          <a:xfrm>
            <a:off x="609344" y="2940480"/>
            <a:ext cx="2043305" cy="376227"/>
          </a:xfrm>
          <a:prstGeom prst="roundRect">
            <a:avLst>
              <a:gd name="adj" fmla="val 1581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endParaRPr lang="ko-KR" altLang="en-US" sz="1200" kern="0" dirty="0">
              <a:solidFill>
                <a:srgbClr val="292929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5" name="양쪽 모서리가 둥근 사각형 134"/>
          <p:cNvSpPr/>
          <p:nvPr/>
        </p:nvSpPr>
        <p:spPr bwMode="auto">
          <a:xfrm>
            <a:off x="609502" y="2736453"/>
            <a:ext cx="2043371" cy="270970"/>
          </a:xfrm>
          <a:prstGeom prst="round2SameRect">
            <a:avLst/>
          </a:prstGeom>
          <a:solidFill>
            <a:srgbClr val="A6C7EC"/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018212">
              <a:buClr>
                <a:sysClr val="windowText" lastClr="000000"/>
              </a:buClr>
              <a:tabLst>
                <a:tab pos="6289586" algn="l"/>
              </a:tabLst>
            </a:pPr>
            <a:r>
              <a:rPr lang="ko-KR" altLang="en-US" sz="16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품질관리</a:t>
            </a:r>
            <a:endParaRPr lang="en-US" altLang="ko-KR" sz="16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6" name="직사각형 135"/>
          <p:cNvSpPr/>
          <p:nvPr/>
        </p:nvSpPr>
        <p:spPr bwMode="auto">
          <a:xfrm>
            <a:off x="1146712" y="3042067"/>
            <a:ext cx="956992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김태영 상무</a:t>
            </a:r>
            <a:endParaRPr lang="en-US" altLang="ko-KR" sz="14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7" name="직사각형 136"/>
          <p:cNvSpPr/>
          <p:nvPr/>
        </p:nvSpPr>
        <p:spPr bwMode="auto">
          <a:xfrm>
            <a:off x="3332550" y="2304405"/>
            <a:ext cx="1094852" cy="24622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buClr>
                <a:sysClr val="windowText" lastClr="000000"/>
              </a:buClr>
              <a:tabLst>
                <a:tab pos="6289586" algn="l"/>
              </a:tabLst>
            </a:pPr>
            <a:r>
              <a:rPr lang="ko-KR" altLang="en-US" sz="16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이상준 이사</a:t>
            </a:r>
            <a:endParaRPr lang="en-US" altLang="ko-KR" sz="16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5666301" y="3032127"/>
            <a:ext cx="956992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algn="ctr" defTabSz="1481357" eaLnBrk="0" hangingPunct="0"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4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이재강 이사</a:t>
            </a:r>
            <a:endParaRPr lang="en-US" altLang="ko-KR" sz="14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144" name="직선 연결선 143"/>
          <p:cNvCxnSpPr>
            <a:cxnSpLocks/>
            <a:stCxn id="127" idx="1"/>
            <a:endCxn id="131" idx="3"/>
          </p:cNvCxnSpPr>
          <p:nvPr/>
        </p:nvCxnSpPr>
        <p:spPr>
          <a:xfrm flipH="1">
            <a:off x="3878619" y="2596132"/>
            <a:ext cx="1" cy="140330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round/>
            <a:headEnd type="none"/>
            <a:tailEnd type="none" w="med" len="med"/>
          </a:ln>
        </p:spPr>
      </p:cxnSp>
      <p:cxnSp>
        <p:nvCxnSpPr>
          <p:cNvPr id="145" name="직선 연결선 144"/>
          <p:cNvCxnSpPr>
            <a:cxnSpLocks/>
            <a:stCxn id="134" idx="3"/>
          </p:cNvCxnSpPr>
          <p:nvPr/>
        </p:nvCxnSpPr>
        <p:spPr>
          <a:xfrm>
            <a:off x="2652649" y="3128594"/>
            <a:ext cx="314240" cy="5053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/>
            <a:tailEnd type="none" w="med" len="med"/>
          </a:ln>
        </p:spPr>
      </p:cxnSp>
      <p:cxnSp>
        <p:nvCxnSpPr>
          <p:cNvPr id="146" name="직선 연결선 145"/>
          <p:cNvCxnSpPr>
            <a:cxnSpLocks/>
          </p:cNvCxnSpPr>
          <p:nvPr/>
        </p:nvCxnSpPr>
        <p:spPr>
          <a:xfrm flipV="1">
            <a:off x="4791571" y="3144969"/>
            <a:ext cx="401737" cy="1657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/>
            <a:tailEnd type="none" w="med" len="med"/>
          </a:ln>
        </p:spPr>
      </p:cxnSp>
      <p:cxnSp>
        <p:nvCxnSpPr>
          <p:cNvPr id="158" name="꺾인 연결선 157"/>
          <p:cNvCxnSpPr>
            <a:cxnSpLocks/>
            <a:stCxn id="130" idx="1"/>
          </p:cNvCxnSpPr>
          <p:nvPr/>
        </p:nvCxnSpPr>
        <p:spPr>
          <a:xfrm rot="5400000">
            <a:off x="3425353" y="3737304"/>
            <a:ext cx="903759" cy="277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round/>
            <a:headEnd type="none"/>
            <a:tailEnd type="none" w="med" len="med"/>
          </a:ln>
        </p:spPr>
      </p:cxnSp>
      <p:pic>
        <p:nvPicPr>
          <p:cNvPr id="180" name="Picture 33" descr="사람"/>
          <p:cNvPicPr>
            <a:picLocks noChangeAspect="1" noChangeArrowheads="1"/>
          </p:cNvPicPr>
          <p:nvPr/>
        </p:nvPicPr>
        <p:blipFill>
          <a:blip r:embed="rId5" cstate="print"/>
          <a:srcRect l="84396" t="17065" r="7880" b="47145"/>
          <a:stretch>
            <a:fillRect/>
          </a:stretch>
        </p:blipFill>
        <p:spPr bwMode="auto">
          <a:xfrm>
            <a:off x="2998582" y="2238121"/>
            <a:ext cx="298344" cy="337331"/>
          </a:xfrm>
          <a:prstGeom prst="rect">
            <a:avLst/>
          </a:prstGeom>
          <a:noFill/>
          <a:ln>
            <a:noFill/>
          </a:ln>
          <a:effectLst>
            <a:outerShdw blurRad="25400" dist="12700" dir="14400000" algn="r" rotWithShape="0">
              <a:srgbClr val="000000">
                <a:lumMod val="75000"/>
                <a:lumOff val="2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2" name="꺾인 연결선 211"/>
          <p:cNvCxnSpPr>
            <a:cxnSpLocks/>
            <a:stCxn id="130" idx="1"/>
            <a:endCxn id="197" idx="3"/>
          </p:cNvCxnSpPr>
          <p:nvPr/>
        </p:nvCxnSpPr>
        <p:spPr>
          <a:xfrm rot="5400000">
            <a:off x="2067941" y="2368036"/>
            <a:ext cx="891903" cy="2729456"/>
          </a:xfrm>
          <a:prstGeom prst="bentConnector3">
            <a:avLst>
              <a:gd name="adj1" fmla="val 82038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round/>
            <a:headEnd type="none"/>
            <a:tailEnd type="none" w="med" len="med"/>
          </a:ln>
        </p:spPr>
      </p:cxnSp>
      <p:sp>
        <p:nvSpPr>
          <p:cNvPr id="130" name="양쪽 모서리가 둥근 사각형 129"/>
          <p:cNvSpPr/>
          <p:nvPr/>
        </p:nvSpPr>
        <p:spPr bwMode="auto">
          <a:xfrm>
            <a:off x="2966889" y="2736454"/>
            <a:ext cx="1823461" cy="550359"/>
          </a:xfrm>
          <a:prstGeom prst="round2SameRect">
            <a:avLst>
              <a:gd name="adj1" fmla="val 6086"/>
              <a:gd name="adj2" fmla="val 0"/>
            </a:avLst>
          </a:prstGeom>
          <a:solidFill>
            <a:srgbClr val="CDE2FB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1" name="양쪽 모서리가 둥근 사각형 130"/>
          <p:cNvSpPr/>
          <p:nvPr/>
        </p:nvSpPr>
        <p:spPr bwMode="auto">
          <a:xfrm>
            <a:off x="2967097" y="2736462"/>
            <a:ext cx="1823044" cy="259110"/>
          </a:xfrm>
          <a:prstGeom prst="round2SameRect">
            <a:avLst/>
          </a:prstGeom>
          <a:solidFill>
            <a:srgbClr val="4371BB"/>
          </a:solidFill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59096" algn="ctr" defTabSz="1018212"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en-US" altLang="ko-KR" sz="160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</a:t>
            </a:r>
            <a:endParaRPr lang="en-US" altLang="ko-KR" sz="16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1" name="직사각형 140"/>
          <p:cNvSpPr/>
          <p:nvPr/>
        </p:nvSpPr>
        <p:spPr bwMode="auto">
          <a:xfrm>
            <a:off x="3332558" y="3022611"/>
            <a:ext cx="1094852" cy="24622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buClr>
                <a:sysClr val="windowText" lastClr="000000"/>
              </a:buClr>
              <a:tabLst>
                <a:tab pos="6289586" algn="l"/>
              </a:tabLst>
            </a:pPr>
            <a:r>
              <a:rPr lang="ko-KR" altLang="en-US" sz="16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박정수 이사</a:t>
            </a:r>
          </a:p>
        </p:txBody>
      </p:sp>
      <p:cxnSp>
        <p:nvCxnSpPr>
          <p:cNvPr id="187" name="꺾인 연결선 186"/>
          <p:cNvCxnSpPr>
            <a:cxnSpLocks/>
            <a:stCxn id="130" idx="1"/>
          </p:cNvCxnSpPr>
          <p:nvPr/>
        </p:nvCxnSpPr>
        <p:spPr>
          <a:xfrm rot="16200000" flipH="1">
            <a:off x="4652307" y="2513125"/>
            <a:ext cx="889800" cy="2437175"/>
          </a:xfrm>
          <a:prstGeom prst="bentConnector3">
            <a:avLst>
              <a:gd name="adj1" fmla="val 82114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round/>
            <a:headEnd type="none"/>
            <a:tailEnd type="none" w="med" len="med"/>
          </a:ln>
        </p:spPr>
      </p:cxnSp>
      <p:pic>
        <p:nvPicPr>
          <p:cNvPr id="188" name="Picture 178" descr="승-004"/>
          <p:cNvPicPr>
            <a:picLocks noChangeAspect="1" noChangeArrowheads="1"/>
          </p:cNvPicPr>
          <p:nvPr/>
        </p:nvPicPr>
        <p:blipFill rotWithShape="1">
          <a:blip r:embed="rId6" cstate="print"/>
          <a:srcRect l="4338" t="84120" r="9488" b="3889"/>
          <a:stretch/>
        </p:blipFill>
        <p:spPr bwMode="auto">
          <a:xfrm flipH="1">
            <a:off x="558106" y="6360184"/>
            <a:ext cx="6637174" cy="664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9" name="직사각형 188"/>
          <p:cNvSpPr/>
          <p:nvPr/>
        </p:nvSpPr>
        <p:spPr bwMode="auto">
          <a:xfrm>
            <a:off x="435641" y="6999915"/>
            <a:ext cx="7395273" cy="48607"/>
          </a:xfrm>
          <a:prstGeom prst="rect">
            <a:avLst/>
          </a:prstGeom>
          <a:solidFill>
            <a:srgbClr val="84B2E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 indent="-159174" algn="ctr" defTabSz="1018714">
              <a:lnSpc>
                <a:spcPct val="110000"/>
              </a:lnSpc>
              <a:buClr>
                <a:sysClr val="windowText" lastClr="000000"/>
              </a:buClr>
              <a:tabLst>
                <a:tab pos="6292683" algn="l"/>
              </a:tabLst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66" name="그룹 202"/>
          <p:cNvGrpSpPr>
            <a:grpSpLocks/>
          </p:cNvGrpSpPr>
          <p:nvPr/>
        </p:nvGrpSpPr>
        <p:grpSpPr bwMode="auto">
          <a:xfrm>
            <a:off x="7303557" y="1366206"/>
            <a:ext cx="3181879" cy="5824158"/>
            <a:chOff x="6742720" y="1332663"/>
            <a:chExt cx="2889250" cy="5136718"/>
          </a:xfrm>
        </p:grpSpPr>
        <p:sp>
          <p:nvSpPr>
            <p:cNvPr id="167" name="직사각형 166"/>
            <p:cNvSpPr/>
            <p:nvPr/>
          </p:nvSpPr>
          <p:spPr>
            <a:xfrm>
              <a:off x="6742720" y="1332663"/>
              <a:ext cx="2889250" cy="513671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101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018212">
                <a:defRPr/>
              </a:pPr>
              <a:endPara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6742720" y="6423334"/>
              <a:ext cx="2889250" cy="46046"/>
            </a:xfrm>
            <a:prstGeom prst="rect">
              <a:avLst/>
            </a:prstGeom>
            <a:solidFill>
              <a:srgbClr val="4371BB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69" name="직사각형 168"/>
          <p:cNvSpPr/>
          <p:nvPr/>
        </p:nvSpPr>
        <p:spPr>
          <a:xfrm>
            <a:off x="7305302" y="1366209"/>
            <a:ext cx="3183628" cy="469870"/>
          </a:xfrm>
          <a:prstGeom prst="rect">
            <a:avLst/>
          </a:prstGeom>
          <a:gradFill flip="none" rotWithShape="1">
            <a:gsLst>
              <a:gs pos="0">
                <a:srgbClr val="4371BB"/>
              </a:gs>
              <a:gs pos="96000">
                <a:srgbClr val="335791"/>
              </a:gs>
              <a:gs pos="97000">
                <a:srgbClr val="2B4877"/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830" tIns="50915" rIns="101830" bIns="50915" anchor="ctr"/>
          <a:lstStyle/>
          <a:p>
            <a:pPr algn="ctr" defTabSz="1018212"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70" name="사다리꼴 169"/>
          <p:cNvSpPr/>
          <p:nvPr/>
        </p:nvSpPr>
        <p:spPr>
          <a:xfrm flipV="1">
            <a:off x="7308809" y="1373407"/>
            <a:ext cx="3171389" cy="28804"/>
          </a:xfrm>
          <a:prstGeom prst="trapezoid">
            <a:avLst/>
          </a:prstGeom>
          <a:gradFill flip="none" rotWithShape="1">
            <a:gsLst>
              <a:gs pos="0">
                <a:schemeClr val="bg1">
                  <a:alpha val="70000"/>
                </a:schemeClr>
              </a:gs>
              <a:gs pos="76000">
                <a:schemeClr val="bg1">
                  <a:alpha val="29000"/>
                </a:schemeClr>
              </a:gs>
              <a:gs pos="92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830" tIns="50915" rIns="101830" bIns="50915" anchor="ctr"/>
          <a:lstStyle/>
          <a:p>
            <a:pPr algn="ctr" defTabSz="1018212">
              <a:defRPr/>
            </a:pPr>
            <a:endParaRPr lang="ko-KR" altLang="en-US" sz="2000" dirty="0">
              <a:solidFill>
                <a:prstClr val="white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71" name="그룹 170"/>
          <p:cNvGrpSpPr/>
          <p:nvPr/>
        </p:nvGrpSpPr>
        <p:grpSpPr>
          <a:xfrm>
            <a:off x="7301402" y="5328745"/>
            <a:ext cx="3185783" cy="469870"/>
            <a:chOff x="7301400" y="5420091"/>
            <a:chExt cx="3185783" cy="469870"/>
          </a:xfrm>
        </p:grpSpPr>
        <p:sp>
          <p:nvSpPr>
            <p:cNvPr id="173" name="직사각형 172"/>
            <p:cNvSpPr/>
            <p:nvPr/>
          </p:nvSpPr>
          <p:spPr>
            <a:xfrm>
              <a:off x="7303556" y="5420091"/>
              <a:ext cx="3183627" cy="469870"/>
            </a:xfrm>
            <a:prstGeom prst="rect">
              <a:avLst/>
            </a:prstGeom>
            <a:gradFill flip="none" rotWithShape="1">
              <a:gsLst>
                <a:gs pos="0">
                  <a:srgbClr val="4371BB"/>
                </a:gs>
                <a:gs pos="96000">
                  <a:srgbClr val="335791"/>
                </a:gs>
                <a:gs pos="97000">
                  <a:srgbClr val="2B4877"/>
                </a:gs>
              </a:gsLst>
              <a:lin ang="540000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910" tIns="50955" rIns="101910" bIns="50955" anchor="ctr"/>
            <a:lstStyle/>
            <a:p>
              <a:pPr algn="ctr" defTabSz="1018212">
                <a:defRPr/>
              </a:pPr>
              <a:endPara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" name="사다리꼴 173"/>
            <p:cNvSpPr/>
            <p:nvPr/>
          </p:nvSpPr>
          <p:spPr>
            <a:xfrm flipV="1">
              <a:off x="7308800" y="5427292"/>
              <a:ext cx="3171389" cy="27003"/>
            </a:xfrm>
            <a:prstGeom prst="trapezoid">
              <a:avLst/>
            </a:prstGeom>
            <a:gradFill flip="none" rotWithShape="1">
              <a:gsLst>
                <a:gs pos="0">
                  <a:schemeClr val="bg1">
                    <a:alpha val="70000"/>
                  </a:schemeClr>
                </a:gs>
                <a:gs pos="76000">
                  <a:schemeClr val="bg1">
                    <a:alpha val="29000"/>
                  </a:schemeClr>
                </a:gs>
                <a:gs pos="92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910" tIns="50955" rIns="101910" bIns="50955" anchor="ctr"/>
            <a:lstStyle/>
            <a:p>
              <a:pPr algn="ctr" defTabSz="1018212">
                <a:defRPr/>
              </a:pPr>
              <a:endParaRPr lang="ko-KR" altLang="en-US" sz="20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175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7301400" y="5444437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6" name="TextBox 175"/>
            <p:cNvSpPr txBox="1"/>
            <p:nvPr/>
          </p:nvSpPr>
          <p:spPr>
            <a:xfrm>
              <a:off x="7486173" y="5494889"/>
              <a:ext cx="2819683" cy="307777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algn="ctr" defTabSz="1018292">
                <a:defRPr/>
              </a:pPr>
              <a:r>
                <a:rPr lang="ko-KR" altLang="en-US" sz="2000" dirty="0">
                  <a:solidFill>
                    <a:prstClr val="white"/>
                  </a:solidFill>
                  <a:effectLst>
                    <a:glow rad="63500">
                      <a:srgbClr val="4F81BD">
                        <a:lumMod val="75000"/>
                      </a:srgb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“신바람” 조직 문화 조성</a:t>
              </a:r>
            </a:p>
          </p:txBody>
        </p:sp>
      </p:grpSp>
      <p:pic>
        <p:nvPicPr>
          <p:cNvPr id="177" name="Picture 278" descr="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54814" y="6288976"/>
            <a:ext cx="458538" cy="78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8" name="TextBox 177"/>
          <p:cNvSpPr txBox="1"/>
          <p:nvPr/>
        </p:nvSpPr>
        <p:spPr>
          <a:xfrm>
            <a:off x="7767371" y="5976813"/>
            <a:ext cx="2669222" cy="759414"/>
          </a:xfrm>
          <a:prstGeom prst="rect">
            <a:avLst/>
          </a:prstGeom>
          <a:noFill/>
        </p:spPr>
        <p:txBody>
          <a:bodyPr wrap="square" lIns="101830" tIns="50915" rIns="0" bIns="50915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52400" indent="-152400" defTabSz="1066904" fontAlgn="base" latinLnBrk="0">
              <a:spcBef>
                <a:spcPts val="200"/>
              </a:spcBef>
              <a:spcAft>
                <a:spcPts val="200"/>
              </a:spcAft>
              <a:buClr>
                <a:srgbClr val="777777"/>
              </a:buClr>
              <a:buSzPct val="65000"/>
              <a:buFontTx/>
              <a:buBlip>
                <a:blip r:embed="rId8"/>
              </a:buBlip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rPr>
              <a:t>자유적이고 창의적인 </a:t>
            </a:r>
            <a:r>
              <a:rPr kumimoji="1" lang="en-US" altLang="ko-KR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rPr>
              <a:t>Working </a:t>
            </a:r>
            <a:r>
              <a:rPr kumimoji="1"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rPr>
              <a:t>문화</a:t>
            </a:r>
          </a:p>
          <a:p>
            <a:pPr marL="152400" indent="-152400" defTabSz="1066904" fontAlgn="base" latinLnBrk="0">
              <a:spcBef>
                <a:spcPts val="200"/>
              </a:spcBef>
              <a:spcAft>
                <a:spcPts val="200"/>
              </a:spcAft>
              <a:buClr>
                <a:srgbClr val="777777"/>
              </a:buClr>
              <a:buSzPct val="65000"/>
              <a:buFontTx/>
              <a:buBlip>
                <a:blip r:embed="rId8"/>
              </a:buBlip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rPr>
              <a:t>존중과 배려에 기반한 의사소통</a:t>
            </a:r>
          </a:p>
          <a:p>
            <a:pPr marL="152400" indent="-152400" defTabSz="1066904" fontAlgn="base" latinLnBrk="0">
              <a:spcBef>
                <a:spcPts val="200"/>
              </a:spcBef>
              <a:spcAft>
                <a:spcPts val="200"/>
              </a:spcAft>
              <a:buClr>
                <a:srgbClr val="777777"/>
              </a:buClr>
              <a:buSzPct val="65000"/>
              <a:buFontTx/>
              <a:buBlip>
                <a:blip r:embed="rId8"/>
              </a:buBlip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rPr>
              <a:t>최고의 팀웍으로 최고의 사업수행</a:t>
            </a:r>
          </a:p>
        </p:txBody>
      </p:sp>
      <p:pic>
        <p:nvPicPr>
          <p:cNvPr id="183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7301400" y="1404305"/>
            <a:ext cx="793732" cy="34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" name="TextBox 183"/>
          <p:cNvSpPr txBox="1"/>
          <p:nvPr/>
        </p:nvSpPr>
        <p:spPr>
          <a:xfrm>
            <a:off x="7541638" y="1447252"/>
            <a:ext cx="2734723" cy="307777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>
            <a:defPPr>
              <a:defRPr lang="ko-KR"/>
            </a:defPPr>
            <a:lvl1pPr algn="ctr" defTabSz="1019095">
              <a:defRPr sz="2000">
                <a:solidFill>
                  <a:prstClr val="white"/>
                </a:solidFill>
                <a:effectLst>
                  <a:glow rad="63500">
                    <a:srgbClr val="4F81BD">
                      <a:lumMod val="75000"/>
                    </a:srgbClr>
                  </a:glow>
                </a:effectLst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사업 수행조직 구성비율</a:t>
            </a:r>
          </a:p>
        </p:txBody>
      </p:sp>
      <p:pic>
        <p:nvPicPr>
          <p:cNvPr id="226" name="Picture 247" descr="바닥"/>
          <p:cNvPicPr>
            <a:picLocks noChangeAspect="1" noChangeArrowheads="1"/>
          </p:cNvPicPr>
          <p:nvPr/>
        </p:nvPicPr>
        <p:blipFill>
          <a:blip r:embed="rId9"/>
          <a:srcRect l="13142" t="29468" r="13142"/>
          <a:stretch>
            <a:fillRect/>
          </a:stretch>
        </p:blipFill>
        <p:spPr bwMode="auto">
          <a:xfrm>
            <a:off x="7327983" y="3096493"/>
            <a:ext cx="3127394" cy="41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9" name="타원 228"/>
          <p:cNvSpPr/>
          <p:nvPr/>
        </p:nvSpPr>
        <p:spPr>
          <a:xfrm>
            <a:off x="7736369" y="3260925"/>
            <a:ext cx="732766" cy="182084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lumMod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 w="9525" algn="ctr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32" name="그룹 231"/>
          <p:cNvGrpSpPr/>
          <p:nvPr/>
        </p:nvGrpSpPr>
        <p:grpSpPr>
          <a:xfrm>
            <a:off x="7418753" y="1988296"/>
            <a:ext cx="1554882" cy="1368000"/>
            <a:chOff x="7474378" y="2434181"/>
            <a:chExt cx="1554882" cy="1368000"/>
          </a:xfrm>
        </p:grpSpPr>
        <p:grpSp>
          <p:nvGrpSpPr>
            <p:cNvPr id="235" name="그룹 234"/>
            <p:cNvGrpSpPr/>
            <p:nvPr/>
          </p:nvGrpSpPr>
          <p:grpSpPr>
            <a:xfrm>
              <a:off x="7474378" y="2434181"/>
              <a:ext cx="1554882" cy="1368000"/>
              <a:chOff x="5462976" y="4257091"/>
              <a:chExt cx="1845868" cy="1624012"/>
            </a:xfrm>
          </p:grpSpPr>
          <p:sp>
            <p:nvSpPr>
              <p:cNvPr id="244" name="타원 243"/>
              <p:cNvSpPr>
                <a:spLocks noChangeAspect="1"/>
              </p:cNvSpPr>
              <p:nvPr/>
            </p:nvSpPr>
            <p:spPr bwMode="auto">
              <a:xfrm>
                <a:off x="5462976" y="4257091"/>
                <a:ext cx="1624013" cy="1624012"/>
              </a:xfrm>
              <a:prstGeom prst="ellipse">
                <a:avLst/>
              </a:prstGeom>
              <a:solidFill>
                <a:srgbClr val="E2F6CA"/>
              </a:solidFill>
              <a:ln w="38100" cap="flat" cmpd="sng" algn="ctr">
                <a:solidFill>
                  <a:schemeClr val="bg1"/>
                </a:solidFill>
                <a:prstDash val="solid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lIns="36000" tIns="36000" rIns="36000" bIns="36000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1480987" eaLnBrk="0" hangingPunct="0">
                  <a:defRPr/>
                </a:pPr>
                <a:endParaRPr lang="ko-KR" altLang="en-US" sz="1200" kern="0" dirty="0">
                  <a:solidFill>
                    <a:prstClr val="black">
                      <a:lumMod val="95000"/>
                      <a:lumOff val="5000"/>
                    </a:prstClr>
                  </a:solidFill>
                  <a:effectLst>
                    <a:glow rad="101600">
                      <a:prstClr val="white">
                        <a:alpha val="60000"/>
                      </a:prst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41" name="원형 240"/>
              <p:cNvSpPr>
                <a:spLocks noChangeAspect="1"/>
              </p:cNvSpPr>
              <p:nvPr/>
            </p:nvSpPr>
            <p:spPr bwMode="auto">
              <a:xfrm>
                <a:off x="5489135" y="4283116"/>
                <a:ext cx="1571480" cy="1571479"/>
              </a:xfrm>
              <a:prstGeom prst="pie">
                <a:avLst>
                  <a:gd name="adj1" fmla="val 16232430"/>
                  <a:gd name="adj2" fmla="val 14782246"/>
                </a:avLst>
              </a:prstGeom>
              <a:solidFill>
                <a:srgbClr val="66A31D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18212"/>
                <a:endParaRPr lang="ko-KR" altLang="en-US" sz="12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42" name="모서리가 둥근 직사각형 241"/>
              <p:cNvSpPr/>
              <p:nvPr/>
            </p:nvSpPr>
            <p:spPr bwMode="auto">
              <a:xfrm>
                <a:off x="6258325" y="4624082"/>
                <a:ext cx="1050519" cy="862799"/>
              </a:xfrm>
              <a:prstGeom prst="roundRect">
                <a:avLst/>
              </a:prstGeom>
              <a:noFill/>
            </p:spPr>
            <p:txBody>
              <a:bodyPr wrap="none" lIns="101910" tIns="50955" rIns="101910" bIns="50955" rtlCol="0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1018212"/>
                <a:r>
                  <a:rPr lang="ko-KR" altLang="en-US" sz="120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유사사업</a:t>
                </a:r>
                <a:endPara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 defTabSz="1018212"/>
                <a:r>
                  <a:rPr lang="ko-KR" altLang="en-US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경험</a:t>
                </a:r>
                <a:endPara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algn="ctr" defTabSz="1018212"/>
                <a:r>
                  <a:rPr lang="en-US" altLang="ko-KR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92%</a:t>
                </a:r>
              </a:p>
            </p:txBody>
          </p:sp>
        </p:grpSp>
        <p:sp>
          <p:nvSpPr>
            <p:cNvPr id="239" name="타원 238"/>
            <p:cNvSpPr/>
            <p:nvPr/>
          </p:nvSpPr>
          <p:spPr>
            <a:xfrm>
              <a:off x="7996305" y="2946695"/>
              <a:ext cx="324144" cy="3241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dist="50800" dir="15180000">
                <a:prstClr val="black">
                  <a:alpha val="3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840" tIns="50919" rIns="101840" bIns="50919" rtlCol="0" anchor="ctr">
              <a:scene3d>
                <a:camera prst="orthographicFront"/>
                <a:lightRig rig="threePt" dir="t"/>
              </a:scene3d>
              <a:sp3d>
                <a:bevelT/>
              </a:sp3d>
            </a:bodyPr>
            <a:lstStyle/>
            <a:p>
              <a:pPr algn="ctr" defTabSz="1065972" latinLnBrk="0"/>
              <a:endParaRPr lang="ko-KR" altLang="en-US" sz="12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50" name="타원 249"/>
          <p:cNvSpPr/>
          <p:nvPr/>
        </p:nvSpPr>
        <p:spPr>
          <a:xfrm>
            <a:off x="9298897" y="3263369"/>
            <a:ext cx="732766" cy="167544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lumMod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 w="9525" algn="ctr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973041" y="1954635"/>
            <a:ext cx="1324799" cy="1390397"/>
            <a:chOff x="8965427" y="1896942"/>
            <a:chExt cx="1368000" cy="1321092"/>
          </a:xfrm>
        </p:grpSpPr>
        <p:sp>
          <p:nvSpPr>
            <p:cNvPr id="251" name="타원 250"/>
            <p:cNvSpPr>
              <a:spLocks noChangeAspect="1"/>
            </p:cNvSpPr>
            <p:nvPr/>
          </p:nvSpPr>
          <p:spPr bwMode="auto">
            <a:xfrm>
              <a:off x="8965427" y="1959268"/>
              <a:ext cx="1368000" cy="1258766"/>
            </a:xfrm>
            <a:prstGeom prst="ellipse">
              <a:avLst/>
            </a:prstGeom>
            <a:solidFill>
              <a:srgbClr val="E2F6CA"/>
            </a:solidFill>
            <a:ln w="38100" cap="flat" cmpd="sng" algn="ctr">
              <a:solidFill>
                <a:schemeClr val="bg1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algn="ctr" defTabSz="1480987" eaLnBrk="0" hangingPunct="0"/>
              <a:endParaRPr lang="ko-KR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252" name="그룹 251"/>
            <p:cNvGrpSpPr/>
            <p:nvPr/>
          </p:nvGrpSpPr>
          <p:grpSpPr>
            <a:xfrm>
              <a:off x="8983641" y="1975922"/>
              <a:ext cx="1331391" cy="1225079"/>
              <a:chOff x="9028552" y="2241403"/>
              <a:chExt cx="1352192" cy="1352192"/>
            </a:xfrm>
          </p:grpSpPr>
          <p:sp>
            <p:nvSpPr>
              <p:cNvPr id="286" name="원형 285"/>
              <p:cNvSpPr>
                <a:spLocks noChangeAspect="1"/>
              </p:cNvSpPr>
              <p:nvPr/>
            </p:nvSpPr>
            <p:spPr bwMode="auto">
              <a:xfrm>
                <a:off x="9028552" y="2241403"/>
                <a:ext cx="1352190" cy="1352192"/>
              </a:xfrm>
              <a:prstGeom prst="pie">
                <a:avLst>
                  <a:gd name="adj1" fmla="val 16287738"/>
                  <a:gd name="adj2" fmla="val 1269065"/>
                </a:avLst>
              </a:prstGeom>
              <a:solidFill>
                <a:srgbClr val="66A31D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1910" tIns="50955" rIns="101910" bIns="50955" rtlCol="0" anchor="ctr"/>
              <a:lstStyle/>
              <a:p>
                <a:pPr algn="ctr" defTabSz="1018212"/>
                <a:endParaRPr lang="ko-KR" altLang="en-US" sz="12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7" name="원형 286"/>
              <p:cNvSpPr>
                <a:spLocks noChangeAspect="1"/>
              </p:cNvSpPr>
              <p:nvPr/>
            </p:nvSpPr>
            <p:spPr bwMode="auto">
              <a:xfrm>
                <a:off x="9028553" y="2241403"/>
                <a:ext cx="1352190" cy="1352191"/>
              </a:xfrm>
              <a:prstGeom prst="pie">
                <a:avLst>
                  <a:gd name="adj1" fmla="val 5128579"/>
                  <a:gd name="adj2" fmla="val 14672992"/>
                </a:avLst>
              </a:prstGeom>
              <a:solidFill>
                <a:srgbClr val="B3E775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1910" tIns="50955" rIns="101910" bIns="50955" rtlCol="0" anchor="ctr"/>
              <a:lstStyle/>
              <a:p>
                <a:pPr algn="ctr" defTabSz="1018212"/>
                <a:endParaRPr lang="ko-KR" altLang="en-US" sz="12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88" name="원형 287"/>
              <p:cNvSpPr>
                <a:spLocks noChangeAspect="1"/>
              </p:cNvSpPr>
              <p:nvPr/>
            </p:nvSpPr>
            <p:spPr bwMode="auto">
              <a:xfrm>
                <a:off x="9029128" y="2241405"/>
                <a:ext cx="1351616" cy="1351617"/>
              </a:xfrm>
              <a:prstGeom prst="pie">
                <a:avLst>
                  <a:gd name="adj1" fmla="val 1186025"/>
                  <a:gd name="adj2" fmla="val 5172480"/>
                </a:avLst>
              </a:prstGeom>
              <a:solidFill>
                <a:srgbClr val="92DC38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1910" tIns="50955" rIns="101910" bIns="50955" rtlCol="0" anchor="ctr"/>
              <a:lstStyle/>
              <a:p>
                <a:pPr marL="0" lvl="1" indent="-159057" algn="ctr" defTabSz="1018212">
                  <a:buClr>
                    <a:sysClr val="windowText" lastClr="000000"/>
                  </a:buClr>
                  <a:tabLst>
                    <a:tab pos="6288013" algn="l"/>
                  </a:tabLst>
                  <a:defRPr/>
                </a:pPr>
                <a:endParaRPr lang="ko-KR" altLang="en-US" sz="12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254" name="직사각형 253"/>
            <p:cNvSpPr/>
            <p:nvPr/>
          </p:nvSpPr>
          <p:spPr bwMode="auto">
            <a:xfrm>
              <a:off x="9206859" y="1896942"/>
              <a:ext cx="530336" cy="448698"/>
            </a:xfrm>
            <a:prstGeom prst="rect">
              <a:avLst/>
            </a:prstGeom>
          </p:spPr>
          <p:txBody>
            <a:bodyPr wrap="none" lIns="101910" tIns="50955" rIns="101910" bIns="50955">
              <a:spAutoFit/>
              <a:scene3d>
                <a:camera prst="orthographicFront"/>
                <a:lightRig rig="threePt" dir="t"/>
              </a:scene3d>
              <a:sp3d>
                <a:bevelT w="1270" h="38100"/>
              </a:sp3d>
            </a:bodyPr>
            <a:lstStyle/>
            <a:p>
              <a:pPr algn="ctr" defTabSz="1018212">
                <a:defRPr/>
              </a:pPr>
              <a:r>
                <a:rPr lang="ko-KR" altLang="en-US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초급</a:t>
              </a: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/>
              </a:r>
              <a:b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en-US" altLang="ko-KR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8%</a:t>
              </a:r>
            </a:p>
          </p:txBody>
        </p:sp>
        <p:sp>
          <p:nvSpPr>
            <p:cNvPr id="284" name="모서리가 둥근 직사각형 283"/>
            <p:cNvSpPr/>
            <p:nvPr/>
          </p:nvSpPr>
          <p:spPr bwMode="auto">
            <a:xfrm>
              <a:off x="9704562" y="2036519"/>
              <a:ext cx="581625" cy="496432"/>
            </a:xfrm>
            <a:prstGeom prst="roundRect">
              <a:avLst/>
            </a:prstGeom>
            <a:noFill/>
          </p:spPr>
          <p:txBody>
            <a:bodyPr wrap="none" lIns="101910" tIns="50955" rIns="101910" bIns="50955" rtlCol="0">
              <a:spAutoFit/>
              <a:scene3d>
                <a:camera prst="orthographicFront"/>
                <a:lightRig rig="threePt" dir="t"/>
              </a:scene3d>
              <a:sp3d contourW="38100">
                <a:bevelT w="1270"/>
                <a:contourClr>
                  <a:schemeClr val="bg1"/>
                </a:contourClr>
              </a:sp3d>
            </a:bodyPr>
            <a:lstStyle/>
            <a:p>
              <a:pPr algn="ctr" defTabSz="1018212">
                <a:defRPr/>
              </a:pPr>
              <a:r>
                <a:rPr lang="ko-KR" altLang="en-US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특급</a:t>
              </a:r>
              <a: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/>
              </a:r>
              <a:b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25%</a:t>
              </a:r>
            </a:p>
          </p:txBody>
        </p:sp>
        <p:sp>
          <p:nvSpPr>
            <p:cNvPr id="285" name="타원 284"/>
            <p:cNvSpPr/>
            <p:nvPr/>
          </p:nvSpPr>
          <p:spPr>
            <a:xfrm>
              <a:off x="9480223" y="2429653"/>
              <a:ext cx="324144" cy="2982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dist="50800" dir="15180000">
                <a:prstClr val="black">
                  <a:alpha val="3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1840" tIns="50919" rIns="101840" bIns="50919" rtlCol="0" anchor="ctr">
              <a:scene3d>
                <a:camera prst="orthographicFront"/>
                <a:lightRig rig="threePt" dir="t"/>
              </a:scene3d>
              <a:sp3d>
                <a:bevelT/>
              </a:sp3d>
            </a:bodyPr>
            <a:lstStyle/>
            <a:p>
              <a:pPr algn="ctr" defTabSz="1065972" latinLnBrk="0"/>
              <a:endParaRPr lang="ko-KR" altLang="en-US" sz="12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1" name="모서리가 둥근 직사각형 100"/>
            <p:cNvSpPr/>
            <p:nvPr/>
          </p:nvSpPr>
          <p:spPr bwMode="auto">
            <a:xfrm>
              <a:off x="9002812" y="2456742"/>
              <a:ext cx="596289" cy="496432"/>
            </a:xfrm>
            <a:prstGeom prst="roundRect">
              <a:avLst/>
            </a:prstGeom>
            <a:noFill/>
          </p:spPr>
          <p:txBody>
            <a:bodyPr wrap="none" lIns="101910" tIns="50955" rIns="101910" bIns="50955" rtlCol="0">
              <a:spAutoFit/>
              <a:scene3d>
                <a:camera prst="orthographicFront"/>
                <a:lightRig rig="threePt" dir="t"/>
              </a:scene3d>
              <a:sp3d contourW="38100">
                <a:bevelT w="1270"/>
                <a:contourClr>
                  <a:schemeClr val="bg1"/>
                </a:contourClr>
              </a:sp3d>
            </a:bodyPr>
            <a:lstStyle/>
            <a:p>
              <a:pPr algn="ctr" defTabSz="1018212">
                <a:defRPr/>
              </a:pPr>
              <a:r>
                <a:rPr lang="ko-KR" altLang="en-US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중급</a:t>
              </a:r>
              <a: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/>
              </a:r>
              <a:b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45%</a:t>
              </a:r>
            </a:p>
          </p:txBody>
        </p:sp>
        <p:sp>
          <p:nvSpPr>
            <p:cNvPr id="102" name="모서리가 둥근 직사각형 101"/>
            <p:cNvSpPr/>
            <p:nvPr/>
          </p:nvSpPr>
          <p:spPr bwMode="auto">
            <a:xfrm>
              <a:off x="9637921" y="2593020"/>
              <a:ext cx="581625" cy="496432"/>
            </a:xfrm>
            <a:prstGeom prst="roundRect">
              <a:avLst/>
            </a:prstGeom>
            <a:noFill/>
          </p:spPr>
          <p:txBody>
            <a:bodyPr wrap="none" lIns="101910" tIns="50955" rIns="101910" bIns="50955" rtlCol="0">
              <a:spAutoFit/>
              <a:scene3d>
                <a:camera prst="orthographicFront"/>
                <a:lightRig rig="threePt" dir="t"/>
              </a:scene3d>
              <a:sp3d contourW="38100">
                <a:bevelT w="1270"/>
                <a:contourClr>
                  <a:schemeClr val="bg1"/>
                </a:contourClr>
              </a:sp3d>
            </a:bodyPr>
            <a:lstStyle/>
            <a:p>
              <a:pPr algn="ctr" defTabSz="1018212">
                <a:defRPr/>
              </a:pPr>
              <a:r>
                <a:rPr lang="ko-KR" altLang="en-US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고급</a:t>
              </a:r>
              <a: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/>
              </a:r>
              <a:b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en-US" altLang="ko-KR" sz="12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22%</a:t>
              </a:r>
            </a:p>
          </p:txBody>
        </p:sp>
      </p:grpSp>
      <p:pic>
        <p:nvPicPr>
          <p:cNvPr id="104" name="그림 295" descr="4대강감사합니다_1013 copy.jpg"/>
          <p:cNvPicPr>
            <a:picLocks noChangeAspect="1"/>
          </p:cNvPicPr>
          <p:nvPr/>
        </p:nvPicPr>
        <p:blipFill>
          <a:blip r:embed="rId10" cstate="print">
            <a:lum bright="-4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14" r="61823" b="740"/>
          <a:stretch>
            <a:fillRect/>
          </a:stretch>
        </p:blipFill>
        <p:spPr bwMode="auto">
          <a:xfrm>
            <a:off x="7451269" y="3607716"/>
            <a:ext cx="2893412" cy="23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5" name="표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354882"/>
              </p:ext>
            </p:extLst>
          </p:nvPr>
        </p:nvGraphicFramePr>
        <p:xfrm>
          <a:off x="7451269" y="3596175"/>
          <a:ext cx="2880822" cy="158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41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04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70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0" scaled="1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  <a:sym typeface="Monotype Sorts" pitchFamily="2" charset="2"/>
                        </a:rPr>
                        <a:t>구분</a:t>
                      </a:r>
                    </a:p>
                  </a:txBody>
                  <a:tcPr marL="100800" marR="1008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0" scaled="1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  <a:sym typeface="Monotype Sorts" pitchFamily="2" charset="2"/>
                        </a:rPr>
                        <a:t>M/M</a:t>
                      </a:r>
                      <a:endParaRPr kumimoji="1" lang="ko-KR" altLang="en-US" sz="14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bg1"/>
                            </a:gs>
                            <a:gs pos="100000">
                              <a:schemeClr val="bg1"/>
                            </a:gs>
                          </a:gsLst>
                          <a:lin ang="0" scaled="1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100800" marR="1008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특급기술자</a:t>
                      </a:r>
                    </a:p>
                  </a:txBody>
                  <a:tcPr marL="100800" marR="10080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6.8 M/M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10800000" scaled="0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100800" marR="1008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고급기술자</a:t>
                      </a:r>
                    </a:p>
                  </a:txBody>
                  <a:tcPr marL="100800" marR="10080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6 M/M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10800000" scaled="0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100800" marR="1008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6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중급기술자</a:t>
                      </a:r>
                    </a:p>
                  </a:txBody>
                  <a:tcPr marL="100800" marR="10080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12 M/M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10800000" scaled="0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100800" marR="1008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초급기술자</a:t>
                      </a:r>
                    </a:p>
                  </a:txBody>
                  <a:tcPr marL="100800" marR="10080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2 M/M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10800000" scaled="0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100800" marR="1008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34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합계</a:t>
                      </a:r>
                    </a:p>
                  </a:txBody>
                  <a:tcPr marL="100800" marR="10080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10800000" scaled="0"/>
                          </a:gra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26.8 M/M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10800000" scaled="0"/>
                        </a:gra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100800" marR="1008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6" name="모서리가 둥근 직사각형 95"/>
          <p:cNvSpPr/>
          <p:nvPr/>
        </p:nvSpPr>
        <p:spPr>
          <a:xfrm>
            <a:off x="1974700" y="-1466041"/>
            <a:ext cx="10441160" cy="16385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round/>
            <a:headEnd/>
            <a:tailEnd/>
          </a:ln>
          <a:effectLst>
            <a:innerShdw blurRad="50800">
              <a:schemeClr val="bg1">
                <a:lumMod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algn="ctr"/>
            <a:r>
              <a:rPr lang="ko-KR" altLang="en-US" sz="1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작성 요청함</a:t>
            </a:r>
            <a:r>
              <a:rPr lang="en-US" altLang="ko-KR" sz="1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" name="양쪽 모서리가 둥근 사각형 129">
            <a:extLst>
              <a:ext uri="{FF2B5EF4-FFF2-40B4-BE49-F238E27FC236}">
                <a16:creationId xmlns:a16="http://schemas.microsoft.com/office/drawing/2014/main" xmlns="" id="{1C8FA5EA-A63A-48FC-9BAD-4434DB154CBD}"/>
              </a:ext>
            </a:extLst>
          </p:cNvPr>
          <p:cNvSpPr/>
          <p:nvPr/>
        </p:nvSpPr>
        <p:spPr bwMode="auto">
          <a:xfrm>
            <a:off x="2966889" y="3382807"/>
            <a:ext cx="1823461" cy="550359"/>
          </a:xfrm>
          <a:prstGeom prst="round2SameRect">
            <a:avLst>
              <a:gd name="adj1" fmla="val 6086"/>
              <a:gd name="adj2" fmla="val 0"/>
            </a:avLst>
          </a:prstGeom>
          <a:solidFill>
            <a:srgbClr val="CDE2FB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" name="양쪽 모서리가 둥근 사각형 130">
            <a:extLst>
              <a:ext uri="{FF2B5EF4-FFF2-40B4-BE49-F238E27FC236}">
                <a16:creationId xmlns:a16="http://schemas.microsoft.com/office/drawing/2014/main" xmlns="" id="{4CA22E9A-F50C-4A4D-A1FA-765060FE824B}"/>
              </a:ext>
            </a:extLst>
          </p:cNvPr>
          <p:cNvSpPr/>
          <p:nvPr/>
        </p:nvSpPr>
        <p:spPr bwMode="auto">
          <a:xfrm>
            <a:off x="2967097" y="3382815"/>
            <a:ext cx="1823044" cy="259110"/>
          </a:xfrm>
          <a:prstGeom prst="round2SameRect">
            <a:avLst/>
          </a:prstGeom>
          <a:solidFill>
            <a:srgbClr val="4371BB"/>
          </a:solidFill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59096" algn="ctr" defTabSz="1018212"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개발 </a:t>
            </a:r>
            <a:r>
              <a:rPr lang="en-US" altLang="ko-KR" sz="1600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PL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xmlns="" id="{EB49F9DD-7622-4197-8E9D-0DB3D67C1657}"/>
              </a:ext>
            </a:extLst>
          </p:cNvPr>
          <p:cNvSpPr/>
          <p:nvPr/>
        </p:nvSpPr>
        <p:spPr bwMode="auto">
          <a:xfrm>
            <a:off x="3332558" y="3668964"/>
            <a:ext cx="1094852" cy="24622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buClr>
                <a:sysClr val="windowText" lastClr="000000"/>
              </a:buClr>
              <a:tabLst>
                <a:tab pos="6289586" algn="l"/>
              </a:tabLst>
            </a:pPr>
            <a:r>
              <a:rPr lang="ko-KR" altLang="en-US" sz="1600" kern="0" dirty="0" err="1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사공훈</a:t>
            </a:r>
            <a:r>
              <a:rPr lang="ko-KR" altLang="en-US" sz="16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상무</a:t>
            </a:r>
          </a:p>
        </p:txBody>
      </p:sp>
      <p:sp>
        <p:nvSpPr>
          <p:cNvPr id="186" name="AutoShape 68" descr="강-2단"/>
          <p:cNvSpPr>
            <a:spLocks noChangeArrowheads="1"/>
          </p:cNvSpPr>
          <p:nvPr/>
        </p:nvSpPr>
        <p:spPr bwMode="auto">
          <a:xfrm>
            <a:off x="529367" y="4178714"/>
            <a:ext cx="1241750" cy="541579"/>
          </a:xfrm>
          <a:prstGeom prst="round2Same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sp>
        <p:nvSpPr>
          <p:cNvPr id="194" name="직사각형 193"/>
          <p:cNvSpPr/>
          <p:nvPr/>
        </p:nvSpPr>
        <p:spPr bwMode="auto">
          <a:xfrm>
            <a:off x="756219" y="4508225"/>
            <a:ext cx="820738" cy="17953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ts val="1449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도정윤</a:t>
            </a:r>
            <a:r>
              <a:rPr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과장</a:t>
            </a:r>
          </a:p>
        </p:txBody>
      </p:sp>
      <p:sp>
        <p:nvSpPr>
          <p:cNvPr id="197" name="AutoShape 68" descr="강-2단"/>
          <p:cNvSpPr>
            <a:spLocks noChangeArrowheads="1"/>
          </p:cNvSpPr>
          <p:nvPr/>
        </p:nvSpPr>
        <p:spPr bwMode="auto">
          <a:xfrm>
            <a:off x="529367" y="4178716"/>
            <a:ext cx="1239593" cy="302946"/>
          </a:xfrm>
          <a:prstGeom prst="round2Same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018212">
              <a:lnSpc>
                <a:spcPct val="90000"/>
              </a:lnSpc>
              <a:buClr>
                <a:sysClr val="windowText" lastClr="000000"/>
              </a:buClr>
              <a:buSzPct val="140000"/>
              <a:tabLst>
                <a:tab pos="6289586" algn="l"/>
              </a:tabLst>
              <a:defRPr/>
            </a:pPr>
            <a:r>
              <a:rPr lang="ko-KR" altLang="en-US" sz="14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 개발팀</a:t>
            </a:r>
          </a:p>
        </p:txBody>
      </p:sp>
      <p:grpSp>
        <p:nvGrpSpPr>
          <p:cNvPr id="122" name="그룹 121"/>
          <p:cNvGrpSpPr/>
          <p:nvPr/>
        </p:nvGrpSpPr>
        <p:grpSpPr>
          <a:xfrm>
            <a:off x="523144" y="4786585"/>
            <a:ext cx="1233469" cy="212294"/>
            <a:chOff x="626333" y="5508408"/>
            <a:chExt cx="1502956" cy="341900"/>
          </a:xfrm>
        </p:grpSpPr>
        <p:sp>
          <p:nvSpPr>
            <p:cNvPr id="142" name="모서리가 둥근 직사각형 141"/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90" name="직사각형 189"/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장미향</a:t>
              </a: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과장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xmlns="" id="{820C9ADA-4D4C-411A-BDA7-3C38DFE687EE}"/>
              </a:ext>
            </a:extLst>
          </p:cNvPr>
          <p:cNvGrpSpPr/>
          <p:nvPr/>
        </p:nvGrpSpPr>
        <p:grpSpPr>
          <a:xfrm>
            <a:off x="523144" y="5074617"/>
            <a:ext cx="1233469" cy="212294"/>
            <a:chOff x="626333" y="5508408"/>
            <a:chExt cx="1502956" cy="341900"/>
          </a:xfrm>
        </p:grpSpPr>
        <p:sp>
          <p:nvSpPr>
            <p:cNvPr id="140" name="모서리가 둥근 직사각형 141">
              <a:extLst>
                <a:ext uri="{FF2B5EF4-FFF2-40B4-BE49-F238E27FC236}">
                  <a16:creationId xmlns:a16="http://schemas.microsoft.com/office/drawing/2014/main" xmlns="" id="{AA7804F3-ADEB-4E6B-A6C3-56358EE2B6F0}"/>
                </a:ext>
              </a:extLst>
            </p:cNvPr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xmlns="" id="{C155BCA9-FA22-482D-9ECE-3A0790D313C5}"/>
                </a:ext>
              </a:extLst>
            </p:cNvPr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안재영 대리</a:t>
              </a: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xmlns="" id="{F375CB1D-69F1-463C-9104-B246184F331A}"/>
              </a:ext>
            </a:extLst>
          </p:cNvPr>
          <p:cNvGrpSpPr/>
          <p:nvPr/>
        </p:nvGrpSpPr>
        <p:grpSpPr>
          <a:xfrm>
            <a:off x="523144" y="5362649"/>
            <a:ext cx="1233469" cy="212294"/>
            <a:chOff x="626333" y="5508408"/>
            <a:chExt cx="1502956" cy="341900"/>
          </a:xfrm>
        </p:grpSpPr>
        <p:sp>
          <p:nvSpPr>
            <p:cNvPr id="151" name="모서리가 둥근 직사각형 141">
              <a:extLst>
                <a:ext uri="{FF2B5EF4-FFF2-40B4-BE49-F238E27FC236}">
                  <a16:creationId xmlns:a16="http://schemas.microsoft.com/office/drawing/2014/main" xmlns="" id="{0FACECA0-EE8D-49FF-85CC-21CD008E181F}"/>
                </a:ext>
              </a:extLst>
            </p:cNvPr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xmlns="" id="{452600E7-19CA-4132-A131-BE00AE51A3A5}"/>
                </a:ext>
              </a:extLst>
            </p:cNvPr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이지수 주임</a:t>
              </a: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xmlns="" id="{831028C8-6484-4EAB-8045-A7E4BFA52496}"/>
              </a:ext>
            </a:extLst>
          </p:cNvPr>
          <p:cNvGrpSpPr/>
          <p:nvPr/>
        </p:nvGrpSpPr>
        <p:grpSpPr>
          <a:xfrm>
            <a:off x="523144" y="5650681"/>
            <a:ext cx="1233469" cy="212294"/>
            <a:chOff x="626333" y="5508408"/>
            <a:chExt cx="1502956" cy="341900"/>
          </a:xfrm>
        </p:grpSpPr>
        <p:sp>
          <p:nvSpPr>
            <p:cNvPr id="154" name="모서리가 둥근 직사각형 141">
              <a:extLst>
                <a:ext uri="{FF2B5EF4-FFF2-40B4-BE49-F238E27FC236}">
                  <a16:creationId xmlns:a16="http://schemas.microsoft.com/office/drawing/2014/main" xmlns="" id="{D38645B8-AF6E-436A-8C97-0C258B40D749}"/>
                </a:ext>
              </a:extLst>
            </p:cNvPr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xmlns="" id="{38086C30-E4C9-4B80-A65D-EA1C9515980F}"/>
                </a:ext>
              </a:extLst>
            </p:cNvPr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윤일석</a:t>
              </a: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주임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xmlns="" id="{B4C13784-C092-4404-946B-706C096A8028}"/>
              </a:ext>
            </a:extLst>
          </p:cNvPr>
          <p:cNvGrpSpPr/>
          <p:nvPr/>
        </p:nvGrpSpPr>
        <p:grpSpPr>
          <a:xfrm>
            <a:off x="523144" y="5938713"/>
            <a:ext cx="1233469" cy="212294"/>
            <a:chOff x="626333" y="5508408"/>
            <a:chExt cx="1502956" cy="341900"/>
          </a:xfrm>
        </p:grpSpPr>
        <p:sp>
          <p:nvSpPr>
            <p:cNvPr id="160" name="모서리가 둥근 직사각형 141">
              <a:extLst>
                <a:ext uri="{FF2B5EF4-FFF2-40B4-BE49-F238E27FC236}">
                  <a16:creationId xmlns:a16="http://schemas.microsoft.com/office/drawing/2014/main" xmlns="" id="{529E1577-240C-4313-926F-8358F41D08FA}"/>
                </a:ext>
              </a:extLst>
            </p:cNvPr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en-US" altLang="ko-KR" sz="13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xmlns="" id="{11FDAD33-A53E-4751-A986-3850D3C9B764}"/>
                </a:ext>
              </a:extLst>
            </p:cNvPr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김영채</a:t>
              </a: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주임</a:t>
              </a: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xmlns="" id="{F2E1A74B-D45A-47F3-ACC9-C9C2E061CCF0}"/>
              </a:ext>
            </a:extLst>
          </p:cNvPr>
          <p:cNvGrpSpPr/>
          <p:nvPr/>
        </p:nvGrpSpPr>
        <p:grpSpPr>
          <a:xfrm>
            <a:off x="523144" y="6226745"/>
            <a:ext cx="1233469" cy="212294"/>
            <a:chOff x="626333" y="5508408"/>
            <a:chExt cx="1502956" cy="341900"/>
          </a:xfrm>
        </p:grpSpPr>
        <p:sp>
          <p:nvSpPr>
            <p:cNvPr id="179" name="모서리가 둥근 직사각형 141">
              <a:extLst>
                <a:ext uri="{FF2B5EF4-FFF2-40B4-BE49-F238E27FC236}">
                  <a16:creationId xmlns:a16="http://schemas.microsoft.com/office/drawing/2014/main" xmlns="" id="{C5FF5918-FDC5-48BD-954E-7A3BA9BDAE00}"/>
                </a:ext>
              </a:extLst>
            </p:cNvPr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xmlns="" id="{3812776F-CE77-46BE-80E9-D60FD8BCFF58}"/>
                </a:ext>
              </a:extLst>
            </p:cNvPr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허성문</a:t>
              </a: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사원</a:t>
              </a:r>
            </a:p>
          </p:txBody>
        </p:sp>
      </p:grpSp>
      <p:sp>
        <p:nvSpPr>
          <p:cNvPr id="182" name="AutoShape 68" descr="강-2단">
            <a:extLst>
              <a:ext uri="{FF2B5EF4-FFF2-40B4-BE49-F238E27FC236}">
                <a16:creationId xmlns:a16="http://schemas.microsoft.com/office/drawing/2014/main" xmlns="" id="{EE823468-C860-4809-A7D2-1B2AAA40B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9490" y="4178714"/>
            <a:ext cx="1239593" cy="541579"/>
          </a:xfrm>
          <a:prstGeom prst="round2Same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sp>
        <p:nvSpPr>
          <p:cNvPr id="185" name="AutoShape 68" descr="강-2단">
            <a:extLst>
              <a:ext uri="{FF2B5EF4-FFF2-40B4-BE49-F238E27FC236}">
                <a16:creationId xmlns:a16="http://schemas.microsoft.com/office/drawing/2014/main" xmlns="" id="{2DD92CFD-1757-4414-81CF-128AC9F93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9491" y="4178716"/>
            <a:ext cx="1239593" cy="302946"/>
          </a:xfrm>
          <a:prstGeom prst="round2Same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018212">
              <a:lnSpc>
                <a:spcPct val="90000"/>
              </a:lnSpc>
              <a:buClr>
                <a:sysClr val="windowText" lastClr="000000"/>
              </a:buClr>
              <a:buSzPct val="140000"/>
              <a:tabLst>
                <a:tab pos="6289586" algn="l"/>
              </a:tabLst>
              <a:defRPr/>
            </a:pPr>
            <a:r>
              <a:rPr lang="en-US" altLang="ko-KR" sz="14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UI</a:t>
            </a:r>
            <a:r>
              <a:rPr lang="ko-KR" altLang="en-US" sz="14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 디자인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xmlns="" id="{462B9114-33A4-4FA1-A278-DDECA2D670FD}"/>
              </a:ext>
            </a:extLst>
          </p:cNvPr>
          <p:cNvSpPr/>
          <p:nvPr/>
        </p:nvSpPr>
        <p:spPr bwMode="auto">
          <a:xfrm>
            <a:off x="2035200" y="4526660"/>
            <a:ext cx="820738" cy="17953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ts val="1449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김수호 사원</a:t>
            </a:r>
          </a:p>
        </p:txBody>
      </p:sp>
      <p:sp>
        <p:nvSpPr>
          <p:cNvPr id="207" name="AutoShape 68" descr="강-2단">
            <a:extLst>
              <a:ext uri="{FF2B5EF4-FFF2-40B4-BE49-F238E27FC236}">
                <a16:creationId xmlns:a16="http://schemas.microsoft.com/office/drawing/2014/main" xmlns="" id="{D3A10B0C-CFCB-4EC8-ACAE-9DFA2EACF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094" y="4178714"/>
            <a:ext cx="1239593" cy="541579"/>
          </a:xfrm>
          <a:prstGeom prst="round2Same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sp>
        <p:nvSpPr>
          <p:cNvPr id="208" name="AutoShape 68" descr="강-2단">
            <a:extLst>
              <a:ext uri="{FF2B5EF4-FFF2-40B4-BE49-F238E27FC236}">
                <a16:creationId xmlns:a16="http://schemas.microsoft.com/office/drawing/2014/main" xmlns="" id="{02909748-16B0-4182-AA15-745124A6D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095" y="4178716"/>
            <a:ext cx="1239593" cy="302946"/>
          </a:xfrm>
          <a:prstGeom prst="round2Same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018212">
              <a:lnSpc>
                <a:spcPct val="90000"/>
              </a:lnSpc>
              <a:buClr>
                <a:sysClr val="windowText" lastClr="000000"/>
              </a:buClr>
              <a:buSzPct val="140000"/>
              <a:tabLst>
                <a:tab pos="6289586" algn="l"/>
              </a:tabLst>
              <a:defRPr/>
            </a:pPr>
            <a:r>
              <a:rPr lang="ko-KR" altLang="en-US" sz="14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모바일</a:t>
            </a: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xmlns="" id="{8DD1B286-327D-4671-A6B3-006F13485492}"/>
              </a:ext>
            </a:extLst>
          </p:cNvPr>
          <p:cNvSpPr/>
          <p:nvPr/>
        </p:nvSpPr>
        <p:spPr bwMode="auto">
          <a:xfrm>
            <a:off x="3411804" y="4526660"/>
            <a:ext cx="820738" cy="17953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ts val="1449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이승수 대리</a:t>
            </a:r>
          </a:p>
        </p:txBody>
      </p:sp>
      <p:sp>
        <p:nvSpPr>
          <p:cNvPr id="210" name="AutoShape 68" descr="강-2단">
            <a:extLst>
              <a:ext uri="{FF2B5EF4-FFF2-40B4-BE49-F238E27FC236}">
                <a16:creationId xmlns:a16="http://schemas.microsoft.com/office/drawing/2014/main" xmlns="" id="{BF1501BC-D22A-442E-A2BE-D79C9BBDD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149" y="4178714"/>
            <a:ext cx="1239593" cy="541579"/>
          </a:xfrm>
          <a:prstGeom prst="round2Same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sp>
        <p:nvSpPr>
          <p:cNvPr id="211" name="AutoShape 68" descr="강-2단">
            <a:extLst>
              <a:ext uri="{FF2B5EF4-FFF2-40B4-BE49-F238E27FC236}">
                <a16:creationId xmlns:a16="http://schemas.microsoft.com/office/drawing/2014/main" xmlns="" id="{50F9913B-0B58-4BA5-A54A-31079230A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150" y="4178716"/>
            <a:ext cx="1239593" cy="302946"/>
          </a:xfrm>
          <a:prstGeom prst="round2Same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018212">
              <a:lnSpc>
                <a:spcPct val="90000"/>
              </a:lnSpc>
              <a:buClr>
                <a:sysClr val="windowText" lastClr="000000"/>
              </a:buClr>
              <a:buSzPct val="140000"/>
              <a:tabLst>
                <a:tab pos="6289586" algn="l"/>
              </a:tabLst>
              <a:defRPr/>
            </a:pPr>
            <a:r>
              <a:rPr lang="en-US" altLang="ko-KR" sz="14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DB</a:t>
            </a:r>
            <a:endParaRPr lang="ko-KR" altLang="en-US" sz="14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xmlns="" id="{15928678-9390-4FF7-BEFA-C58FCF00F26C}"/>
              </a:ext>
            </a:extLst>
          </p:cNvPr>
          <p:cNvSpPr/>
          <p:nvPr/>
        </p:nvSpPr>
        <p:spPr bwMode="auto">
          <a:xfrm>
            <a:off x="4779859" y="4526660"/>
            <a:ext cx="820738" cy="17953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ts val="1449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박상수 주임</a:t>
            </a:r>
          </a:p>
        </p:txBody>
      </p:sp>
      <p:sp>
        <p:nvSpPr>
          <p:cNvPr id="214" name="AutoShape 68" descr="강-2단">
            <a:extLst>
              <a:ext uri="{FF2B5EF4-FFF2-40B4-BE49-F238E27FC236}">
                <a16:creationId xmlns:a16="http://schemas.microsoft.com/office/drawing/2014/main" xmlns="" id="{46044A78-C441-4923-801A-173F33DC2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5687" y="4178714"/>
            <a:ext cx="1239593" cy="541579"/>
          </a:xfrm>
          <a:prstGeom prst="round2Same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ct val="110000"/>
              </a:lnSpc>
              <a:buClr>
                <a:sysClr val="windowText" lastClr="000000"/>
              </a:buClr>
              <a:tabLst>
                <a:tab pos="6289586" algn="l"/>
              </a:tabLst>
            </a:pPr>
            <a:endParaRPr lang="ko-KR" altLang="en-US" sz="13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  <a:sym typeface="Monotype Sorts" pitchFamily="2" charset="2"/>
            </a:endParaRPr>
          </a:p>
        </p:txBody>
      </p:sp>
      <p:sp>
        <p:nvSpPr>
          <p:cNvPr id="215" name="AutoShape 68" descr="강-2단">
            <a:extLst>
              <a:ext uri="{FF2B5EF4-FFF2-40B4-BE49-F238E27FC236}">
                <a16:creationId xmlns:a16="http://schemas.microsoft.com/office/drawing/2014/main" xmlns="" id="{584C3E1E-DEF8-4CF2-8A30-DA255432F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5688" y="4178716"/>
            <a:ext cx="1239593" cy="302946"/>
          </a:xfrm>
          <a:prstGeom prst="round2Same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9" tIns="45683" rIns="91369" bIns="45683" anchor="ctr"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018212">
              <a:lnSpc>
                <a:spcPct val="90000"/>
              </a:lnSpc>
              <a:buClr>
                <a:sysClr val="windowText" lastClr="000000"/>
              </a:buClr>
              <a:buSzPct val="140000"/>
              <a:tabLst>
                <a:tab pos="6289586" algn="l"/>
              </a:tabLst>
              <a:defRPr/>
            </a:pPr>
            <a:r>
              <a:rPr lang="ko-KR" altLang="en-US" sz="140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sym typeface="Monotype Sorts" pitchFamily="2" charset="2"/>
              </a:rPr>
              <a:t>연계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xmlns="" id="{784FF0E3-842D-47EA-9BE1-3585759D4DDA}"/>
              </a:ext>
            </a:extLst>
          </p:cNvPr>
          <p:cNvSpPr/>
          <p:nvPr/>
        </p:nvSpPr>
        <p:spPr bwMode="auto">
          <a:xfrm>
            <a:off x="6207960" y="4524608"/>
            <a:ext cx="839154" cy="1836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1270"/>
              <a:contourClr>
                <a:schemeClr val="bg1"/>
              </a:contourClr>
            </a:sp3d>
          </a:bodyPr>
          <a:lstStyle/>
          <a:p>
            <a:pPr marL="0" lvl="1" indent="-159096" algn="ctr" defTabSz="1481357" eaLnBrk="0" hangingPunct="0">
              <a:lnSpc>
                <a:spcPts val="1449"/>
              </a:lnSpc>
              <a:buClr>
                <a:sysClr val="windowText" lastClr="000000"/>
              </a:buClr>
              <a:tabLst>
                <a:tab pos="6289586" algn="l"/>
              </a:tabLst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메타빌드</a:t>
            </a:r>
            <a:endParaRPr lang="ko-KR" altLang="en-US" sz="1200" kern="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17" name="그룹 216">
            <a:extLst>
              <a:ext uri="{FF2B5EF4-FFF2-40B4-BE49-F238E27FC236}">
                <a16:creationId xmlns:a16="http://schemas.microsoft.com/office/drawing/2014/main" xmlns="" id="{FA1E50BB-8BA9-4F71-9547-D03CD52049E0}"/>
              </a:ext>
            </a:extLst>
          </p:cNvPr>
          <p:cNvGrpSpPr/>
          <p:nvPr/>
        </p:nvGrpSpPr>
        <p:grpSpPr>
          <a:xfrm>
            <a:off x="3246094" y="4786585"/>
            <a:ext cx="1233469" cy="212294"/>
            <a:chOff x="626333" y="5508408"/>
            <a:chExt cx="1502956" cy="341900"/>
          </a:xfrm>
        </p:grpSpPr>
        <p:sp>
          <p:nvSpPr>
            <p:cNvPr id="218" name="모서리가 둥근 직사각형 141">
              <a:extLst>
                <a:ext uri="{FF2B5EF4-FFF2-40B4-BE49-F238E27FC236}">
                  <a16:creationId xmlns:a16="http://schemas.microsoft.com/office/drawing/2014/main" xmlns="" id="{04AF6B3B-9970-440A-81C1-9C7933221E84}"/>
                </a:ext>
              </a:extLst>
            </p:cNvPr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xmlns="" id="{952421BB-16C9-442C-BEE4-64B0505FC7D5}"/>
                </a:ext>
              </a:extLst>
            </p:cNvPr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김준석 사원</a:t>
              </a: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xmlns="" id="{8305CE28-E1B6-4AAB-B045-B00C81BECC79}"/>
              </a:ext>
            </a:extLst>
          </p:cNvPr>
          <p:cNvGrpSpPr/>
          <p:nvPr/>
        </p:nvGrpSpPr>
        <p:grpSpPr>
          <a:xfrm>
            <a:off x="3246094" y="5074617"/>
            <a:ext cx="1233469" cy="212294"/>
            <a:chOff x="626333" y="5508408"/>
            <a:chExt cx="1502956" cy="341900"/>
          </a:xfrm>
        </p:grpSpPr>
        <p:sp>
          <p:nvSpPr>
            <p:cNvPr id="221" name="모서리가 둥근 직사각형 141">
              <a:extLst>
                <a:ext uri="{FF2B5EF4-FFF2-40B4-BE49-F238E27FC236}">
                  <a16:creationId xmlns:a16="http://schemas.microsoft.com/office/drawing/2014/main" xmlns="" id="{F8EB34BD-0F12-4A4E-85D9-8EFC0211F625}"/>
                </a:ext>
              </a:extLst>
            </p:cNvPr>
            <p:cNvSpPr/>
            <p:nvPr/>
          </p:nvSpPr>
          <p:spPr bwMode="auto">
            <a:xfrm>
              <a:off x="626333" y="5508408"/>
              <a:ext cx="1502956" cy="341900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outerShdw blurRad="254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481357" eaLnBrk="0" hangingPunct="0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endParaRPr lang="ko-KR" altLang="en-US" sz="13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xmlns="" id="{87E3E9FC-EFE0-47E0-B08B-B864B97D576E}"/>
                </a:ext>
              </a:extLst>
            </p:cNvPr>
            <p:cNvSpPr/>
            <p:nvPr/>
          </p:nvSpPr>
          <p:spPr bwMode="auto">
            <a:xfrm>
              <a:off x="686370" y="5565877"/>
              <a:ext cx="1383268" cy="227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820" tIns="50911" rIns="101820" bIns="50911" anchor="ctr">
              <a:scene3d>
                <a:camera prst="orthographicFront"/>
                <a:lightRig rig="threePt" dir="t"/>
              </a:scene3d>
              <a:sp3d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59096" algn="ctr" defTabSz="1018212">
                <a:lnSpc>
                  <a:spcPct val="110000"/>
                </a:lnSpc>
                <a:buClr>
                  <a:sysClr val="windowText" lastClr="000000"/>
                </a:buClr>
                <a:tabLst>
                  <a:tab pos="6289586" algn="l"/>
                </a:tabLst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신은경 과장</a:t>
              </a:r>
            </a:p>
          </p:txBody>
        </p:sp>
      </p:grpSp>
      <p:cxnSp>
        <p:nvCxnSpPr>
          <p:cNvPr id="265" name="꺾인 연결선 157">
            <a:extLst>
              <a:ext uri="{FF2B5EF4-FFF2-40B4-BE49-F238E27FC236}">
                <a16:creationId xmlns:a16="http://schemas.microsoft.com/office/drawing/2014/main" xmlns="" id="{66111825-2691-4D09-B5BB-D7D635DDA5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18669" y="4092290"/>
            <a:ext cx="140974" cy="271"/>
          </a:xfrm>
          <a:prstGeom prst="bentConnector3">
            <a:avLst>
              <a:gd name="adj1" fmla="val 61823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round/>
            <a:headEnd type="none"/>
            <a:tailEnd type="none" w="med" len="med"/>
          </a:ln>
        </p:spPr>
      </p:cxnSp>
      <p:cxnSp>
        <p:nvCxnSpPr>
          <p:cNvPr id="267" name="꺾인 연결선 157">
            <a:extLst>
              <a:ext uri="{FF2B5EF4-FFF2-40B4-BE49-F238E27FC236}">
                <a16:creationId xmlns:a16="http://schemas.microsoft.com/office/drawing/2014/main" xmlns="" id="{413101D2-D45F-4337-9CCC-C8028DEE0B4E}"/>
              </a:ext>
            </a:extLst>
          </p:cNvPr>
          <p:cNvCxnSpPr>
            <a:cxnSpLocks/>
            <a:endCxn id="211" idx="3"/>
          </p:cNvCxnSpPr>
          <p:nvPr/>
        </p:nvCxnSpPr>
        <p:spPr>
          <a:xfrm rot="5400000">
            <a:off x="5158736" y="4097152"/>
            <a:ext cx="156775" cy="6352"/>
          </a:xfrm>
          <a:prstGeom prst="bentConnector3">
            <a:avLst>
              <a:gd name="adj1" fmla="val -1644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round/>
            <a:headEnd type="none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75391368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7" name="표 966"/>
          <p:cNvGraphicFramePr>
            <a:graphicFrameLocks noGrp="1"/>
          </p:cNvGraphicFramePr>
          <p:nvPr>
            <p:extLst/>
          </p:nvPr>
        </p:nvGraphicFramePr>
        <p:xfrm>
          <a:off x="318764" y="1296294"/>
          <a:ext cx="10248454" cy="6096505"/>
        </p:xfrm>
        <a:graphic>
          <a:graphicData uri="http://schemas.openxmlformats.org/drawingml/2006/table">
            <a:tbl>
              <a:tblPr/>
              <a:tblGrid>
                <a:gridCol w="28647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98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98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2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3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4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5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6"/>
                    </a:ext>
                  </a:extLst>
                </a:gridCol>
                <a:gridCol w="270922">
                  <a:extLst>
                    <a:ext uri="{9D8B030D-6E8A-4147-A177-3AD203B41FA5}">
                      <a16:colId xmlns:a16="http://schemas.microsoft.com/office/drawing/2014/main" xmlns="" val="20037"/>
                    </a:ext>
                  </a:extLst>
                </a:gridCol>
              </a:tblGrid>
              <a:tr h="221083"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2018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5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2019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50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11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12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2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3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4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5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6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7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8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9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10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11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12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월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50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M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2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3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4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5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6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7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8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9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10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11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12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13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14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92C4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5039"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개발단계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분석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설계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CB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CBD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구현 및 시험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CD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인도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88994">
                <a:tc rowSpan="3"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전체공정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4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요구사항 식별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요구사항 분석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아키텍처 정의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자료구축 준비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개략설계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4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상세설계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  <a:cs typeface="+mn-cs"/>
                        </a:rPr>
                        <a:t>구현 및 단위시험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>
                        <a:alpha val="20000"/>
                      </a:srgb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  <a:cs typeface="+mn-cs"/>
                        </a:rPr>
                        <a:t>SW</a:t>
                      </a:r>
                    </a:p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  <a:cs typeface="+mn-cs"/>
                        </a:rPr>
                        <a:t>통합 및 시험</a:t>
                      </a:r>
                    </a:p>
                  </a:txBody>
                  <a:tcPr marL="0" marR="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>
                        <a:alpha val="2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  <a:cs typeface="+mn-cs"/>
                        </a:rPr>
                        <a:t>시스템 통합 및 시험</a:t>
                      </a:r>
                    </a:p>
                  </a:txBody>
                  <a:tcPr marL="0" marR="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>
                        <a:alpha val="20000"/>
                      </a:srgb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  <a:cs typeface="+mn-cs"/>
                          <a:sym typeface="Monotype Sorts" pitchFamily="2" charset="2"/>
                        </a:rPr>
                        <a:t>개발시험평가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운용시험평가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7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안정화지원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8899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7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시험운영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안정화지원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7405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표준기능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전</a:t>
                      </a:r>
                      <a:endParaRPr lang="en-US" altLang="ko-KR" sz="800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제대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16009">
                <a:tc rowSpan="7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세부</a:t>
                      </a:r>
                      <a:b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</a:b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공정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사업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/</a:t>
                      </a:r>
                    </a:p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품질관리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체계개발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응용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SW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574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선행개발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 Bold" panose="020D0804000000000000" pitchFamily="50" charset="-127"/>
                        <a:ea typeface="나눔고딕 Bold" panose="020D0804000000000000" pitchFamily="50" charset="-127"/>
                        <a:cs typeface="+mn-cs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 Bold" panose="020D0804000000000000" pitchFamily="50" charset="-127"/>
                        <a:ea typeface="나눔고딕 Bold" panose="020D0804000000000000" pitchFamily="50" charset="-127"/>
                        <a:cs typeface="+mn-cs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 Bold" panose="020D0804000000000000" pitchFamily="50" charset="-127"/>
                        <a:ea typeface="나눔고딕 Bold" panose="020D0804000000000000" pitchFamily="50" charset="-127"/>
                        <a:cs typeface="+mn-cs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340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데이터통합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체계통합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연동체계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구축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505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기반체계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　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47431"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교육</a:t>
                      </a:r>
                    </a:p>
                  </a:txBody>
                  <a:tcPr marL="36000" marR="36000" marT="28800" marB="28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617835"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주요</a:t>
                      </a:r>
                      <a:b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</a:b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산출물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테일러링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)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F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5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Bold" panose="020D0804000000000000" pitchFamily="50" charset="-127"/>
                        <a:ea typeface="나눔고딕 Bold" panose="020D0804000000000000" pitchFamily="50" charset="-127"/>
                      </a:endParaRPr>
                    </a:p>
                  </a:txBody>
                  <a:tcPr marL="36000" marR="36000" marT="28800" marB="28800" anchor="ctr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나눔고딕 ExtraBold" pitchFamily="50" charset="-127"/>
                        <a:ea typeface="나눔고딕 ExtraBold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859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85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1207" name="AutoShape 842"/>
          <p:cNvSpPr>
            <a:spLocks/>
          </p:cNvSpPr>
          <p:nvPr/>
        </p:nvSpPr>
        <p:spPr bwMode="auto">
          <a:xfrm rot="5400000" flipH="1">
            <a:off x="2467950" y="5023368"/>
            <a:ext cx="195632" cy="800484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18764" y="248651"/>
            <a:ext cx="7117654" cy="843519"/>
            <a:chOff x="318763" y="248649"/>
            <a:chExt cx="7117654" cy="843519"/>
          </a:xfrm>
        </p:grpSpPr>
        <p:sp>
          <p:nvSpPr>
            <p:cNvPr id="133" name="TextBox 132"/>
            <p:cNvSpPr txBox="1"/>
            <p:nvPr/>
          </p:nvSpPr>
          <p:spPr>
            <a:xfrm>
              <a:off x="318763" y="568948"/>
              <a:ext cx="7117654" cy="523220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2800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철저한 업무분석을 통한 체계적인 일정 수행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21774" y="248649"/>
              <a:ext cx="1810111" cy="338554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en-US" altLang="ko-KR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2.</a:t>
              </a: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사업 수행 일정</a:t>
              </a:r>
            </a:p>
          </p:txBody>
        </p:sp>
      </p:grpSp>
      <p:sp>
        <p:nvSpPr>
          <p:cNvPr id="968" name="AutoShape 479"/>
          <p:cNvSpPr>
            <a:spLocks/>
          </p:cNvSpPr>
          <p:nvPr/>
        </p:nvSpPr>
        <p:spPr bwMode="auto">
          <a:xfrm rot="5400000">
            <a:off x="1662708" y="2989520"/>
            <a:ext cx="173038" cy="64770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69" name="Text Box 480"/>
          <p:cNvSpPr txBox="1">
            <a:spLocks noChangeArrowheads="1"/>
          </p:cNvSpPr>
          <p:nvPr/>
        </p:nvSpPr>
        <p:spPr bwMode="auto">
          <a:xfrm>
            <a:off x="1134170" y="3020293"/>
            <a:ext cx="441276" cy="141654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none" lIns="15304" tIns="9182" rIns="15304" bIns="9182" anchor="ctr">
            <a:spAutoFit/>
          </a:bodyPr>
          <a:lstStyle/>
          <a:p>
            <a:pPr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i="1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착수보고</a:t>
            </a:r>
          </a:p>
        </p:txBody>
      </p:sp>
      <p:sp>
        <p:nvSpPr>
          <p:cNvPr id="970" name="AutoShape 482"/>
          <p:cNvSpPr>
            <a:spLocks/>
          </p:cNvSpPr>
          <p:nvPr/>
        </p:nvSpPr>
        <p:spPr bwMode="auto">
          <a:xfrm rot="5400000">
            <a:off x="6249506" y="-938466"/>
            <a:ext cx="141279" cy="8494142"/>
          </a:xfrm>
          <a:prstGeom prst="leftBracket">
            <a:avLst>
              <a:gd name="adj" fmla="val 41452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971" name="Group 586"/>
          <p:cNvGrpSpPr>
            <a:grpSpLocks/>
          </p:cNvGrpSpPr>
          <p:nvPr/>
        </p:nvGrpSpPr>
        <p:grpSpPr bwMode="auto">
          <a:xfrm>
            <a:off x="4271768" y="3020481"/>
            <a:ext cx="441274" cy="241300"/>
            <a:chOff x="3466" y="1276"/>
            <a:chExt cx="446" cy="152"/>
          </a:xfrm>
        </p:grpSpPr>
        <p:sp>
          <p:nvSpPr>
            <p:cNvPr id="972" name="Text Box 483"/>
            <p:cNvSpPr txBox="1">
              <a:spLocks noChangeArrowheads="1"/>
            </p:cNvSpPr>
            <p:nvPr/>
          </p:nvSpPr>
          <p:spPr bwMode="auto">
            <a:xfrm>
              <a:off x="3466" y="1276"/>
              <a:ext cx="446" cy="89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중간보고</a:t>
              </a:r>
            </a:p>
          </p:txBody>
        </p:sp>
        <p:sp>
          <p:nvSpPr>
            <p:cNvPr id="973" name="이등변 삼각형 85"/>
            <p:cNvSpPr>
              <a:spLocks noChangeArrowheads="1"/>
            </p:cNvSpPr>
            <p:nvPr/>
          </p:nvSpPr>
          <p:spPr bwMode="auto">
            <a:xfrm rot="10800000">
              <a:off x="3567" y="1363"/>
              <a:ext cx="64" cy="6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25400" algn="ctr">
              <a:noFill/>
              <a:miter lim="800000"/>
              <a:headEnd/>
              <a:tailEnd/>
            </a:ln>
          </p:spPr>
          <p:txBody>
            <a:bodyPr rot="10800000" lIns="90708" tIns="45355" rIns="90708" bIns="45355" anchor="ctr"/>
            <a:lstStyle/>
            <a:p>
              <a:pPr defTabSz="90646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974" name="이등변 삼각형 86"/>
          <p:cNvSpPr>
            <a:spLocks noChangeArrowheads="1"/>
          </p:cNvSpPr>
          <p:nvPr/>
        </p:nvSpPr>
        <p:spPr bwMode="auto">
          <a:xfrm rot="10800000">
            <a:off x="1435795" y="3152239"/>
            <a:ext cx="63500" cy="10318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25400" algn="ctr">
            <a:noFill/>
            <a:miter lim="800000"/>
            <a:headEnd/>
            <a:tailEnd/>
          </a:ln>
        </p:spPr>
        <p:txBody>
          <a:bodyPr rot="10800000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rgbClr val="FFFFF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975" name="Group 593"/>
          <p:cNvGrpSpPr>
            <a:grpSpLocks/>
          </p:cNvGrpSpPr>
          <p:nvPr/>
        </p:nvGrpSpPr>
        <p:grpSpPr bwMode="auto">
          <a:xfrm>
            <a:off x="3989113" y="3237964"/>
            <a:ext cx="4059198" cy="141288"/>
            <a:chOff x="2239" y="1555"/>
            <a:chExt cx="4126" cy="89"/>
          </a:xfrm>
        </p:grpSpPr>
        <p:sp>
          <p:nvSpPr>
            <p:cNvPr id="976" name="Text Box 489"/>
            <p:cNvSpPr txBox="1">
              <a:spLocks noChangeArrowheads="1"/>
            </p:cNvSpPr>
            <p:nvPr/>
          </p:nvSpPr>
          <p:spPr bwMode="auto">
            <a:xfrm>
              <a:off x="2338" y="1555"/>
              <a:ext cx="4027" cy="89"/>
            </a:xfrm>
            <a:prstGeom prst="rect">
              <a:avLst/>
            </a:prstGeom>
            <a:noFill/>
            <a:ln w="12700" algn="ctr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실행 및 통제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통합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범위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진도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인력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품질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문서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위험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의사소통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보안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 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협력업체관리</a:t>
              </a:r>
              <a:r>
                <a:rPr lang="en-US" altLang="ko-KR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r>
                <a:rPr lang="ko-KR" altLang="en-US" sz="800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</a:p>
          </p:txBody>
        </p:sp>
        <p:pic>
          <p:nvPicPr>
            <p:cNvPr id="977" name="Picture 830" descr="Untitled-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" y="1555"/>
              <a:ext cx="79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78" name="Text Box 485"/>
          <p:cNvSpPr txBox="1">
            <a:spLocks noChangeArrowheads="1"/>
          </p:cNvSpPr>
          <p:nvPr/>
        </p:nvSpPr>
        <p:spPr bwMode="auto">
          <a:xfrm>
            <a:off x="10279186" y="3023468"/>
            <a:ext cx="441276" cy="141654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none" lIns="15304" tIns="9182" rIns="15304" bIns="9182" anchor="ctr">
            <a:spAutoFit/>
          </a:bodyPr>
          <a:lstStyle/>
          <a:p>
            <a:pPr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i="1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종료보고</a:t>
            </a:r>
            <a:endParaRPr lang="en-US" altLang="ko-KR" sz="800" i="1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79" name="이등변 삼각형 95"/>
          <p:cNvSpPr>
            <a:spLocks noChangeArrowheads="1"/>
          </p:cNvSpPr>
          <p:nvPr/>
        </p:nvSpPr>
        <p:spPr bwMode="auto">
          <a:xfrm rot="10800000">
            <a:off x="10515351" y="3139539"/>
            <a:ext cx="65088" cy="10318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25400" algn="ctr">
            <a:noFill/>
            <a:miter lim="800000"/>
            <a:headEnd/>
            <a:tailEnd/>
          </a:ln>
        </p:spPr>
        <p:txBody>
          <a:bodyPr rot="10800000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rgbClr val="FFFFF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80" name="Rectangle 2310" descr="32_1"/>
          <p:cNvSpPr>
            <a:spLocks noChangeArrowheads="1"/>
          </p:cNvSpPr>
          <p:nvPr/>
        </p:nvSpPr>
        <p:spPr bwMode="auto">
          <a:xfrm>
            <a:off x="1422201" y="3388776"/>
            <a:ext cx="9145015" cy="115888"/>
          </a:xfrm>
          <a:prstGeom prst="rect">
            <a:avLst/>
          </a:prstGeom>
          <a:solidFill>
            <a:srgbClr val="D9D9D9"/>
          </a:solidFill>
          <a:ln w="25400" algn="ctr">
            <a:noFill/>
            <a:miter lim="800000"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981" name="Group 586"/>
          <p:cNvGrpSpPr>
            <a:grpSpLocks/>
          </p:cNvGrpSpPr>
          <p:nvPr/>
        </p:nvGrpSpPr>
        <p:grpSpPr bwMode="auto">
          <a:xfrm>
            <a:off x="7182842" y="3020293"/>
            <a:ext cx="441274" cy="241300"/>
            <a:chOff x="3466" y="1276"/>
            <a:chExt cx="446" cy="152"/>
          </a:xfrm>
        </p:grpSpPr>
        <p:sp>
          <p:nvSpPr>
            <p:cNvPr id="982" name="Text Box 483"/>
            <p:cNvSpPr txBox="1">
              <a:spLocks noChangeArrowheads="1"/>
            </p:cNvSpPr>
            <p:nvPr/>
          </p:nvSpPr>
          <p:spPr bwMode="auto">
            <a:xfrm>
              <a:off x="3466" y="1276"/>
              <a:ext cx="446" cy="89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중간보고</a:t>
              </a:r>
            </a:p>
          </p:txBody>
        </p:sp>
        <p:sp>
          <p:nvSpPr>
            <p:cNvPr id="983" name="이등변 삼각형 85"/>
            <p:cNvSpPr>
              <a:spLocks noChangeArrowheads="1"/>
            </p:cNvSpPr>
            <p:nvPr/>
          </p:nvSpPr>
          <p:spPr bwMode="auto">
            <a:xfrm rot="10800000">
              <a:off x="3567" y="1363"/>
              <a:ext cx="64" cy="6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25400" algn="ctr">
              <a:noFill/>
              <a:miter lim="800000"/>
              <a:headEnd/>
              <a:tailEnd/>
            </a:ln>
          </p:spPr>
          <p:txBody>
            <a:bodyPr rot="10800000" lIns="90708" tIns="45355" rIns="90708" bIns="45355" anchor="ctr"/>
            <a:lstStyle/>
            <a:p>
              <a:pPr defTabSz="90646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989" name="AutoShape 479"/>
          <p:cNvSpPr>
            <a:spLocks/>
          </p:cNvSpPr>
          <p:nvPr/>
        </p:nvSpPr>
        <p:spPr bwMode="auto">
          <a:xfrm rot="5400000">
            <a:off x="1911561" y="3183198"/>
            <a:ext cx="173038" cy="1151756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90" name="AutoShape 842"/>
          <p:cNvSpPr>
            <a:spLocks/>
          </p:cNvSpPr>
          <p:nvPr/>
        </p:nvSpPr>
        <p:spPr bwMode="auto">
          <a:xfrm rot="5400000" flipH="1">
            <a:off x="7223805" y="3674249"/>
            <a:ext cx="165674" cy="535633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91" name="Line 347"/>
          <p:cNvSpPr>
            <a:spLocks noChangeShapeType="1"/>
          </p:cNvSpPr>
          <p:nvPr/>
        </p:nvSpPr>
        <p:spPr bwMode="auto">
          <a:xfrm flipV="1">
            <a:off x="1441251" y="3845595"/>
            <a:ext cx="9106643" cy="387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93" name="Text Box 900"/>
          <p:cNvSpPr txBox="1">
            <a:spLocks noChangeArrowheads="1"/>
          </p:cNvSpPr>
          <p:nvPr/>
        </p:nvSpPr>
        <p:spPr bwMode="auto">
          <a:xfrm>
            <a:off x="1556693" y="3706215"/>
            <a:ext cx="920960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현황시스템분석</a:t>
            </a:r>
            <a:endParaRPr lang="ko-KR" altLang="en-US" sz="8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94" name="Line 347"/>
          <p:cNvSpPr>
            <a:spLocks noChangeShapeType="1"/>
          </p:cNvSpPr>
          <p:nvPr/>
        </p:nvSpPr>
        <p:spPr bwMode="auto">
          <a:xfrm>
            <a:off x="2180656" y="4382183"/>
            <a:ext cx="2708644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95" name="AutoShape 479"/>
          <p:cNvSpPr>
            <a:spLocks/>
          </p:cNvSpPr>
          <p:nvPr/>
        </p:nvSpPr>
        <p:spPr bwMode="auto">
          <a:xfrm rot="5400000">
            <a:off x="2811661" y="3435227"/>
            <a:ext cx="173038" cy="64770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96" name="Text Box 900"/>
          <p:cNvSpPr txBox="1">
            <a:spLocks noChangeArrowheads="1"/>
          </p:cNvSpPr>
          <p:nvPr/>
        </p:nvSpPr>
        <p:spPr bwMode="auto">
          <a:xfrm>
            <a:off x="2602630" y="3721008"/>
            <a:ext cx="619772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분석모델링</a:t>
            </a:r>
          </a:p>
        </p:txBody>
      </p:sp>
      <p:sp>
        <p:nvSpPr>
          <p:cNvPr id="997" name="AutoShape 479"/>
          <p:cNvSpPr>
            <a:spLocks/>
          </p:cNvSpPr>
          <p:nvPr/>
        </p:nvSpPr>
        <p:spPr bwMode="auto">
          <a:xfrm rot="5400000">
            <a:off x="3459733" y="3435226"/>
            <a:ext cx="173038" cy="64770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98" name="Text Box 900"/>
          <p:cNvSpPr txBox="1">
            <a:spLocks noChangeArrowheads="1"/>
          </p:cNvSpPr>
          <p:nvPr/>
        </p:nvSpPr>
        <p:spPr bwMode="auto">
          <a:xfrm>
            <a:off x="3222402" y="3695722"/>
            <a:ext cx="691780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인터페이스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상호작용설계</a:t>
            </a:r>
          </a:p>
        </p:txBody>
      </p:sp>
      <p:sp>
        <p:nvSpPr>
          <p:cNvPr id="999" name="AutoShape 479"/>
          <p:cNvSpPr>
            <a:spLocks/>
          </p:cNvSpPr>
          <p:nvPr/>
        </p:nvSpPr>
        <p:spPr bwMode="auto">
          <a:xfrm rot="5400000">
            <a:off x="4107805" y="3435227"/>
            <a:ext cx="173038" cy="64770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00" name="Text Box 900"/>
          <p:cNvSpPr txBox="1">
            <a:spLocks noChangeArrowheads="1"/>
          </p:cNvSpPr>
          <p:nvPr/>
        </p:nvSpPr>
        <p:spPr bwMode="auto">
          <a:xfrm>
            <a:off x="3898774" y="3700907"/>
            <a:ext cx="691780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인터페이스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구현설계</a:t>
            </a:r>
          </a:p>
        </p:txBody>
      </p:sp>
      <p:sp>
        <p:nvSpPr>
          <p:cNvPr id="1001" name="AutoShape 479"/>
          <p:cNvSpPr>
            <a:spLocks/>
          </p:cNvSpPr>
          <p:nvPr/>
        </p:nvSpPr>
        <p:spPr bwMode="auto">
          <a:xfrm rot="5400000">
            <a:off x="5871218" y="2679925"/>
            <a:ext cx="174976" cy="216024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02" name="Text Box 900"/>
          <p:cNvSpPr txBox="1">
            <a:spLocks noChangeArrowheads="1"/>
          </p:cNvSpPr>
          <p:nvPr/>
        </p:nvSpPr>
        <p:spPr bwMode="auto">
          <a:xfrm>
            <a:off x="5335017" y="3723601"/>
            <a:ext cx="1339852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및 단위테스트 준비</a:t>
            </a:r>
          </a:p>
        </p:txBody>
      </p:sp>
      <p:sp>
        <p:nvSpPr>
          <p:cNvPr id="1003" name="AutoShape 479"/>
          <p:cNvSpPr>
            <a:spLocks/>
          </p:cNvSpPr>
          <p:nvPr/>
        </p:nvSpPr>
        <p:spPr bwMode="auto">
          <a:xfrm rot="5400000">
            <a:off x="7760184" y="3477885"/>
            <a:ext cx="173038" cy="544487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04" name="Text Box 900"/>
          <p:cNvSpPr txBox="1">
            <a:spLocks noChangeArrowheads="1"/>
          </p:cNvSpPr>
          <p:nvPr/>
        </p:nvSpPr>
        <p:spPr bwMode="auto">
          <a:xfrm>
            <a:off x="7470874" y="3615937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개발시험평가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05" name="AutoShape 479"/>
          <p:cNvSpPr>
            <a:spLocks/>
          </p:cNvSpPr>
          <p:nvPr/>
        </p:nvSpPr>
        <p:spPr bwMode="auto">
          <a:xfrm rot="5400000">
            <a:off x="8576959" y="3214544"/>
            <a:ext cx="164092" cy="108011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06" name="Text Box 900"/>
          <p:cNvSpPr txBox="1">
            <a:spLocks noChangeArrowheads="1"/>
          </p:cNvSpPr>
          <p:nvPr/>
        </p:nvSpPr>
        <p:spPr bwMode="auto">
          <a:xfrm>
            <a:off x="8334970" y="3628899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운용시험평가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07" name="AutoShape 842"/>
          <p:cNvSpPr>
            <a:spLocks/>
          </p:cNvSpPr>
          <p:nvPr/>
        </p:nvSpPr>
        <p:spPr bwMode="auto">
          <a:xfrm rot="5400000" flipH="1">
            <a:off x="4605762" y="4290719"/>
            <a:ext cx="195947" cy="371125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08" name="Text Box 900"/>
          <p:cNvSpPr txBox="1">
            <a:spLocks noChangeArrowheads="1"/>
          </p:cNvSpPr>
          <p:nvPr/>
        </p:nvSpPr>
        <p:spPr bwMode="auto">
          <a:xfrm>
            <a:off x="7035548" y="3891007"/>
            <a:ext cx="579342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시험수행</a:t>
            </a:r>
          </a:p>
        </p:txBody>
      </p:sp>
      <p:sp>
        <p:nvSpPr>
          <p:cNvPr id="1009" name="Text Box 900"/>
          <p:cNvSpPr txBox="1">
            <a:spLocks noChangeArrowheads="1"/>
          </p:cNvSpPr>
          <p:nvPr/>
        </p:nvSpPr>
        <p:spPr bwMode="auto">
          <a:xfrm>
            <a:off x="4556646" y="4422283"/>
            <a:ext cx="289671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시연</a:t>
            </a:r>
          </a:p>
        </p:txBody>
      </p:sp>
      <p:sp>
        <p:nvSpPr>
          <p:cNvPr id="1011" name="Line 347"/>
          <p:cNvSpPr>
            <a:spLocks noChangeShapeType="1"/>
          </p:cNvSpPr>
          <p:nvPr/>
        </p:nvSpPr>
        <p:spPr bwMode="auto">
          <a:xfrm flipV="1">
            <a:off x="1460575" y="4816005"/>
            <a:ext cx="9106643" cy="387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2" name="Line 347"/>
          <p:cNvSpPr>
            <a:spLocks noChangeShapeType="1"/>
          </p:cNvSpPr>
          <p:nvPr/>
        </p:nvSpPr>
        <p:spPr bwMode="auto">
          <a:xfrm flipV="1">
            <a:off x="1460575" y="5323856"/>
            <a:ext cx="9106643" cy="387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3" name="Line 347"/>
          <p:cNvSpPr>
            <a:spLocks noChangeShapeType="1"/>
          </p:cNvSpPr>
          <p:nvPr/>
        </p:nvSpPr>
        <p:spPr bwMode="auto">
          <a:xfrm flipV="1">
            <a:off x="1460575" y="5803529"/>
            <a:ext cx="9106643" cy="387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4" name="Line 347"/>
          <p:cNvSpPr>
            <a:spLocks noChangeShapeType="1"/>
          </p:cNvSpPr>
          <p:nvPr/>
        </p:nvSpPr>
        <p:spPr bwMode="auto">
          <a:xfrm flipV="1">
            <a:off x="1460575" y="6188961"/>
            <a:ext cx="9106643" cy="387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6" name="Line 347"/>
          <p:cNvSpPr>
            <a:spLocks noChangeShapeType="1"/>
          </p:cNvSpPr>
          <p:nvPr/>
        </p:nvSpPr>
        <p:spPr bwMode="auto">
          <a:xfrm flipV="1">
            <a:off x="1460575" y="6621009"/>
            <a:ext cx="9106643" cy="387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lang="ko-KR" altLang="en-US" sz="1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7" name="AutoShape 479"/>
          <p:cNvSpPr>
            <a:spLocks/>
          </p:cNvSpPr>
          <p:nvPr/>
        </p:nvSpPr>
        <p:spPr bwMode="auto">
          <a:xfrm rot="5400000">
            <a:off x="9405051" y="3466571"/>
            <a:ext cx="164093" cy="5760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8" name="AutoShape 479"/>
          <p:cNvSpPr>
            <a:spLocks/>
          </p:cNvSpPr>
          <p:nvPr/>
        </p:nvSpPr>
        <p:spPr bwMode="auto">
          <a:xfrm rot="5400000">
            <a:off x="10074024" y="3373662"/>
            <a:ext cx="174976" cy="7727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19" name="Text Box 900"/>
          <p:cNvSpPr txBox="1">
            <a:spLocks noChangeArrowheads="1"/>
          </p:cNvSpPr>
          <p:nvPr/>
        </p:nvSpPr>
        <p:spPr bwMode="auto">
          <a:xfrm>
            <a:off x="9105202" y="3628899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시험운영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20" name="Text Box 900"/>
          <p:cNvSpPr txBox="1">
            <a:spLocks noChangeArrowheads="1"/>
          </p:cNvSpPr>
          <p:nvPr/>
        </p:nvSpPr>
        <p:spPr bwMode="auto">
          <a:xfrm>
            <a:off x="9803429" y="3682760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안정화지원</a:t>
            </a:r>
          </a:p>
        </p:txBody>
      </p:sp>
      <p:sp>
        <p:nvSpPr>
          <p:cNvPr id="1021" name="AutoShape 479"/>
          <p:cNvSpPr>
            <a:spLocks/>
          </p:cNvSpPr>
          <p:nvPr/>
        </p:nvSpPr>
        <p:spPr bwMode="auto">
          <a:xfrm rot="5400000">
            <a:off x="2488241" y="3899931"/>
            <a:ext cx="157307" cy="783717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2" name="Text Box 900"/>
          <p:cNvSpPr txBox="1">
            <a:spLocks noChangeArrowheads="1"/>
          </p:cNvSpPr>
          <p:nvPr/>
        </p:nvSpPr>
        <p:spPr bwMode="auto">
          <a:xfrm>
            <a:off x="2170582" y="4234042"/>
            <a:ext cx="835796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프로토타입 개발</a:t>
            </a:r>
          </a:p>
        </p:txBody>
      </p:sp>
      <p:sp>
        <p:nvSpPr>
          <p:cNvPr id="1023" name="AutoShape 479"/>
          <p:cNvSpPr>
            <a:spLocks/>
          </p:cNvSpPr>
          <p:nvPr/>
        </p:nvSpPr>
        <p:spPr bwMode="auto">
          <a:xfrm rot="5400000">
            <a:off x="3215506" y="3967939"/>
            <a:ext cx="173038" cy="64770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4" name="Text Box 900"/>
          <p:cNvSpPr txBox="1">
            <a:spLocks noChangeArrowheads="1"/>
          </p:cNvSpPr>
          <p:nvPr/>
        </p:nvSpPr>
        <p:spPr bwMode="auto">
          <a:xfrm>
            <a:off x="3097437" y="4187809"/>
            <a:ext cx="413274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공통모듈 개발</a:t>
            </a:r>
          </a:p>
        </p:txBody>
      </p:sp>
      <p:sp>
        <p:nvSpPr>
          <p:cNvPr id="1025" name="AutoShape 479"/>
          <p:cNvSpPr>
            <a:spLocks/>
          </p:cNvSpPr>
          <p:nvPr/>
        </p:nvSpPr>
        <p:spPr bwMode="auto">
          <a:xfrm rot="5400000">
            <a:off x="4168722" y="3672321"/>
            <a:ext cx="176913" cy="1242814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6" name="Text Box 900"/>
          <p:cNvSpPr txBox="1">
            <a:spLocks noChangeArrowheads="1"/>
          </p:cNvSpPr>
          <p:nvPr/>
        </p:nvSpPr>
        <p:spPr bwMode="auto">
          <a:xfrm>
            <a:off x="3798466" y="4188125"/>
            <a:ext cx="835796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특성업무 전환개발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단위테스트</a:t>
            </a:r>
          </a:p>
        </p:txBody>
      </p:sp>
      <p:sp>
        <p:nvSpPr>
          <p:cNvPr id="1027" name="AutoShape 479"/>
          <p:cNvSpPr>
            <a:spLocks/>
          </p:cNvSpPr>
          <p:nvPr/>
        </p:nvSpPr>
        <p:spPr bwMode="auto">
          <a:xfrm rot="5400000">
            <a:off x="1763201" y="4330599"/>
            <a:ext cx="173038" cy="786476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8" name="Text Box 900"/>
          <p:cNvSpPr txBox="1">
            <a:spLocks noChangeArrowheads="1"/>
          </p:cNvSpPr>
          <p:nvPr/>
        </p:nvSpPr>
        <p:spPr bwMode="auto">
          <a:xfrm>
            <a:off x="1450502" y="4612229"/>
            <a:ext cx="835796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현황 데이터 및 코드 통합설계</a:t>
            </a:r>
          </a:p>
        </p:txBody>
      </p:sp>
      <p:sp>
        <p:nvSpPr>
          <p:cNvPr id="1030" name="AutoShape 479"/>
          <p:cNvSpPr>
            <a:spLocks/>
          </p:cNvSpPr>
          <p:nvPr/>
        </p:nvSpPr>
        <p:spPr bwMode="auto">
          <a:xfrm rot="5400000">
            <a:off x="2517142" y="4368745"/>
            <a:ext cx="173038" cy="710183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1" name="AutoShape 479"/>
          <p:cNvSpPr>
            <a:spLocks/>
          </p:cNvSpPr>
          <p:nvPr/>
        </p:nvSpPr>
        <p:spPr bwMode="auto">
          <a:xfrm rot="5400000">
            <a:off x="3294814" y="4329833"/>
            <a:ext cx="183010" cy="797982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2" name="AutoShape 479"/>
          <p:cNvSpPr>
            <a:spLocks/>
          </p:cNvSpPr>
          <p:nvPr/>
        </p:nvSpPr>
        <p:spPr bwMode="auto">
          <a:xfrm rot="5400000">
            <a:off x="4096427" y="4330279"/>
            <a:ext cx="183010" cy="797982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3" name="Text Box 900"/>
          <p:cNvSpPr txBox="1">
            <a:spLocks noChangeArrowheads="1"/>
          </p:cNvSpPr>
          <p:nvPr/>
        </p:nvSpPr>
        <p:spPr bwMode="auto">
          <a:xfrm>
            <a:off x="3754758" y="4680948"/>
            <a:ext cx="879504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DB 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설계</a:t>
            </a:r>
          </a:p>
        </p:txBody>
      </p:sp>
      <p:sp>
        <p:nvSpPr>
          <p:cNvPr id="1034" name="Text Box 900"/>
          <p:cNvSpPr txBox="1">
            <a:spLocks noChangeArrowheads="1"/>
          </p:cNvSpPr>
          <p:nvPr/>
        </p:nvSpPr>
        <p:spPr bwMode="auto">
          <a:xfrm>
            <a:off x="2962945" y="4674034"/>
            <a:ext cx="879504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DB 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모델링</a:t>
            </a:r>
          </a:p>
        </p:txBody>
      </p:sp>
      <p:sp>
        <p:nvSpPr>
          <p:cNvPr id="1035" name="Text Box 900"/>
          <p:cNvSpPr txBox="1">
            <a:spLocks noChangeArrowheads="1"/>
          </p:cNvSpPr>
          <p:nvPr/>
        </p:nvSpPr>
        <p:spPr bwMode="auto">
          <a:xfrm>
            <a:off x="2198882" y="4674034"/>
            <a:ext cx="879504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모델링컨설팅</a:t>
            </a:r>
          </a:p>
        </p:txBody>
      </p:sp>
      <p:sp>
        <p:nvSpPr>
          <p:cNvPr id="1036" name="AutoShape 479"/>
          <p:cNvSpPr>
            <a:spLocks/>
          </p:cNvSpPr>
          <p:nvPr/>
        </p:nvSpPr>
        <p:spPr bwMode="auto">
          <a:xfrm rot="5400000">
            <a:off x="6140226" y="3376123"/>
            <a:ext cx="172591" cy="2695873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7" name="Text Box 900"/>
          <p:cNvSpPr txBox="1">
            <a:spLocks noChangeArrowheads="1"/>
          </p:cNvSpPr>
          <p:nvPr/>
        </p:nvSpPr>
        <p:spPr bwMode="auto">
          <a:xfrm>
            <a:off x="5382642" y="4666090"/>
            <a:ext cx="1669953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데이터모델링 및 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DB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설계 수정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보완</a:t>
            </a:r>
          </a:p>
        </p:txBody>
      </p:sp>
      <p:sp>
        <p:nvSpPr>
          <p:cNvPr id="1040" name="AutoShape 842"/>
          <p:cNvSpPr>
            <a:spLocks/>
          </p:cNvSpPr>
          <p:nvPr/>
        </p:nvSpPr>
        <p:spPr bwMode="auto">
          <a:xfrm rot="5400000" flipH="1">
            <a:off x="5176655" y="4239111"/>
            <a:ext cx="195947" cy="1368152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41" name="AutoShape 479"/>
          <p:cNvSpPr>
            <a:spLocks/>
          </p:cNvSpPr>
          <p:nvPr/>
        </p:nvSpPr>
        <p:spPr bwMode="auto">
          <a:xfrm rot="5400000">
            <a:off x="8596786" y="3636819"/>
            <a:ext cx="177395" cy="217928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42" name="Text Box 900"/>
          <p:cNvSpPr txBox="1">
            <a:spLocks noChangeArrowheads="1"/>
          </p:cNvSpPr>
          <p:nvPr/>
        </p:nvSpPr>
        <p:spPr bwMode="auto">
          <a:xfrm>
            <a:off x="7879628" y="4680419"/>
            <a:ext cx="1669953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자료 구축 및 검증</a:t>
            </a:r>
          </a:p>
        </p:txBody>
      </p:sp>
      <p:sp>
        <p:nvSpPr>
          <p:cNvPr id="1043" name="AutoShape 479"/>
          <p:cNvSpPr>
            <a:spLocks/>
          </p:cNvSpPr>
          <p:nvPr/>
        </p:nvSpPr>
        <p:spPr bwMode="auto">
          <a:xfrm rot="5400000">
            <a:off x="10083549" y="4347867"/>
            <a:ext cx="174976" cy="7727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44" name="Text Box 900"/>
          <p:cNvSpPr txBox="1">
            <a:spLocks noChangeArrowheads="1"/>
          </p:cNvSpPr>
          <p:nvPr/>
        </p:nvSpPr>
        <p:spPr bwMode="auto">
          <a:xfrm>
            <a:off x="9812954" y="4656965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안정화지원</a:t>
            </a:r>
          </a:p>
        </p:txBody>
      </p:sp>
      <p:sp>
        <p:nvSpPr>
          <p:cNvPr id="1045" name="AutoShape 842"/>
          <p:cNvSpPr>
            <a:spLocks/>
          </p:cNvSpPr>
          <p:nvPr/>
        </p:nvSpPr>
        <p:spPr bwMode="auto">
          <a:xfrm rot="5400000" flipH="1">
            <a:off x="6676157" y="4122860"/>
            <a:ext cx="195631" cy="1600970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46" name="Text Box 900"/>
          <p:cNvSpPr txBox="1">
            <a:spLocks noChangeArrowheads="1"/>
          </p:cNvSpPr>
          <p:nvPr/>
        </p:nvSpPr>
        <p:spPr bwMode="auto">
          <a:xfrm>
            <a:off x="4446538" y="4857845"/>
            <a:ext cx="1645470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자료전환 및 입력프로그램 작성</a:t>
            </a:r>
          </a:p>
        </p:txBody>
      </p:sp>
      <p:sp>
        <p:nvSpPr>
          <p:cNvPr id="1047" name="Text Box 900"/>
          <p:cNvSpPr txBox="1">
            <a:spLocks noChangeArrowheads="1"/>
          </p:cNvSpPr>
          <p:nvPr/>
        </p:nvSpPr>
        <p:spPr bwMode="auto">
          <a:xfrm>
            <a:off x="5969420" y="4851429"/>
            <a:ext cx="1645470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자료전화 테스트 및 검증</a:t>
            </a:r>
          </a:p>
        </p:txBody>
      </p:sp>
      <p:sp>
        <p:nvSpPr>
          <p:cNvPr id="1048" name="AutoShape 479"/>
          <p:cNvSpPr>
            <a:spLocks/>
          </p:cNvSpPr>
          <p:nvPr/>
        </p:nvSpPr>
        <p:spPr bwMode="auto">
          <a:xfrm rot="5400000">
            <a:off x="1715550" y="4853649"/>
            <a:ext cx="186439" cy="72362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0" name="AutoShape 479"/>
          <p:cNvSpPr>
            <a:spLocks/>
          </p:cNvSpPr>
          <p:nvPr/>
        </p:nvSpPr>
        <p:spPr bwMode="auto">
          <a:xfrm rot="5400000">
            <a:off x="1721158" y="5348497"/>
            <a:ext cx="186439" cy="72362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1" name="AutoShape 479"/>
          <p:cNvSpPr>
            <a:spLocks/>
          </p:cNvSpPr>
          <p:nvPr/>
        </p:nvSpPr>
        <p:spPr bwMode="auto">
          <a:xfrm rot="5400000">
            <a:off x="2476509" y="4827449"/>
            <a:ext cx="186439" cy="797096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2" name="AutoShape 479"/>
          <p:cNvSpPr>
            <a:spLocks/>
          </p:cNvSpPr>
          <p:nvPr/>
        </p:nvSpPr>
        <p:spPr bwMode="auto">
          <a:xfrm rot="5400000">
            <a:off x="2483184" y="5305037"/>
            <a:ext cx="173040" cy="79714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4" name="AutoShape 479"/>
          <p:cNvSpPr>
            <a:spLocks/>
          </p:cNvSpPr>
          <p:nvPr/>
        </p:nvSpPr>
        <p:spPr bwMode="auto">
          <a:xfrm rot="5400000">
            <a:off x="1728895" y="5728280"/>
            <a:ext cx="186439" cy="72362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5" name="AutoShape 479"/>
          <p:cNvSpPr>
            <a:spLocks/>
          </p:cNvSpPr>
          <p:nvPr/>
        </p:nvSpPr>
        <p:spPr bwMode="auto">
          <a:xfrm rot="5400000">
            <a:off x="2362088" y="5813655"/>
            <a:ext cx="173038" cy="539477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6" name="AutoShape 479"/>
          <p:cNvSpPr>
            <a:spLocks/>
          </p:cNvSpPr>
          <p:nvPr/>
        </p:nvSpPr>
        <p:spPr bwMode="auto">
          <a:xfrm rot="5400000">
            <a:off x="3033441" y="5676313"/>
            <a:ext cx="186439" cy="816632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7" name="AutoShape 479"/>
          <p:cNvSpPr>
            <a:spLocks/>
          </p:cNvSpPr>
          <p:nvPr/>
        </p:nvSpPr>
        <p:spPr bwMode="auto">
          <a:xfrm rot="5400000">
            <a:off x="4379475" y="5138372"/>
            <a:ext cx="184418" cy="1903448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8" name="AutoShape 479"/>
          <p:cNvSpPr>
            <a:spLocks/>
          </p:cNvSpPr>
          <p:nvPr/>
        </p:nvSpPr>
        <p:spPr bwMode="auto">
          <a:xfrm rot="5400000">
            <a:off x="5732252" y="5689042"/>
            <a:ext cx="185426" cy="803113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59" name="AutoShape 479"/>
          <p:cNvSpPr>
            <a:spLocks/>
          </p:cNvSpPr>
          <p:nvPr/>
        </p:nvSpPr>
        <p:spPr bwMode="auto">
          <a:xfrm rot="5400000">
            <a:off x="6546057" y="5698567"/>
            <a:ext cx="185426" cy="803113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0" name="AutoShape 479"/>
          <p:cNvSpPr>
            <a:spLocks/>
          </p:cNvSpPr>
          <p:nvPr/>
        </p:nvSpPr>
        <p:spPr bwMode="auto">
          <a:xfrm rot="5400000">
            <a:off x="7225254" y="5819966"/>
            <a:ext cx="183141" cy="558028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2" name="AutoShape 479"/>
          <p:cNvSpPr>
            <a:spLocks/>
          </p:cNvSpPr>
          <p:nvPr/>
        </p:nvSpPr>
        <p:spPr bwMode="auto">
          <a:xfrm rot="5400000">
            <a:off x="7766707" y="5825574"/>
            <a:ext cx="173038" cy="544487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3" name="AutoShape 479"/>
          <p:cNvSpPr>
            <a:spLocks/>
          </p:cNvSpPr>
          <p:nvPr/>
        </p:nvSpPr>
        <p:spPr bwMode="auto">
          <a:xfrm rot="5400000">
            <a:off x="8583482" y="5562233"/>
            <a:ext cx="164092" cy="108011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4" name="Text Box 900"/>
          <p:cNvSpPr txBox="1">
            <a:spLocks noChangeArrowheads="1"/>
          </p:cNvSpPr>
          <p:nvPr/>
        </p:nvSpPr>
        <p:spPr bwMode="auto">
          <a:xfrm>
            <a:off x="8293868" y="6024213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운용시험평가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65" name="AutoShape 479"/>
          <p:cNvSpPr>
            <a:spLocks/>
          </p:cNvSpPr>
          <p:nvPr/>
        </p:nvSpPr>
        <p:spPr bwMode="auto">
          <a:xfrm rot="5400000">
            <a:off x="9402049" y="5814260"/>
            <a:ext cx="164093" cy="5760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6" name="AutoShape 479"/>
          <p:cNvSpPr>
            <a:spLocks/>
          </p:cNvSpPr>
          <p:nvPr/>
        </p:nvSpPr>
        <p:spPr bwMode="auto">
          <a:xfrm rot="5400000">
            <a:off x="10080547" y="5721351"/>
            <a:ext cx="174976" cy="7727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7" name="Text Box 900"/>
          <p:cNvSpPr txBox="1">
            <a:spLocks noChangeArrowheads="1"/>
          </p:cNvSpPr>
          <p:nvPr/>
        </p:nvSpPr>
        <p:spPr bwMode="auto">
          <a:xfrm>
            <a:off x="9111725" y="6033738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시험운영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68" name="Text Box 900"/>
          <p:cNvSpPr txBox="1">
            <a:spLocks noChangeArrowheads="1"/>
          </p:cNvSpPr>
          <p:nvPr/>
        </p:nvSpPr>
        <p:spPr bwMode="auto">
          <a:xfrm>
            <a:off x="9809952" y="6030449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안정화지원</a:t>
            </a:r>
          </a:p>
        </p:txBody>
      </p:sp>
      <p:sp>
        <p:nvSpPr>
          <p:cNvPr id="1069" name="Text Box 900"/>
          <p:cNvSpPr txBox="1">
            <a:spLocks noChangeArrowheads="1"/>
          </p:cNvSpPr>
          <p:nvPr/>
        </p:nvSpPr>
        <p:spPr bwMode="auto">
          <a:xfrm>
            <a:off x="7504782" y="6024213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개발시험평가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70" name="Text Box 900"/>
          <p:cNvSpPr txBox="1">
            <a:spLocks noChangeArrowheads="1"/>
          </p:cNvSpPr>
          <p:nvPr/>
        </p:nvSpPr>
        <p:spPr bwMode="auto">
          <a:xfrm>
            <a:off x="1422202" y="6048571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요구사항식별</a:t>
            </a:r>
          </a:p>
        </p:txBody>
      </p:sp>
      <p:sp>
        <p:nvSpPr>
          <p:cNvPr id="1071" name="Text Box 900"/>
          <p:cNvSpPr txBox="1">
            <a:spLocks noChangeArrowheads="1"/>
          </p:cNvSpPr>
          <p:nvPr/>
        </p:nvSpPr>
        <p:spPr bwMode="auto">
          <a:xfrm>
            <a:off x="2070274" y="5929718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기반환경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전산장비분석</a:t>
            </a:r>
          </a:p>
        </p:txBody>
      </p:sp>
      <p:sp>
        <p:nvSpPr>
          <p:cNvPr id="1072" name="Text Box 900"/>
          <p:cNvSpPr txBox="1">
            <a:spLocks noChangeArrowheads="1"/>
          </p:cNvSpPr>
          <p:nvPr/>
        </p:nvSpPr>
        <p:spPr bwMode="auto">
          <a:xfrm>
            <a:off x="2780829" y="6005388"/>
            <a:ext cx="682256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아키텍처 정의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설계</a:t>
            </a:r>
          </a:p>
        </p:txBody>
      </p:sp>
      <p:sp>
        <p:nvSpPr>
          <p:cNvPr id="1073" name="Text Box 900"/>
          <p:cNvSpPr txBox="1">
            <a:spLocks noChangeArrowheads="1"/>
          </p:cNvSpPr>
          <p:nvPr/>
        </p:nvSpPr>
        <p:spPr bwMode="auto">
          <a:xfrm>
            <a:off x="3682749" y="6039974"/>
            <a:ext cx="1554910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장비 및 상용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SW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발주지원</a:t>
            </a:r>
          </a:p>
        </p:txBody>
      </p:sp>
      <p:sp>
        <p:nvSpPr>
          <p:cNvPr id="1074" name="Text Box 900"/>
          <p:cNvSpPr txBox="1">
            <a:spLocks noChangeArrowheads="1"/>
          </p:cNvSpPr>
          <p:nvPr/>
        </p:nvSpPr>
        <p:spPr bwMode="auto">
          <a:xfrm>
            <a:off x="5358789" y="6020552"/>
            <a:ext cx="959957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장비 및 상용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SW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사업자 설치지원</a:t>
            </a:r>
          </a:p>
        </p:txBody>
      </p:sp>
      <p:sp>
        <p:nvSpPr>
          <p:cNvPr id="1075" name="Text Box 900"/>
          <p:cNvSpPr txBox="1">
            <a:spLocks noChangeArrowheads="1"/>
          </p:cNvSpPr>
          <p:nvPr/>
        </p:nvSpPr>
        <p:spPr bwMode="auto">
          <a:xfrm>
            <a:off x="6362179" y="6010721"/>
            <a:ext cx="561284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기능 및 성능시험</a:t>
            </a:r>
          </a:p>
        </p:txBody>
      </p:sp>
      <p:sp>
        <p:nvSpPr>
          <p:cNvPr id="1076" name="Text Box 900"/>
          <p:cNvSpPr txBox="1">
            <a:spLocks noChangeArrowheads="1"/>
          </p:cNvSpPr>
          <p:nvPr/>
        </p:nvSpPr>
        <p:spPr bwMode="auto">
          <a:xfrm>
            <a:off x="7014443" y="6012392"/>
            <a:ext cx="609972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검수 및 통합시험 지원</a:t>
            </a:r>
          </a:p>
        </p:txBody>
      </p:sp>
      <p:sp>
        <p:nvSpPr>
          <p:cNvPr id="1077" name="AutoShape 479"/>
          <p:cNvSpPr>
            <a:spLocks/>
          </p:cNvSpPr>
          <p:nvPr/>
        </p:nvSpPr>
        <p:spPr bwMode="auto">
          <a:xfrm rot="5400000">
            <a:off x="7769709" y="5445343"/>
            <a:ext cx="173038" cy="544487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78" name="AutoShape 479"/>
          <p:cNvSpPr>
            <a:spLocks/>
          </p:cNvSpPr>
          <p:nvPr/>
        </p:nvSpPr>
        <p:spPr bwMode="auto">
          <a:xfrm rot="5400000">
            <a:off x="8586484" y="5182002"/>
            <a:ext cx="164092" cy="108011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79" name="Text Box 900"/>
          <p:cNvSpPr txBox="1">
            <a:spLocks noChangeArrowheads="1"/>
          </p:cNvSpPr>
          <p:nvPr/>
        </p:nvSpPr>
        <p:spPr bwMode="auto">
          <a:xfrm>
            <a:off x="8344495" y="5548732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운용시험평가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80" name="AutoShape 479"/>
          <p:cNvSpPr>
            <a:spLocks/>
          </p:cNvSpPr>
          <p:nvPr/>
        </p:nvSpPr>
        <p:spPr bwMode="auto">
          <a:xfrm rot="5400000">
            <a:off x="9405051" y="5434029"/>
            <a:ext cx="164093" cy="5760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81" name="AutoShape 479"/>
          <p:cNvSpPr>
            <a:spLocks/>
          </p:cNvSpPr>
          <p:nvPr/>
        </p:nvSpPr>
        <p:spPr bwMode="auto">
          <a:xfrm rot="5400000">
            <a:off x="10083549" y="5341120"/>
            <a:ext cx="174976" cy="7727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82" name="Text Box 900"/>
          <p:cNvSpPr txBox="1">
            <a:spLocks noChangeArrowheads="1"/>
          </p:cNvSpPr>
          <p:nvPr/>
        </p:nvSpPr>
        <p:spPr bwMode="auto">
          <a:xfrm>
            <a:off x="9180016" y="5550404"/>
            <a:ext cx="612846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시험운영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83" name="Text Box 900"/>
          <p:cNvSpPr txBox="1">
            <a:spLocks noChangeArrowheads="1"/>
          </p:cNvSpPr>
          <p:nvPr/>
        </p:nvSpPr>
        <p:spPr bwMode="auto">
          <a:xfrm>
            <a:off x="9812954" y="5650218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안정화지원</a:t>
            </a:r>
          </a:p>
        </p:txBody>
      </p:sp>
      <p:sp>
        <p:nvSpPr>
          <p:cNvPr id="1084" name="Text Box 900"/>
          <p:cNvSpPr txBox="1">
            <a:spLocks noChangeArrowheads="1"/>
          </p:cNvSpPr>
          <p:nvPr/>
        </p:nvSpPr>
        <p:spPr bwMode="auto">
          <a:xfrm>
            <a:off x="7507784" y="5558257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개발시험평가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85" name="AutoShape 479"/>
          <p:cNvSpPr>
            <a:spLocks/>
          </p:cNvSpPr>
          <p:nvPr/>
        </p:nvSpPr>
        <p:spPr bwMode="auto">
          <a:xfrm rot="5400000">
            <a:off x="3846153" y="4766908"/>
            <a:ext cx="168271" cy="189658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86" name="AutoShape 479"/>
          <p:cNvSpPr>
            <a:spLocks/>
          </p:cNvSpPr>
          <p:nvPr/>
        </p:nvSpPr>
        <p:spPr bwMode="auto">
          <a:xfrm rot="5400000">
            <a:off x="5880671" y="4639692"/>
            <a:ext cx="163502" cy="2146251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87" name="AutoShape 479"/>
          <p:cNvSpPr>
            <a:spLocks/>
          </p:cNvSpPr>
          <p:nvPr/>
        </p:nvSpPr>
        <p:spPr bwMode="auto">
          <a:xfrm rot="5400000">
            <a:off x="7221062" y="5429330"/>
            <a:ext cx="183141" cy="558028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88" name="Text Box 900"/>
          <p:cNvSpPr txBox="1">
            <a:spLocks noChangeArrowheads="1"/>
          </p:cNvSpPr>
          <p:nvPr/>
        </p:nvSpPr>
        <p:spPr bwMode="auto">
          <a:xfrm>
            <a:off x="7000726" y="5550628"/>
            <a:ext cx="633292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통합시험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089" name="Text Box 900"/>
          <p:cNvSpPr txBox="1">
            <a:spLocks noChangeArrowheads="1"/>
          </p:cNvSpPr>
          <p:nvPr/>
        </p:nvSpPr>
        <p:spPr bwMode="auto">
          <a:xfrm>
            <a:off x="1422202" y="5624467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요구사항식별</a:t>
            </a:r>
          </a:p>
        </p:txBody>
      </p:sp>
      <p:sp>
        <p:nvSpPr>
          <p:cNvPr id="1090" name="Text Box 900"/>
          <p:cNvSpPr txBox="1">
            <a:spLocks noChangeArrowheads="1"/>
          </p:cNvSpPr>
          <p:nvPr/>
        </p:nvSpPr>
        <p:spPr bwMode="auto">
          <a:xfrm>
            <a:off x="2189631" y="5624467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분석모델링</a:t>
            </a:r>
          </a:p>
        </p:txBody>
      </p:sp>
      <p:sp>
        <p:nvSpPr>
          <p:cNvPr id="1091" name="Text Box 900"/>
          <p:cNvSpPr txBox="1">
            <a:spLocks noChangeArrowheads="1"/>
          </p:cNvSpPr>
          <p:nvPr/>
        </p:nvSpPr>
        <p:spPr bwMode="auto">
          <a:xfrm>
            <a:off x="3428901" y="5643517"/>
            <a:ext cx="953672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ICD 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협의 및 작성</a:t>
            </a:r>
          </a:p>
        </p:txBody>
      </p:sp>
      <p:sp>
        <p:nvSpPr>
          <p:cNvPr id="1092" name="Text Box 900"/>
          <p:cNvSpPr txBox="1">
            <a:spLocks noChangeArrowheads="1"/>
          </p:cNvSpPr>
          <p:nvPr/>
        </p:nvSpPr>
        <p:spPr bwMode="auto">
          <a:xfrm>
            <a:off x="4986070" y="5643517"/>
            <a:ext cx="1999797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ICD 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수정보완 및 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SW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통합시험준비 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</a:t>
            </a:r>
          </a:p>
        </p:txBody>
      </p:sp>
      <p:sp>
        <p:nvSpPr>
          <p:cNvPr id="1093" name="AutoShape 479"/>
          <p:cNvSpPr>
            <a:spLocks/>
          </p:cNvSpPr>
          <p:nvPr/>
        </p:nvSpPr>
        <p:spPr bwMode="auto">
          <a:xfrm rot="5400000">
            <a:off x="3287322" y="4818234"/>
            <a:ext cx="186439" cy="797096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94" name="AutoShape 479"/>
          <p:cNvSpPr>
            <a:spLocks/>
          </p:cNvSpPr>
          <p:nvPr/>
        </p:nvSpPr>
        <p:spPr bwMode="auto">
          <a:xfrm rot="5400000">
            <a:off x="4249912" y="4681332"/>
            <a:ext cx="177223" cy="1080117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95" name="AutoShape 479"/>
          <p:cNvSpPr>
            <a:spLocks/>
          </p:cNvSpPr>
          <p:nvPr/>
        </p:nvSpPr>
        <p:spPr bwMode="auto">
          <a:xfrm rot="5400000">
            <a:off x="5872096" y="4139264"/>
            <a:ext cx="168006" cy="2155036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96" name="Text Box 900"/>
          <p:cNvSpPr txBox="1">
            <a:spLocks noChangeArrowheads="1"/>
          </p:cNvSpPr>
          <p:nvPr/>
        </p:nvSpPr>
        <p:spPr bwMode="auto">
          <a:xfrm>
            <a:off x="1450501" y="5155900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요구사항식별</a:t>
            </a:r>
          </a:p>
        </p:txBody>
      </p:sp>
      <p:sp>
        <p:nvSpPr>
          <p:cNvPr id="1097" name="Text Box 900"/>
          <p:cNvSpPr txBox="1">
            <a:spLocks noChangeArrowheads="1"/>
          </p:cNvSpPr>
          <p:nvPr/>
        </p:nvSpPr>
        <p:spPr bwMode="auto">
          <a:xfrm>
            <a:off x="2214290" y="5165425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SW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분석검토</a:t>
            </a:r>
          </a:p>
        </p:txBody>
      </p:sp>
      <p:sp>
        <p:nvSpPr>
          <p:cNvPr id="1098" name="AutoShape 842"/>
          <p:cNvSpPr>
            <a:spLocks/>
          </p:cNvSpPr>
          <p:nvPr/>
        </p:nvSpPr>
        <p:spPr bwMode="auto">
          <a:xfrm rot="5400000" flipH="1">
            <a:off x="3282725" y="5026315"/>
            <a:ext cx="195632" cy="800484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99" name="Text Box 900"/>
          <p:cNvSpPr txBox="1">
            <a:spLocks noChangeArrowheads="1"/>
          </p:cNvSpPr>
          <p:nvPr/>
        </p:nvSpPr>
        <p:spPr bwMode="auto">
          <a:xfrm>
            <a:off x="2950704" y="5347791"/>
            <a:ext cx="924892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UX/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디자인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시안작성</a:t>
            </a:r>
          </a:p>
        </p:txBody>
      </p:sp>
      <p:sp>
        <p:nvSpPr>
          <p:cNvPr id="1100" name="Text Box 900"/>
          <p:cNvSpPr txBox="1">
            <a:spLocks noChangeArrowheads="1"/>
          </p:cNvSpPr>
          <p:nvPr/>
        </p:nvSpPr>
        <p:spPr bwMode="auto">
          <a:xfrm>
            <a:off x="3006378" y="5184475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체계설계검토</a:t>
            </a:r>
            <a:endParaRPr lang="ko-KR" altLang="en-US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01" name="Text Box 900"/>
          <p:cNvSpPr txBox="1">
            <a:spLocks noChangeArrowheads="1"/>
          </p:cNvSpPr>
          <p:nvPr/>
        </p:nvSpPr>
        <p:spPr bwMode="auto">
          <a:xfrm>
            <a:off x="3807665" y="5182894"/>
            <a:ext cx="1067228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상세설계검토 및 지원</a:t>
            </a:r>
          </a:p>
        </p:txBody>
      </p:sp>
      <p:sp>
        <p:nvSpPr>
          <p:cNvPr id="1102" name="Text Box 900"/>
          <p:cNvSpPr txBox="1">
            <a:spLocks noChangeArrowheads="1"/>
          </p:cNvSpPr>
          <p:nvPr/>
        </p:nvSpPr>
        <p:spPr bwMode="auto">
          <a:xfrm>
            <a:off x="5238626" y="5184475"/>
            <a:ext cx="1326960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SW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통합 및 시스템통합 준비</a:t>
            </a:r>
          </a:p>
        </p:txBody>
      </p:sp>
      <p:sp>
        <p:nvSpPr>
          <p:cNvPr id="1103" name="AutoShape 842"/>
          <p:cNvSpPr>
            <a:spLocks/>
          </p:cNvSpPr>
          <p:nvPr/>
        </p:nvSpPr>
        <p:spPr bwMode="auto">
          <a:xfrm rot="5400000" flipH="1">
            <a:off x="6535487" y="5026315"/>
            <a:ext cx="195632" cy="800484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04" name="Text Box 900"/>
          <p:cNvSpPr txBox="1">
            <a:spLocks noChangeArrowheads="1"/>
          </p:cNvSpPr>
          <p:nvPr/>
        </p:nvSpPr>
        <p:spPr bwMode="auto">
          <a:xfrm>
            <a:off x="6174730" y="5360937"/>
            <a:ext cx="936104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SW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통합환경 구축</a:t>
            </a:r>
          </a:p>
        </p:txBody>
      </p:sp>
      <p:sp>
        <p:nvSpPr>
          <p:cNvPr id="1105" name="AutoShape 479"/>
          <p:cNvSpPr>
            <a:spLocks/>
          </p:cNvSpPr>
          <p:nvPr/>
        </p:nvSpPr>
        <p:spPr bwMode="auto">
          <a:xfrm rot="5400000">
            <a:off x="7760803" y="4946435"/>
            <a:ext cx="181323" cy="554013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06" name="AutoShape 479"/>
          <p:cNvSpPr>
            <a:spLocks/>
          </p:cNvSpPr>
          <p:nvPr/>
        </p:nvSpPr>
        <p:spPr bwMode="auto">
          <a:xfrm rot="5400000">
            <a:off x="8583076" y="4698116"/>
            <a:ext cx="159048" cy="107292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07" name="Text Box 900"/>
          <p:cNvSpPr txBox="1">
            <a:spLocks noChangeArrowheads="1"/>
          </p:cNvSpPr>
          <p:nvPr/>
        </p:nvSpPr>
        <p:spPr bwMode="auto">
          <a:xfrm>
            <a:off x="8210004" y="5143819"/>
            <a:ext cx="936104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운용시험지원</a:t>
            </a:r>
          </a:p>
        </p:txBody>
      </p:sp>
      <p:sp>
        <p:nvSpPr>
          <p:cNvPr id="1108" name="Text Box 900"/>
          <p:cNvSpPr txBox="1">
            <a:spLocks noChangeArrowheads="1"/>
          </p:cNvSpPr>
          <p:nvPr/>
        </p:nvSpPr>
        <p:spPr bwMode="auto">
          <a:xfrm>
            <a:off x="7474993" y="5120813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개발시험평가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109" name="AutoShape 479"/>
          <p:cNvSpPr>
            <a:spLocks/>
          </p:cNvSpPr>
          <p:nvPr/>
        </p:nvSpPr>
        <p:spPr bwMode="auto">
          <a:xfrm rot="5400000">
            <a:off x="9407857" y="4941394"/>
            <a:ext cx="164093" cy="5760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10" name="AutoShape 479"/>
          <p:cNvSpPr>
            <a:spLocks/>
          </p:cNvSpPr>
          <p:nvPr/>
        </p:nvSpPr>
        <p:spPr bwMode="auto">
          <a:xfrm rot="5400000">
            <a:off x="10086355" y="4848485"/>
            <a:ext cx="174976" cy="77276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11" name="Text Box 900"/>
          <p:cNvSpPr txBox="1">
            <a:spLocks noChangeArrowheads="1"/>
          </p:cNvSpPr>
          <p:nvPr/>
        </p:nvSpPr>
        <p:spPr bwMode="auto">
          <a:xfrm>
            <a:off x="9117533" y="5167877"/>
            <a:ext cx="763789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시험운영</a:t>
            </a:r>
            <a:endParaRPr lang="en-US" altLang="ko-KR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지원</a:t>
            </a:r>
          </a:p>
        </p:txBody>
      </p:sp>
      <p:sp>
        <p:nvSpPr>
          <p:cNvPr id="1112" name="Text Box 900"/>
          <p:cNvSpPr txBox="1">
            <a:spLocks noChangeArrowheads="1"/>
          </p:cNvSpPr>
          <p:nvPr/>
        </p:nvSpPr>
        <p:spPr bwMode="auto">
          <a:xfrm>
            <a:off x="9815760" y="5157583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안정화지원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2027002" y="6751206"/>
            <a:ext cx="691344" cy="287976"/>
            <a:chOff x="2027002" y="6751206"/>
            <a:chExt cx="691344" cy="287976"/>
          </a:xfrm>
        </p:grpSpPr>
        <p:sp>
          <p:nvSpPr>
            <p:cNvPr id="985" name="Text Box 480"/>
            <p:cNvSpPr txBox="1">
              <a:spLocks noChangeArrowheads="1"/>
            </p:cNvSpPr>
            <p:nvPr/>
          </p:nvSpPr>
          <p:spPr bwMode="auto">
            <a:xfrm>
              <a:off x="2027002" y="6912917"/>
              <a:ext cx="691344" cy="126265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요구사항 명세서</a:t>
              </a:r>
            </a:p>
          </p:txBody>
        </p:sp>
        <p:sp>
          <p:nvSpPr>
            <p:cNvPr id="1115" name="이등변 삼각형 1114"/>
            <p:cNvSpPr/>
            <p:nvPr/>
          </p:nvSpPr>
          <p:spPr bwMode="auto">
            <a:xfrm>
              <a:off x="2378276" y="6751206"/>
              <a:ext cx="85946" cy="89703"/>
            </a:xfrm>
            <a:prstGeom prst="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122958" y="6751206"/>
            <a:ext cx="659284" cy="287976"/>
            <a:chOff x="1122958" y="6751206"/>
            <a:chExt cx="659284" cy="287976"/>
          </a:xfrm>
        </p:grpSpPr>
        <p:sp>
          <p:nvSpPr>
            <p:cNvPr id="984" name="Text Box 480"/>
            <p:cNvSpPr txBox="1">
              <a:spLocks noChangeArrowheads="1"/>
            </p:cNvSpPr>
            <p:nvPr/>
          </p:nvSpPr>
          <p:spPr bwMode="auto">
            <a:xfrm>
              <a:off x="1122958" y="6912917"/>
              <a:ext cx="659284" cy="126265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사업수행계획서</a:t>
              </a:r>
            </a:p>
          </p:txBody>
        </p:sp>
        <p:sp>
          <p:nvSpPr>
            <p:cNvPr id="1116" name="이등변 삼각형 1115"/>
            <p:cNvSpPr/>
            <p:nvPr/>
          </p:nvSpPr>
          <p:spPr bwMode="auto">
            <a:xfrm>
              <a:off x="1408264" y="6751206"/>
              <a:ext cx="85946" cy="89703"/>
            </a:xfrm>
            <a:prstGeom prst="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4116201" y="6768901"/>
            <a:ext cx="1050417" cy="378003"/>
            <a:chOff x="4116201" y="6768901"/>
            <a:chExt cx="1050417" cy="378003"/>
          </a:xfrm>
        </p:grpSpPr>
        <p:sp>
          <p:nvSpPr>
            <p:cNvPr id="986" name="Text Box 480"/>
            <p:cNvSpPr txBox="1">
              <a:spLocks noChangeArrowheads="1"/>
            </p:cNvSpPr>
            <p:nvPr/>
          </p:nvSpPr>
          <p:spPr bwMode="auto">
            <a:xfrm>
              <a:off x="4116201" y="6912917"/>
              <a:ext cx="1050417" cy="233987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데이터베이스설계서</a:t>
              </a:r>
              <a:endParaRPr lang="en-US" altLang="ko-KR" sz="700" i="1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사용자인터페이스 설계서</a:t>
              </a:r>
            </a:p>
          </p:txBody>
        </p:sp>
        <p:sp>
          <p:nvSpPr>
            <p:cNvPr id="1117" name="이등변 삼각형 1116"/>
            <p:cNvSpPr/>
            <p:nvPr/>
          </p:nvSpPr>
          <p:spPr bwMode="auto">
            <a:xfrm>
              <a:off x="4556646" y="6768901"/>
              <a:ext cx="85946" cy="89703"/>
            </a:xfrm>
            <a:prstGeom prst="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6750794" y="6768901"/>
            <a:ext cx="874086" cy="504056"/>
            <a:chOff x="6750794" y="6768901"/>
            <a:chExt cx="874086" cy="504056"/>
          </a:xfrm>
        </p:grpSpPr>
        <p:sp>
          <p:nvSpPr>
            <p:cNvPr id="987" name="Text Box 480"/>
            <p:cNvSpPr txBox="1">
              <a:spLocks noChangeArrowheads="1"/>
            </p:cNvSpPr>
            <p:nvPr/>
          </p:nvSpPr>
          <p:spPr bwMode="auto">
            <a:xfrm>
              <a:off x="6750794" y="6931248"/>
              <a:ext cx="874086" cy="341709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통합테스트결과서</a:t>
              </a:r>
              <a:endParaRPr lang="en-US" altLang="ko-KR" sz="700" i="1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시험평가결과서</a:t>
              </a:r>
              <a:endParaRPr lang="en-US" altLang="ko-KR" sz="700" i="1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사용자</a:t>
              </a:r>
              <a:r>
                <a:rPr lang="en-US" altLang="ko-KR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/</a:t>
              </a: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운영자지침서</a:t>
              </a:r>
            </a:p>
          </p:txBody>
        </p:sp>
        <p:sp>
          <p:nvSpPr>
            <p:cNvPr id="1118" name="이등변 삼각형 1117"/>
            <p:cNvSpPr/>
            <p:nvPr/>
          </p:nvSpPr>
          <p:spPr bwMode="auto">
            <a:xfrm>
              <a:off x="7528944" y="6768901"/>
              <a:ext cx="85946" cy="89703"/>
            </a:xfrm>
            <a:prstGeom prst="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9979942" y="6751206"/>
            <a:ext cx="659284" cy="305727"/>
            <a:chOff x="9979942" y="6751206"/>
            <a:chExt cx="659284" cy="305727"/>
          </a:xfrm>
        </p:grpSpPr>
        <p:sp>
          <p:nvSpPr>
            <p:cNvPr id="988" name="Text Box 480"/>
            <p:cNvSpPr txBox="1">
              <a:spLocks noChangeArrowheads="1"/>
            </p:cNvSpPr>
            <p:nvPr/>
          </p:nvSpPr>
          <p:spPr bwMode="auto">
            <a:xfrm>
              <a:off x="9979942" y="6930668"/>
              <a:ext cx="659284" cy="126265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15304" tIns="9182" rIns="15304" bIns="9182" anchor="ctr">
              <a:spAutoFit/>
            </a:bodyPr>
            <a:lstStyle/>
            <a:p>
              <a:pPr defTabSz="77787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i="1" kern="0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사업종결보고서</a:t>
              </a:r>
            </a:p>
          </p:txBody>
        </p:sp>
        <p:sp>
          <p:nvSpPr>
            <p:cNvPr id="1119" name="이등변 삼각형 1118"/>
            <p:cNvSpPr/>
            <p:nvPr/>
          </p:nvSpPr>
          <p:spPr bwMode="auto">
            <a:xfrm>
              <a:off x="10481272" y="6751206"/>
              <a:ext cx="85946" cy="89703"/>
            </a:xfrm>
            <a:prstGeom prst="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endParaRPr lang="ko-KR" altLang="en-US" dirty="0">
                <a:solidFill>
                  <a:schemeClr val="lt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120" name="AutoShape 479"/>
          <p:cNvSpPr>
            <a:spLocks/>
          </p:cNvSpPr>
          <p:nvPr/>
        </p:nvSpPr>
        <p:spPr bwMode="auto">
          <a:xfrm rot="5400000">
            <a:off x="1711633" y="6168843"/>
            <a:ext cx="186439" cy="72362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1" name="AutoShape 479"/>
          <p:cNvSpPr>
            <a:spLocks/>
          </p:cNvSpPr>
          <p:nvPr/>
        </p:nvSpPr>
        <p:spPr bwMode="auto">
          <a:xfrm rot="5400000">
            <a:off x="2341667" y="6262808"/>
            <a:ext cx="183000" cy="53225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2" name="AutoShape 479"/>
          <p:cNvSpPr>
            <a:spLocks/>
          </p:cNvSpPr>
          <p:nvPr/>
        </p:nvSpPr>
        <p:spPr bwMode="auto">
          <a:xfrm rot="5400000">
            <a:off x="3162144" y="5993640"/>
            <a:ext cx="183000" cy="1070595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3" name="AutoShape 479"/>
          <p:cNvSpPr>
            <a:spLocks/>
          </p:cNvSpPr>
          <p:nvPr/>
        </p:nvSpPr>
        <p:spPr bwMode="auto">
          <a:xfrm rot="5400000">
            <a:off x="4424779" y="5807491"/>
            <a:ext cx="182933" cy="1442824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4" name="AutoShape 479"/>
          <p:cNvSpPr>
            <a:spLocks/>
          </p:cNvSpPr>
          <p:nvPr/>
        </p:nvSpPr>
        <p:spPr bwMode="auto">
          <a:xfrm rot="5400000">
            <a:off x="6051344" y="5638169"/>
            <a:ext cx="182932" cy="178147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5" name="AutoShape 842"/>
          <p:cNvSpPr>
            <a:spLocks/>
          </p:cNvSpPr>
          <p:nvPr/>
        </p:nvSpPr>
        <p:spPr bwMode="auto">
          <a:xfrm rot="5400000" flipH="1">
            <a:off x="7096200" y="6567037"/>
            <a:ext cx="175687" cy="282351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9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6" name="AutoShape 479"/>
          <p:cNvSpPr>
            <a:spLocks/>
          </p:cNvSpPr>
          <p:nvPr/>
        </p:nvSpPr>
        <p:spPr bwMode="auto">
          <a:xfrm rot="5400000">
            <a:off x="7639078" y="6125728"/>
            <a:ext cx="177684" cy="801104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7" name="AutoShape 479"/>
          <p:cNvSpPr>
            <a:spLocks/>
          </p:cNvSpPr>
          <p:nvPr/>
        </p:nvSpPr>
        <p:spPr bwMode="auto">
          <a:xfrm rot="5400000">
            <a:off x="9455000" y="6061605"/>
            <a:ext cx="177684" cy="929349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8" name="AutoShape 479"/>
          <p:cNvSpPr>
            <a:spLocks/>
          </p:cNvSpPr>
          <p:nvPr/>
        </p:nvSpPr>
        <p:spPr bwMode="auto">
          <a:xfrm rot="5400000">
            <a:off x="10199902" y="6253635"/>
            <a:ext cx="177684" cy="545290"/>
          </a:xfrm>
          <a:prstGeom prst="leftBracket">
            <a:avLst>
              <a:gd name="adj" fmla="val 35919"/>
            </a:avLst>
          </a:prstGeom>
          <a:solidFill>
            <a:srgbClr val="FCFCC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9" name="Text Box 900"/>
          <p:cNvSpPr txBox="1">
            <a:spLocks noChangeArrowheads="1"/>
          </p:cNvSpPr>
          <p:nvPr/>
        </p:nvSpPr>
        <p:spPr bwMode="auto">
          <a:xfrm>
            <a:off x="9922792" y="6492421"/>
            <a:ext cx="76378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운영자교육</a:t>
            </a:r>
            <a:endParaRPr lang="ko-KR" altLang="en-US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30" name="Text Box 900"/>
          <p:cNvSpPr txBox="1">
            <a:spLocks noChangeArrowheads="1"/>
          </p:cNvSpPr>
          <p:nvPr/>
        </p:nvSpPr>
        <p:spPr bwMode="auto">
          <a:xfrm>
            <a:off x="9127058" y="6488563"/>
            <a:ext cx="83997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제대별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집합교육</a:t>
            </a:r>
          </a:p>
        </p:txBody>
      </p:sp>
      <p:sp>
        <p:nvSpPr>
          <p:cNvPr id="1131" name="Text Box 900"/>
          <p:cNvSpPr txBox="1">
            <a:spLocks noChangeArrowheads="1"/>
          </p:cNvSpPr>
          <p:nvPr/>
        </p:nvSpPr>
        <p:spPr bwMode="auto">
          <a:xfrm>
            <a:off x="7350975" y="6480619"/>
            <a:ext cx="839979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교육자료 현황화</a:t>
            </a:r>
          </a:p>
        </p:txBody>
      </p:sp>
      <p:sp>
        <p:nvSpPr>
          <p:cNvPr id="1132" name="Text Box 900"/>
          <p:cNvSpPr txBox="1">
            <a:spLocks noChangeArrowheads="1"/>
          </p:cNvSpPr>
          <p:nvPr/>
        </p:nvSpPr>
        <p:spPr bwMode="auto">
          <a:xfrm>
            <a:off x="6606778" y="6632579"/>
            <a:ext cx="1152128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시험평가요원 교육</a:t>
            </a:r>
          </a:p>
        </p:txBody>
      </p:sp>
      <p:sp>
        <p:nvSpPr>
          <p:cNvPr id="1133" name="Text Box 900"/>
          <p:cNvSpPr txBox="1">
            <a:spLocks noChangeArrowheads="1"/>
          </p:cNvSpPr>
          <p:nvPr/>
        </p:nvSpPr>
        <p:spPr bwMode="auto">
          <a:xfrm>
            <a:off x="1613843" y="6434702"/>
            <a:ext cx="417623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교육훈련소요분석</a:t>
            </a:r>
          </a:p>
        </p:txBody>
      </p:sp>
      <p:sp>
        <p:nvSpPr>
          <p:cNvPr id="1134" name="Text Box 900"/>
          <p:cNvSpPr txBox="1">
            <a:spLocks noChangeArrowheads="1"/>
          </p:cNvSpPr>
          <p:nvPr/>
        </p:nvSpPr>
        <p:spPr bwMode="auto">
          <a:xfrm>
            <a:off x="2250295" y="6433774"/>
            <a:ext cx="449001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표준기능 개념교육</a:t>
            </a:r>
            <a:endParaRPr lang="ko-KR" altLang="en-US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35" name="Text Box 900"/>
          <p:cNvSpPr txBox="1">
            <a:spLocks noChangeArrowheads="1"/>
          </p:cNvSpPr>
          <p:nvPr/>
        </p:nvSpPr>
        <p:spPr bwMode="auto">
          <a:xfrm>
            <a:off x="2834063" y="6478110"/>
            <a:ext cx="892395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교육훈련 계획수립</a:t>
            </a:r>
            <a:endParaRPr lang="ko-KR" altLang="en-US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36" name="Text Box 900"/>
          <p:cNvSpPr txBox="1">
            <a:spLocks noChangeArrowheads="1"/>
          </p:cNvSpPr>
          <p:nvPr/>
        </p:nvSpPr>
        <p:spPr bwMode="auto">
          <a:xfrm>
            <a:off x="4046207" y="6457994"/>
            <a:ext cx="892395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교육계획 상세설계</a:t>
            </a:r>
            <a:endParaRPr lang="ko-KR" altLang="en-US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37" name="Text Box 900"/>
          <p:cNvSpPr txBox="1">
            <a:spLocks noChangeArrowheads="1"/>
          </p:cNvSpPr>
          <p:nvPr/>
        </p:nvSpPr>
        <p:spPr bwMode="auto">
          <a:xfrm>
            <a:off x="5714383" y="6480619"/>
            <a:ext cx="892395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지침서 작성</a:t>
            </a:r>
          </a:p>
        </p:txBody>
      </p:sp>
      <p:sp>
        <p:nvSpPr>
          <p:cNvPr id="1139" name="타원 1138"/>
          <p:cNvSpPr/>
          <p:nvPr/>
        </p:nvSpPr>
        <p:spPr bwMode="auto">
          <a:xfrm>
            <a:off x="2540422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0" name="타원 1139"/>
          <p:cNvSpPr/>
          <p:nvPr/>
        </p:nvSpPr>
        <p:spPr bwMode="auto">
          <a:xfrm>
            <a:off x="3198087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1" name="타원 1140"/>
          <p:cNvSpPr/>
          <p:nvPr/>
        </p:nvSpPr>
        <p:spPr bwMode="auto">
          <a:xfrm>
            <a:off x="3836566" y="380704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2" name="타원 1141"/>
          <p:cNvSpPr/>
          <p:nvPr/>
        </p:nvSpPr>
        <p:spPr bwMode="auto">
          <a:xfrm>
            <a:off x="4480514" y="380704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3" name="타원 1142"/>
          <p:cNvSpPr/>
          <p:nvPr/>
        </p:nvSpPr>
        <p:spPr bwMode="auto">
          <a:xfrm>
            <a:off x="4840554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4" name="타원 1143"/>
          <p:cNvSpPr/>
          <p:nvPr/>
        </p:nvSpPr>
        <p:spPr bwMode="auto">
          <a:xfrm>
            <a:off x="7000794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5" name="타원 1144"/>
          <p:cNvSpPr/>
          <p:nvPr/>
        </p:nvSpPr>
        <p:spPr bwMode="auto">
          <a:xfrm>
            <a:off x="7542882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6" name="타원 1145"/>
          <p:cNvSpPr/>
          <p:nvPr/>
        </p:nvSpPr>
        <p:spPr bwMode="auto">
          <a:xfrm>
            <a:off x="8094563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7" name="타원 1146"/>
          <p:cNvSpPr/>
          <p:nvPr/>
        </p:nvSpPr>
        <p:spPr bwMode="auto">
          <a:xfrm>
            <a:off x="9180084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8" name="타원 1147"/>
          <p:cNvSpPr/>
          <p:nvPr/>
        </p:nvSpPr>
        <p:spPr bwMode="auto">
          <a:xfrm>
            <a:off x="9731765" y="381657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49" name="타원 1148"/>
          <p:cNvSpPr/>
          <p:nvPr/>
        </p:nvSpPr>
        <p:spPr bwMode="auto">
          <a:xfrm>
            <a:off x="10514328" y="380704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0" name="타원 1149"/>
          <p:cNvSpPr/>
          <p:nvPr/>
        </p:nvSpPr>
        <p:spPr bwMode="auto">
          <a:xfrm>
            <a:off x="1422202" y="4781246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1" name="타원 1150"/>
          <p:cNvSpPr/>
          <p:nvPr/>
        </p:nvSpPr>
        <p:spPr bwMode="auto">
          <a:xfrm>
            <a:off x="2214358" y="478125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2" name="타원 1151"/>
          <p:cNvSpPr/>
          <p:nvPr/>
        </p:nvSpPr>
        <p:spPr bwMode="auto">
          <a:xfrm>
            <a:off x="2943963" y="477172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3" name="타원 1152"/>
          <p:cNvSpPr/>
          <p:nvPr/>
        </p:nvSpPr>
        <p:spPr bwMode="auto">
          <a:xfrm>
            <a:off x="3756242" y="4781246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4" name="타원 1153"/>
          <p:cNvSpPr/>
          <p:nvPr/>
        </p:nvSpPr>
        <p:spPr bwMode="auto">
          <a:xfrm>
            <a:off x="4557855" y="4781246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5" name="타원 1154"/>
          <p:cNvSpPr/>
          <p:nvPr/>
        </p:nvSpPr>
        <p:spPr bwMode="auto">
          <a:xfrm>
            <a:off x="5939724" y="480030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6" name="타원 1155"/>
          <p:cNvSpPr/>
          <p:nvPr/>
        </p:nvSpPr>
        <p:spPr bwMode="auto">
          <a:xfrm>
            <a:off x="7544091" y="4786585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7" name="타원 1156"/>
          <p:cNvSpPr/>
          <p:nvPr/>
        </p:nvSpPr>
        <p:spPr bwMode="auto">
          <a:xfrm>
            <a:off x="9727573" y="477172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8" name="타원 1157"/>
          <p:cNvSpPr/>
          <p:nvPr/>
        </p:nvSpPr>
        <p:spPr bwMode="auto">
          <a:xfrm>
            <a:off x="10533378" y="477172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59" name="타원 1158"/>
          <p:cNvSpPr/>
          <p:nvPr/>
        </p:nvSpPr>
        <p:spPr bwMode="auto">
          <a:xfrm>
            <a:off x="2127424" y="433967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0" name="타원 1159"/>
          <p:cNvSpPr/>
          <p:nvPr/>
        </p:nvSpPr>
        <p:spPr bwMode="auto">
          <a:xfrm>
            <a:off x="2953488" y="4349204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1" name="타원 1160"/>
          <p:cNvSpPr/>
          <p:nvPr/>
        </p:nvSpPr>
        <p:spPr bwMode="auto">
          <a:xfrm>
            <a:off x="3606893" y="4330154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2" name="타원 1161"/>
          <p:cNvSpPr/>
          <p:nvPr/>
        </p:nvSpPr>
        <p:spPr bwMode="auto">
          <a:xfrm>
            <a:off x="4855412" y="433014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3" name="타원 1162"/>
          <p:cNvSpPr/>
          <p:nvPr/>
        </p:nvSpPr>
        <p:spPr bwMode="auto">
          <a:xfrm>
            <a:off x="1422202" y="528530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4" name="타원 1163"/>
          <p:cNvSpPr/>
          <p:nvPr/>
        </p:nvSpPr>
        <p:spPr bwMode="auto">
          <a:xfrm>
            <a:off x="2142350" y="529483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5" name="타원 1164"/>
          <p:cNvSpPr/>
          <p:nvPr/>
        </p:nvSpPr>
        <p:spPr bwMode="auto">
          <a:xfrm>
            <a:off x="2949296" y="528530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6" name="타원 1165"/>
          <p:cNvSpPr/>
          <p:nvPr/>
        </p:nvSpPr>
        <p:spPr bwMode="auto">
          <a:xfrm>
            <a:off x="3760434" y="527578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7" name="타원 1166"/>
          <p:cNvSpPr/>
          <p:nvPr/>
        </p:nvSpPr>
        <p:spPr bwMode="auto">
          <a:xfrm>
            <a:off x="4840554" y="528530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8" name="타원 1167"/>
          <p:cNvSpPr/>
          <p:nvPr/>
        </p:nvSpPr>
        <p:spPr bwMode="auto">
          <a:xfrm>
            <a:off x="7004918" y="529483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69" name="타원 1168"/>
          <p:cNvSpPr/>
          <p:nvPr/>
        </p:nvSpPr>
        <p:spPr bwMode="auto">
          <a:xfrm>
            <a:off x="7548283" y="529483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0" name="타원 1169"/>
          <p:cNvSpPr/>
          <p:nvPr/>
        </p:nvSpPr>
        <p:spPr bwMode="auto">
          <a:xfrm>
            <a:off x="8090439" y="528530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1" name="타원 1170"/>
          <p:cNvSpPr/>
          <p:nvPr/>
        </p:nvSpPr>
        <p:spPr bwMode="auto">
          <a:xfrm>
            <a:off x="9180084" y="527577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2" name="타원 1171"/>
          <p:cNvSpPr/>
          <p:nvPr/>
        </p:nvSpPr>
        <p:spPr bwMode="auto">
          <a:xfrm>
            <a:off x="9737098" y="527578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3" name="타원 1172"/>
          <p:cNvSpPr/>
          <p:nvPr/>
        </p:nvSpPr>
        <p:spPr bwMode="auto">
          <a:xfrm>
            <a:off x="10538711" y="526625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4" name="타원 1173"/>
          <p:cNvSpPr/>
          <p:nvPr/>
        </p:nvSpPr>
        <p:spPr bwMode="auto">
          <a:xfrm>
            <a:off x="1422270" y="5764975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5" name="타원 1174"/>
          <p:cNvSpPr/>
          <p:nvPr/>
        </p:nvSpPr>
        <p:spPr bwMode="auto">
          <a:xfrm>
            <a:off x="2128633" y="5770314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6" name="타원 1175"/>
          <p:cNvSpPr/>
          <p:nvPr/>
        </p:nvSpPr>
        <p:spPr bwMode="auto">
          <a:xfrm>
            <a:off x="2949296" y="5770314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7" name="타원 1176"/>
          <p:cNvSpPr/>
          <p:nvPr/>
        </p:nvSpPr>
        <p:spPr bwMode="auto">
          <a:xfrm>
            <a:off x="4844678" y="576078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8" name="타원 1177"/>
          <p:cNvSpPr/>
          <p:nvPr/>
        </p:nvSpPr>
        <p:spPr bwMode="auto">
          <a:xfrm>
            <a:off x="7004918" y="576078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79" name="타원 1178"/>
          <p:cNvSpPr/>
          <p:nvPr/>
        </p:nvSpPr>
        <p:spPr bwMode="auto">
          <a:xfrm>
            <a:off x="7552475" y="576078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0" name="타원 1179"/>
          <p:cNvSpPr/>
          <p:nvPr/>
        </p:nvSpPr>
        <p:spPr bwMode="auto">
          <a:xfrm>
            <a:off x="8094563" y="576078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1" name="타원 1180"/>
          <p:cNvSpPr/>
          <p:nvPr/>
        </p:nvSpPr>
        <p:spPr bwMode="auto">
          <a:xfrm>
            <a:off x="9185417" y="576078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2" name="타원 1181"/>
          <p:cNvSpPr/>
          <p:nvPr/>
        </p:nvSpPr>
        <p:spPr bwMode="auto">
          <a:xfrm>
            <a:off x="9741290" y="576078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3" name="타원 1182"/>
          <p:cNvSpPr/>
          <p:nvPr/>
        </p:nvSpPr>
        <p:spPr bwMode="auto">
          <a:xfrm>
            <a:off x="10548236" y="576078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4" name="타원 1183"/>
          <p:cNvSpPr/>
          <p:nvPr/>
        </p:nvSpPr>
        <p:spPr bwMode="auto">
          <a:xfrm>
            <a:off x="1422202" y="6144065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5" name="타원 1184"/>
          <p:cNvSpPr/>
          <p:nvPr/>
        </p:nvSpPr>
        <p:spPr bwMode="auto">
          <a:xfrm>
            <a:off x="2132825" y="615892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6" name="타원 1185"/>
          <p:cNvSpPr/>
          <p:nvPr/>
        </p:nvSpPr>
        <p:spPr bwMode="auto">
          <a:xfrm>
            <a:off x="2674981" y="615892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7" name="타원 1186"/>
          <p:cNvSpPr/>
          <p:nvPr/>
        </p:nvSpPr>
        <p:spPr bwMode="auto">
          <a:xfrm>
            <a:off x="3491452" y="615892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8" name="타원 1187"/>
          <p:cNvSpPr/>
          <p:nvPr/>
        </p:nvSpPr>
        <p:spPr bwMode="auto">
          <a:xfrm>
            <a:off x="5383851" y="615892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89" name="타원 1188"/>
          <p:cNvSpPr/>
          <p:nvPr/>
        </p:nvSpPr>
        <p:spPr bwMode="auto">
          <a:xfrm>
            <a:off x="6203373" y="615892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0" name="타원 1189"/>
          <p:cNvSpPr/>
          <p:nvPr/>
        </p:nvSpPr>
        <p:spPr bwMode="auto">
          <a:xfrm>
            <a:off x="7010251" y="614939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1" name="타원 1190"/>
          <p:cNvSpPr/>
          <p:nvPr/>
        </p:nvSpPr>
        <p:spPr bwMode="auto">
          <a:xfrm>
            <a:off x="7552475" y="6158923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2" name="타원 1191"/>
          <p:cNvSpPr/>
          <p:nvPr/>
        </p:nvSpPr>
        <p:spPr bwMode="auto">
          <a:xfrm>
            <a:off x="8099964" y="615892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3" name="타원 1192"/>
          <p:cNvSpPr/>
          <p:nvPr/>
        </p:nvSpPr>
        <p:spPr bwMode="auto">
          <a:xfrm>
            <a:off x="9180084" y="6149404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4" name="타원 1193"/>
          <p:cNvSpPr/>
          <p:nvPr/>
        </p:nvSpPr>
        <p:spPr bwMode="auto">
          <a:xfrm>
            <a:off x="9737098" y="6139879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5" name="타원 1194"/>
          <p:cNvSpPr/>
          <p:nvPr/>
        </p:nvSpPr>
        <p:spPr bwMode="auto">
          <a:xfrm>
            <a:off x="10533310" y="6149404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6" name="타원 1195"/>
          <p:cNvSpPr/>
          <p:nvPr/>
        </p:nvSpPr>
        <p:spPr bwMode="auto">
          <a:xfrm>
            <a:off x="1422202" y="6585638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7" name="타원 1196"/>
          <p:cNvSpPr/>
          <p:nvPr/>
        </p:nvSpPr>
        <p:spPr bwMode="auto">
          <a:xfrm>
            <a:off x="2132825" y="6590971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8" name="타원 1197"/>
          <p:cNvSpPr/>
          <p:nvPr/>
        </p:nvSpPr>
        <p:spPr bwMode="auto">
          <a:xfrm>
            <a:off x="2680314" y="659097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9" name="타원 1198"/>
          <p:cNvSpPr/>
          <p:nvPr/>
        </p:nvSpPr>
        <p:spPr bwMode="auto">
          <a:xfrm>
            <a:off x="3760434" y="658145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0" name="타원 1199"/>
          <p:cNvSpPr/>
          <p:nvPr/>
        </p:nvSpPr>
        <p:spPr bwMode="auto">
          <a:xfrm>
            <a:off x="5210051" y="659097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1" name="타원 1200"/>
          <p:cNvSpPr/>
          <p:nvPr/>
        </p:nvSpPr>
        <p:spPr bwMode="auto">
          <a:xfrm>
            <a:off x="7010319" y="658145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2" name="타원 1201"/>
          <p:cNvSpPr/>
          <p:nvPr/>
        </p:nvSpPr>
        <p:spPr bwMode="auto">
          <a:xfrm>
            <a:off x="7284634" y="658145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3" name="타원 1202"/>
          <p:cNvSpPr/>
          <p:nvPr/>
        </p:nvSpPr>
        <p:spPr bwMode="auto">
          <a:xfrm>
            <a:off x="8099964" y="659097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4" name="타원 1203"/>
          <p:cNvSpPr/>
          <p:nvPr/>
        </p:nvSpPr>
        <p:spPr bwMode="auto">
          <a:xfrm>
            <a:off x="9045593" y="6581452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5" name="타원 1204"/>
          <p:cNvSpPr/>
          <p:nvPr/>
        </p:nvSpPr>
        <p:spPr bwMode="auto">
          <a:xfrm>
            <a:off x="9991222" y="6571927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6" name="타원 1205"/>
          <p:cNvSpPr/>
          <p:nvPr/>
        </p:nvSpPr>
        <p:spPr bwMode="auto">
          <a:xfrm>
            <a:off x="10523853" y="6577260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8" name="Text Box 900"/>
          <p:cNvSpPr txBox="1">
            <a:spLocks noChangeArrowheads="1"/>
          </p:cNvSpPr>
          <p:nvPr/>
        </p:nvSpPr>
        <p:spPr bwMode="auto">
          <a:xfrm>
            <a:off x="2214783" y="5354364"/>
            <a:ext cx="686820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개발환경구축</a:t>
            </a:r>
            <a:endParaRPr lang="ko-KR" altLang="en-US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09" name="AutoShape 842"/>
          <p:cNvSpPr>
            <a:spLocks/>
          </p:cNvSpPr>
          <p:nvPr/>
        </p:nvSpPr>
        <p:spPr bwMode="auto">
          <a:xfrm rot="5400000" flipH="1">
            <a:off x="1707113" y="3570615"/>
            <a:ext cx="170418" cy="719105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38" name="타원 1137"/>
          <p:cNvSpPr/>
          <p:nvPr/>
        </p:nvSpPr>
        <p:spPr bwMode="auto">
          <a:xfrm>
            <a:off x="1393627" y="3811234"/>
            <a:ext cx="71940" cy="77347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 l="-3000" t="-6000" r="-2000" b="-10000"/>
            </a:stretch>
          </a:blipFill>
          <a:ln w="9525">
            <a:solidFill>
              <a:schemeClr val="bg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lt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10" name="Text Box 900"/>
          <p:cNvSpPr txBox="1">
            <a:spLocks noChangeArrowheads="1"/>
          </p:cNvSpPr>
          <p:nvPr/>
        </p:nvSpPr>
        <p:spPr bwMode="auto">
          <a:xfrm>
            <a:off x="1498127" y="3873408"/>
            <a:ext cx="619772" cy="136571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소스수집</a:t>
            </a:r>
            <a:r>
              <a:rPr lang="en-US" altLang="ko-KR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700" kern="0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분석</a:t>
            </a:r>
          </a:p>
        </p:txBody>
      </p:sp>
      <p:sp>
        <p:nvSpPr>
          <p:cNvPr id="1211" name="AutoShape 842"/>
          <p:cNvSpPr>
            <a:spLocks/>
          </p:cNvSpPr>
          <p:nvPr/>
        </p:nvSpPr>
        <p:spPr bwMode="auto">
          <a:xfrm rot="5400000" flipH="1">
            <a:off x="9286587" y="6558386"/>
            <a:ext cx="138677" cy="282351"/>
          </a:xfrm>
          <a:prstGeom prst="leftBracket">
            <a:avLst>
              <a:gd name="adj" fmla="val 22127"/>
            </a:avLst>
          </a:prstGeom>
          <a:solidFill>
            <a:srgbClr val="FFCCCC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708" tIns="45355" rIns="90708" bIns="45355" anchor="ctr"/>
          <a:lstStyle/>
          <a:p>
            <a:pPr defTabSz="906463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900" kern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12" name="Text Box 900"/>
          <p:cNvSpPr txBox="1">
            <a:spLocks noChangeArrowheads="1"/>
          </p:cNvSpPr>
          <p:nvPr/>
        </p:nvSpPr>
        <p:spPr bwMode="auto">
          <a:xfrm>
            <a:off x="9152628" y="6624311"/>
            <a:ext cx="406478" cy="244293"/>
          </a:xfrm>
          <a:prstGeom prst="rect">
            <a:avLst/>
          </a:prstGeom>
          <a:noFill/>
          <a:ln w="12700">
            <a:noFill/>
            <a:prstDash val="sysDot"/>
            <a:miter lim="800000"/>
            <a:headEnd/>
            <a:tailEnd/>
          </a:ln>
        </p:spPr>
        <p:txBody>
          <a:bodyPr wrap="square" lIns="14285" tIns="14285" rIns="14285" bIns="14285" anchor="ctr">
            <a:spAutoFit/>
          </a:bodyPr>
          <a:lstStyle/>
          <a:p>
            <a:pPr algn="ctr" defTabSz="7778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표준기능 심화교육</a:t>
            </a:r>
            <a:endParaRPr lang="ko-KR" altLang="en-US" sz="700" kern="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206731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18773" y="248651"/>
            <a:ext cx="10176193" cy="6943790"/>
            <a:chOff x="318773" y="248651"/>
            <a:chExt cx="10176193" cy="6943790"/>
          </a:xfrm>
        </p:grpSpPr>
        <p:grpSp>
          <p:nvGrpSpPr>
            <p:cNvPr id="177" name="그룹 176"/>
            <p:cNvGrpSpPr/>
            <p:nvPr/>
          </p:nvGrpSpPr>
          <p:grpSpPr>
            <a:xfrm>
              <a:off x="318773" y="248651"/>
              <a:ext cx="7939994" cy="843519"/>
              <a:chOff x="318763" y="248649"/>
              <a:chExt cx="7939994" cy="843519"/>
            </a:xfrm>
          </p:grpSpPr>
          <p:sp>
            <p:nvSpPr>
              <p:cNvPr id="178" name="TextBox 177"/>
              <p:cNvSpPr txBox="1"/>
              <p:nvPr/>
            </p:nvSpPr>
            <p:spPr>
              <a:xfrm>
                <a:off x="318763" y="568948"/>
                <a:ext cx="7939994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83443">
                  <a:defRPr/>
                </a:pPr>
                <a:r>
                  <a:rPr lang="ko-KR" altLang="en-US" sz="2800" b="1" dirty="0">
                    <a:gradFill>
                      <a:gsLst>
                        <a:gs pos="0">
                          <a:schemeClr val="tx2">
                            <a:lumMod val="50000"/>
                          </a:schemeClr>
                        </a:gs>
                        <a:gs pos="45000">
                          <a:schemeClr val="accent1">
                            <a:lumMod val="75000"/>
                          </a:schemeClr>
                        </a:gs>
                        <a:gs pos="55000">
                          <a:schemeClr val="accent1">
                            <a:lumMod val="75000"/>
                          </a:schemeClr>
                        </a:gs>
                        <a:gs pos="100000">
                          <a:schemeClr val="tx2">
                            <a:lumMod val="75000"/>
                          </a:schemeClr>
                        </a:gs>
                      </a:gsLst>
                      <a:lin ang="540000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단계별 품질 활동과 관리방법론 및 관리도구 활용</a:t>
                </a:r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>
                <a:off x="321774" y="248649"/>
                <a:ext cx="2015295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83443">
                  <a:defRPr/>
                </a:pPr>
                <a:r>
                  <a:rPr lang="en-US" altLang="ko-KR" sz="1600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3. </a:t>
                </a:r>
                <a:r>
                  <a:rPr lang="ko-KR" altLang="en-US" sz="1600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품질 및 사업관리</a:t>
                </a:r>
              </a:p>
            </p:txBody>
          </p:sp>
        </p:grpSp>
        <p:grpSp>
          <p:nvGrpSpPr>
            <p:cNvPr id="2" name="그룹 1"/>
            <p:cNvGrpSpPr/>
            <p:nvPr/>
          </p:nvGrpSpPr>
          <p:grpSpPr>
            <a:xfrm>
              <a:off x="414338" y="1366838"/>
              <a:ext cx="10080628" cy="5825603"/>
              <a:chOff x="414338" y="1366838"/>
              <a:chExt cx="10080628" cy="5825603"/>
            </a:xfrm>
          </p:grpSpPr>
          <p:grpSp>
            <p:nvGrpSpPr>
              <p:cNvPr id="182" name="그룹 181"/>
              <p:cNvGrpSpPr/>
              <p:nvPr/>
            </p:nvGrpSpPr>
            <p:grpSpPr>
              <a:xfrm>
                <a:off x="414341" y="1366838"/>
                <a:ext cx="10080625" cy="5825603"/>
                <a:chOff x="414338" y="1366838"/>
                <a:chExt cx="10080625" cy="5825603"/>
              </a:xfrm>
            </p:grpSpPr>
            <p:grpSp>
              <p:nvGrpSpPr>
                <p:cNvPr id="418" name="그룹 417"/>
                <p:cNvGrpSpPr/>
                <p:nvPr/>
              </p:nvGrpSpPr>
              <p:grpSpPr>
                <a:xfrm>
                  <a:off x="414338" y="1366838"/>
                  <a:ext cx="10080625" cy="5825603"/>
                  <a:chOff x="414338" y="1366838"/>
                  <a:chExt cx="10080625" cy="5825603"/>
                </a:xfrm>
              </p:grpSpPr>
              <p:sp>
                <p:nvSpPr>
                  <p:cNvPr id="420" name="직사각형 419"/>
                  <p:cNvSpPr/>
                  <p:nvPr/>
                </p:nvSpPr>
                <p:spPr bwMode="auto">
                  <a:xfrm>
                    <a:off x="5619557" y="1366838"/>
                    <a:ext cx="4871989" cy="582372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  <a:effectLst>
                    <a:outerShdw blurRad="1016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kumimoji="0"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421" name="직사각형 420"/>
                  <p:cNvSpPr/>
                  <p:nvPr/>
                </p:nvSpPr>
                <p:spPr bwMode="auto">
                  <a:xfrm>
                    <a:off x="414338" y="1366838"/>
                    <a:ext cx="4871989" cy="582560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B2E4"/>
                    </a:solidFill>
                  </a:ln>
                  <a:effectLst>
                    <a:outerShdw blurRad="1016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kumimoji="0"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422" name="직사각형 421"/>
                  <p:cNvSpPr/>
                  <p:nvPr/>
                </p:nvSpPr>
                <p:spPr bwMode="auto">
                  <a:xfrm>
                    <a:off x="414338" y="7138067"/>
                    <a:ext cx="4871989" cy="54374"/>
                  </a:xfrm>
                  <a:prstGeom prst="rect">
                    <a:avLst/>
                  </a:prstGeom>
                  <a:solidFill>
                    <a:srgbClr val="84B2E4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lvl="1" indent="-159111" algn="ctr">
                      <a:lnSpc>
                        <a:spcPct val="110000"/>
                      </a:lnSpc>
                      <a:buClr>
                        <a:sysClr val="windowText" lastClr="000000"/>
                      </a:buClr>
                      <a:tabLst>
                        <a:tab pos="6290163" algn="l"/>
                      </a:tabLst>
                      <a:defRPr/>
                    </a:pPr>
                    <a:endParaRPr kumimoji="0"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grpSp>
                <p:nvGrpSpPr>
                  <p:cNvPr id="423" name="그룹 422"/>
                  <p:cNvGrpSpPr/>
                  <p:nvPr/>
                </p:nvGrpSpPr>
                <p:grpSpPr>
                  <a:xfrm>
                    <a:off x="414338" y="1366838"/>
                    <a:ext cx="4875406" cy="489373"/>
                    <a:chOff x="414338" y="1366838"/>
                    <a:chExt cx="4875406" cy="489373"/>
                  </a:xfrm>
                </p:grpSpPr>
                <p:sp>
                  <p:nvSpPr>
                    <p:cNvPr id="436" name="직사각형 435"/>
                    <p:cNvSpPr/>
                    <p:nvPr/>
                  </p:nvSpPr>
                  <p:spPr bwMode="auto">
                    <a:xfrm>
                      <a:off x="414338" y="1366838"/>
                      <a:ext cx="4875406" cy="489373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72A6E0"/>
                        </a:gs>
                        <a:gs pos="98000">
                          <a:srgbClr val="2C79CE"/>
                        </a:gs>
                        <a:gs pos="100000">
                          <a:srgbClr val="2D417B"/>
                        </a:gs>
                      </a:gsLst>
                      <a:lin ang="5400000" scaled="1"/>
                      <a:tileRect/>
                    </a:gradFill>
                    <a:ln w="12700"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defTabSz="1018051">
                        <a:defRPr/>
                      </a:pPr>
                      <a:endParaRPr lang="ko-KR" altLang="en-US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p:txBody>
                </p:sp>
                <p:sp>
                  <p:nvSpPr>
                    <p:cNvPr id="440" name="사다리꼴 439"/>
                    <p:cNvSpPr/>
                    <p:nvPr/>
                  </p:nvSpPr>
                  <p:spPr bwMode="auto">
                    <a:xfrm flipV="1">
                      <a:off x="422882" y="1374338"/>
                      <a:ext cx="4856610" cy="30000"/>
                    </a:xfrm>
                    <a:prstGeom prst="trapezoid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alpha val="70000"/>
                          </a:schemeClr>
                        </a:gs>
                        <a:gs pos="76000">
                          <a:schemeClr val="bg1">
                            <a:alpha val="29000"/>
                          </a:schemeClr>
                        </a:gs>
                        <a:gs pos="92000">
                          <a:schemeClr val="bg1">
                            <a:alpha val="0"/>
                          </a:schemeClr>
                        </a:gs>
                      </a:gsLst>
                      <a:lin ang="162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kumimoji="0" lang="ko-KR" altLang="en-US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p:txBody>
                </p:sp>
                <p:sp>
                  <p:nvSpPr>
                    <p:cNvPr id="441" name="TextBox 440"/>
                    <p:cNvSpPr txBox="1"/>
                    <p:nvPr/>
                  </p:nvSpPr>
                  <p:spPr bwMode="auto">
                    <a:xfrm>
                      <a:off x="1098998" y="1403609"/>
                      <a:ext cx="3506089" cy="415498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>
                      <a:spAutoFit/>
                      <a:scene3d>
                        <a:camera prst="orthographicFront"/>
                        <a:lightRig rig="threePt" dir="t"/>
                      </a:scene3d>
                      <a:sp3d>
                        <a:bevelT w="1270"/>
                      </a:sp3d>
                    </a:bodyPr>
                    <a:lstStyle/>
                    <a:p>
                      <a:pPr algn="ctr" defTabSz="1018386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80000"/>
                        <a:defRPr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  <a:effectLst>
                            <a:glow rad="63500">
                              <a:schemeClr val="tx2">
                                <a:lumMod val="60000"/>
                                <a:lumOff val="40000"/>
                              </a:schemeClr>
                            </a:glow>
                          </a:effectLst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단계별 주요 품질 보증 활동</a:t>
                      </a:r>
                    </a:p>
                  </p:txBody>
                </p:sp>
                <p:pic>
                  <p:nvPicPr>
                    <p:cNvPr id="442" name="Picture 2"/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t="50000"/>
                    <a:stretch/>
                  </p:blipFill>
                  <p:spPr bwMode="auto">
                    <a:xfrm>
                      <a:off x="428327" y="1366838"/>
                      <a:ext cx="793732" cy="3476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426" name="직사각형 425"/>
                  <p:cNvSpPr/>
                  <p:nvPr/>
                </p:nvSpPr>
                <p:spPr bwMode="auto">
                  <a:xfrm>
                    <a:off x="5619557" y="1366838"/>
                    <a:ext cx="4875406" cy="48937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  <a:scene3d>
                      <a:camera prst="orthographicFront"/>
                      <a:lightRig rig="threePt" dir="t"/>
                    </a:scene3d>
                    <a:sp3d>
                      <a:bevelT w="1270"/>
                    </a:sp3d>
                  </a:bodyPr>
                  <a:lstStyle/>
                  <a:p>
                    <a:endParaRPr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430" name="직사각형 429"/>
                  <p:cNvSpPr/>
                  <p:nvPr/>
                </p:nvSpPr>
                <p:spPr bwMode="auto">
                  <a:xfrm>
                    <a:off x="5619557" y="7136191"/>
                    <a:ext cx="4871989" cy="54375"/>
                  </a:xfrm>
                  <a:prstGeom prst="rect">
                    <a:avLst/>
                  </a:prstGeom>
                  <a:solidFill>
                    <a:srgbClr val="4371BB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kumimoji="0"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pic>
                <p:nvPicPr>
                  <p:cNvPr id="433" name="Picture 2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/>
                  <a:stretch/>
                </p:blipFill>
                <p:spPr bwMode="auto">
                  <a:xfrm>
                    <a:off x="5598666" y="1366838"/>
                    <a:ext cx="793732" cy="3476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419" name="TextBox 418"/>
                <p:cNvSpPr txBox="1"/>
                <p:nvPr/>
              </p:nvSpPr>
              <p:spPr bwMode="auto">
                <a:xfrm>
                  <a:off x="6128562" y="1403605"/>
                  <a:ext cx="3280065" cy="415498"/>
                </a:xfrm>
                <a:prstGeom prst="rect">
                  <a:avLst/>
                </a:prstGeom>
                <a:noFill/>
                <a:effectLst/>
              </p:spPr>
              <p:txBody>
                <a:bodyPr wrap="none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algn="ctr" defTabSz="1018386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80000"/>
                    <a:defRPr/>
                  </a:pPr>
                  <a:r>
                    <a:rPr lang="ko-KR" altLang="en-US" dirty="0">
                      <a:solidFill>
                        <a:schemeClr val="bg1"/>
                      </a:solidFill>
                      <a:effectLst>
                        <a:glow rad="63500">
                          <a:schemeClr val="accent1">
                            <a:lumMod val="75000"/>
                          </a:schemeClr>
                        </a:glow>
                      </a:effectLst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사업관리방법론</a:t>
                  </a:r>
                  <a:r>
                    <a:rPr lang="en-US" altLang="ko-KR" dirty="0">
                      <a:solidFill>
                        <a:schemeClr val="bg1"/>
                      </a:solidFill>
                      <a:effectLst>
                        <a:glow rad="63500">
                          <a:schemeClr val="accent1">
                            <a:lumMod val="75000"/>
                          </a:schemeClr>
                        </a:glow>
                      </a:effectLst>
                      <a:latin typeface="굴림" panose="020B0600000101010101" pitchFamily="50" charset="-127"/>
                      <a:ea typeface="굴림" panose="020B0600000101010101" pitchFamily="50" charset="-127"/>
                    </a:rPr>
                    <a:t>(TI-PMM)</a:t>
                  </a:r>
                  <a:endParaRPr lang="ko-KR" altLang="en-US" dirty="0">
                    <a:solidFill>
                      <a:schemeClr val="bg1"/>
                    </a:solidFill>
                    <a:effectLst>
                      <a:glow rad="63500">
                        <a:schemeClr val="accent1">
                          <a:lumMod val="75000"/>
                        </a:scheme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  <p:sp>
            <p:nvSpPr>
              <p:cNvPr id="194" name="사다리꼴 193"/>
              <p:cNvSpPr/>
              <p:nvPr/>
            </p:nvSpPr>
            <p:spPr bwMode="auto">
              <a:xfrm flipV="1">
                <a:off x="5628101" y="1374338"/>
                <a:ext cx="4856609" cy="30000"/>
              </a:xfrm>
              <a:prstGeom prst="trapezoid">
                <a:avLst/>
              </a:prstGeom>
              <a:gradFill flip="none" rotWithShape="1">
                <a:gsLst>
                  <a:gs pos="0">
                    <a:schemeClr val="bg1">
                      <a:alpha val="70000"/>
                    </a:schemeClr>
                  </a:gs>
                  <a:gs pos="76000">
                    <a:schemeClr val="bg1">
                      <a:alpha val="29000"/>
                    </a:schemeClr>
                  </a:gs>
                  <a:gs pos="92000">
                    <a:schemeClr val="bg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9" tIns="45683" rIns="91369" bIns="45683" anchor="ctr"/>
              <a:lstStyle/>
              <a:p>
                <a:pPr algn="ctr">
                  <a:defRPr/>
                </a:pPr>
                <a:endParaRPr kumimoji="0"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96" name="그룹 110"/>
              <p:cNvGrpSpPr>
                <a:grpSpLocks/>
              </p:cNvGrpSpPr>
              <p:nvPr/>
            </p:nvGrpSpPr>
            <p:grpSpPr bwMode="auto">
              <a:xfrm>
                <a:off x="520699" y="3989416"/>
                <a:ext cx="880674" cy="586800"/>
                <a:chOff x="-3362105" y="4151089"/>
                <a:chExt cx="1021971" cy="1019980"/>
              </a:xfrm>
            </p:grpSpPr>
            <p:sp>
              <p:nvSpPr>
                <p:cNvPr id="416" name="모서리가 둥근 직사각형 6"/>
                <p:cNvSpPr/>
                <p:nvPr/>
              </p:nvSpPr>
              <p:spPr bwMode="auto">
                <a:xfrm rot="16200000">
                  <a:off x="-3361109" y="4150093"/>
                  <a:ext cx="1019980" cy="1021971"/>
                </a:xfrm>
                <a:prstGeom prst="roundRect">
                  <a:avLst>
                    <a:gd name="adj" fmla="val 4978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8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17" name="직사각형 416"/>
                <p:cNvSpPr/>
                <p:nvPr/>
              </p:nvSpPr>
              <p:spPr bwMode="auto">
                <a:xfrm>
                  <a:off x="-3319206" y="4313910"/>
                  <a:ext cx="382175" cy="69547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>
                  <a:outerShdw dist="241300" dir="6900000" sx="102000" sy="102000" algn="ctr" rotWithShape="0">
                    <a:schemeClr val="bg1">
                      <a:alpha val="80000"/>
                    </a:schemeClr>
                  </a:outerShdw>
                </a:effec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defTabSz="986565" eaLnBrk="0" latinLnBrk="0" hangingPunct="0">
                    <a:tabLst>
                      <a:tab pos="6290664" algn="l"/>
                    </a:tabLst>
                    <a:defRPr/>
                  </a:pPr>
                  <a:r>
                    <a:rPr lang="ko-KR" altLang="en-US" sz="1300" spc="-67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전사지원</a:t>
                  </a:r>
                </a:p>
              </p:txBody>
            </p:sp>
          </p:grpSp>
          <p:sp>
            <p:nvSpPr>
              <p:cNvPr id="204" name="모서리가 둥근 직사각형 6"/>
              <p:cNvSpPr/>
              <p:nvPr/>
            </p:nvSpPr>
            <p:spPr bwMode="auto">
              <a:xfrm>
                <a:off x="886813" y="3993235"/>
                <a:ext cx="4285271" cy="588291"/>
              </a:xfrm>
              <a:prstGeom prst="roundRect">
                <a:avLst>
                  <a:gd name="adj" fmla="val 1519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9" tIns="45683" rIns="91369" bIns="45683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</a:pPr>
                <a:endParaRPr lang="ko-KR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210" name="그룹 453"/>
              <p:cNvGrpSpPr>
                <a:grpSpLocks/>
              </p:cNvGrpSpPr>
              <p:nvPr/>
            </p:nvGrpSpPr>
            <p:grpSpPr bwMode="auto">
              <a:xfrm>
                <a:off x="520702" y="2329922"/>
                <a:ext cx="4651375" cy="1602000"/>
                <a:chOff x="323850" y="2404481"/>
                <a:chExt cx="4377118" cy="1330836"/>
              </a:xfrm>
            </p:grpSpPr>
            <p:grpSp>
              <p:nvGrpSpPr>
                <p:cNvPr id="412" name="그룹 110"/>
                <p:cNvGrpSpPr>
                  <a:grpSpLocks/>
                </p:cNvGrpSpPr>
                <p:nvPr/>
              </p:nvGrpSpPr>
              <p:grpSpPr bwMode="auto">
                <a:xfrm>
                  <a:off x="323850" y="2404481"/>
                  <a:ext cx="828747" cy="1330836"/>
                  <a:chOff x="-3362104" y="4148208"/>
                  <a:chExt cx="1022060" cy="1019088"/>
                </a:xfrm>
              </p:grpSpPr>
              <p:sp>
                <p:nvSpPr>
                  <p:cNvPr id="414" name="모서리가 둥근 직사각형 6"/>
                  <p:cNvSpPr/>
                  <p:nvPr/>
                </p:nvSpPr>
                <p:spPr bwMode="auto">
                  <a:xfrm rot="16200000">
                    <a:off x="-3360618" y="4146722"/>
                    <a:ext cx="1019088" cy="1022060"/>
                  </a:xfrm>
                  <a:prstGeom prst="roundRect">
                    <a:avLst>
                      <a:gd name="adj" fmla="val 4978"/>
                    </a:avLst>
                  </a:prstGeom>
                  <a:solidFill>
                    <a:srgbClr val="A6C7EC"/>
                  </a:solidFill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marL="0" lvl="1" indent="-159111" algn="ctr" defTabSz="1018306">
                      <a:buClr>
                        <a:sysClr val="windowText" lastClr="000000"/>
                      </a:buClr>
                      <a:tabLst>
                        <a:tab pos="6290163" algn="l"/>
                      </a:tabLst>
                      <a:defRPr/>
                    </a:pPr>
                    <a:endParaRPr lang="ko-KR" altLang="en-US" sz="18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415" name="직사각형 414"/>
                  <p:cNvSpPr/>
                  <p:nvPr/>
                </p:nvSpPr>
                <p:spPr bwMode="auto">
                  <a:xfrm>
                    <a:off x="-3265534" y="4347818"/>
                    <a:ext cx="239644" cy="626520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  <a:effectLst>
                    <a:outerShdw dist="241300" dir="6900000" sx="102000" sy="102000" algn="ctr" rotWithShape="0">
                      <a:schemeClr val="bg1">
                        <a:alpha val="80000"/>
                      </a:schemeClr>
                    </a:outerShdw>
                  </a:effectLst>
                </p:spPr>
                <p:txBody>
                  <a:bodyPr lIns="0" tIns="0" rIns="0" bIns="0" anchor="ctr">
                    <a:spAutoFit/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defTabSz="1018306" latinLnBrk="0">
                      <a:tabLst>
                        <a:tab pos="6290664" algn="l"/>
                      </a:tabLst>
                      <a:defRPr/>
                    </a:pPr>
                    <a:r>
                      <a:rPr lang="ko-KR" altLang="en-US" sz="160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품질활동</a:t>
                    </a:r>
                  </a:p>
                </p:txBody>
              </p:sp>
            </p:grpSp>
            <p:sp>
              <p:nvSpPr>
                <p:cNvPr id="413" name="모서리가 둥근 직사각형 6"/>
                <p:cNvSpPr/>
                <p:nvPr/>
              </p:nvSpPr>
              <p:spPr bwMode="auto">
                <a:xfrm>
                  <a:off x="668368" y="2405796"/>
                  <a:ext cx="4032600" cy="1329519"/>
                </a:xfrm>
                <a:prstGeom prst="roundRect">
                  <a:avLst>
                    <a:gd name="adj" fmla="val 1519"/>
                  </a:avLst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8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  <p:sp>
            <p:nvSpPr>
              <p:cNvPr id="212" name="갈매기형 수장 211"/>
              <p:cNvSpPr/>
              <p:nvPr/>
            </p:nvSpPr>
            <p:spPr bwMode="auto">
              <a:xfrm>
                <a:off x="789801" y="1918174"/>
                <a:ext cx="1571870" cy="330052"/>
              </a:xfrm>
              <a:prstGeom prst="chevron">
                <a:avLst>
                  <a:gd name="adj" fmla="val 32222"/>
                </a:avLst>
              </a:prstGeom>
              <a:gradFill flip="none" rotWithShape="1">
                <a:gsLst>
                  <a:gs pos="6000">
                    <a:srgbClr val="B2CCEC"/>
                  </a:gs>
                  <a:gs pos="73000">
                    <a:srgbClr val="94BCE8"/>
                  </a:gs>
                  <a:gs pos="7000">
                    <a:srgbClr val="5896DA"/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1830" tIns="50915" rIns="101830" bIns="50915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rgbClr val="365B96"/>
                  </a:contourClr>
                </a:sp3d>
              </a:bodyPr>
              <a:lstStyle/>
              <a:p>
                <a:pPr algn="ctr" defTabSz="1018306">
                  <a:defRPr/>
                </a:pPr>
                <a:r>
                  <a:rPr lang="ko-KR" altLang="en-US" sz="1300" dirty="0">
                    <a:solidFill>
                      <a:prstClr val="white"/>
                    </a:solidFill>
                    <a:effectLst>
                      <a:glow rad="101600">
                        <a:srgbClr val="1F497D">
                          <a:lumMod val="40000"/>
                          <a:lumOff val="60000"/>
                          <a:alpha val="40000"/>
                        </a:srgb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착수 및 계획</a:t>
                </a:r>
              </a:p>
            </p:txBody>
          </p:sp>
          <p:sp>
            <p:nvSpPr>
              <p:cNvPr id="213" name="갈매기형 수장 212"/>
              <p:cNvSpPr/>
              <p:nvPr/>
            </p:nvSpPr>
            <p:spPr bwMode="auto">
              <a:xfrm>
                <a:off x="2361671" y="1918174"/>
                <a:ext cx="1524324" cy="330052"/>
              </a:xfrm>
              <a:prstGeom prst="chevron">
                <a:avLst>
                  <a:gd name="adj" fmla="val 32222"/>
                </a:avLst>
              </a:prstGeom>
              <a:gradFill flip="none" rotWithShape="1">
                <a:gsLst>
                  <a:gs pos="6000">
                    <a:srgbClr val="72A2DC"/>
                  </a:gs>
                  <a:gs pos="73000">
                    <a:srgbClr val="2D7BD1"/>
                  </a:gs>
                  <a:gs pos="7000">
                    <a:srgbClr val="2665AA"/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1830" tIns="50915" rIns="101830" bIns="50915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rgbClr val="365B96"/>
                  </a:contourClr>
                </a:sp3d>
              </a:bodyPr>
              <a:lstStyle/>
              <a:p>
                <a:pPr algn="ctr" defTabSz="1018306">
                  <a:defRPr/>
                </a:pPr>
                <a:r>
                  <a:rPr lang="ko-KR" altLang="en-US" sz="1300" dirty="0">
                    <a:solidFill>
                      <a:prstClr val="white"/>
                    </a:solidFill>
                    <a:effectLst>
                      <a:glow rad="101600">
                        <a:srgbClr val="1F497D">
                          <a:lumMod val="40000"/>
                          <a:lumOff val="60000"/>
                          <a:alpha val="40000"/>
                        </a:srgb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실행 및 통제</a:t>
                </a:r>
              </a:p>
            </p:txBody>
          </p:sp>
          <p:sp>
            <p:nvSpPr>
              <p:cNvPr id="214" name="갈매기형 수장 213"/>
              <p:cNvSpPr/>
              <p:nvPr/>
            </p:nvSpPr>
            <p:spPr bwMode="auto">
              <a:xfrm>
                <a:off x="3909796" y="1918174"/>
                <a:ext cx="1226848" cy="330052"/>
              </a:xfrm>
              <a:prstGeom prst="chevron">
                <a:avLst>
                  <a:gd name="adj" fmla="val 32222"/>
                </a:avLst>
              </a:prstGeom>
              <a:gradFill flip="none" rotWithShape="1">
                <a:gsLst>
                  <a:gs pos="6000">
                    <a:srgbClr val="4785D1"/>
                  </a:gs>
                  <a:gs pos="73000">
                    <a:srgbClr val="4371BB"/>
                  </a:gs>
                  <a:gs pos="7000">
                    <a:schemeClr val="accent1">
                      <a:lumMod val="50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  <a:effectLst>
                <a:innerShdw blurRad="38100">
                  <a:schemeClr val="bg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1830" tIns="50915" rIns="101830" bIns="50915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accent1">
                      <a:lumMod val="50000"/>
                    </a:schemeClr>
                  </a:contourClr>
                </a:sp3d>
              </a:bodyPr>
              <a:lstStyle/>
              <a:p>
                <a:pPr algn="ctr" defTabSz="1018306">
                  <a:defRPr/>
                </a:pPr>
                <a:r>
                  <a:rPr lang="ko-KR" altLang="en-US" sz="1300" dirty="0">
                    <a:solidFill>
                      <a:prstClr val="white"/>
                    </a:solidFill>
                    <a:effectLst>
                      <a:glow rad="101600">
                        <a:srgbClr val="1F497D">
                          <a:alpha val="40000"/>
                        </a:srgb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종료</a:t>
                </a:r>
              </a:p>
            </p:txBody>
          </p:sp>
          <p:sp>
            <p:nvSpPr>
              <p:cNvPr id="215" name="모서리가 둥근 직사각형 214"/>
              <p:cNvSpPr/>
              <p:nvPr/>
            </p:nvSpPr>
            <p:spPr bwMode="auto">
              <a:xfrm rot="10800000" flipV="1">
                <a:off x="2383547" y="2480516"/>
                <a:ext cx="1350253" cy="302233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1830" tIns="50915" rIns="101830" bIns="50915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en-US" altLang="ko-KR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Inspection</a:t>
                </a:r>
                <a:endParaRPr lang="ko-KR" altLang="en-US" sz="1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219" name="그룹 452"/>
              <p:cNvGrpSpPr>
                <a:grpSpLocks/>
              </p:cNvGrpSpPr>
              <p:nvPr/>
            </p:nvGrpSpPr>
            <p:grpSpPr bwMode="auto">
              <a:xfrm>
                <a:off x="3857812" y="2480490"/>
                <a:ext cx="1246778" cy="1342754"/>
                <a:chOff x="3471425" y="2528889"/>
                <a:chExt cx="1173600" cy="1116135"/>
              </a:xfrm>
            </p:grpSpPr>
            <p:sp>
              <p:nvSpPr>
                <p:cNvPr id="409" name="직사각형 408"/>
                <p:cNvSpPr/>
                <p:nvPr/>
              </p:nvSpPr>
              <p:spPr bwMode="auto">
                <a:xfrm rot="10800000" flipV="1">
                  <a:off x="3476824" y="2657167"/>
                  <a:ext cx="1162800" cy="954398"/>
                </a:xfrm>
                <a:prstGeom prst="rect">
                  <a:avLst/>
                </a:prstGeom>
                <a:gradFill>
                  <a:gsLst>
                    <a:gs pos="40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n w="6350" cap="flat" cmpd="sng" algn="ctr"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50000">
                        <a:schemeClr val="bg1">
                          <a:lumMod val="75000"/>
                        </a:schemeClr>
                      </a:gs>
                      <a:gs pos="100000">
                        <a:srgbClr val="646464">
                          <a:alpha val="0"/>
                        </a:srgbClr>
                      </a:gs>
                    </a:gsLst>
                    <a:lin ang="5400000" scaled="0"/>
                  </a:gra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1018306" latinLnBrk="0">
                    <a:defRPr/>
                  </a:pPr>
                  <a:endParaRPr lang="ko-KR" altLang="en-US" sz="2000" kern="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" lastClr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10" name="양쪽 모서리가 둥근 사각형 409"/>
                <p:cNvSpPr/>
                <p:nvPr/>
              </p:nvSpPr>
              <p:spPr bwMode="auto">
                <a:xfrm rot="10800000" flipV="1">
                  <a:off x="3471425" y="2528889"/>
                  <a:ext cx="1173600" cy="251126"/>
                </a:xfrm>
                <a:prstGeom prst="round2SameRect">
                  <a:avLst>
                    <a:gd name="adj1" fmla="val 30362"/>
                    <a:gd name="adj2" fmla="val 0"/>
                  </a:avLst>
                </a:prstGeom>
                <a:gradFill>
                  <a:gsLst>
                    <a:gs pos="0">
                      <a:schemeClr val="bg1"/>
                    </a:gs>
                    <a:gs pos="17000">
                      <a:schemeClr val="bg1"/>
                    </a:gs>
                    <a:gs pos="83000">
                      <a:srgbClr val="ECECEC"/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635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innerShdw blurRad="50800">
                    <a:prstClr val="black">
                      <a:alpha val="6000"/>
                    </a:prstClr>
                  </a:inn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100" kern="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검수</a:t>
                  </a:r>
                </a:p>
              </p:txBody>
            </p:sp>
            <p:sp>
              <p:nvSpPr>
                <p:cNvPr id="411" name="Rectangle 14"/>
                <p:cNvSpPr>
                  <a:spLocks noChangeArrowheads="1"/>
                </p:cNvSpPr>
                <p:nvPr/>
              </p:nvSpPr>
              <p:spPr bwMode="auto">
                <a:xfrm>
                  <a:off x="3549432" y="2855052"/>
                  <a:ext cx="1086199" cy="789972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headEnd/>
                  <a:tailEnd/>
                </a:ln>
                <a:effectLst/>
              </p:spPr>
              <p:txBody>
                <a:bodyPr lIns="0" tIns="0" rIns="0" bIns="0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marL="99009" lvl="1" indent="-99009" defTabSz="1481613" eaLnBrk="0" latinLnBrk="0" hangingPunct="0">
                    <a:spcAft>
                      <a:spcPts val="100"/>
                    </a:spcAft>
                    <a:buClr>
                      <a:prstClr val="black">
                        <a:lumMod val="75000"/>
                        <a:lumOff val="25000"/>
                      </a:prstClr>
                    </a:buClr>
                    <a:buFont typeface="Arial" pitchFamily="34" charset="0"/>
                    <a:buChar char="•"/>
                  </a:pPr>
                  <a:r>
                    <a:rPr lang="ko-KR" altLang="en-US" sz="900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절차 준수성 및 결과물의 적합성 제고</a:t>
                  </a:r>
                </a:p>
                <a:p>
                  <a:pPr marL="99009" lvl="1" indent="-99009" defTabSz="1481613" eaLnBrk="0" latinLnBrk="0" hangingPunct="0">
                    <a:spcAft>
                      <a:spcPts val="100"/>
                    </a:spcAft>
                    <a:buClr>
                      <a:prstClr val="black">
                        <a:lumMod val="75000"/>
                        <a:lumOff val="25000"/>
                      </a:prstClr>
                    </a:buClr>
                    <a:buFont typeface="Arial" pitchFamily="34" charset="0"/>
                    <a:buChar char="•"/>
                  </a:pPr>
                  <a:r>
                    <a:rPr lang="ko-KR" altLang="en-US" sz="900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부적합 시 시정조치로 프로젝트의 성공적 이행</a:t>
                  </a:r>
                </a:p>
              </p:txBody>
            </p:sp>
          </p:grpSp>
          <p:sp>
            <p:nvSpPr>
              <p:cNvPr id="223" name="모서리가 둥근 직사각형 222"/>
              <p:cNvSpPr/>
              <p:nvPr/>
            </p:nvSpPr>
            <p:spPr bwMode="auto">
              <a:xfrm rot="10800000" flipV="1">
                <a:off x="2383547" y="2827397"/>
                <a:ext cx="1350253" cy="302233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1830" tIns="50915" rIns="101830" bIns="50915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단계말 품질검토</a:t>
                </a:r>
              </a:p>
            </p:txBody>
          </p:sp>
          <p:sp>
            <p:nvSpPr>
              <p:cNvPr id="227" name="모서리가 둥근 직사각형 226"/>
              <p:cNvSpPr/>
              <p:nvPr/>
            </p:nvSpPr>
            <p:spPr bwMode="auto">
              <a:xfrm rot="10800000" flipV="1">
                <a:off x="2383547" y="3174282"/>
                <a:ext cx="1350253" cy="302233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1830" tIns="50915" rIns="101830" bIns="50915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프로세스 이행검토</a:t>
                </a:r>
              </a:p>
            </p:txBody>
          </p:sp>
          <p:sp>
            <p:nvSpPr>
              <p:cNvPr id="234" name="모서리가 둥근 직사각형 233"/>
              <p:cNvSpPr/>
              <p:nvPr/>
            </p:nvSpPr>
            <p:spPr bwMode="auto">
              <a:xfrm rot="10800000" flipV="1">
                <a:off x="2383547" y="3521165"/>
                <a:ext cx="1350253" cy="302233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1830" tIns="50915" rIns="101830" bIns="50915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측정 및 분석</a:t>
                </a:r>
              </a:p>
            </p:txBody>
          </p:sp>
          <p:grpSp>
            <p:nvGrpSpPr>
              <p:cNvPr id="241" name="그룹 448"/>
              <p:cNvGrpSpPr>
                <a:grpSpLocks/>
              </p:cNvGrpSpPr>
              <p:nvPr/>
            </p:nvGrpSpPr>
            <p:grpSpPr bwMode="auto">
              <a:xfrm>
                <a:off x="971168" y="4031436"/>
                <a:ext cx="4101375" cy="485148"/>
                <a:chOff x="693663" y="3789619"/>
                <a:chExt cx="3981450" cy="454812"/>
              </a:xfrm>
            </p:grpSpPr>
            <p:sp>
              <p:nvSpPr>
                <p:cNvPr id="404" name="모서리가 둥근 직사각형 403"/>
                <p:cNvSpPr/>
                <p:nvPr/>
              </p:nvSpPr>
              <p:spPr bwMode="auto">
                <a:xfrm>
                  <a:off x="693663" y="3790222"/>
                  <a:ext cx="1301750" cy="203047"/>
                </a:xfrm>
                <a:prstGeom prst="roundRect">
                  <a:avLst/>
                </a:prstGeom>
                <a:solidFill>
                  <a:srgbClr val="DFDFD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33" tIns="45716" rIns="91433" bIns="45716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1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착수지원</a:t>
                  </a:r>
                </a:p>
              </p:txBody>
            </p:sp>
            <p:sp>
              <p:nvSpPr>
                <p:cNvPr id="405" name="모서리가 둥근 직사각형 404"/>
                <p:cNvSpPr/>
                <p:nvPr/>
              </p:nvSpPr>
              <p:spPr bwMode="auto">
                <a:xfrm>
                  <a:off x="1238293" y="4041384"/>
                  <a:ext cx="757120" cy="203047"/>
                </a:xfrm>
                <a:prstGeom prst="roundRect">
                  <a:avLst/>
                </a:prstGeom>
                <a:solidFill>
                  <a:srgbClr val="DFDFD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33" tIns="45716" rIns="91433" bIns="45716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1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규모산정</a:t>
                  </a:r>
                </a:p>
              </p:txBody>
            </p:sp>
            <p:sp>
              <p:nvSpPr>
                <p:cNvPr id="406" name="모서리가 둥근 직사각형 405"/>
                <p:cNvSpPr/>
                <p:nvPr/>
              </p:nvSpPr>
              <p:spPr bwMode="auto">
                <a:xfrm>
                  <a:off x="2045821" y="4041384"/>
                  <a:ext cx="2629292" cy="203047"/>
                </a:xfrm>
                <a:prstGeom prst="roundRect">
                  <a:avLst/>
                </a:prstGeom>
                <a:solidFill>
                  <a:srgbClr val="DFDFD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33" tIns="45716" rIns="91433" bIns="45716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1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리스크 진단</a:t>
                  </a:r>
                </a:p>
              </p:txBody>
            </p:sp>
            <p:sp>
              <p:nvSpPr>
                <p:cNvPr id="407" name="모서리가 둥근 직사각형 406"/>
                <p:cNvSpPr/>
                <p:nvPr/>
              </p:nvSpPr>
              <p:spPr bwMode="auto">
                <a:xfrm>
                  <a:off x="3988755" y="3789620"/>
                  <a:ext cx="686358" cy="203047"/>
                </a:xfrm>
                <a:prstGeom prst="roundRect">
                  <a:avLst/>
                </a:prstGeom>
                <a:solidFill>
                  <a:srgbClr val="DFDFD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45716" rIns="0" bIns="45716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1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이행 평가</a:t>
                  </a:r>
                </a:p>
              </p:txBody>
            </p:sp>
            <p:sp>
              <p:nvSpPr>
                <p:cNvPr id="408" name="모서리가 둥근 직사각형 407"/>
                <p:cNvSpPr/>
                <p:nvPr/>
              </p:nvSpPr>
              <p:spPr bwMode="auto">
                <a:xfrm>
                  <a:off x="2791993" y="3789619"/>
                  <a:ext cx="686358" cy="203047"/>
                </a:xfrm>
                <a:prstGeom prst="roundRect">
                  <a:avLst/>
                </a:prstGeom>
                <a:solidFill>
                  <a:srgbClr val="DFDFD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45716" rIns="0" bIns="45716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100" spc="-111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테스트 지원</a:t>
                  </a:r>
                </a:p>
              </p:txBody>
            </p:sp>
          </p:grpSp>
          <p:grpSp>
            <p:nvGrpSpPr>
              <p:cNvPr id="245" name="그룹 451"/>
              <p:cNvGrpSpPr>
                <a:grpSpLocks/>
              </p:cNvGrpSpPr>
              <p:nvPr/>
            </p:nvGrpSpPr>
            <p:grpSpPr bwMode="auto">
              <a:xfrm>
                <a:off x="961046" y="2480490"/>
                <a:ext cx="1305827" cy="1342754"/>
                <a:chOff x="702724" y="2528888"/>
                <a:chExt cx="1305580" cy="1116136"/>
              </a:xfrm>
            </p:grpSpPr>
            <p:sp>
              <p:nvSpPr>
                <p:cNvPr id="401" name="직사각형 400"/>
                <p:cNvSpPr/>
                <p:nvPr/>
              </p:nvSpPr>
              <p:spPr bwMode="auto">
                <a:xfrm rot="10800000" flipV="1">
                  <a:off x="704527" y="2657167"/>
                  <a:ext cx="1297557" cy="954398"/>
                </a:xfrm>
                <a:prstGeom prst="rect">
                  <a:avLst/>
                </a:prstGeom>
                <a:gradFill>
                  <a:gsLst>
                    <a:gs pos="40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n w="6350" cap="flat" cmpd="sng" algn="ctr"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50000">
                        <a:schemeClr val="bg1">
                          <a:lumMod val="75000"/>
                        </a:schemeClr>
                      </a:gs>
                      <a:gs pos="100000">
                        <a:srgbClr val="646464">
                          <a:alpha val="0"/>
                        </a:srgbClr>
                      </a:gs>
                    </a:gsLst>
                    <a:lin ang="5400000" scaled="0"/>
                  </a:gra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1018306" latinLnBrk="0">
                    <a:defRPr/>
                  </a:pPr>
                  <a:endParaRPr lang="ko-KR" altLang="en-US" sz="2000" kern="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" lastClr="FFFFFF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402" name="Rectangle 14"/>
                <p:cNvSpPr>
                  <a:spLocks noChangeArrowheads="1"/>
                </p:cNvSpPr>
                <p:nvPr/>
              </p:nvSpPr>
              <p:spPr bwMode="auto">
                <a:xfrm>
                  <a:off x="781473" y="2855052"/>
                  <a:ext cx="1125632" cy="789972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headEnd/>
                  <a:tailEnd/>
                </a:ln>
                <a:effectLst/>
              </p:spPr>
              <p:txBody>
                <a:bodyPr lIns="0" tIns="0" rIns="0" bIns="0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marL="99009" lvl="1" indent="-99009" defTabSz="1481613" eaLnBrk="0" latinLnBrk="0" hangingPunct="0">
                    <a:spcAft>
                      <a:spcPts val="100"/>
                    </a:spcAft>
                    <a:buClr>
                      <a:prstClr val="black">
                        <a:lumMod val="75000"/>
                        <a:lumOff val="25000"/>
                      </a:prstClr>
                    </a:buClr>
                    <a:buFont typeface="Arial" pitchFamily="34" charset="0"/>
                    <a:buChar char="•"/>
                    <a:defRPr/>
                  </a:pPr>
                  <a:r>
                    <a:rPr lang="ko-KR" altLang="en-US" sz="900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품질목표를 설정하고 표준 및 절차를 수립</a:t>
                  </a:r>
                  <a:endParaRPr lang="en-US" altLang="ko-KR" sz="9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  <a:p>
                  <a:pPr marL="99009" lvl="1" indent="-99009" defTabSz="1481613" eaLnBrk="0" latinLnBrk="0" hangingPunct="0">
                    <a:spcAft>
                      <a:spcPts val="100"/>
                    </a:spcAft>
                    <a:buClr>
                      <a:prstClr val="black">
                        <a:lumMod val="75000"/>
                        <a:lumOff val="25000"/>
                      </a:prstClr>
                    </a:buClr>
                    <a:buFont typeface="Arial" pitchFamily="34" charset="0"/>
                    <a:buChar char="•"/>
                    <a:defRPr/>
                  </a:pPr>
                  <a:r>
                    <a:rPr lang="ko-KR" altLang="en-US" sz="900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품질요구사항 도출 및 지표 선정</a:t>
                  </a:r>
                  <a:endParaRPr lang="en-US" altLang="ko-KR" sz="9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 pitchFamily="2" charset="2"/>
                  </a:endParaRPr>
                </a:p>
                <a:p>
                  <a:pPr marL="99009" lvl="1" indent="-99009" defTabSz="1481613" eaLnBrk="0" latinLnBrk="0" hangingPunct="0">
                    <a:spcAft>
                      <a:spcPts val="100"/>
                    </a:spcAft>
                    <a:buClr>
                      <a:prstClr val="black">
                        <a:lumMod val="75000"/>
                        <a:lumOff val="25000"/>
                      </a:prstClr>
                    </a:buClr>
                    <a:buFont typeface="Arial" pitchFamily="34" charset="0"/>
                    <a:buChar char="•"/>
                    <a:defRPr/>
                  </a:pPr>
                  <a:r>
                    <a:rPr lang="ko-KR" altLang="en-US" sz="900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sym typeface="Monotype Sorts" pitchFamily="2" charset="2"/>
                    </a:rPr>
                    <a:t>품질 조직 및 역할 정의</a:t>
                  </a:r>
                </a:p>
              </p:txBody>
            </p:sp>
            <p:sp>
              <p:nvSpPr>
                <p:cNvPr id="403" name="양쪽 모서리가 둥근 사각형 402"/>
                <p:cNvSpPr/>
                <p:nvPr/>
              </p:nvSpPr>
              <p:spPr bwMode="auto">
                <a:xfrm rot="10800000" flipV="1">
                  <a:off x="702724" y="2528888"/>
                  <a:ext cx="1305580" cy="251274"/>
                </a:xfrm>
                <a:prstGeom prst="round2SameRect">
                  <a:avLst>
                    <a:gd name="adj1" fmla="val 30362"/>
                    <a:gd name="adj2" fmla="val 0"/>
                  </a:avLst>
                </a:prstGeom>
                <a:gradFill>
                  <a:gsLst>
                    <a:gs pos="0">
                      <a:schemeClr val="bg1"/>
                    </a:gs>
                    <a:gs pos="17000">
                      <a:schemeClr val="bg1"/>
                    </a:gs>
                    <a:gs pos="83000">
                      <a:srgbClr val="ECECEC"/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635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innerShdw blurRad="50800">
                    <a:prstClr val="black">
                      <a:alpha val="6000"/>
                    </a:prstClr>
                  </a:inn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100" kern="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품질보증계획수립</a:t>
                  </a:r>
                </a:p>
              </p:txBody>
            </p:sp>
          </p:grpSp>
          <p:grpSp>
            <p:nvGrpSpPr>
              <p:cNvPr id="248" name="그룹 247"/>
              <p:cNvGrpSpPr/>
              <p:nvPr/>
            </p:nvGrpSpPr>
            <p:grpSpPr>
              <a:xfrm>
                <a:off x="414338" y="4710553"/>
                <a:ext cx="4875406" cy="489373"/>
                <a:chOff x="414338" y="1366838"/>
                <a:chExt cx="4875406" cy="489373"/>
              </a:xfrm>
            </p:grpSpPr>
            <p:sp>
              <p:nvSpPr>
                <p:cNvPr id="397" name="직사각형 396"/>
                <p:cNvSpPr/>
                <p:nvPr/>
              </p:nvSpPr>
              <p:spPr bwMode="auto">
                <a:xfrm>
                  <a:off x="414338" y="1366838"/>
                  <a:ext cx="4875406" cy="489373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72A6E0"/>
                    </a:gs>
                    <a:gs pos="98000">
                      <a:srgbClr val="2C79CE"/>
                    </a:gs>
                    <a:gs pos="100000">
                      <a:srgbClr val="2D417B"/>
                    </a:gs>
                  </a:gsLst>
                  <a:lin ang="5400000" scaled="1"/>
                  <a:tileRect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1018051">
                    <a:defRPr/>
                  </a:pPr>
                  <a:endParaRPr lang="ko-KR" altLang="en-US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98" name="사다리꼴 397"/>
                <p:cNvSpPr/>
                <p:nvPr/>
              </p:nvSpPr>
              <p:spPr bwMode="auto">
                <a:xfrm flipV="1">
                  <a:off x="422882" y="1374338"/>
                  <a:ext cx="4856610" cy="30000"/>
                </a:xfrm>
                <a:prstGeom prst="trapezoid">
                  <a:avLst/>
                </a:prstGeom>
                <a:gradFill flip="none" rotWithShape="1">
                  <a:gsLst>
                    <a:gs pos="0">
                      <a:schemeClr val="bg1">
                        <a:alpha val="70000"/>
                      </a:schemeClr>
                    </a:gs>
                    <a:gs pos="76000">
                      <a:schemeClr val="bg1">
                        <a:alpha val="29000"/>
                      </a:schemeClr>
                    </a:gs>
                    <a:gs pos="9200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kumimoji="0" lang="ko-KR" altLang="en-US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99" name="TextBox 398"/>
                <p:cNvSpPr txBox="1"/>
                <p:nvPr/>
              </p:nvSpPr>
              <p:spPr bwMode="auto">
                <a:xfrm>
                  <a:off x="1862029" y="1403774"/>
                  <a:ext cx="1980029" cy="415498"/>
                </a:xfrm>
                <a:prstGeom prst="rect">
                  <a:avLst/>
                </a:prstGeom>
                <a:noFill/>
                <a:effectLst/>
              </p:spPr>
              <p:txBody>
                <a:bodyPr wrap="none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algn="ctr" defTabSz="1018386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80000"/>
                    <a:defRPr/>
                  </a:pPr>
                  <a:r>
                    <a:rPr lang="ko-KR" altLang="en-US" dirty="0">
                      <a:solidFill>
                        <a:schemeClr val="bg1"/>
                      </a:solidFill>
                      <a:effectLst>
                        <a:glow rad="63500">
                          <a:schemeClr val="tx2">
                            <a:lumMod val="60000"/>
                            <a:lumOff val="40000"/>
                          </a:schemeClr>
                        </a:glow>
                      </a:effectLst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내부 품질 활동</a:t>
                  </a:r>
                </a:p>
              </p:txBody>
            </p:sp>
            <p:pic>
              <p:nvPicPr>
                <p:cNvPr id="40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50000"/>
                <a:stretch/>
              </p:blipFill>
              <p:spPr bwMode="auto">
                <a:xfrm>
                  <a:off x="428327" y="1366838"/>
                  <a:ext cx="793732" cy="3476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77" name="Freeform 69"/>
              <p:cNvSpPr>
                <a:spLocks/>
              </p:cNvSpPr>
              <p:nvPr/>
            </p:nvSpPr>
            <p:spPr bwMode="auto">
              <a:xfrm>
                <a:off x="4960851" y="6456464"/>
                <a:ext cx="167526" cy="489673"/>
              </a:xfrm>
              <a:custGeom>
                <a:avLst/>
                <a:gdLst>
                  <a:gd name="T0" fmla="*/ 0 w 181"/>
                  <a:gd name="T1" fmla="*/ 2147483647 h 590"/>
                  <a:gd name="T2" fmla="*/ 2147483647 w 181"/>
                  <a:gd name="T3" fmla="*/ 2147483647 h 590"/>
                  <a:gd name="T4" fmla="*/ 2147483647 w 181"/>
                  <a:gd name="T5" fmla="*/ 0 h 590"/>
                  <a:gd name="T6" fmla="*/ 0 w 181"/>
                  <a:gd name="T7" fmla="*/ 0 h 59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590"/>
                  <a:gd name="T14" fmla="*/ 181 w 181"/>
                  <a:gd name="T15" fmla="*/ 590 h 59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590">
                    <a:moveTo>
                      <a:pt x="0" y="590"/>
                    </a:moveTo>
                    <a:lnTo>
                      <a:pt x="181" y="590"/>
                    </a:lnTo>
                    <a:lnTo>
                      <a:pt x="18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 lIns="101837" tIns="50920" rIns="101837" bIns="50920"/>
              <a:lstStyle/>
              <a:p>
                <a:pPr algn="ctr" defTabSz="1018306" latinLnBrk="0">
                  <a:defRPr/>
                </a:pPr>
                <a:endParaRPr lang="ko-KR" altLang="en-US" sz="20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278" name="그룹 483"/>
              <p:cNvGrpSpPr>
                <a:grpSpLocks/>
              </p:cNvGrpSpPr>
              <p:nvPr/>
            </p:nvGrpSpPr>
            <p:grpSpPr bwMode="auto">
              <a:xfrm>
                <a:off x="3005146" y="5340298"/>
                <a:ext cx="2161472" cy="1674252"/>
                <a:chOff x="1254923" y="5463615"/>
                <a:chExt cx="4151467" cy="1476309"/>
              </a:xfrm>
            </p:grpSpPr>
            <p:sp>
              <p:nvSpPr>
                <p:cNvPr id="391" name="모서리가 둥근 직사각형 390"/>
                <p:cNvSpPr/>
                <p:nvPr/>
              </p:nvSpPr>
              <p:spPr>
                <a:xfrm>
                  <a:off x="1254923" y="5471049"/>
                  <a:ext cx="4151467" cy="1468875"/>
                </a:xfrm>
                <a:prstGeom prst="roundRect">
                  <a:avLst>
                    <a:gd name="adj" fmla="val 1581"/>
                  </a:avLst>
                </a:prstGeom>
                <a:solidFill>
                  <a:srgbClr val="A0C3EA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r="10800000" algn="r" rotWithShape="0">
                    <a:schemeClr val="tx1">
                      <a:lumMod val="85000"/>
                      <a:lumOff val="15000"/>
                      <a:alpha val="2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736975" lvl="1" defTabSz="1473945"/>
                  <a:endParaRPr lang="ko-KR" altLang="en-US" sz="29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92" name="양쪽 모서리가 둥근 사각형 391"/>
                <p:cNvSpPr/>
                <p:nvPr/>
              </p:nvSpPr>
              <p:spPr>
                <a:xfrm>
                  <a:off x="1255296" y="5463615"/>
                  <a:ext cx="4150518" cy="254810"/>
                </a:xfrm>
                <a:prstGeom prst="round2SameRect">
                  <a:avLst/>
                </a:prstGeom>
                <a:solidFill>
                  <a:srgbClr val="4371BB"/>
                </a:solidFill>
                <a:ln w="12700">
                  <a:solidFill>
                    <a:schemeClr val="accent1">
                      <a:lumMod val="75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500" spc="-5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동료검토</a:t>
                  </a:r>
                  <a:r>
                    <a:rPr lang="en-US" altLang="ko-KR" sz="1500" spc="-5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(Inspection) </a:t>
                  </a:r>
                  <a:r>
                    <a:rPr lang="ko-KR" altLang="en-US" sz="1500" spc="-5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절차</a:t>
                  </a:r>
                </a:p>
              </p:txBody>
            </p:sp>
          </p:grpSp>
          <p:grpSp>
            <p:nvGrpSpPr>
              <p:cNvPr id="279" name="그룹 278"/>
              <p:cNvGrpSpPr/>
              <p:nvPr/>
            </p:nvGrpSpPr>
            <p:grpSpPr>
              <a:xfrm>
                <a:off x="3077296" y="5705477"/>
                <a:ext cx="2017172" cy="1257516"/>
                <a:chOff x="3077296" y="5806422"/>
                <a:chExt cx="2017172" cy="1156569"/>
              </a:xfrm>
            </p:grpSpPr>
            <p:sp>
              <p:nvSpPr>
                <p:cNvPr id="385" name="AutoShape 823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077296" y="5806422"/>
                  <a:ext cx="2017172" cy="204125"/>
                </a:xfrm>
                <a:prstGeom prst="roundRect">
                  <a:avLst>
                    <a:gd name="adj" fmla="val 1059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2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대상 및 일정 수립</a:t>
                  </a:r>
                </a:p>
              </p:txBody>
            </p:sp>
            <p:sp>
              <p:nvSpPr>
                <p:cNvPr id="387" name="AutoShape 823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077296" y="6044533"/>
                  <a:ext cx="2017172" cy="204125"/>
                </a:xfrm>
                <a:prstGeom prst="roundRect">
                  <a:avLst>
                    <a:gd name="adj" fmla="val 1059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2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검토자에게 산출물 설명</a:t>
                  </a:r>
                </a:p>
              </p:txBody>
            </p:sp>
            <p:sp>
              <p:nvSpPr>
                <p:cNvPr id="388" name="AutoShape 823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077296" y="6282644"/>
                  <a:ext cx="2017172" cy="204125"/>
                </a:xfrm>
                <a:prstGeom prst="roundRect">
                  <a:avLst>
                    <a:gd name="adj" fmla="val 1059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2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개별검토 및 결함 기록</a:t>
                  </a:r>
                </a:p>
              </p:txBody>
            </p:sp>
            <p:sp>
              <p:nvSpPr>
                <p:cNvPr id="389" name="AutoShape 823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077296" y="6520755"/>
                  <a:ext cx="2017172" cy="204125"/>
                </a:xfrm>
                <a:prstGeom prst="roundRect">
                  <a:avLst>
                    <a:gd name="adj" fmla="val 1059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2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검토회의</a:t>
                  </a:r>
                </a:p>
              </p:txBody>
            </p:sp>
            <p:sp>
              <p:nvSpPr>
                <p:cNvPr id="390" name="AutoShape 823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077296" y="6758866"/>
                  <a:ext cx="2017172" cy="204125"/>
                </a:xfrm>
                <a:prstGeom prst="roundRect">
                  <a:avLst>
                    <a:gd name="adj" fmla="val 1059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r>
                    <a:rPr lang="ko-KR" altLang="en-US" sz="12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결함제거 및 작업결과 확인</a:t>
                  </a:r>
                </a:p>
              </p:txBody>
            </p:sp>
          </p:grpSp>
          <p:grpSp>
            <p:nvGrpSpPr>
              <p:cNvPr id="281" name="그룹 280"/>
              <p:cNvGrpSpPr/>
              <p:nvPr/>
            </p:nvGrpSpPr>
            <p:grpSpPr>
              <a:xfrm>
                <a:off x="5717791" y="1993323"/>
                <a:ext cx="4658109" cy="5063619"/>
                <a:chOff x="5717791" y="2051463"/>
                <a:chExt cx="4658109" cy="4955258"/>
              </a:xfrm>
            </p:grpSpPr>
            <p:sp>
              <p:nvSpPr>
                <p:cNvPr id="283" name="AutoShape 2"/>
                <p:cNvSpPr>
                  <a:spLocks noChangeArrowheads="1"/>
                </p:cNvSpPr>
                <p:nvPr/>
              </p:nvSpPr>
              <p:spPr bwMode="auto">
                <a:xfrm rot="5400000">
                  <a:off x="4135342" y="4406510"/>
                  <a:ext cx="4905861" cy="294561"/>
                </a:xfrm>
                <a:custGeom>
                  <a:avLst/>
                  <a:gdLst>
                    <a:gd name="G0" fmla="+- 2142 0 0"/>
                    <a:gd name="G1" fmla="+- 21600 0 2142"/>
                    <a:gd name="G2" fmla="*/ 2142 1 2"/>
                    <a:gd name="G3" fmla="+- 21600 0 G2"/>
                    <a:gd name="G4" fmla="+/ 2142 21600 2"/>
                    <a:gd name="G5" fmla="+/ G1 0 2"/>
                    <a:gd name="G6" fmla="*/ 21600 21600 2142"/>
                    <a:gd name="G7" fmla="*/ G6 1 2"/>
                    <a:gd name="G8" fmla="+- 21600 0 G7"/>
                    <a:gd name="G9" fmla="*/ 21600 1 2"/>
                    <a:gd name="G10" fmla="+- 2142 0 G9"/>
                    <a:gd name="G11" fmla="?: G10 G8 0"/>
                    <a:gd name="G12" fmla="?: G10 G7 21600"/>
                    <a:gd name="T0" fmla="*/ 20529 w 21600"/>
                    <a:gd name="T1" fmla="*/ 10800 h 21600"/>
                    <a:gd name="T2" fmla="*/ 10800 w 21600"/>
                    <a:gd name="T3" fmla="*/ 21600 h 21600"/>
                    <a:gd name="T4" fmla="*/ 1071 w 21600"/>
                    <a:gd name="T5" fmla="*/ 10800 h 21600"/>
                    <a:gd name="T6" fmla="*/ 10800 w 21600"/>
                    <a:gd name="T7" fmla="*/ 0 h 21600"/>
                    <a:gd name="T8" fmla="*/ 2871 w 21600"/>
                    <a:gd name="T9" fmla="*/ 2871 h 21600"/>
                    <a:gd name="T10" fmla="*/ 18729 w 21600"/>
                    <a:gd name="T11" fmla="*/ 1872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2142" y="21600"/>
                      </a:lnTo>
                      <a:lnTo>
                        <a:pt x="19458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>
                        <a:gamma/>
                        <a:shade val="76078"/>
                        <a:invGamma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latinLnBrk="0">
                    <a:defRPr/>
                  </a:pPr>
                  <a:endParaRPr lang="ko-KR" altLang="en-US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84" name="양쪽 모서리가 둥근 사각형 283"/>
                <p:cNvSpPr/>
                <p:nvPr/>
              </p:nvSpPr>
              <p:spPr>
                <a:xfrm>
                  <a:off x="6776844" y="6358253"/>
                  <a:ext cx="3598436" cy="648466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300" kern="0" dirty="0">
                    <a:solidFill>
                      <a:srgbClr val="292929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85" name="모서리가 둥근 직사각형 284"/>
                <p:cNvSpPr/>
                <p:nvPr/>
              </p:nvSpPr>
              <p:spPr>
                <a:xfrm>
                  <a:off x="6824786" y="6634161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86" name="모서리가 둥근 직사각형 285"/>
                <p:cNvSpPr/>
                <p:nvPr/>
              </p:nvSpPr>
              <p:spPr>
                <a:xfrm>
                  <a:off x="8003504" y="6634161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87" name="모서리가 둥근 직사각형 286"/>
                <p:cNvSpPr/>
                <p:nvPr/>
              </p:nvSpPr>
              <p:spPr>
                <a:xfrm>
                  <a:off x="9182223" y="6634161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88" name="양쪽 모서리가 둥근 사각형 287"/>
                <p:cNvSpPr/>
                <p:nvPr/>
              </p:nvSpPr>
              <p:spPr>
                <a:xfrm>
                  <a:off x="6776844" y="5627791"/>
                  <a:ext cx="3598436" cy="649820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300" kern="0" dirty="0">
                    <a:solidFill>
                      <a:srgbClr val="292929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89" name="모서리가 둥근 직사각형 288"/>
                <p:cNvSpPr/>
                <p:nvPr/>
              </p:nvSpPr>
              <p:spPr>
                <a:xfrm>
                  <a:off x="6824786" y="5910261"/>
                  <a:ext cx="849628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0" name="모서리가 둥근 직사각형 289"/>
                <p:cNvSpPr/>
                <p:nvPr/>
              </p:nvSpPr>
              <p:spPr>
                <a:xfrm>
                  <a:off x="7709094" y="5909419"/>
                  <a:ext cx="849628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1" name="모서리가 둥근 직사각형 290"/>
                <p:cNvSpPr/>
                <p:nvPr/>
              </p:nvSpPr>
              <p:spPr>
                <a:xfrm>
                  <a:off x="8593403" y="5910261"/>
                  <a:ext cx="849628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2" name="모서리가 둥근 직사각형 291"/>
                <p:cNvSpPr/>
                <p:nvPr/>
              </p:nvSpPr>
              <p:spPr>
                <a:xfrm>
                  <a:off x="9477711" y="5910261"/>
                  <a:ext cx="849628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3" name="양쪽 모서리가 둥근 사각형 292"/>
                <p:cNvSpPr/>
                <p:nvPr/>
              </p:nvSpPr>
              <p:spPr>
                <a:xfrm>
                  <a:off x="6776844" y="4899349"/>
                  <a:ext cx="3598436" cy="649152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300" kern="0" dirty="0">
                    <a:solidFill>
                      <a:srgbClr val="292929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4" name="모서리가 둥근 직사각형 293"/>
                <p:cNvSpPr/>
                <p:nvPr/>
              </p:nvSpPr>
              <p:spPr>
                <a:xfrm>
                  <a:off x="6824786" y="5176837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5" name="모서리가 둥근 직사각형 294"/>
                <p:cNvSpPr/>
                <p:nvPr/>
              </p:nvSpPr>
              <p:spPr>
                <a:xfrm>
                  <a:off x="8003504" y="5176837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7" name="모서리가 둥근 직사각형 296"/>
                <p:cNvSpPr/>
                <p:nvPr/>
              </p:nvSpPr>
              <p:spPr>
                <a:xfrm>
                  <a:off x="9182223" y="5176837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98" name="양쪽 모서리가 둥근 사각형 297"/>
                <p:cNvSpPr/>
                <p:nvPr/>
              </p:nvSpPr>
              <p:spPr>
                <a:xfrm>
                  <a:off x="6776844" y="4176713"/>
                  <a:ext cx="3598436" cy="644479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300" kern="0" dirty="0">
                    <a:solidFill>
                      <a:srgbClr val="292929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0" name="모서리가 둥근 직사각형 299"/>
                <p:cNvSpPr/>
                <p:nvPr/>
              </p:nvSpPr>
              <p:spPr>
                <a:xfrm>
                  <a:off x="6824786" y="4452937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2" name="모서리가 둥근 직사각형 301"/>
                <p:cNvSpPr/>
                <p:nvPr/>
              </p:nvSpPr>
              <p:spPr>
                <a:xfrm>
                  <a:off x="8003504" y="4452937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3" name="모서리가 둥근 직사각형 302"/>
                <p:cNvSpPr/>
                <p:nvPr/>
              </p:nvSpPr>
              <p:spPr>
                <a:xfrm>
                  <a:off x="9182223" y="4452937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4" name="양쪽 모서리가 둥근 사각형 303"/>
                <p:cNvSpPr/>
                <p:nvPr/>
              </p:nvSpPr>
              <p:spPr>
                <a:xfrm>
                  <a:off x="6776844" y="3505196"/>
                  <a:ext cx="3598436" cy="604890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300" kern="0" dirty="0">
                    <a:solidFill>
                      <a:srgbClr val="292929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5" name="모서리가 둥근 직사각형 304"/>
                <p:cNvSpPr/>
                <p:nvPr/>
              </p:nvSpPr>
              <p:spPr>
                <a:xfrm>
                  <a:off x="6824785" y="3819524"/>
                  <a:ext cx="675843" cy="26035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6" name="모서리가 둥근 직사각형 305"/>
                <p:cNvSpPr/>
                <p:nvPr/>
              </p:nvSpPr>
              <p:spPr>
                <a:xfrm>
                  <a:off x="7531462" y="3819524"/>
                  <a:ext cx="675843" cy="26035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7" name="모서리가 둥근 직사각형 306"/>
                <p:cNvSpPr/>
                <p:nvPr/>
              </p:nvSpPr>
              <p:spPr>
                <a:xfrm>
                  <a:off x="8238139" y="3819524"/>
                  <a:ext cx="675843" cy="26035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8" name="모서리가 둥근 직사각형 307"/>
                <p:cNvSpPr/>
                <p:nvPr/>
              </p:nvSpPr>
              <p:spPr>
                <a:xfrm>
                  <a:off x="8944817" y="3819524"/>
                  <a:ext cx="675843" cy="26035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09" name="모서리가 둥근 직사각형 308"/>
                <p:cNvSpPr/>
                <p:nvPr/>
              </p:nvSpPr>
              <p:spPr>
                <a:xfrm>
                  <a:off x="9651495" y="3819524"/>
                  <a:ext cx="675843" cy="26035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10" name="양쪽 모서리가 둥근 사각형 309"/>
                <p:cNvSpPr/>
                <p:nvPr/>
              </p:nvSpPr>
              <p:spPr>
                <a:xfrm>
                  <a:off x="6776844" y="2838449"/>
                  <a:ext cx="3598436" cy="589333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300" kern="0" dirty="0">
                    <a:solidFill>
                      <a:srgbClr val="292929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12" name="모서리가 둥근 직사각형 311"/>
                <p:cNvSpPr/>
                <p:nvPr/>
              </p:nvSpPr>
              <p:spPr>
                <a:xfrm>
                  <a:off x="6824786" y="3067049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13" name="모서리가 둥근 직사각형 312"/>
                <p:cNvSpPr/>
                <p:nvPr/>
              </p:nvSpPr>
              <p:spPr>
                <a:xfrm>
                  <a:off x="8003504" y="3067049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16" name="모서리가 둥근 직사각형 315"/>
                <p:cNvSpPr/>
                <p:nvPr/>
              </p:nvSpPr>
              <p:spPr>
                <a:xfrm>
                  <a:off x="9182223" y="3067049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17" name="양쪽 모서리가 둥근 사각형 316"/>
                <p:cNvSpPr/>
                <p:nvPr/>
              </p:nvSpPr>
              <p:spPr>
                <a:xfrm>
                  <a:off x="6776844" y="2105025"/>
                  <a:ext cx="3598436" cy="595450"/>
                </a:xfrm>
                <a:prstGeom prst="round2Same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481494" eaLnBrk="0" hangingPunct="0">
                    <a:lnSpc>
                      <a:spcPct val="110000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300" kern="0" dirty="0">
                    <a:solidFill>
                      <a:srgbClr val="292929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18" name="모서리가 둥근 직사각형 317"/>
                <p:cNvSpPr/>
                <p:nvPr/>
              </p:nvSpPr>
              <p:spPr>
                <a:xfrm>
                  <a:off x="6824786" y="2333624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19" name="모서리가 둥근 직사각형 318"/>
                <p:cNvSpPr/>
                <p:nvPr/>
              </p:nvSpPr>
              <p:spPr>
                <a:xfrm>
                  <a:off x="8003504" y="2333624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20" name="모서리가 둥근 직사각형 319"/>
                <p:cNvSpPr/>
                <p:nvPr/>
              </p:nvSpPr>
              <p:spPr>
                <a:xfrm>
                  <a:off x="9182223" y="2333624"/>
                  <a:ext cx="1145116" cy="332011"/>
                </a:xfrm>
                <a:prstGeom prst="roundRect">
                  <a:avLst>
                    <a:gd name="adj" fmla="val 5594"/>
                  </a:avLst>
                </a:prstGeom>
                <a:solidFill>
                  <a:srgbClr val="DCEA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1911" tIns="50955" rIns="101911" bIns="50955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endParaRPr lang="ko-KR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21" name="양쪽 모서리가 둥근 사각형 320"/>
                <p:cNvSpPr/>
                <p:nvPr/>
              </p:nvSpPr>
              <p:spPr>
                <a:xfrm>
                  <a:off x="6777032" y="2051463"/>
                  <a:ext cx="3598868" cy="244950"/>
                </a:xfrm>
                <a:prstGeom prst="round2SameRect">
                  <a:avLst>
                    <a:gd name="adj1" fmla="val 34810"/>
                    <a:gd name="adj2" fmla="val 0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 latinLnBrk="0">
                    <a:buClr>
                      <a:sysClr val="windowText" lastClr="000000"/>
                    </a:buClr>
                    <a:tabLst>
                      <a:tab pos="6290664" algn="l"/>
                    </a:tabLst>
                  </a:pP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추적</a:t>
                  </a:r>
                  <a:r>
                    <a:rPr lang="en-US" altLang="ko-KR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/</a:t>
                  </a: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변경 관리를 통한 범위 관리</a:t>
                  </a:r>
                </a:p>
              </p:txBody>
            </p:sp>
            <p:sp>
              <p:nvSpPr>
                <p:cNvPr id="322" name="양쪽 모서리가 둥근 사각형 321"/>
                <p:cNvSpPr/>
                <p:nvPr/>
              </p:nvSpPr>
              <p:spPr>
                <a:xfrm>
                  <a:off x="6777032" y="2778705"/>
                  <a:ext cx="3598868" cy="244950"/>
                </a:xfrm>
                <a:prstGeom prst="round2SameRect">
                  <a:avLst>
                    <a:gd name="adj1" fmla="val 34810"/>
                    <a:gd name="adj2" fmla="val 0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 latinLnBrk="0">
                    <a:buClr>
                      <a:sysClr val="windowText" lastClr="000000"/>
                    </a:buClr>
                    <a:tabLst>
                      <a:tab pos="6290664" algn="l"/>
                    </a:tabLst>
                  </a:pP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납기 준수를 위한 일정 관리</a:t>
                  </a:r>
                </a:p>
              </p:txBody>
            </p:sp>
            <p:sp>
              <p:nvSpPr>
                <p:cNvPr id="323" name="양쪽 모서리가 둥근 사각형 322"/>
                <p:cNvSpPr/>
                <p:nvPr/>
              </p:nvSpPr>
              <p:spPr>
                <a:xfrm>
                  <a:off x="6777032" y="4172136"/>
                  <a:ext cx="3598868" cy="244950"/>
                </a:xfrm>
                <a:prstGeom prst="round2SameRect">
                  <a:avLst>
                    <a:gd name="adj1" fmla="val 34810"/>
                    <a:gd name="adj2" fmla="val 0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 latinLnBrk="0">
                    <a:buClr>
                      <a:sysClr val="windowText" lastClr="000000"/>
                    </a:buClr>
                    <a:tabLst>
                      <a:tab pos="6290664" algn="l"/>
                    </a:tabLst>
                  </a:pP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프로젝트 성공을 위한 자원 관리</a:t>
                  </a:r>
                </a:p>
              </p:txBody>
            </p:sp>
            <p:sp>
              <p:nvSpPr>
                <p:cNvPr id="324" name="양쪽 모서리가 둥근 사각형 323"/>
                <p:cNvSpPr/>
                <p:nvPr/>
              </p:nvSpPr>
              <p:spPr>
                <a:xfrm>
                  <a:off x="6777032" y="4899348"/>
                  <a:ext cx="3598868" cy="244950"/>
                </a:xfrm>
                <a:prstGeom prst="round2SameRect">
                  <a:avLst>
                    <a:gd name="adj1" fmla="val 34810"/>
                    <a:gd name="adj2" fmla="val 0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 latinLnBrk="0">
                    <a:buClr>
                      <a:sysClr val="windowText" lastClr="000000"/>
                    </a:buClr>
                    <a:tabLst>
                      <a:tab pos="6290664" algn="l"/>
                    </a:tabLst>
                  </a:pP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고객</a:t>
                  </a:r>
                  <a:r>
                    <a:rPr lang="en-US" altLang="ko-KR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, </a:t>
                  </a: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프로젝트팀 의사소통 관리</a:t>
                  </a:r>
                </a:p>
              </p:txBody>
            </p:sp>
            <p:sp>
              <p:nvSpPr>
                <p:cNvPr id="325" name="양쪽 모서리가 둥근 사각형 324"/>
                <p:cNvSpPr/>
                <p:nvPr/>
              </p:nvSpPr>
              <p:spPr>
                <a:xfrm>
                  <a:off x="6777032" y="5627790"/>
                  <a:ext cx="3598868" cy="244950"/>
                </a:xfrm>
                <a:prstGeom prst="round2SameRect">
                  <a:avLst>
                    <a:gd name="adj1" fmla="val 34810"/>
                    <a:gd name="adj2" fmla="val 0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 latinLnBrk="0">
                    <a:buClr>
                      <a:sysClr val="windowText" lastClr="000000"/>
                    </a:buClr>
                    <a:tabLst>
                      <a:tab pos="6290664" algn="l"/>
                    </a:tabLst>
                  </a:pP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형상 무결성을 위한 형상 관리</a:t>
                  </a:r>
                  <a:r>
                    <a:rPr lang="en-US" altLang="ko-KR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/</a:t>
                  </a: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문서 관리</a:t>
                  </a:r>
                </a:p>
              </p:txBody>
            </p:sp>
            <p:sp>
              <p:nvSpPr>
                <p:cNvPr id="326" name="양쪽 모서리가 둥근 사각형 325"/>
                <p:cNvSpPr/>
                <p:nvPr/>
              </p:nvSpPr>
              <p:spPr>
                <a:xfrm>
                  <a:off x="6777032" y="6358253"/>
                  <a:ext cx="3598868" cy="244950"/>
                </a:xfrm>
                <a:prstGeom prst="round2SameRect">
                  <a:avLst>
                    <a:gd name="adj1" fmla="val 34810"/>
                    <a:gd name="adj2" fmla="val 0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 latinLnBrk="0">
                    <a:buClr>
                      <a:sysClr val="windowText" lastClr="000000"/>
                    </a:buClr>
                    <a:tabLst>
                      <a:tab pos="6290664" algn="l"/>
                    </a:tabLst>
                  </a:pP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정보 유출 방지를 위한 보안 관리</a:t>
                  </a:r>
                </a:p>
              </p:txBody>
            </p:sp>
            <p:grpSp>
              <p:nvGrpSpPr>
                <p:cNvPr id="327" name="그룹 145"/>
                <p:cNvGrpSpPr>
                  <a:grpSpLocks/>
                </p:cNvGrpSpPr>
                <p:nvPr/>
              </p:nvGrpSpPr>
              <p:grpSpPr bwMode="auto">
                <a:xfrm>
                  <a:off x="7556332" y="3534000"/>
                  <a:ext cx="2799935" cy="250237"/>
                  <a:chOff x="6774027" y="3307399"/>
                  <a:chExt cx="2571190" cy="280979"/>
                </a:xfrm>
              </p:grpSpPr>
              <p:sp>
                <p:nvSpPr>
                  <p:cNvPr id="381" name="갈매기형 수장 380"/>
                  <p:cNvSpPr/>
                  <p:nvPr/>
                </p:nvSpPr>
                <p:spPr bwMode="auto">
                  <a:xfrm>
                    <a:off x="6774027" y="3307399"/>
                    <a:ext cx="556413" cy="280979"/>
                  </a:xfrm>
                  <a:prstGeom prst="chevron">
                    <a:avLst>
                      <a:gd name="adj" fmla="val 32222"/>
                    </a:avLst>
                  </a:prstGeom>
                  <a:gradFill flip="none" rotWithShape="1">
                    <a:gsLst>
                      <a:gs pos="6000">
                        <a:schemeClr val="bg1">
                          <a:lumMod val="85000"/>
                        </a:schemeClr>
                      </a:gs>
                      <a:gs pos="73000">
                        <a:srgbClr val="CBCBCB"/>
                      </a:gs>
                      <a:gs pos="7000">
                        <a:schemeClr val="bg1">
                          <a:lumMod val="6500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45716" rIns="0" bIns="45716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chemeClr val="tx1">
                          <a:lumMod val="75000"/>
                          <a:lumOff val="25000"/>
                        </a:schemeClr>
                      </a:contourClr>
                    </a:sp3d>
                  </a:bodyPr>
                  <a:lstStyle/>
                  <a:p>
                    <a:pPr algn="ctr" defTabSz="1018306">
                      <a:defRPr/>
                    </a:pPr>
                    <a:r>
                      <a:rPr lang="ko-KR" altLang="en-US" sz="800" dirty="0">
                        <a:solidFill>
                          <a:prstClr val="white"/>
                        </a:solidFill>
                        <a:effectLst>
                          <a:glow rad="101600">
                            <a:prstClr val="white">
                              <a:lumMod val="65000"/>
                              <a:alpha val="40000"/>
                            </a:prstClr>
                          </a:glo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위험식별</a:t>
                    </a:r>
                  </a:p>
                </p:txBody>
              </p:sp>
              <p:sp>
                <p:nvSpPr>
                  <p:cNvPr id="382" name="갈매기형 수장 381"/>
                  <p:cNvSpPr/>
                  <p:nvPr/>
                </p:nvSpPr>
                <p:spPr bwMode="auto">
                  <a:xfrm>
                    <a:off x="7284721" y="3307399"/>
                    <a:ext cx="541019" cy="280979"/>
                  </a:xfrm>
                  <a:prstGeom prst="chevron">
                    <a:avLst>
                      <a:gd name="adj" fmla="val 32222"/>
                    </a:avLst>
                  </a:prstGeom>
                  <a:gradFill flip="none" rotWithShape="1">
                    <a:gsLst>
                      <a:gs pos="6000">
                        <a:schemeClr val="bg1">
                          <a:lumMod val="85000"/>
                        </a:schemeClr>
                      </a:gs>
                      <a:gs pos="73000">
                        <a:srgbClr val="CBCBCB"/>
                      </a:gs>
                      <a:gs pos="7000">
                        <a:schemeClr val="bg1">
                          <a:lumMod val="6500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45716" rIns="0" bIns="45716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chemeClr val="tx1">
                          <a:lumMod val="75000"/>
                          <a:lumOff val="25000"/>
                        </a:schemeClr>
                      </a:contourClr>
                    </a:sp3d>
                  </a:bodyPr>
                  <a:lstStyle/>
                  <a:p>
                    <a:pPr algn="ctr" defTabSz="1018306">
                      <a:defRPr/>
                    </a:pPr>
                    <a:r>
                      <a:rPr lang="ko-KR" altLang="en-US" sz="800" dirty="0">
                        <a:solidFill>
                          <a:prstClr val="white"/>
                        </a:solidFill>
                        <a:effectLst>
                          <a:glow rad="101600">
                            <a:prstClr val="white">
                              <a:lumMod val="65000"/>
                              <a:alpha val="40000"/>
                            </a:prstClr>
                          </a:glo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위험분석</a:t>
                    </a:r>
                  </a:p>
                </p:txBody>
              </p:sp>
              <p:sp>
                <p:nvSpPr>
                  <p:cNvPr id="383" name="갈매기형 수장 382"/>
                  <p:cNvSpPr/>
                  <p:nvPr/>
                </p:nvSpPr>
                <p:spPr bwMode="auto">
                  <a:xfrm>
                    <a:off x="7787640" y="3307399"/>
                    <a:ext cx="723901" cy="280979"/>
                  </a:xfrm>
                  <a:prstGeom prst="chevron">
                    <a:avLst>
                      <a:gd name="adj" fmla="val 32222"/>
                    </a:avLst>
                  </a:prstGeom>
                  <a:gradFill flip="none" rotWithShape="1">
                    <a:gsLst>
                      <a:gs pos="6000">
                        <a:schemeClr val="bg1">
                          <a:lumMod val="85000"/>
                        </a:schemeClr>
                      </a:gs>
                      <a:gs pos="73000">
                        <a:schemeClr val="bg1">
                          <a:lumMod val="75000"/>
                        </a:schemeClr>
                      </a:gs>
                      <a:gs pos="7000">
                        <a:schemeClr val="bg1">
                          <a:lumMod val="5000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45716" rIns="0" bIns="45716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chemeClr val="tx1">
                          <a:lumMod val="75000"/>
                          <a:lumOff val="25000"/>
                        </a:schemeClr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003"/>
                      </a:lnSpc>
                      <a:defRPr/>
                    </a:pPr>
                    <a:r>
                      <a:rPr lang="ko-KR" altLang="en-US" sz="800" dirty="0">
                        <a:solidFill>
                          <a:prstClr val="white"/>
                        </a:solidFill>
                        <a:effectLst>
                          <a:glow rad="101600">
                            <a:prstClr val="white">
                              <a:lumMod val="65000"/>
                              <a:alpha val="40000"/>
                            </a:prstClr>
                          </a:glo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대응계획 수립</a:t>
                    </a:r>
                  </a:p>
                </p:txBody>
              </p:sp>
              <p:sp>
                <p:nvSpPr>
                  <p:cNvPr id="384" name="갈매기형 수장 383"/>
                  <p:cNvSpPr/>
                  <p:nvPr/>
                </p:nvSpPr>
                <p:spPr bwMode="auto">
                  <a:xfrm>
                    <a:off x="8481060" y="3307399"/>
                    <a:ext cx="864157" cy="280979"/>
                  </a:xfrm>
                  <a:prstGeom prst="chevron">
                    <a:avLst>
                      <a:gd name="adj" fmla="val 32222"/>
                    </a:avLst>
                  </a:prstGeom>
                  <a:gradFill flip="none" rotWithShape="1">
                    <a:gsLst>
                      <a:gs pos="6000">
                        <a:schemeClr val="bg1">
                          <a:lumMod val="85000"/>
                        </a:schemeClr>
                      </a:gs>
                      <a:gs pos="73000">
                        <a:schemeClr val="bg1">
                          <a:lumMod val="65000"/>
                        </a:schemeClr>
                      </a:gs>
                      <a:gs pos="7000">
                        <a:srgbClr val="646464"/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45716" rIns="0" bIns="45716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chemeClr val="tx1">
                          <a:lumMod val="75000"/>
                          <a:lumOff val="25000"/>
                        </a:schemeClr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003"/>
                      </a:lnSpc>
                      <a:defRPr/>
                    </a:pPr>
                    <a:r>
                      <a:rPr lang="ko-KR" altLang="en-US" sz="800" dirty="0">
                        <a:solidFill>
                          <a:prstClr val="white"/>
                        </a:solidFill>
                        <a:effectLst>
                          <a:glow rad="101600">
                            <a:prstClr val="white">
                              <a:lumMod val="65000"/>
                              <a:alpha val="40000"/>
                            </a:prstClr>
                          </a:glo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모니터링 및 통제</a:t>
                    </a:r>
                  </a:p>
                </p:txBody>
              </p:sp>
            </p:grpSp>
            <p:sp>
              <p:nvSpPr>
                <p:cNvPr id="328" name="모서리가 둥근 직사각형 6"/>
                <p:cNvSpPr/>
                <p:nvPr/>
              </p:nvSpPr>
              <p:spPr bwMode="auto">
                <a:xfrm>
                  <a:off x="6777032" y="3505236"/>
                  <a:ext cx="715965" cy="285775"/>
                </a:xfrm>
                <a:prstGeom prst="round2SameRect">
                  <a:avLst/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 latinLnBrk="0">
                    <a:buClr>
                      <a:sysClr val="windowText" lastClr="000000"/>
                    </a:buClr>
                    <a:tabLst>
                      <a:tab pos="6290664" algn="l"/>
                    </a:tabLst>
                  </a:pPr>
                  <a:r>
                    <a:rPr lang="ko-KR" altLang="en-US" sz="12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관리절차</a:t>
                  </a:r>
                </a:p>
              </p:txBody>
            </p:sp>
            <p:sp>
              <p:nvSpPr>
                <p:cNvPr id="329" name="모서리가 둥근 직사각형 328"/>
                <p:cNvSpPr/>
                <p:nvPr/>
              </p:nvSpPr>
              <p:spPr bwMode="auto">
                <a:xfrm>
                  <a:off x="6902621" y="2417077"/>
                  <a:ext cx="948444" cy="162247"/>
                </a:xfrm>
                <a:prstGeom prst="roundRect">
                  <a:avLst>
                    <a:gd name="adj" fmla="val 1335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업무 범위 정의</a:t>
                  </a:r>
                </a:p>
              </p:txBody>
            </p:sp>
            <p:sp>
              <p:nvSpPr>
                <p:cNvPr id="330" name="모서리가 둥근 직사각형 329"/>
                <p:cNvSpPr/>
                <p:nvPr/>
              </p:nvSpPr>
              <p:spPr bwMode="auto">
                <a:xfrm>
                  <a:off x="7971956" y="2417079"/>
                  <a:ext cx="1209024" cy="162247"/>
                </a:xfrm>
                <a:prstGeom prst="roundRect">
                  <a:avLst>
                    <a:gd name="adj" fmla="val 1335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spc="-5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범위 변경</a:t>
                  </a:r>
                  <a:r>
                    <a:rPr lang="en-US" altLang="ko-KR" sz="1100" spc="-5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</a:t>
                  </a:r>
                  <a:r>
                    <a:rPr lang="ko-KR" altLang="en-US" sz="1100" spc="-5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통제 관리</a:t>
                  </a:r>
                </a:p>
              </p:txBody>
            </p:sp>
            <p:sp>
              <p:nvSpPr>
                <p:cNvPr id="331" name="모서리가 둥근 직사각형 330"/>
                <p:cNvSpPr/>
                <p:nvPr/>
              </p:nvSpPr>
              <p:spPr bwMode="auto">
                <a:xfrm>
                  <a:off x="9209343" y="2417077"/>
                  <a:ext cx="1090873" cy="162247"/>
                </a:xfrm>
                <a:prstGeom prst="roundRect">
                  <a:avLst>
                    <a:gd name="adj" fmla="val 1336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검증 및 추적관리</a:t>
                  </a:r>
                </a:p>
              </p:txBody>
            </p:sp>
            <p:sp>
              <p:nvSpPr>
                <p:cNvPr id="332" name="모서리가 둥근 직사각형 331"/>
                <p:cNvSpPr/>
                <p:nvPr/>
              </p:nvSpPr>
              <p:spPr bwMode="auto">
                <a:xfrm>
                  <a:off x="6921772" y="3073276"/>
                  <a:ext cx="910142" cy="318667"/>
                </a:xfrm>
                <a:prstGeom prst="roundRect">
                  <a:avLst>
                    <a:gd name="adj" fmla="val 10052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최적의</a:t>
                  </a:r>
                  <a:endParaRPr lang="en-US" altLang="ko-KR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일정계획 수립</a:t>
                  </a:r>
                </a:p>
              </p:txBody>
            </p:sp>
            <p:sp>
              <p:nvSpPr>
                <p:cNvPr id="333" name="모서리가 둥근 직사각형 332"/>
                <p:cNvSpPr/>
                <p:nvPr/>
              </p:nvSpPr>
              <p:spPr bwMode="auto">
                <a:xfrm>
                  <a:off x="8186022" y="3065995"/>
                  <a:ext cx="780891" cy="333232"/>
                </a:xfrm>
                <a:prstGeom prst="roundRect">
                  <a:avLst>
                    <a:gd name="adj" fmla="val 16667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진척 실시간</a:t>
                  </a:r>
                  <a:endParaRPr lang="en-US" altLang="ko-KR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모니터링</a:t>
                  </a:r>
                </a:p>
              </p:txBody>
            </p:sp>
            <p:sp>
              <p:nvSpPr>
                <p:cNvPr id="334" name="모서리가 둥근 직사각형 333"/>
                <p:cNvSpPr/>
                <p:nvPr/>
              </p:nvSpPr>
              <p:spPr bwMode="auto">
                <a:xfrm>
                  <a:off x="9220205" y="3065996"/>
                  <a:ext cx="1111771" cy="333232"/>
                </a:xfrm>
                <a:prstGeom prst="roundRect">
                  <a:avLst>
                    <a:gd name="adj" fmla="val 16667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일정지연 </a:t>
                  </a: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예측 및 예방활동</a:t>
                  </a:r>
                </a:p>
              </p:txBody>
            </p:sp>
            <p:sp>
              <p:nvSpPr>
                <p:cNvPr id="335" name="모서리가 둥근 직사각형 334"/>
                <p:cNvSpPr/>
                <p:nvPr/>
              </p:nvSpPr>
              <p:spPr bwMode="auto">
                <a:xfrm>
                  <a:off x="6917719" y="4452225"/>
                  <a:ext cx="918778" cy="333232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최적의</a:t>
                  </a:r>
                  <a:endParaRPr lang="en-US" altLang="ko-KR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일정계획 수립</a:t>
                  </a:r>
                </a:p>
              </p:txBody>
            </p:sp>
            <p:sp>
              <p:nvSpPr>
                <p:cNvPr id="336" name="모서리가 둥근 직사각형 335"/>
                <p:cNvSpPr/>
                <p:nvPr/>
              </p:nvSpPr>
              <p:spPr bwMode="auto">
                <a:xfrm>
                  <a:off x="8186817" y="4452225"/>
                  <a:ext cx="780891" cy="333232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진척 실시간</a:t>
                  </a:r>
                  <a:endParaRPr lang="en-US" altLang="ko-KR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모니터링</a:t>
                  </a:r>
                </a:p>
              </p:txBody>
            </p:sp>
            <p:sp>
              <p:nvSpPr>
                <p:cNvPr id="337" name="모서리가 둥근 직사각형 336"/>
                <p:cNvSpPr/>
                <p:nvPr/>
              </p:nvSpPr>
              <p:spPr bwMode="auto">
                <a:xfrm>
                  <a:off x="9221529" y="4452226"/>
                  <a:ext cx="1111771" cy="333232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일정지연 </a:t>
                  </a: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예측 및 예방활동</a:t>
                  </a:r>
                </a:p>
              </p:txBody>
            </p:sp>
            <p:sp>
              <p:nvSpPr>
                <p:cNvPr id="338" name="모서리가 둥근 직사각형 337"/>
                <p:cNvSpPr/>
                <p:nvPr/>
              </p:nvSpPr>
              <p:spPr bwMode="auto">
                <a:xfrm>
                  <a:off x="7014171" y="5263980"/>
                  <a:ext cx="766350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공동 협의체</a:t>
                  </a:r>
                </a:p>
              </p:txBody>
            </p:sp>
            <p:sp>
              <p:nvSpPr>
                <p:cNvPr id="339" name="모서리가 둥근 직사각형 338"/>
                <p:cNvSpPr/>
                <p:nvPr/>
              </p:nvSpPr>
              <p:spPr bwMode="auto">
                <a:xfrm>
                  <a:off x="8242290" y="5263980"/>
                  <a:ext cx="669944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협업 관리</a:t>
                  </a:r>
                  <a:r>
                    <a:rPr lang="en-US" altLang="ko-KR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</a:t>
                  </a:r>
                  <a:endParaRPr lang="ko-KR" altLang="en-US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40" name="모서리가 둥근 직사각형 339"/>
                <p:cNvSpPr/>
                <p:nvPr/>
              </p:nvSpPr>
              <p:spPr bwMode="auto">
                <a:xfrm>
                  <a:off x="9296726" y="5263979"/>
                  <a:ext cx="961392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정기</a:t>
                  </a:r>
                  <a:r>
                    <a:rPr lang="en-US" altLang="ko-KR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/</a:t>
                  </a: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수시 보고</a:t>
                  </a:r>
                </a:p>
              </p:txBody>
            </p:sp>
            <p:sp>
              <p:nvSpPr>
                <p:cNvPr id="341" name="모서리가 둥근 직사각형 340"/>
                <p:cNvSpPr/>
                <p:nvPr/>
              </p:nvSpPr>
              <p:spPr bwMode="auto">
                <a:xfrm>
                  <a:off x="6798847" y="5992118"/>
                  <a:ext cx="901507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형상관리 도구</a:t>
                  </a:r>
                </a:p>
              </p:txBody>
            </p:sp>
            <p:sp>
              <p:nvSpPr>
                <p:cNvPr id="342" name="모서리가 둥근 직사각형 341"/>
                <p:cNvSpPr/>
                <p:nvPr/>
              </p:nvSpPr>
              <p:spPr bwMode="auto">
                <a:xfrm>
                  <a:off x="7807049" y="5908808"/>
                  <a:ext cx="653721" cy="333232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버전</a:t>
                  </a:r>
                  <a:r>
                    <a:rPr lang="en-US" altLang="ko-KR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/</a:t>
                  </a: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변경</a:t>
                  </a:r>
                  <a:r>
                    <a:rPr lang="en-US" altLang="ko-KR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/>
                  </a:r>
                  <a:br>
                    <a:rPr lang="en-US" altLang="ko-KR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</a:b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관리</a:t>
                  </a:r>
                </a:p>
              </p:txBody>
            </p:sp>
            <p:sp>
              <p:nvSpPr>
                <p:cNvPr id="343" name="모서리가 둥근 직사각형 342"/>
                <p:cNvSpPr/>
                <p:nvPr/>
              </p:nvSpPr>
              <p:spPr bwMode="auto">
                <a:xfrm>
                  <a:off x="8624365" y="5992118"/>
                  <a:ext cx="766350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무결성 유지</a:t>
                  </a:r>
                </a:p>
              </p:txBody>
            </p:sp>
            <p:sp>
              <p:nvSpPr>
                <p:cNvPr id="344" name="모서리가 둥근 직사각형 343"/>
                <p:cNvSpPr/>
                <p:nvPr/>
              </p:nvSpPr>
              <p:spPr bwMode="auto">
                <a:xfrm>
                  <a:off x="9448091" y="5992118"/>
                  <a:ext cx="914455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표준화</a:t>
                  </a:r>
                  <a:r>
                    <a:rPr lang="en-US" altLang="ko-KR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/</a:t>
                  </a: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일관성</a:t>
                  </a:r>
                </a:p>
              </p:txBody>
            </p:sp>
            <p:sp>
              <p:nvSpPr>
                <p:cNvPr id="345" name="모서리가 둥근 직사각형 344"/>
                <p:cNvSpPr/>
                <p:nvPr/>
              </p:nvSpPr>
              <p:spPr bwMode="auto">
                <a:xfrm>
                  <a:off x="6986663" y="6642868"/>
                  <a:ext cx="780891" cy="333232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고객사 보안</a:t>
                  </a:r>
                  <a:endParaRPr lang="en-US" altLang="ko-KR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규정 준수</a:t>
                  </a:r>
                </a:p>
              </p:txBody>
            </p:sp>
            <p:sp>
              <p:nvSpPr>
                <p:cNvPr id="346" name="모서리가 둥근 직사각형 345"/>
                <p:cNvSpPr/>
                <p:nvPr/>
              </p:nvSpPr>
              <p:spPr bwMode="auto">
                <a:xfrm>
                  <a:off x="8031826" y="6726182"/>
                  <a:ext cx="1090873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유형별 대응 전략</a:t>
                  </a:r>
                </a:p>
              </p:txBody>
            </p:sp>
            <p:sp>
              <p:nvSpPr>
                <p:cNvPr id="347" name="모서리가 둥근 직사각형 346"/>
                <p:cNvSpPr/>
                <p:nvPr/>
              </p:nvSpPr>
              <p:spPr bwMode="auto">
                <a:xfrm>
                  <a:off x="9295391" y="6642868"/>
                  <a:ext cx="918778" cy="333232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보안 모니터링</a:t>
                  </a:r>
                  <a:endParaRPr lang="en-US" altLang="ko-KR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및 감시</a:t>
                  </a:r>
                </a:p>
              </p:txBody>
            </p:sp>
            <p:sp>
              <p:nvSpPr>
                <p:cNvPr id="348" name="AutoShape 26"/>
                <p:cNvSpPr>
                  <a:spLocks noChangeArrowheads="1"/>
                </p:cNvSpPr>
                <p:nvPr/>
              </p:nvSpPr>
              <p:spPr bwMode="auto">
                <a:xfrm>
                  <a:off x="6872391" y="3863554"/>
                  <a:ext cx="580628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인력변동</a:t>
                  </a:r>
                </a:p>
              </p:txBody>
            </p:sp>
            <p:sp>
              <p:nvSpPr>
                <p:cNvPr id="349" name="AutoShape 26"/>
                <p:cNvSpPr>
                  <a:spLocks noChangeArrowheads="1"/>
                </p:cNvSpPr>
                <p:nvPr/>
              </p:nvSpPr>
              <p:spPr bwMode="auto">
                <a:xfrm>
                  <a:off x="7579069" y="3863554"/>
                  <a:ext cx="580628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일정지연</a:t>
                  </a:r>
                </a:p>
              </p:txBody>
            </p:sp>
            <p:sp>
              <p:nvSpPr>
                <p:cNvPr id="350" name="AutoShape 26"/>
                <p:cNvSpPr>
                  <a:spLocks noChangeArrowheads="1"/>
                </p:cNvSpPr>
                <p:nvPr/>
              </p:nvSpPr>
              <p:spPr bwMode="auto">
                <a:xfrm>
                  <a:off x="8285748" y="3863554"/>
                  <a:ext cx="580628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의사소통</a:t>
                  </a:r>
                  <a:endParaRPr lang="en-US" altLang="ko-KR" sz="1100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51" name="AutoShape 26"/>
                <p:cNvSpPr>
                  <a:spLocks noChangeArrowheads="1"/>
                </p:cNvSpPr>
                <p:nvPr/>
              </p:nvSpPr>
              <p:spPr bwMode="auto">
                <a:xfrm>
                  <a:off x="8992422" y="3866392"/>
                  <a:ext cx="580628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장애발생</a:t>
                  </a:r>
                </a:p>
              </p:txBody>
            </p:sp>
            <p:sp>
              <p:nvSpPr>
                <p:cNvPr id="352" name="AutoShape 26"/>
                <p:cNvSpPr>
                  <a:spLocks noChangeArrowheads="1"/>
                </p:cNvSpPr>
                <p:nvPr/>
              </p:nvSpPr>
              <p:spPr bwMode="auto">
                <a:xfrm>
                  <a:off x="9699100" y="3863554"/>
                  <a:ext cx="580628" cy="16661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lnSpc>
                      <a:spcPts val="1226"/>
                    </a:lnSpc>
                    <a:buClr>
                      <a:sysClr val="windowText" lastClr="000000"/>
                    </a:buClr>
                    <a:tabLst>
                      <a:tab pos="6290163" algn="l"/>
                    </a:tabLst>
                  </a:pPr>
                  <a:r>
                    <a:rPr lang="ko-KR" altLang="en-US" sz="1100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보안사고</a:t>
                  </a:r>
                </a:p>
              </p:txBody>
            </p:sp>
            <p:grpSp>
              <p:nvGrpSpPr>
                <p:cNvPr id="353" name="그룹 352"/>
                <p:cNvGrpSpPr/>
                <p:nvPr/>
              </p:nvGrpSpPr>
              <p:grpSpPr>
                <a:xfrm>
                  <a:off x="5717791" y="2088384"/>
                  <a:ext cx="786402" cy="4873329"/>
                  <a:chOff x="10658270" y="2088384"/>
                  <a:chExt cx="786402" cy="4873329"/>
                </a:xfrm>
              </p:grpSpPr>
              <p:sp>
                <p:nvSpPr>
                  <p:cNvPr id="354" name="타원 509"/>
                  <p:cNvSpPr/>
                  <p:nvPr/>
                </p:nvSpPr>
                <p:spPr bwMode="auto">
                  <a:xfrm>
                    <a:off x="10658270" y="2088384"/>
                    <a:ext cx="786402" cy="644496"/>
                  </a:xfrm>
                  <a:prstGeom prst="roundRect">
                    <a:avLst>
                      <a:gd name="adj" fmla="val 6604"/>
                    </a:avLst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blurRad="50800" sx="101000" sy="101000" algn="ctr" rotWithShape="0">
                      <a:prstClr val="black">
                        <a:alpha val="5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55" name="타원 510"/>
                  <p:cNvSpPr/>
                  <p:nvPr/>
                </p:nvSpPr>
                <p:spPr bwMode="auto">
                  <a:xfrm>
                    <a:off x="10675230" y="2114664"/>
                    <a:ext cx="752482" cy="591939"/>
                  </a:xfrm>
                  <a:prstGeom prst="roundRect">
                    <a:avLst>
                      <a:gd name="adj" fmla="val 6150"/>
                    </a:avLst>
                  </a:prstGeom>
                  <a:solidFill>
                    <a:srgbClr val="4371BB"/>
                  </a:solidFill>
                  <a:ln w="12700">
                    <a:noFill/>
                  </a:ln>
                  <a:effectLst>
                    <a:innerShdw blurRad="114300">
                      <a:srgbClr val="17274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scene3d>
                      <a:camera prst="orthographicFront"/>
                      <a:lightRig rig="threePt" dir="t"/>
                    </a:scene3d>
                    <a:sp3d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범위</a:t>
                    </a:r>
                  </a:p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관리</a:t>
                    </a:r>
                  </a:p>
                </p:txBody>
              </p:sp>
              <p:sp>
                <p:nvSpPr>
                  <p:cNvPr id="356" name="타원 511"/>
                  <p:cNvSpPr/>
                  <p:nvPr/>
                </p:nvSpPr>
                <p:spPr bwMode="auto">
                  <a:xfrm>
                    <a:off x="10692837" y="2138792"/>
                    <a:ext cx="717268" cy="543681"/>
                  </a:xfrm>
                  <a:prstGeom prst="roundRect">
                    <a:avLst>
                      <a:gd name="adj" fmla="val 6543"/>
                    </a:avLst>
                  </a:prstGeom>
                  <a:noFill/>
                  <a:ln w="6350">
                    <a:solidFill>
                      <a:srgbClr val="89ACC1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57" name="타원 509"/>
                  <p:cNvSpPr/>
                  <p:nvPr/>
                </p:nvSpPr>
                <p:spPr bwMode="auto">
                  <a:xfrm>
                    <a:off x="10658270" y="2794088"/>
                    <a:ext cx="786402" cy="642697"/>
                  </a:xfrm>
                  <a:prstGeom prst="roundRect">
                    <a:avLst>
                      <a:gd name="adj" fmla="val 6604"/>
                    </a:avLst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blurRad="50800" sx="101000" sy="101000" algn="ctr" rotWithShape="0">
                      <a:prstClr val="black">
                        <a:alpha val="5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58" name="타원 510"/>
                  <p:cNvSpPr/>
                  <p:nvPr/>
                </p:nvSpPr>
                <p:spPr bwMode="auto">
                  <a:xfrm>
                    <a:off x="10675230" y="2820294"/>
                    <a:ext cx="752482" cy="590287"/>
                  </a:xfrm>
                  <a:prstGeom prst="roundRect">
                    <a:avLst>
                      <a:gd name="adj" fmla="val 6150"/>
                    </a:avLst>
                  </a:prstGeom>
                  <a:solidFill>
                    <a:srgbClr val="4371BB"/>
                  </a:solidFill>
                  <a:ln w="12700">
                    <a:noFill/>
                  </a:ln>
                  <a:effectLst>
                    <a:innerShdw blurRad="114300">
                      <a:srgbClr val="17274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scene3d>
                      <a:camera prst="orthographicFront"/>
                      <a:lightRig rig="threePt" dir="t"/>
                    </a:scene3d>
                    <a:sp3d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일정</a:t>
                    </a:r>
                    <a:b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</a:b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관리</a:t>
                    </a:r>
                  </a:p>
                </p:txBody>
              </p:sp>
              <p:sp>
                <p:nvSpPr>
                  <p:cNvPr id="359" name="타원 511"/>
                  <p:cNvSpPr/>
                  <p:nvPr/>
                </p:nvSpPr>
                <p:spPr bwMode="auto">
                  <a:xfrm>
                    <a:off x="10692837" y="2844496"/>
                    <a:ext cx="717268" cy="541882"/>
                  </a:xfrm>
                  <a:prstGeom prst="roundRect">
                    <a:avLst>
                      <a:gd name="adj" fmla="val 6543"/>
                    </a:avLst>
                  </a:prstGeom>
                  <a:noFill/>
                  <a:ln w="6350">
                    <a:solidFill>
                      <a:srgbClr val="89ACC1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60" name="타원 509"/>
                  <p:cNvSpPr/>
                  <p:nvPr/>
                </p:nvSpPr>
                <p:spPr bwMode="auto">
                  <a:xfrm>
                    <a:off x="10658270" y="3497995"/>
                    <a:ext cx="786402" cy="644496"/>
                  </a:xfrm>
                  <a:prstGeom prst="roundRect">
                    <a:avLst>
                      <a:gd name="adj" fmla="val 6604"/>
                    </a:avLst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blurRad="50800" sx="101000" sy="101000" algn="ctr" rotWithShape="0">
                      <a:prstClr val="black">
                        <a:alpha val="5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61" name="타원 510"/>
                  <p:cNvSpPr/>
                  <p:nvPr/>
                </p:nvSpPr>
                <p:spPr bwMode="auto">
                  <a:xfrm>
                    <a:off x="10675230" y="3524275"/>
                    <a:ext cx="752482" cy="591939"/>
                  </a:xfrm>
                  <a:prstGeom prst="roundRect">
                    <a:avLst>
                      <a:gd name="adj" fmla="val 6150"/>
                    </a:avLst>
                  </a:prstGeom>
                  <a:solidFill>
                    <a:srgbClr val="4371BB"/>
                  </a:solidFill>
                  <a:ln w="12700">
                    <a:noFill/>
                  </a:ln>
                  <a:effectLst>
                    <a:innerShdw blurRad="114300">
                      <a:srgbClr val="17274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scene3d>
                      <a:camera prst="orthographicFront"/>
                      <a:lightRig rig="threePt" dir="t"/>
                    </a:scene3d>
                    <a:sp3d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위험</a:t>
                    </a:r>
                    <a:b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</a:b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관리 </a:t>
                    </a:r>
                  </a:p>
                </p:txBody>
              </p:sp>
              <p:sp>
                <p:nvSpPr>
                  <p:cNvPr id="362" name="타원 511"/>
                  <p:cNvSpPr/>
                  <p:nvPr/>
                </p:nvSpPr>
                <p:spPr bwMode="auto">
                  <a:xfrm>
                    <a:off x="10692837" y="3548403"/>
                    <a:ext cx="717268" cy="543681"/>
                  </a:xfrm>
                  <a:prstGeom prst="roundRect">
                    <a:avLst>
                      <a:gd name="adj" fmla="val 6543"/>
                    </a:avLst>
                  </a:prstGeom>
                  <a:noFill/>
                  <a:ln w="6350">
                    <a:solidFill>
                      <a:srgbClr val="89ACC1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63" name="타원 509"/>
                  <p:cNvSpPr/>
                  <p:nvPr/>
                </p:nvSpPr>
                <p:spPr bwMode="auto">
                  <a:xfrm>
                    <a:off x="10658270" y="4203701"/>
                    <a:ext cx="786402" cy="644496"/>
                  </a:xfrm>
                  <a:prstGeom prst="roundRect">
                    <a:avLst>
                      <a:gd name="adj" fmla="val 6604"/>
                    </a:avLst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blurRad="50800" sx="101000" sy="101000" algn="ctr" rotWithShape="0">
                      <a:prstClr val="black">
                        <a:alpha val="5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64" name="타원 510"/>
                  <p:cNvSpPr/>
                  <p:nvPr/>
                </p:nvSpPr>
                <p:spPr bwMode="auto">
                  <a:xfrm>
                    <a:off x="10675230" y="4229981"/>
                    <a:ext cx="752482" cy="591939"/>
                  </a:xfrm>
                  <a:prstGeom prst="roundRect">
                    <a:avLst>
                      <a:gd name="adj" fmla="val 6150"/>
                    </a:avLst>
                  </a:prstGeom>
                  <a:solidFill>
                    <a:srgbClr val="4371BB"/>
                  </a:solidFill>
                  <a:ln w="12700">
                    <a:noFill/>
                  </a:ln>
                  <a:effectLst>
                    <a:innerShdw blurRad="114300">
                      <a:srgbClr val="17274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scene3d>
                      <a:camera prst="orthographicFront"/>
                      <a:lightRig rig="threePt" dir="t"/>
                    </a:scene3d>
                    <a:sp3d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자원</a:t>
                    </a:r>
                    <a:b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</a:b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관리</a:t>
                    </a:r>
                  </a:p>
                </p:txBody>
              </p:sp>
              <p:sp>
                <p:nvSpPr>
                  <p:cNvPr id="365" name="타원 511"/>
                  <p:cNvSpPr/>
                  <p:nvPr/>
                </p:nvSpPr>
                <p:spPr bwMode="auto">
                  <a:xfrm>
                    <a:off x="10692837" y="4254109"/>
                    <a:ext cx="717268" cy="543681"/>
                  </a:xfrm>
                  <a:prstGeom prst="roundRect">
                    <a:avLst>
                      <a:gd name="adj" fmla="val 6543"/>
                    </a:avLst>
                  </a:prstGeom>
                  <a:noFill/>
                  <a:ln w="6350">
                    <a:solidFill>
                      <a:srgbClr val="89ACC1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66" name="타원 509"/>
                  <p:cNvSpPr/>
                  <p:nvPr/>
                </p:nvSpPr>
                <p:spPr bwMode="auto">
                  <a:xfrm>
                    <a:off x="10658270" y="4907605"/>
                    <a:ext cx="786402" cy="644496"/>
                  </a:xfrm>
                  <a:prstGeom prst="roundRect">
                    <a:avLst>
                      <a:gd name="adj" fmla="val 6604"/>
                    </a:avLst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blurRad="50800" sx="101000" sy="101000" algn="ctr" rotWithShape="0">
                      <a:prstClr val="black">
                        <a:alpha val="5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67" name="타원 510"/>
                  <p:cNvSpPr/>
                  <p:nvPr/>
                </p:nvSpPr>
                <p:spPr bwMode="auto">
                  <a:xfrm>
                    <a:off x="10675230" y="4933885"/>
                    <a:ext cx="752482" cy="591939"/>
                  </a:xfrm>
                  <a:prstGeom prst="roundRect">
                    <a:avLst>
                      <a:gd name="adj" fmla="val 6150"/>
                    </a:avLst>
                  </a:prstGeom>
                  <a:solidFill>
                    <a:srgbClr val="4371BB"/>
                  </a:solidFill>
                  <a:ln w="12700">
                    <a:noFill/>
                  </a:ln>
                  <a:effectLst>
                    <a:innerShdw blurRad="114300">
                      <a:srgbClr val="17274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scene3d>
                      <a:camera prst="orthographicFront"/>
                      <a:lightRig rig="threePt" dir="t"/>
                    </a:scene3d>
                    <a:sp3d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의사소통</a:t>
                    </a:r>
                    <a:b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</a:b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관리</a:t>
                    </a:r>
                  </a:p>
                </p:txBody>
              </p:sp>
              <p:sp>
                <p:nvSpPr>
                  <p:cNvPr id="368" name="타원 511"/>
                  <p:cNvSpPr/>
                  <p:nvPr/>
                </p:nvSpPr>
                <p:spPr bwMode="auto">
                  <a:xfrm>
                    <a:off x="10692837" y="4958013"/>
                    <a:ext cx="717268" cy="543681"/>
                  </a:xfrm>
                  <a:prstGeom prst="roundRect">
                    <a:avLst>
                      <a:gd name="adj" fmla="val 6543"/>
                    </a:avLst>
                  </a:prstGeom>
                  <a:noFill/>
                  <a:ln w="6350">
                    <a:solidFill>
                      <a:srgbClr val="89ACC1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69" name="타원 509"/>
                  <p:cNvSpPr/>
                  <p:nvPr/>
                </p:nvSpPr>
                <p:spPr bwMode="auto">
                  <a:xfrm>
                    <a:off x="10658270" y="5613311"/>
                    <a:ext cx="786402" cy="644496"/>
                  </a:xfrm>
                  <a:prstGeom prst="roundRect">
                    <a:avLst>
                      <a:gd name="adj" fmla="val 6604"/>
                    </a:avLst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blurRad="50800" sx="101000" sy="101000" algn="ctr" rotWithShape="0">
                      <a:prstClr val="black">
                        <a:alpha val="5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70" name="타원 510"/>
                  <p:cNvSpPr/>
                  <p:nvPr/>
                </p:nvSpPr>
                <p:spPr bwMode="auto">
                  <a:xfrm>
                    <a:off x="10675230" y="5639591"/>
                    <a:ext cx="752482" cy="591939"/>
                  </a:xfrm>
                  <a:prstGeom prst="roundRect">
                    <a:avLst>
                      <a:gd name="adj" fmla="val 6150"/>
                    </a:avLst>
                  </a:prstGeom>
                  <a:solidFill>
                    <a:srgbClr val="4371BB"/>
                  </a:solidFill>
                  <a:ln w="12700">
                    <a:noFill/>
                  </a:ln>
                  <a:effectLst>
                    <a:innerShdw blurRad="114300">
                      <a:srgbClr val="17274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scene3d>
                      <a:camera prst="orthographicFront"/>
                      <a:lightRig rig="threePt" dir="t"/>
                    </a:scene3d>
                    <a:sp3d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형상</a:t>
                    </a:r>
                    <a:r>
                      <a:rPr lang="en-US" altLang="ko-KR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/ </a:t>
                    </a:r>
                    <a:br>
                      <a:rPr lang="en-US" altLang="ko-KR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</a:b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문서관리</a:t>
                    </a:r>
                  </a:p>
                </p:txBody>
              </p:sp>
              <p:sp>
                <p:nvSpPr>
                  <p:cNvPr id="371" name="타원 511"/>
                  <p:cNvSpPr/>
                  <p:nvPr/>
                </p:nvSpPr>
                <p:spPr bwMode="auto">
                  <a:xfrm>
                    <a:off x="10692837" y="5663719"/>
                    <a:ext cx="717268" cy="543681"/>
                  </a:xfrm>
                  <a:prstGeom prst="roundRect">
                    <a:avLst>
                      <a:gd name="adj" fmla="val 6543"/>
                    </a:avLst>
                  </a:prstGeom>
                  <a:noFill/>
                  <a:ln w="6350">
                    <a:solidFill>
                      <a:srgbClr val="89ACC1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72" name="타원 509"/>
                  <p:cNvSpPr/>
                  <p:nvPr/>
                </p:nvSpPr>
                <p:spPr bwMode="auto">
                  <a:xfrm>
                    <a:off x="10658270" y="6317217"/>
                    <a:ext cx="786402" cy="644496"/>
                  </a:xfrm>
                  <a:prstGeom prst="roundRect">
                    <a:avLst>
                      <a:gd name="adj" fmla="val 6604"/>
                    </a:avLst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blurRad="50800" sx="101000" sy="101000" algn="ctr" rotWithShape="0">
                      <a:prstClr val="black">
                        <a:alpha val="5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sp>
                <p:nvSpPr>
                  <p:cNvPr id="373" name="타원 510"/>
                  <p:cNvSpPr/>
                  <p:nvPr/>
                </p:nvSpPr>
                <p:spPr bwMode="auto">
                  <a:xfrm>
                    <a:off x="10675230" y="6343497"/>
                    <a:ext cx="752482" cy="591939"/>
                  </a:xfrm>
                  <a:prstGeom prst="roundRect">
                    <a:avLst>
                      <a:gd name="adj" fmla="val 6150"/>
                    </a:avLst>
                  </a:prstGeom>
                  <a:solidFill>
                    <a:srgbClr val="4371BB"/>
                  </a:solidFill>
                  <a:ln w="12700">
                    <a:noFill/>
                  </a:ln>
                  <a:effectLst>
                    <a:innerShdw blurRad="114300">
                      <a:srgbClr val="17274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scene3d>
                      <a:camera prst="orthographicFront"/>
                      <a:lightRig rig="threePt" dir="t"/>
                    </a:scene3d>
                    <a:sp3d>
                      <a:bevelT w="1270"/>
                      <a:contourClr>
                        <a:schemeClr val="bg1"/>
                      </a:contourClr>
                    </a:sp3d>
                  </a:bodyPr>
                  <a:lstStyle/>
                  <a:p>
                    <a:pPr algn="ctr" defTabSz="1018306">
                      <a:lnSpc>
                        <a:spcPts val="1672"/>
                      </a:lnSpc>
                      <a:defRPr/>
                    </a:pP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보안</a:t>
                    </a:r>
                    <a:b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</a:br>
                    <a:r>
                      <a:rPr lang="ko-KR" altLang="en-US" sz="1300" dirty="0">
                        <a:solidFill>
                          <a:prstClr val="white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관리</a:t>
                    </a:r>
                  </a:p>
                </p:txBody>
              </p:sp>
              <p:sp>
                <p:nvSpPr>
                  <p:cNvPr id="380" name="타원 511"/>
                  <p:cNvSpPr/>
                  <p:nvPr/>
                </p:nvSpPr>
                <p:spPr bwMode="auto">
                  <a:xfrm>
                    <a:off x="10692837" y="6367625"/>
                    <a:ext cx="717268" cy="543681"/>
                  </a:xfrm>
                  <a:prstGeom prst="roundRect">
                    <a:avLst>
                      <a:gd name="adj" fmla="val 6543"/>
                    </a:avLst>
                  </a:prstGeom>
                  <a:noFill/>
                  <a:ln w="6350">
                    <a:solidFill>
                      <a:srgbClr val="89ACC1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defTabSz="1018306">
                      <a:defRPr/>
                    </a:pPr>
                    <a:endParaRPr lang="ko-KR" altLang="en-US" sz="1300" dirty="0">
                      <a:solidFill>
                        <a:prstClr val="white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</p:grpSp>
          </p:grpSp>
          <p:sp>
            <p:nvSpPr>
              <p:cNvPr id="514" name="Freeform 55"/>
              <p:cNvSpPr>
                <a:spLocks/>
              </p:cNvSpPr>
              <p:nvPr/>
            </p:nvSpPr>
            <p:spPr bwMode="auto">
              <a:xfrm>
                <a:off x="2699658" y="5403969"/>
                <a:ext cx="305489" cy="1559033"/>
              </a:xfrm>
              <a:custGeom>
                <a:avLst/>
                <a:gdLst>
                  <a:gd name="T0" fmla="*/ 0 w 370"/>
                  <a:gd name="T1" fmla="*/ 2147483647 h 1195"/>
                  <a:gd name="T2" fmla="*/ 2147483647 w 370"/>
                  <a:gd name="T3" fmla="*/ 0 h 1195"/>
                  <a:gd name="T4" fmla="*/ 2147483647 w 370"/>
                  <a:gd name="T5" fmla="*/ 2147483647 h 1195"/>
                  <a:gd name="T6" fmla="*/ 0 w 370"/>
                  <a:gd name="T7" fmla="*/ 2147483647 h 1195"/>
                  <a:gd name="T8" fmla="*/ 0 w 370"/>
                  <a:gd name="T9" fmla="*/ 2147483647 h 11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0"/>
                  <a:gd name="T16" fmla="*/ 0 h 1195"/>
                  <a:gd name="T17" fmla="*/ 370 w 370"/>
                  <a:gd name="T18" fmla="*/ 1195 h 1195"/>
                  <a:gd name="connsiteX0" fmla="*/ 0 w 10526"/>
                  <a:gd name="connsiteY0" fmla="*/ 5005 h 10000"/>
                  <a:gd name="connsiteX1" fmla="*/ 10526 w 10526"/>
                  <a:gd name="connsiteY1" fmla="*/ 0 h 10000"/>
                  <a:gd name="connsiteX2" fmla="*/ 10256 w 10526"/>
                  <a:gd name="connsiteY2" fmla="*/ 10000 h 10000"/>
                  <a:gd name="connsiteX3" fmla="*/ 526 w 10526"/>
                  <a:gd name="connsiteY3" fmla="*/ 6753 h 10000"/>
                  <a:gd name="connsiteX4" fmla="*/ 0 w 10526"/>
                  <a:gd name="connsiteY4" fmla="*/ 5005 h 10000"/>
                  <a:gd name="connsiteX0" fmla="*/ 176 w 10702"/>
                  <a:gd name="connsiteY0" fmla="*/ 5005 h 10000"/>
                  <a:gd name="connsiteX1" fmla="*/ 10702 w 10702"/>
                  <a:gd name="connsiteY1" fmla="*/ 0 h 10000"/>
                  <a:gd name="connsiteX2" fmla="*/ 10432 w 10702"/>
                  <a:gd name="connsiteY2" fmla="*/ 10000 h 10000"/>
                  <a:gd name="connsiteX3" fmla="*/ 0 w 10702"/>
                  <a:gd name="connsiteY3" fmla="*/ 6198 h 10000"/>
                  <a:gd name="connsiteX4" fmla="*/ 176 w 10702"/>
                  <a:gd name="connsiteY4" fmla="*/ 5005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02" h="10000">
                    <a:moveTo>
                      <a:pt x="176" y="5005"/>
                    </a:moveTo>
                    <a:lnTo>
                      <a:pt x="10702" y="0"/>
                    </a:lnTo>
                    <a:lnTo>
                      <a:pt x="10432" y="10000"/>
                    </a:lnTo>
                    <a:lnTo>
                      <a:pt x="0" y="6198"/>
                    </a:lnTo>
                    <a:cubicBezTo>
                      <a:pt x="59" y="5800"/>
                      <a:pt x="117" y="5403"/>
                      <a:pt x="176" y="500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lumMod val="85000"/>
                      <a:alpha val="50000"/>
                    </a:schemeClr>
                  </a:gs>
                  <a:gs pos="100000">
                    <a:schemeClr val="bg1">
                      <a:lumMod val="65000"/>
                      <a:alpha val="50000"/>
                    </a:schemeClr>
                  </a:gs>
                </a:gsLst>
                <a:lin ang="10800000" scaled="0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101837" tIns="50920" rIns="101837" bIns="50920" anchor="ctr"/>
              <a:lstStyle/>
              <a:p>
                <a:pPr algn="ctr" defTabSz="1018306" latinLnBrk="0">
                  <a:defRPr/>
                </a:pPr>
                <a:endParaRPr lang="ko-KR" altLang="en-US" sz="20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95" name="모서리가 둥근 직사각형 6"/>
              <p:cNvSpPr/>
              <p:nvPr/>
            </p:nvSpPr>
            <p:spPr bwMode="auto">
              <a:xfrm rot="16200000">
                <a:off x="551120" y="5299902"/>
                <a:ext cx="811922" cy="881927"/>
              </a:xfrm>
              <a:prstGeom prst="roundRect">
                <a:avLst>
                  <a:gd name="adj" fmla="val 4978"/>
                </a:avLst>
              </a:prstGeom>
              <a:solidFill>
                <a:srgbClr val="A6C7EC"/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9" tIns="45683" rIns="91369" bIns="45683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endParaRPr lang="ko-KR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56" name="모서리가 둥근 직사각형 6"/>
              <p:cNvSpPr/>
              <p:nvPr/>
            </p:nvSpPr>
            <p:spPr bwMode="auto">
              <a:xfrm>
                <a:off x="882744" y="5333100"/>
                <a:ext cx="1801025" cy="817322"/>
              </a:xfrm>
              <a:prstGeom prst="roundRect">
                <a:avLst>
                  <a:gd name="adj" fmla="val 1519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9" tIns="45683" rIns="91369" bIns="45683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</a:pPr>
                <a:endParaRPr lang="ko-KR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265" name="그룹 110"/>
              <p:cNvGrpSpPr>
                <a:grpSpLocks/>
              </p:cNvGrpSpPr>
              <p:nvPr/>
            </p:nvGrpSpPr>
            <p:grpSpPr bwMode="auto">
              <a:xfrm>
                <a:off x="516126" y="6217032"/>
                <a:ext cx="881927" cy="811921"/>
                <a:chOff x="-3362105" y="4151475"/>
                <a:chExt cx="1022149" cy="1018716"/>
              </a:xfrm>
            </p:grpSpPr>
            <p:sp>
              <p:nvSpPr>
                <p:cNvPr id="393" name="모서리가 둥근 직사각형 6"/>
                <p:cNvSpPr/>
                <p:nvPr/>
              </p:nvSpPr>
              <p:spPr bwMode="auto">
                <a:xfrm rot="16200000">
                  <a:off x="-3360388" y="4149758"/>
                  <a:ext cx="1018716" cy="1022149"/>
                </a:xfrm>
                <a:prstGeom prst="roundRect">
                  <a:avLst>
                    <a:gd name="adj" fmla="val 4978"/>
                  </a:avLst>
                </a:prstGeom>
                <a:solidFill>
                  <a:srgbClr val="A6C7EC"/>
                </a:solidFill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marL="0" lvl="1" indent="-159111" algn="ctr" defTabSz="1018306">
                    <a:buClr>
                      <a:sysClr val="windowText" lastClr="000000"/>
                    </a:buClr>
                    <a:tabLst>
                      <a:tab pos="6290163" algn="l"/>
                    </a:tabLst>
                    <a:defRPr/>
                  </a:pPr>
                  <a:endParaRPr lang="ko-KR" altLang="en-US" sz="18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394" name="직사각형 393"/>
                <p:cNvSpPr/>
                <p:nvPr/>
              </p:nvSpPr>
              <p:spPr bwMode="auto">
                <a:xfrm>
                  <a:off x="-3317702" y="4428314"/>
                  <a:ext cx="425620" cy="50201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>
                  <a:outerShdw dist="241300" dir="6900000" sx="102000" sy="102000" algn="ctr" rotWithShape="0">
                    <a:schemeClr val="bg1">
                      <a:alpha val="80000"/>
                    </a:schemeClr>
                  </a:outerShdw>
                </a:effec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defTabSz="1018306" latinLnBrk="0">
                    <a:tabLst>
                      <a:tab pos="6290664" algn="l"/>
                    </a:tabLst>
                    <a:defRPr/>
                  </a:pPr>
                  <a:r>
                    <a:rPr lang="ko-KR" altLang="en-US" sz="1300" spc="-56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개발파트</a:t>
                  </a:r>
                </a:p>
              </p:txBody>
            </p:sp>
          </p:grpSp>
          <p:sp>
            <p:nvSpPr>
              <p:cNvPr id="266" name="모서리가 둥근 직사각형 6"/>
              <p:cNvSpPr/>
              <p:nvPr/>
            </p:nvSpPr>
            <p:spPr bwMode="auto">
              <a:xfrm>
                <a:off x="882744" y="6215233"/>
                <a:ext cx="1801025" cy="817322"/>
              </a:xfrm>
              <a:prstGeom prst="roundRect">
                <a:avLst>
                  <a:gd name="adj" fmla="val 1519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9" tIns="45683" rIns="91369" bIns="45683" anchor="ctr"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</a:pPr>
                <a:endParaRPr lang="ko-KR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71" name="AutoShape 823"/>
              <p:cNvSpPr>
                <a:spLocks noChangeArrowheads="1"/>
              </p:cNvSpPr>
              <p:nvPr/>
            </p:nvSpPr>
            <p:spPr bwMode="auto">
              <a:xfrm rot="10800000" flipV="1">
                <a:off x="975664" y="5901428"/>
                <a:ext cx="1608420" cy="203988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2" tIns="45679" rIns="91362" bIns="45679" anchor="ctr">
                <a:scene3d>
                  <a:camera prst="orthographicFront"/>
                  <a:lightRig rig="threePt" dir="t"/>
                </a:scene3d>
                <a:sp3d contourW="25400">
                  <a:bevelT w="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품질보증 측정 및 보고</a:t>
                </a:r>
              </a:p>
            </p:txBody>
          </p:sp>
          <p:sp>
            <p:nvSpPr>
              <p:cNvPr id="272" name="AutoShape 823"/>
              <p:cNvSpPr>
                <a:spLocks noChangeArrowheads="1"/>
              </p:cNvSpPr>
              <p:nvPr/>
            </p:nvSpPr>
            <p:spPr bwMode="auto">
              <a:xfrm rot="10800000" flipV="1">
                <a:off x="975664" y="5655970"/>
                <a:ext cx="1608420" cy="203988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2" tIns="45679" rIns="91362" bIns="45679" anchor="ctr">
                <a:scene3d>
                  <a:camera prst="orthographicFront"/>
                  <a:lightRig rig="threePt" dir="t"/>
                </a:scene3d>
                <a:sp3d contourW="25400">
                  <a:bevelT w="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품질보증 수행 및 검증</a:t>
                </a:r>
              </a:p>
            </p:txBody>
          </p:sp>
          <p:sp>
            <p:nvSpPr>
              <p:cNvPr id="273" name="AutoShape 823"/>
              <p:cNvSpPr>
                <a:spLocks noChangeArrowheads="1"/>
              </p:cNvSpPr>
              <p:nvPr/>
            </p:nvSpPr>
            <p:spPr bwMode="auto">
              <a:xfrm rot="10800000" flipV="1">
                <a:off x="975664" y="5410507"/>
                <a:ext cx="1608420" cy="203988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2" tIns="45679" rIns="91362" bIns="45679" anchor="ctr">
                <a:scene3d>
                  <a:camera prst="orthographicFront"/>
                  <a:lightRig rig="threePt" dir="t"/>
                </a:scene3d>
                <a:sp3d contourW="25400">
                  <a:bevelT w="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품질보증 계획 수립</a:t>
                </a:r>
              </a:p>
            </p:txBody>
          </p:sp>
          <p:sp>
            <p:nvSpPr>
              <p:cNvPr id="274" name="AutoShape 823"/>
              <p:cNvSpPr>
                <a:spLocks noChangeArrowheads="1"/>
              </p:cNvSpPr>
              <p:nvPr/>
            </p:nvSpPr>
            <p:spPr bwMode="auto">
              <a:xfrm rot="10800000" flipV="1">
                <a:off x="975664" y="6772756"/>
                <a:ext cx="1608420" cy="203988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2" tIns="45679" rIns="91362" bIns="45679" anchor="ctr">
                <a:scene3d>
                  <a:camera prst="orthographicFront"/>
                  <a:lightRig rig="threePt" dir="t"/>
                </a:scene3d>
                <a:sp3d contourW="25400">
                  <a:bevelT w="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시정조치에 따른 보완</a:t>
                </a:r>
              </a:p>
            </p:txBody>
          </p:sp>
          <p:sp>
            <p:nvSpPr>
              <p:cNvPr id="275" name="AutoShape 823"/>
              <p:cNvSpPr>
                <a:spLocks noChangeArrowheads="1"/>
              </p:cNvSpPr>
              <p:nvPr/>
            </p:nvSpPr>
            <p:spPr bwMode="auto">
              <a:xfrm rot="10800000" flipV="1">
                <a:off x="975664" y="6527298"/>
                <a:ext cx="1608420" cy="203988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2" tIns="45679" rIns="91362" bIns="45679" anchor="ctr">
                <a:scene3d>
                  <a:camera prst="orthographicFront"/>
                  <a:lightRig rig="threePt" dir="t"/>
                </a:scene3d>
                <a:sp3d contourW="25400">
                  <a:bevelT w="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  <a:defRPr/>
                </a:pPr>
                <a:r>
                  <a:rPr lang="ko-KR" altLang="en-US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단계 말 검토</a:t>
                </a:r>
              </a:p>
            </p:txBody>
          </p:sp>
          <p:sp>
            <p:nvSpPr>
              <p:cNvPr id="276" name="AutoShape 823"/>
              <p:cNvSpPr>
                <a:spLocks noChangeArrowheads="1"/>
              </p:cNvSpPr>
              <p:nvPr/>
            </p:nvSpPr>
            <p:spPr bwMode="auto">
              <a:xfrm rot="10800000" flipV="1">
                <a:off x="975664" y="6281840"/>
                <a:ext cx="1608420" cy="203988"/>
              </a:xfrm>
              <a:prstGeom prst="roundRect">
                <a:avLst/>
              </a:prstGeom>
              <a:solidFill>
                <a:srgbClr val="DF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62" tIns="45679" rIns="91362" bIns="45679" anchor="ctr">
                <a:scene3d>
                  <a:camera prst="orthographicFront"/>
                  <a:lightRig rig="threePt" dir="t"/>
                </a:scene3d>
                <a:sp3d contourW="25400">
                  <a:bevelT w="0"/>
                  <a:contourClr>
                    <a:schemeClr val="bg1"/>
                  </a:contourClr>
                </a:sp3d>
              </a:bodyPr>
              <a:lstStyle/>
              <a:p>
                <a:pPr marL="0" lvl="1" indent="-159111" algn="ctr" defTabSz="1018306">
                  <a:buClr>
                    <a:sysClr val="windowText" lastClr="000000"/>
                  </a:buClr>
                  <a:tabLst>
                    <a:tab pos="6290163" algn="l"/>
                  </a:tabLst>
                </a:pPr>
                <a:r>
                  <a:rPr lang="ko-KR" altLang="en-US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동료검토</a:t>
                </a:r>
                <a:r>
                  <a:rPr lang="en-US" altLang="ko-KR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(Inspection)</a:t>
                </a:r>
              </a:p>
            </p:txBody>
          </p:sp>
          <p:sp>
            <p:nvSpPr>
              <p:cNvPr id="396" name="직사각형 395"/>
              <p:cNvSpPr/>
              <p:nvPr/>
            </p:nvSpPr>
            <p:spPr bwMode="auto">
              <a:xfrm>
                <a:off x="510165" y="5487142"/>
                <a:ext cx="372493" cy="5078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>
                <a:outerShdw dist="241300" dir="6900000" sx="102000" sy="102000" algn="ctr" rotWithShape="0">
                  <a:schemeClr val="bg1">
                    <a:alpha val="80000"/>
                  </a:schemeClr>
                </a:outerShdw>
              </a:effectLst>
            </p:spPr>
            <p:txBody>
              <a:bodyPr wrap="squar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1018306" latinLnBrk="0">
                  <a:tabLst>
                    <a:tab pos="6290664" algn="l"/>
                  </a:tabLst>
                  <a:defRPr/>
                </a:pPr>
                <a:r>
                  <a: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품질</a:t>
                </a:r>
                <a:r>
                  <a:rPr lang="en-US" altLang="ko-KR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/>
                </a:r>
                <a:br>
                  <a:rPr lang="en-US" altLang="ko-KR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관리자</a:t>
                </a:r>
                <a:endParaRPr lang="en-US" altLang="ko-KR" sz="11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403785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18763" y="248651"/>
            <a:ext cx="10176189" cy="6943704"/>
            <a:chOff x="318763" y="248651"/>
            <a:chExt cx="10176189" cy="6943704"/>
          </a:xfrm>
        </p:grpSpPr>
        <p:grpSp>
          <p:nvGrpSpPr>
            <p:cNvPr id="125" name="그룹 124"/>
            <p:cNvGrpSpPr/>
            <p:nvPr/>
          </p:nvGrpSpPr>
          <p:grpSpPr>
            <a:xfrm>
              <a:off x="318763" y="248651"/>
              <a:ext cx="8645315" cy="843519"/>
              <a:chOff x="318763" y="248649"/>
              <a:chExt cx="8645315" cy="843519"/>
            </a:xfrm>
          </p:grpSpPr>
          <p:sp>
            <p:nvSpPr>
              <p:cNvPr id="126" name="TextBox 125"/>
              <p:cNvSpPr txBox="1"/>
              <p:nvPr/>
            </p:nvSpPr>
            <p:spPr>
              <a:xfrm>
                <a:off x="318763" y="568948"/>
                <a:ext cx="864531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83443">
                  <a:defRPr/>
                </a:pPr>
                <a:r>
                  <a:rPr lang="ko-KR" altLang="en-US" sz="2800" b="1" dirty="0">
                    <a:gradFill>
                      <a:gsLst>
                        <a:gs pos="0">
                          <a:schemeClr val="tx2">
                            <a:lumMod val="50000"/>
                          </a:schemeClr>
                        </a:gs>
                        <a:gs pos="45000">
                          <a:schemeClr val="accent1">
                            <a:lumMod val="75000"/>
                          </a:schemeClr>
                        </a:gs>
                        <a:gs pos="55000">
                          <a:schemeClr val="accent1">
                            <a:lumMod val="75000"/>
                          </a:schemeClr>
                        </a:gs>
                        <a:gs pos="100000">
                          <a:schemeClr val="tx2">
                            <a:lumMod val="75000"/>
                          </a:schemeClr>
                        </a:gs>
                      </a:gsLst>
                      <a:lin ang="5400000" scaled="0"/>
                    </a:gradFill>
                    <a:latin typeface="굴림" panose="020B0600000101010101" pitchFamily="50" charset="-127"/>
                    <a:ea typeface="굴림" panose="020B0600000101010101" pitchFamily="50" charset="-127"/>
                  </a:rPr>
                  <a:t>유사사업 경험 바탕의 위험관리로 사업의 안정성 보장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321774" y="248649"/>
                <a:ext cx="1261884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1083443">
                  <a:defRPr/>
                </a:pPr>
                <a:r>
                  <a:rPr lang="en-US" altLang="ko-KR" sz="1600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4. </a:t>
                </a:r>
                <a:r>
                  <a:rPr lang="ko-KR" altLang="en-US" sz="1600" dirty="0">
                    <a:solidFill>
                      <a:srgbClr val="707B8E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위험관리</a:t>
                </a:r>
              </a:p>
            </p:txBody>
          </p:sp>
        </p:grpSp>
        <p:grpSp>
          <p:nvGrpSpPr>
            <p:cNvPr id="108" name="그룹 107"/>
            <p:cNvGrpSpPr/>
            <p:nvPr/>
          </p:nvGrpSpPr>
          <p:grpSpPr>
            <a:xfrm>
              <a:off x="414348" y="1472496"/>
              <a:ext cx="7045865" cy="5515578"/>
              <a:chOff x="630114" y="1472496"/>
              <a:chExt cx="6830089" cy="5515578"/>
            </a:xfrm>
          </p:grpSpPr>
          <p:sp>
            <p:nvSpPr>
              <p:cNvPr id="109" name="직사각형 108"/>
              <p:cNvSpPr/>
              <p:nvPr/>
            </p:nvSpPr>
            <p:spPr bwMode="auto">
              <a:xfrm>
                <a:off x="630114" y="1472496"/>
                <a:ext cx="6826751" cy="551557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4B2E4"/>
                </a:solidFill>
              </a:ln>
              <a:effectLst>
                <a:outerShdw blurRad="1016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607">
                  <a:defRPr/>
                </a:pPr>
                <a:endParaRPr kumimoji="0"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10" name="직사각형 109"/>
              <p:cNvSpPr/>
              <p:nvPr/>
            </p:nvSpPr>
            <p:spPr bwMode="auto">
              <a:xfrm>
                <a:off x="630114" y="1472496"/>
                <a:ext cx="6830089" cy="422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endParaRPr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11" name="직사각형 110"/>
              <p:cNvSpPr/>
              <p:nvPr/>
            </p:nvSpPr>
            <p:spPr bwMode="auto">
              <a:xfrm>
                <a:off x="630114" y="6942259"/>
                <a:ext cx="6826751" cy="45815"/>
              </a:xfrm>
              <a:prstGeom prst="rect">
                <a:avLst/>
              </a:prstGeom>
              <a:solidFill>
                <a:srgbClr val="84B2E4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lvl="1" indent="-142751" algn="ctr" defTabSz="913607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3425" algn="l"/>
                  </a:tabLst>
                  <a:defRPr/>
                </a:pPr>
                <a:endParaRPr kumimoji="0"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12" name="그룹 111"/>
            <p:cNvGrpSpPr/>
            <p:nvPr/>
          </p:nvGrpSpPr>
          <p:grpSpPr>
            <a:xfrm>
              <a:off x="553093" y="5419729"/>
              <a:ext cx="3028379" cy="1323975"/>
              <a:chOff x="781621" y="5762871"/>
              <a:chExt cx="2681053" cy="909637"/>
            </a:xfrm>
          </p:grpSpPr>
          <p:sp>
            <p:nvSpPr>
              <p:cNvPr id="113" name="Rectangle 6"/>
              <p:cNvSpPr>
                <a:spLocks noChangeArrowheads="1"/>
              </p:cNvSpPr>
              <p:nvPr/>
            </p:nvSpPr>
            <p:spPr bwMode="auto">
              <a:xfrm>
                <a:off x="781621" y="6369296"/>
                <a:ext cx="2681053" cy="303212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90000" tIns="0" rIns="9000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913607"/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불명확한 요구사항 반영요청 </a:t>
                </a:r>
              </a:p>
            </p:txBody>
          </p:sp>
          <p:sp>
            <p:nvSpPr>
              <p:cNvPr id="114" name="Rectangle 7"/>
              <p:cNvSpPr>
                <a:spLocks noChangeArrowheads="1"/>
              </p:cNvSpPr>
              <p:nvPr/>
            </p:nvSpPr>
            <p:spPr bwMode="auto">
              <a:xfrm>
                <a:off x="781621" y="6066083"/>
                <a:ext cx="2681053" cy="30321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90000" tIns="0" rIns="9000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913607"/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비현실적인 사용자 기대 </a:t>
                </a:r>
              </a:p>
            </p:txBody>
          </p:sp>
          <p:sp>
            <p:nvSpPr>
              <p:cNvPr id="115" name="Rectangle 8"/>
              <p:cNvSpPr>
                <a:spLocks noChangeArrowheads="1"/>
              </p:cNvSpPr>
              <p:nvPr/>
            </p:nvSpPr>
            <p:spPr bwMode="auto">
              <a:xfrm>
                <a:off x="781621" y="5762871"/>
                <a:ext cx="2681053" cy="303212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90000" tIns="0" rIns="9000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913607"/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사용자 참여부족</a:t>
                </a:r>
                <a:r>
                  <a:rPr lang="en-US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, </a:t>
                </a:r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요구사항 도출 지연 및</a:t>
                </a:r>
                <a:r>
                  <a:rPr lang="en-US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/>
                </a:r>
                <a:br>
                  <a:rPr lang="en-US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특정 요구 누락 </a:t>
                </a:r>
              </a:p>
            </p:txBody>
          </p:sp>
        </p:grpSp>
        <p:sp>
          <p:nvSpPr>
            <p:cNvPr id="116" name="TextBox 115"/>
            <p:cNvSpPr txBox="1"/>
            <p:nvPr/>
          </p:nvSpPr>
          <p:spPr bwMode="auto">
            <a:xfrm>
              <a:off x="2427501" y="1514941"/>
              <a:ext cx="3231655" cy="323165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13681">
                <a:defRPr/>
              </a:pPr>
              <a:r>
                <a:rPr lang="ko-KR" altLang="en-US" dirty="0">
                  <a:solidFill>
                    <a:schemeClr val="bg1"/>
                  </a:solidFill>
                  <a:effectLst>
                    <a:glow rad="63500">
                      <a:schemeClr val="tx2">
                        <a:lumMod val="60000"/>
                        <a:lumOff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위험관리 절차 및 </a:t>
              </a:r>
              <a:r>
                <a:rPr lang="ko-KR" altLang="en-US" dirty="0">
                  <a:solidFill>
                    <a:srgbClr val="FFFF66"/>
                  </a:solidFill>
                  <a:effectLst>
                    <a:glow rad="63500">
                      <a:schemeClr val="tx2">
                        <a:lumMod val="60000"/>
                        <a:lumOff val="40000"/>
                      </a:schemeClr>
                    </a:glo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위험유형</a:t>
              </a:r>
              <a:endParaRPr kumimoji="0" lang="ko-KR" altLang="en-US" dirty="0">
                <a:solidFill>
                  <a:srgbClr val="FFFF66"/>
                </a:solidFill>
                <a:effectLst>
                  <a:glow rad="63500">
                    <a:schemeClr val="tx2">
                      <a:lumMod val="60000"/>
                      <a:lumOff val="40000"/>
                    </a:schemeClr>
                  </a:glow>
                </a:effectLst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 bwMode="auto">
            <a:xfrm>
              <a:off x="7445188" y="1372381"/>
              <a:ext cx="3038563" cy="5780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101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69" tIns="45683" rIns="91369" bIns="45683" anchor="ctr"/>
            <a:lstStyle/>
            <a:p>
              <a:pPr algn="ctr" defTabSz="913607">
                <a:defRPr/>
              </a:pPr>
              <a:endParaRPr kumimoji="0"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8" name="직사각형 117"/>
            <p:cNvSpPr/>
            <p:nvPr/>
          </p:nvSpPr>
          <p:spPr bwMode="auto">
            <a:xfrm>
              <a:off x="7445188" y="7143146"/>
              <a:ext cx="3038563" cy="49209"/>
            </a:xfrm>
            <a:prstGeom prst="rect">
              <a:avLst/>
            </a:prstGeom>
            <a:solidFill>
              <a:srgbClr val="4371BB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69" tIns="45683" rIns="91369" bIns="45683" anchor="ctr"/>
            <a:lstStyle/>
            <a:p>
              <a:pPr marL="0" lvl="1" indent="-142751" algn="ctr" defTabSz="913607">
                <a:lnSpc>
                  <a:spcPct val="110000"/>
                </a:lnSpc>
                <a:buClr>
                  <a:sysClr val="windowText" lastClr="000000"/>
                </a:buClr>
                <a:tabLst>
                  <a:tab pos="5643425" algn="l"/>
                </a:tabLst>
                <a:defRPr/>
              </a:pPr>
              <a:endParaRPr kumimoji="0"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119" name="그룹 37"/>
            <p:cNvGrpSpPr>
              <a:grpSpLocks/>
            </p:cNvGrpSpPr>
            <p:nvPr/>
          </p:nvGrpSpPr>
          <p:grpSpPr bwMode="auto">
            <a:xfrm>
              <a:off x="7445178" y="1372361"/>
              <a:ext cx="3040232" cy="698618"/>
              <a:chOff x="6742720" y="1556792"/>
              <a:chExt cx="2890800" cy="654459"/>
            </a:xfrm>
          </p:grpSpPr>
          <p:sp>
            <p:nvSpPr>
              <p:cNvPr id="128" name="직사각형 127"/>
              <p:cNvSpPr/>
              <p:nvPr/>
            </p:nvSpPr>
            <p:spPr>
              <a:xfrm>
                <a:off x="6742720" y="1556792"/>
                <a:ext cx="2890800" cy="414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endParaRPr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7429824" y="1605774"/>
                <a:ext cx="1516592" cy="605477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algn="ctr" defTabSz="913681">
                  <a:defRPr/>
                </a:pPr>
                <a:r>
                  <a:rPr kumimoji="0" lang="ko-KR" altLang="en-US" dirty="0">
                    <a:solidFill>
                      <a:schemeClr val="bg1"/>
                    </a:solidFill>
                    <a:effectLst>
                      <a:glow rad="63500">
                        <a:schemeClr val="accent1">
                          <a:lumMod val="75000"/>
                        </a:schemeClr>
                      </a:glow>
                    </a:effectLst>
                    <a:latin typeface="굴림" panose="020B0600000101010101" pitchFamily="50" charset="-127"/>
                    <a:ea typeface="굴림" panose="020B0600000101010101" pitchFamily="50" charset="-127"/>
                  </a:rPr>
                  <a:t>위험관리 방침</a:t>
                </a:r>
              </a:p>
            </p:txBody>
          </p:sp>
        </p:grpSp>
        <p:grpSp>
          <p:nvGrpSpPr>
            <p:cNvPr id="130" name="그룹 129"/>
            <p:cNvGrpSpPr/>
            <p:nvPr/>
          </p:nvGrpSpPr>
          <p:grpSpPr>
            <a:xfrm>
              <a:off x="7456864" y="1846957"/>
              <a:ext cx="3038088" cy="5017140"/>
              <a:chOff x="7456864" y="1923097"/>
              <a:chExt cx="3038087" cy="5017139"/>
            </a:xfrm>
          </p:grpSpPr>
          <p:grpSp>
            <p:nvGrpSpPr>
              <p:cNvPr id="131" name="그룹 130"/>
              <p:cNvGrpSpPr/>
              <p:nvPr/>
            </p:nvGrpSpPr>
            <p:grpSpPr>
              <a:xfrm>
                <a:off x="7456864" y="3693288"/>
                <a:ext cx="3029659" cy="1687366"/>
                <a:chOff x="7456864" y="3361739"/>
                <a:chExt cx="3029659" cy="1687366"/>
              </a:xfrm>
            </p:grpSpPr>
            <p:sp>
              <p:nvSpPr>
                <p:cNvPr id="152" name="TextBox 151"/>
                <p:cNvSpPr txBox="1"/>
                <p:nvPr/>
              </p:nvSpPr>
              <p:spPr>
                <a:xfrm>
                  <a:off x="7505853" y="3780103"/>
                  <a:ext cx="2977896" cy="12690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>
                  <a:defPPr>
                    <a:defRPr lang="ko-KR"/>
                  </a:defPPr>
                  <a:lvl1pPr marL="130165" indent="-130165" defTabSz="914327" fontAlgn="auto" latinLnBrk="0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400"/>
                    </a:spcAft>
                    <a:buFont typeface="Arial" pitchFamily="34" charset="0"/>
                    <a:buChar char="•"/>
                    <a:defRPr sz="1300">
                      <a:latin typeface="Rix모던고딕 B" panose="02020603020101020101" pitchFamily="18" charset="-127"/>
                      <a:ea typeface="Rix모던고딕 B" panose="02020603020101020101" pitchFamily="18" charset="-127"/>
                    </a:defRPr>
                  </a:lvl1pPr>
                </a:lstStyle>
                <a:p>
                  <a:pPr marL="161798" indent="-161798" defTabSz="1066904" fontAlgn="base">
                    <a:lnSpc>
                      <a:spcPct val="120000"/>
                    </a:lnSpc>
                    <a:spcAft>
                      <a:spcPts val="200"/>
                    </a:spcAft>
                    <a:buClr>
                      <a:srgbClr val="777777"/>
                    </a:buClr>
                    <a:buSzPct val="65000"/>
                    <a:buBlip>
                      <a:blip r:embed="rId5"/>
                    </a:buBlip>
                  </a:pPr>
                  <a:r>
                    <a:rPr kumimoji="1" lang="ko-KR" altLang="en-US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사업초기부터 사업이 종료되는 시점까지 지속적인 위험관리 활동을 수행하며 식별된 위험요소는 </a:t>
                  </a:r>
                  <a:r>
                    <a:rPr kumimoji="1" lang="en-US" altLang="ko-KR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 </a:t>
                  </a:r>
                  <a:r>
                    <a:rPr kumimoji="1" lang="ko-KR" altLang="en-US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해소되는 시점까지 중점관리</a:t>
                  </a:r>
                  <a:endParaRPr kumimoji="1" lang="en-US" altLang="ko-KR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endParaRPr>
                </a:p>
              </p:txBody>
            </p:sp>
            <p:grpSp>
              <p:nvGrpSpPr>
                <p:cNvPr id="153" name="그룹 92"/>
                <p:cNvGrpSpPr>
                  <a:grpSpLocks/>
                </p:cNvGrpSpPr>
                <p:nvPr/>
              </p:nvGrpSpPr>
              <p:grpSpPr bwMode="auto">
                <a:xfrm>
                  <a:off x="7456864" y="3361739"/>
                  <a:ext cx="3029659" cy="384852"/>
                  <a:chOff x="3517900" y="2171684"/>
                  <a:chExt cx="2880500" cy="360000"/>
                </a:xfrm>
              </p:grpSpPr>
              <p:sp>
                <p:nvSpPr>
                  <p:cNvPr id="154" name="직사각형 153"/>
                  <p:cNvSpPr/>
                  <p:nvPr/>
                </p:nvSpPr>
                <p:spPr>
                  <a:xfrm>
                    <a:off x="3517900" y="2171684"/>
                    <a:ext cx="2880500" cy="360000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E0E8F4">
                          <a:alpha val="0"/>
                        </a:srgbClr>
                      </a:gs>
                      <a:gs pos="1000">
                        <a:srgbClr val="CAD7EC"/>
                      </a:gs>
                      <a:gs pos="99000">
                        <a:srgbClr val="CAD7EC"/>
                      </a:gs>
                      <a:gs pos="100000">
                        <a:srgbClr val="E0E8F4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lvl="1" indent="-142751" algn="ctr" defTabSz="913681">
                      <a:lnSpc>
                        <a:spcPct val="110000"/>
                      </a:lnSpc>
                      <a:buClr>
                        <a:sysClr val="windowText" lastClr="000000"/>
                      </a:buClr>
                      <a:tabLst>
                        <a:tab pos="5643425" algn="l"/>
                      </a:tabLst>
                      <a:defRPr/>
                    </a:pPr>
                    <a:endParaRPr lang="ko-KR" altLang="en-US" sz="1600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grpSp>
                <p:nvGrpSpPr>
                  <p:cNvPr id="155" name="그룹 62"/>
                  <p:cNvGrpSpPr>
                    <a:grpSpLocks/>
                  </p:cNvGrpSpPr>
                  <p:nvPr/>
                </p:nvGrpSpPr>
                <p:grpSpPr bwMode="auto">
                  <a:xfrm>
                    <a:off x="3642845" y="2180151"/>
                    <a:ext cx="1833281" cy="316692"/>
                    <a:chOff x="414161" y="2180151"/>
                    <a:chExt cx="1833281" cy="316692"/>
                  </a:xfrm>
                </p:grpSpPr>
                <p:sp>
                  <p:nvSpPr>
                    <p:cNvPr id="156" name="TextBox 155"/>
                    <p:cNvSpPr txBox="1"/>
                    <p:nvPr/>
                  </p:nvSpPr>
                  <p:spPr>
                    <a:xfrm>
                      <a:off x="445671" y="2180151"/>
                      <a:ext cx="1801771" cy="316692"/>
                    </a:xfrm>
                    <a:prstGeom prst="rect">
                      <a:avLst/>
                    </a:prstGeom>
                    <a:noFill/>
                  </p:spPr>
                  <p:txBody>
                    <a:bodyPr wrap="none" anchor="ctr">
                      <a:spAutoFit/>
                      <a:scene3d>
                        <a:camera prst="orthographicFront"/>
                        <a:lightRig rig="threePt" dir="t"/>
                      </a:scene3d>
                      <a:sp3d>
                        <a:bevelT w="1270"/>
                      </a:sp3d>
                    </a:bodyPr>
                    <a:lstStyle>
                      <a:defPPr>
                        <a:defRPr lang="ko-KR"/>
                      </a:defPPr>
                      <a:lvl1pPr defTabSz="914327" fontAlgn="auto" latinLnBrk="0">
                        <a:spcBef>
                          <a:spcPts val="0"/>
                        </a:spcBef>
                        <a:spcAft>
                          <a:spcPts val="0"/>
                        </a:spcAft>
                        <a:defRPr kumimoji="0" sz="1600" spc="0">
                          <a:solidFill>
                            <a:srgbClr val="212121"/>
                          </a:solidFill>
                          <a:latin typeface="+mj-ea"/>
                          <a:ea typeface="+mj-ea"/>
                        </a:defRPr>
                      </a:lvl1pPr>
                    </a:lstStyle>
                    <a:p>
                      <a:r>
                        <a:rPr lang="ko-KR" altLang="en-US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지속적인 위험관리</a:t>
                      </a:r>
                      <a:endParaRPr lang="en-US" altLang="ko-KR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p:txBody>
                </p:sp>
                <p:grpSp>
                  <p:nvGrpSpPr>
                    <p:cNvPr id="157" name="그룹 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4161" y="2294258"/>
                      <a:ext cx="67320" cy="100221"/>
                      <a:chOff x="415016" y="2294258"/>
                      <a:chExt cx="67320" cy="100221"/>
                    </a:xfrm>
                  </p:grpSpPr>
                  <p:sp>
                    <p:nvSpPr>
                      <p:cNvPr id="158" name="직사각형 157"/>
                      <p:cNvSpPr/>
                      <p:nvPr/>
                    </p:nvSpPr>
                    <p:spPr>
                      <a:xfrm rot="2700000">
                        <a:off x="415473" y="2293964"/>
                        <a:ext cx="39681" cy="39683"/>
                      </a:xfrm>
                      <a:prstGeom prst="rect">
                        <a:avLst/>
                      </a:prstGeom>
                      <a:solidFill>
                        <a:srgbClr val="8996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59" name="직사각형 158"/>
                      <p:cNvSpPr/>
                      <p:nvPr/>
                    </p:nvSpPr>
                    <p:spPr>
                      <a:xfrm rot="2700000">
                        <a:off x="415473" y="2354281"/>
                        <a:ext cx="39681" cy="39683"/>
                      </a:xfrm>
                      <a:prstGeom prst="rect">
                        <a:avLst/>
                      </a:prstGeom>
                      <a:solidFill>
                        <a:srgbClr val="8996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60" name="직사각형 159"/>
                      <p:cNvSpPr/>
                      <p:nvPr/>
                    </p:nvSpPr>
                    <p:spPr>
                      <a:xfrm rot="2700000">
                        <a:off x="442457" y="2324122"/>
                        <a:ext cx="39682" cy="39684"/>
                      </a:xfrm>
                      <a:prstGeom prst="rect">
                        <a:avLst/>
                      </a:prstGeom>
                      <a:solidFill>
                        <a:srgbClr val="C70026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32" name="그룹 131"/>
              <p:cNvGrpSpPr/>
              <p:nvPr/>
            </p:nvGrpSpPr>
            <p:grpSpPr>
              <a:xfrm>
                <a:off x="7456864" y="5460428"/>
                <a:ext cx="3038087" cy="1479808"/>
                <a:chOff x="7456864" y="4787739"/>
                <a:chExt cx="3038087" cy="1479808"/>
              </a:xfrm>
            </p:grpSpPr>
            <p:sp>
              <p:nvSpPr>
                <p:cNvPr id="143" name="TextBox 142"/>
                <p:cNvSpPr txBox="1"/>
                <p:nvPr/>
              </p:nvSpPr>
              <p:spPr>
                <a:xfrm>
                  <a:off x="7505854" y="5220978"/>
                  <a:ext cx="2989097" cy="10465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>
                  <a:defPPr>
                    <a:defRPr lang="ko-KR"/>
                  </a:defPPr>
                  <a:lvl1pPr marL="130165" indent="-130165" defTabSz="914327" fontAlgn="auto" latinLnBrk="0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400"/>
                    </a:spcAft>
                    <a:buFont typeface="Arial" pitchFamily="34" charset="0"/>
                    <a:buChar char="•"/>
                    <a:defRPr sz="1300">
                      <a:latin typeface="Rix모던고딕 B" panose="02020603020101020101" pitchFamily="18" charset="-127"/>
                      <a:ea typeface="Rix모던고딕 B" panose="02020603020101020101" pitchFamily="18" charset="-127"/>
                    </a:defRPr>
                  </a:lvl1pPr>
                </a:lstStyle>
                <a:p>
                  <a:pPr marL="161798" indent="-161798" defTabSz="1066904" fontAlgn="base">
                    <a:lnSpc>
                      <a:spcPct val="120000"/>
                    </a:lnSpc>
                    <a:spcAft>
                      <a:spcPts val="200"/>
                    </a:spcAft>
                    <a:buClr>
                      <a:srgbClr val="777777"/>
                    </a:buClr>
                    <a:buSzPct val="65000"/>
                    <a:buBlip>
                      <a:blip r:embed="rId5"/>
                    </a:buBlip>
                  </a:pPr>
                  <a:r>
                    <a:rPr kumimoji="1" lang="ko-KR" altLang="en-US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제안사의 위험관리절차를 적용하여 체계적인 위험관리 활동 수행 </a:t>
                  </a:r>
                </a:p>
                <a:p>
                  <a:pPr marL="161798" indent="-161798" defTabSz="1066904" fontAlgn="base">
                    <a:lnSpc>
                      <a:spcPct val="120000"/>
                    </a:lnSpc>
                    <a:spcAft>
                      <a:spcPts val="200"/>
                    </a:spcAft>
                    <a:buClr>
                      <a:srgbClr val="777777"/>
                    </a:buClr>
                    <a:buSzPct val="65000"/>
                    <a:buBlip>
                      <a:blip r:embed="rId5"/>
                    </a:buBlip>
                  </a:pPr>
                  <a:r>
                    <a:rPr kumimoji="1" lang="ko-KR" altLang="en-US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식별된 위험요소는 조치 활동내용을 고객과 지속적인 공유 </a:t>
                  </a:r>
                </a:p>
              </p:txBody>
            </p:sp>
            <p:grpSp>
              <p:nvGrpSpPr>
                <p:cNvPr id="144" name="그룹 92"/>
                <p:cNvGrpSpPr>
                  <a:grpSpLocks/>
                </p:cNvGrpSpPr>
                <p:nvPr/>
              </p:nvGrpSpPr>
              <p:grpSpPr bwMode="auto">
                <a:xfrm>
                  <a:off x="7456864" y="4787739"/>
                  <a:ext cx="3029659" cy="384852"/>
                  <a:chOff x="3517900" y="2171684"/>
                  <a:chExt cx="2880500" cy="360000"/>
                </a:xfrm>
              </p:grpSpPr>
              <p:sp>
                <p:nvSpPr>
                  <p:cNvPr id="145" name="직사각형 144"/>
                  <p:cNvSpPr/>
                  <p:nvPr/>
                </p:nvSpPr>
                <p:spPr>
                  <a:xfrm>
                    <a:off x="3517900" y="2171684"/>
                    <a:ext cx="2880500" cy="360000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E0E8F4">
                          <a:alpha val="0"/>
                        </a:srgbClr>
                      </a:gs>
                      <a:gs pos="1000">
                        <a:srgbClr val="CAD7EC"/>
                      </a:gs>
                      <a:gs pos="99000">
                        <a:srgbClr val="CAD7EC"/>
                      </a:gs>
                      <a:gs pos="100000">
                        <a:srgbClr val="E0E8F4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lvl="1" indent="-142751" algn="ctr" defTabSz="913681">
                      <a:lnSpc>
                        <a:spcPct val="110000"/>
                      </a:lnSpc>
                      <a:buClr>
                        <a:sysClr val="windowText" lastClr="000000"/>
                      </a:buClr>
                      <a:tabLst>
                        <a:tab pos="5643425" algn="l"/>
                      </a:tabLst>
                      <a:defRPr/>
                    </a:pPr>
                    <a:endParaRPr lang="ko-KR" altLang="en-US" sz="1600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grpSp>
                <p:nvGrpSpPr>
                  <p:cNvPr id="146" name="그룹 62"/>
                  <p:cNvGrpSpPr>
                    <a:grpSpLocks/>
                  </p:cNvGrpSpPr>
                  <p:nvPr/>
                </p:nvGrpSpPr>
                <p:grpSpPr bwMode="auto">
                  <a:xfrm>
                    <a:off x="3642845" y="2180151"/>
                    <a:ext cx="1052950" cy="316692"/>
                    <a:chOff x="414161" y="2180151"/>
                    <a:chExt cx="1052950" cy="316692"/>
                  </a:xfrm>
                </p:grpSpPr>
                <p:sp>
                  <p:nvSpPr>
                    <p:cNvPr id="147" name="TextBox 146"/>
                    <p:cNvSpPr txBox="1"/>
                    <p:nvPr/>
                  </p:nvSpPr>
                  <p:spPr>
                    <a:xfrm>
                      <a:off x="445671" y="2180151"/>
                      <a:ext cx="1021440" cy="316692"/>
                    </a:xfrm>
                    <a:prstGeom prst="rect">
                      <a:avLst/>
                    </a:prstGeom>
                    <a:noFill/>
                  </p:spPr>
                  <p:txBody>
                    <a:bodyPr wrap="none" anchor="ctr">
                      <a:spAutoFit/>
                      <a:scene3d>
                        <a:camera prst="orthographicFront"/>
                        <a:lightRig rig="threePt" dir="t"/>
                      </a:scene3d>
                      <a:sp3d>
                        <a:bevelT w="1270"/>
                      </a:sp3d>
                    </a:bodyPr>
                    <a:lstStyle>
                      <a:defPPr>
                        <a:defRPr lang="ko-KR"/>
                      </a:defPPr>
                      <a:lvl1pPr defTabSz="914327" fontAlgn="auto" latinLnBrk="0">
                        <a:spcBef>
                          <a:spcPts val="0"/>
                        </a:spcBef>
                        <a:spcAft>
                          <a:spcPts val="0"/>
                        </a:spcAft>
                        <a:defRPr kumimoji="0" sz="1600" spc="-100">
                          <a:solidFill>
                            <a:srgbClr val="212121"/>
                          </a:solidFill>
                          <a:latin typeface="+mj-ea"/>
                          <a:ea typeface="+mj-ea"/>
                        </a:defRPr>
                      </a:lvl1pPr>
                    </a:lstStyle>
                    <a:p>
                      <a:r>
                        <a:rPr lang="ko-KR" altLang="en-US" spc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위험 대응</a:t>
                      </a:r>
                      <a:endParaRPr lang="en-US" altLang="ko-KR" spc="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p:txBody>
                </p:sp>
                <p:grpSp>
                  <p:nvGrpSpPr>
                    <p:cNvPr id="148" name="그룹 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4161" y="2294258"/>
                      <a:ext cx="67320" cy="100221"/>
                      <a:chOff x="415016" y="2294258"/>
                      <a:chExt cx="67320" cy="100221"/>
                    </a:xfrm>
                  </p:grpSpPr>
                  <p:sp>
                    <p:nvSpPr>
                      <p:cNvPr id="149" name="직사각형 148"/>
                      <p:cNvSpPr/>
                      <p:nvPr/>
                    </p:nvSpPr>
                    <p:spPr>
                      <a:xfrm rot="2700000">
                        <a:off x="415473" y="2295401"/>
                        <a:ext cx="39682" cy="39683"/>
                      </a:xfrm>
                      <a:prstGeom prst="rect">
                        <a:avLst/>
                      </a:prstGeom>
                      <a:solidFill>
                        <a:srgbClr val="8996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50" name="직사각형 149"/>
                      <p:cNvSpPr/>
                      <p:nvPr/>
                    </p:nvSpPr>
                    <p:spPr>
                      <a:xfrm rot="2700000">
                        <a:off x="415473" y="2355718"/>
                        <a:ext cx="39682" cy="39683"/>
                      </a:xfrm>
                      <a:prstGeom prst="rect">
                        <a:avLst/>
                      </a:prstGeom>
                      <a:solidFill>
                        <a:srgbClr val="8996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51" name="직사각형 150"/>
                      <p:cNvSpPr/>
                      <p:nvPr/>
                    </p:nvSpPr>
                    <p:spPr>
                      <a:xfrm rot="2700000">
                        <a:off x="442457" y="2325560"/>
                        <a:ext cx="39681" cy="39684"/>
                      </a:xfrm>
                      <a:prstGeom prst="rect">
                        <a:avLst/>
                      </a:prstGeom>
                      <a:solidFill>
                        <a:srgbClr val="C70026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33" name="그룹 132"/>
              <p:cNvGrpSpPr/>
              <p:nvPr/>
            </p:nvGrpSpPr>
            <p:grpSpPr>
              <a:xfrm>
                <a:off x="7456864" y="1923097"/>
                <a:ext cx="3029659" cy="1450351"/>
                <a:chOff x="7456864" y="1923097"/>
                <a:chExt cx="3029659" cy="1450351"/>
              </a:xfrm>
            </p:grpSpPr>
            <p:sp>
              <p:nvSpPr>
                <p:cNvPr id="134" name="TextBox 133"/>
                <p:cNvSpPr txBox="1"/>
                <p:nvPr/>
              </p:nvSpPr>
              <p:spPr>
                <a:xfrm>
                  <a:off x="7505854" y="2344512"/>
                  <a:ext cx="2900091" cy="1028936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marL="161798" indent="-161798" defTabSz="1066904" fontAlgn="base" latinLnBrk="0">
                    <a:lnSpc>
                      <a:spcPct val="120000"/>
                    </a:lnSpc>
                    <a:spcAft>
                      <a:spcPts val="200"/>
                    </a:spcAft>
                    <a:buClr>
                      <a:srgbClr val="777777"/>
                    </a:buClr>
                    <a:buSzPct val="65000"/>
                    <a:buBlip>
                      <a:blip r:embed="rId5"/>
                    </a:buBlip>
                    <a:defRPr/>
                  </a:pPr>
                  <a:r>
                    <a:rPr kumimoji="1" lang="ko-KR" altLang="en-US" sz="1300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다양한 사업 수행 경험을 바탕으로 사업초기에 사업수행간 예상되는 위험요소를 식별하고 사전 대응</a:t>
                  </a:r>
                  <a:r>
                    <a:rPr kumimoji="1" lang="en-US" altLang="ko-KR" sz="1300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 </a:t>
                  </a:r>
                  <a:r>
                    <a:rPr kumimoji="1" lang="ko-KR" altLang="en-US" sz="1300" kern="0" dirty="0">
                      <a:solidFill>
                        <a:prstClr val="black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Times New Roman" pitchFamily="18" charset="0"/>
                    </a:rPr>
                    <a:t>방안 강구</a:t>
                  </a:r>
                  <a:endParaRPr kumimoji="1" lang="en-US" altLang="ko-KR" sz="1300" kern="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Times New Roman" pitchFamily="18" charset="0"/>
                  </a:endParaRPr>
                </a:p>
              </p:txBody>
            </p:sp>
            <p:grpSp>
              <p:nvGrpSpPr>
                <p:cNvPr id="135" name="그룹 92"/>
                <p:cNvGrpSpPr>
                  <a:grpSpLocks/>
                </p:cNvGrpSpPr>
                <p:nvPr/>
              </p:nvGrpSpPr>
              <p:grpSpPr bwMode="auto">
                <a:xfrm>
                  <a:off x="7456864" y="1923097"/>
                  <a:ext cx="3029659" cy="384852"/>
                  <a:chOff x="3517900" y="2171684"/>
                  <a:chExt cx="2880500" cy="360000"/>
                </a:xfrm>
              </p:grpSpPr>
              <p:sp>
                <p:nvSpPr>
                  <p:cNvPr id="136" name="직사각형 135"/>
                  <p:cNvSpPr/>
                  <p:nvPr/>
                </p:nvSpPr>
                <p:spPr>
                  <a:xfrm>
                    <a:off x="3517900" y="2171684"/>
                    <a:ext cx="2880500" cy="360000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E0E8F4">
                          <a:alpha val="0"/>
                        </a:srgbClr>
                      </a:gs>
                      <a:gs pos="1000">
                        <a:srgbClr val="CAD7EC"/>
                      </a:gs>
                      <a:gs pos="99000">
                        <a:srgbClr val="CAD7EC"/>
                      </a:gs>
                      <a:gs pos="100000">
                        <a:srgbClr val="E0E8F4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lvl="1" indent="-142751" algn="ctr" defTabSz="913681">
                      <a:lnSpc>
                        <a:spcPct val="110000"/>
                      </a:lnSpc>
                      <a:buClr>
                        <a:sysClr val="windowText" lastClr="000000"/>
                      </a:buClr>
                      <a:tabLst>
                        <a:tab pos="5643425" algn="l"/>
                      </a:tabLst>
                      <a:defRPr/>
                    </a:pPr>
                    <a:endParaRPr lang="ko-KR" altLang="en-US" sz="1600" dirty="0">
                      <a:latin typeface="굴림" panose="020B0600000101010101" pitchFamily="50" charset="-127"/>
                      <a:ea typeface="굴림" panose="020B0600000101010101" pitchFamily="50" charset="-127"/>
                    </a:endParaRPr>
                  </a:p>
                </p:txBody>
              </p:sp>
              <p:grpSp>
                <p:nvGrpSpPr>
                  <p:cNvPr id="137" name="그룹 62"/>
                  <p:cNvGrpSpPr>
                    <a:grpSpLocks/>
                  </p:cNvGrpSpPr>
                  <p:nvPr/>
                </p:nvGrpSpPr>
                <p:grpSpPr bwMode="auto">
                  <a:xfrm>
                    <a:off x="3642845" y="2180151"/>
                    <a:ext cx="1443116" cy="316692"/>
                    <a:chOff x="414161" y="2180151"/>
                    <a:chExt cx="1443116" cy="316692"/>
                  </a:xfrm>
                </p:grpSpPr>
                <p:sp>
                  <p:nvSpPr>
                    <p:cNvPr id="138" name="TextBox 137"/>
                    <p:cNvSpPr txBox="1"/>
                    <p:nvPr/>
                  </p:nvSpPr>
                  <p:spPr>
                    <a:xfrm>
                      <a:off x="445671" y="2180151"/>
                      <a:ext cx="1411606" cy="316692"/>
                    </a:xfrm>
                    <a:prstGeom prst="rect">
                      <a:avLst/>
                    </a:prstGeom>
                    <a:noFill/>
                  </p:spPr>
                  <p:txBody>
                    <a:bodyPr wrap="none" anchor="ctr">
                      <a:spAutoFit/>
                      <a:scene3d>
                        <a:camera prst="orthographicFront"/>
                        <a:lightRig rig="threePt" dir="t"/>
                      </a:scene3d>
                      <a:sp3d>
                        <a:bevelT w="1270"/>
                      </a:sp3d>
                    </a:bodyPr>
                    <a:lstStyle>
                      <a:defPPr>
                        <a:defRPr lang="ko-KR"/>
                      </a:defPPr>
                      <a:lvl1pPr defTabSz="914327" fontAlgn="auto" latinLnBrk="0">
                        <a:spcBef>
                          <a:spcPts val="0"/>
                        </a:spcBef>
                        <a:spcAft>
                          <a:spcPts val="0"/>
                        </a:spcAft>
                        <a:defRPr kumimoji="0" sz="1600" spc="0">
                          <a:solidFill>
                            <a:srgbClr val="212121"/>
                          </a:solidFill>
                          <a:latin typeface="+mj-ea"/>
                          <a:ea typeface="+mj-ea"/>
                        </a:defRPr>
                      </a:lvl1pPr>
                    </a:lstStyle>
                    <a:p>
                      <a:r>
                        <a:rPr lang="ko-KR" altLang="en-US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조기 위험식별</a:t>
                      </a:r>
                      <a:endParaRPr lang="en-US" altLang="ko-KR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p:txBody>
                </p:sp>
                <p:grpSp>
                  <p:nvGrpSpPr>
                    <p:cNvPr id="139" name="그룹 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4161" y="2294258"/>
                      <a:ext cx="67320" cy="100221"/>
                      <a:chOff x="415016" y="2294258"/>
                      <a:chExt cx="67320" cy="100221"/>
                    </a:xfrm>
                  </p:grpSpPr>
                  <p:sp>
                    <p:nvSpPr>
                      <p:cNvPr id="140" name="직사각형 139"/>
                      <p:cNvSpPr/>
                      <p:nvPr/>
                    </p:nvSpPr>
                    <p:spPr>
                      <a:xfrm rot="2700000">
                        <a:off x="415473" y="2294614"/>
                        <a:ext cx="39681" cy="39683"/>
                      </a:xfrm>
                      <a:prstGeom prst="rect">
                        <a:avLst/>
                      </a:prstGeom>
                      <a:solidFill>
                        <a:srgbClr val="8996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41" name="직사각형 140"/>
                      <p:cNvSpPr/>
                      <p:nvPr/>
                    </p:nvSpPr>
                    <p:spPr>
                      <a:xfrm rot="2700000">
                        <a:off x="415473" y="2354931"/>
                        <a:ext cx="39681" cy="39683"/>
                      </a:xfrm>
                      <a:prstGeom prst="rect">
                        <a:avLst/>
                      </a:prstGeom>
                      <a:solidFill>
                        <a:srgbClr val="8996A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42" name="직사각형 141"/>
                      <p:cNvSpPr/>
                      <p:nvPr/>
                    </p:nvSpPr>
                    <p:spPr>
                      <a:xfrm rot="2700000">
                        <a:off x="442457" y="2324772"/>
                        <a:ext cx="39682" cy="39684"/>
                      </a:xfrm>
                      <a:prstGeom prst="rect">
                        <a:avLst/>
                      </a:prstGeom>
                      <a:solidFill>
                        <a:srgbClr val="C70026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defTabSz="913607">
                          <a:defRPr/>
                        </a:pPr>
                        <a:endParaRPr lang="ko-KR" altLang="en-US" sz="1600" dirty="0">
                          <a:latin typeface="굴림" panose="020B0600000101010101" pitchFamily="50" charset="-127"/>
                          <a:ea typeface="굴림" panose="020B0600000101010101" pitchFamily="50" charset="-127"/>
                        </a:endParaRPr>
                      </a:p>
                    </p:txBody>
                  </p:sp>
                </p:grpSp>
              </p:grpSp>
            </p:grpSp>
          </p:grpSp>
        </p:grpSp>
        <p:grpSp>
          <p:nvGrpSpPr>
            <p:cNvPr id="161" name="그룹 62"/>
            <p:cNvGrpSpPr>
              <a:grpSpLocks/>
            </p:cNvGrpSpPr>
            <p:nvPr/>
          </p:nvGrpSpPr>
          <p:grpSpPr bwMode="auto">
            <a:xfrm>
              <a:off x="563830" y="2026531"/>
              <a:ext cx="1425355" cy="307777"/>
              <a:chOff x="414161" y="2218428"/>
              <a:chExt cx="1213257" cy="261751"/>
            </a:xfrm>
          </p:grpSpPr>
          <p:sp>
            <p:nvSpPr>
              <p:cNvPr id="162" name="TextBox 161"/>
              <p:cNvSpPr txBox="1"/>
              <p:nvPr/>
            </p:nvSpPr>
            <p:spPr>
              <a:xfrm>
                <a:off x="502821" y="2218428"/>
                <a:ext cx="1124597" cy="261751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913607" latinLnBrk="0">
                  <a:defRPr/>
                </a:pPr>
                <a:r>
                  <a:rPr lang="ko-KR" altLang="en-US" sz="1400" dirty="0">
                    <a:solidFill>
                      <a:srgbClr val="21212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위험관리 절차</a:t>
                </a:r>
              </a:p>
            </p:txBody>
          </p:sp>
          <p:grpSp>
            <p:nvGrpSpPr>
              <p:cNvPr id="163" name="그룹 64"/>
              <p:cNvGrpSpPr>
                <a:grpSpLocks/>
              </p:cNvGrpSpPr>
              <p:nvPr/>
            </p:nvGrpSpPr>
            <p:grpSpPr bwMode="auto">
              <a:xfrm>
                <a:off x="414161" y="2294258"/>
                <a:ext cx="67320" cy="100221"/>
                <a:chOff x="415016" y="2294258"/>
                <a:chExt cx="67320" cy="100221"/>
              </a:xfrm>
            </p:grpSpPr>
            <p:sp>
              <p:nvSpPr>
                <p:cNvPr id="164" name="직사각형 163"/>
                <p:cNvSpPr/>
                <p:nvPr/>
              </p:nvSpPr>
              <p:spPr>
                <a:xfrm rot="2700000">
                  <a:off x="415032" y="2293935"/>
                  <a:ext cx="39155" cy="39187"/>
                </a:xfrm>
                <a:prstGeom prst="rect">
                  <a:avLst/>
                </a:prstGeom>
                <a:solidFill>
                  <a:srgbClr val="8996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65" name="직사각형 164"/>
                <p:cNvSpPr/>
                <p:nvPr/>
              </p:nvSpPr>
              <p:spPr>
                <a:xfrm rot="2700000">
                  <a:off x="415032" y="2354692"/>
                  <a:ext cx="39154" cy="39187"/>
                </a:xfrm>
                <a:prstGeom prst="rect">
                  <a:avLst/>
                </a:prstGeom>
                <a:solidFill>
                  <a:srgbClr val="8996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66" name="직사각형 165"/>
                <p:cNvSpPr/>
                <p:nvPr/>
              </p:nvSpPr>
              <p:spPr>
                <a:xfrm rot="2700000">
                  <a:off x="442734" y="2324314"/>
                  <a:ext cx="40504" cy="39186"/>
                </a:xfrm>
                <a:prstGeom prst="rect">
                  <a:avLst/>
                </a:prstGeom>
                <a:solidFill>
                  <a:srgbClr val="C700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67" name="그룹 62"/>
            <p:cNvGrpSpPr>
              <a:grpSpLocks/>
            </p:cNvGrpSpPr>
            <p:nvPr/>
          </p:nvGrpSpPr>
          <p:grpSpPr bwMode="auto">
            <a:xfrm>
              <a:off x="540075" y="4936757"/>
              <a:ext cx="2980267" cy="307777"/>
              <a:chOff x="414161" y="2218431"/>
              <a:chExt cx="2536790" cy="261758"/>
            </a:xfrm>
          </p:grpSpPr>
          <p:sp>
            <p:nvSpPr>
              <p:cNvPr id="168" name="TextBox 167"/>
              <p:cNvSpPr txBox="1"/>
              <p:nvPr/>
            </p:nvSpPr>
            <p:spPr>
              <a:xfrm>
                <a:off x="502821" y="2218431"/>
                <a:ext cx="2448130" cy="261758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913607" latinLnBrk="0">
                  <a:defRPr/>
                </a:pPr>
                <a:r>
                  <a:rPr lang="ko-KR" altLang="en-US" sz="1400" dirty="0">
                    <a:solidFill>
                      <a:srgbClr val="21212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유사사업 수행시 식별된 위험유형</a:t>
                </a:r>
              </a:p>
            </p:txBody>
          </p:sp>
          <p:grpSp>
            <p:nvGrpSpPr>
              <p:cNvPr id="169" name="그룹 64"/>
              <p:cNvGrpSpPr>
                <a:grpSpLocks/>
              </p:cNvGrpSpPr>
              <p:nvPr/>
            </p:nvGrpSpPr>
            <p:grpSpPr bwMode="auto">
              <a:xfrm>
                <a:off x="414161" y="2294258"/>
                <a:ext cx="67320" cy="100221"/>
                <a:chOff x="415016" y="2294258"/>
                <a:chExt cx="67320" cy="100221"/>
              </a:xfrm>
            </p:grpSpPr>
            <p:sp>
              <p:nvSpPr>
                <p:cNvPr id="170" name="직사각형 169"/>
                <p:cNvSpPr/>
                <p:nvPr/>
              </p:nvSpPr>
              <p:spPr>
                <a:xfrm rot="2700000">
                  <a:off x="415032" y="2293935"/>
                  <a:ext cx="39155" cy="39187"/>
                </a:xfrm>
                <a:prstGeom prst="rect">
                  <a:avLst/>
                </a:prstGeom>
                <a:solidFill>
                  <a:srgbClr val="8996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71" name="직사각형 170"/>
                <p:cNvSpPr/>
                <p:nvPr/>
              </p:nvSpPr>
              <p:spPr>
                <a:xfrm rot="2700000">
                  <a:off x="415032" y="2354692"/>
                  <a:ext cx="39154" cy="39187"/>
                </a:xfrm>
                <a:prstGeom prst="rect">
                  <a:avLst/>
                </a:prstGeom>
                <a:solidFill>
                  <a:srgbClr val="8996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72" name="직사각형 171"/>
                <p:cNvSpPr/>
                <p:nvPr/>
              </p:nvSpPr>
              <p:spPr>
                <a:xfrm rot="2700000">
                  <a:off x="442734" y="2324314"/>
                  <a:ext cx="40504" cy="39186"/>
                </a:xfrm>
                <a:prstGeom prst="rect">
                  <a:avLst/>
                </a:prstGeom>
                <a:solidFill>
                  <a:srgbClr val="C700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73" name="그룹 172"/>
            <p:cNvGrpSpPr/>
            <p:nvPr/>
          </p:nvGrpSpPr>
          <p:grpSpPr>
            <a:xfrm>
              <a:off x="4298495" y="5419733"/>
              <a:ext cx="3028382" cy="1314451"/>
              <a:chOff x="4545241" y="5718421"/>
              <a:chExt cx="2681053" cy="1212850"/>
            </a:xfrm>
          </p:grpSpPr>
          <p:sp>
            <p:nvSpPr>
              <p:cNvPr id="174" name="Rectangle 2"/>
              <p:cNvSpPr>
                <a:spLocks noChangeArrowheads="1"/>
              </p:cNvSpPr>
              <p:nvPr/>
            </p:nvSpPr>
            <p:spPr bwMode="auto">
              <a:xfrm>
                <a:off x="4545241" y="6628059"/>
                <a:ext cx="2681053" cy="303212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90000" tIns="0" rIns="9000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913607"/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관계기관의 협조부족으로 인한 일정지연 </a:t>
                </a:r>
              </a:p>
            </p:txBody>
          </p:sp>
          <p:sp>
            <p:nvSpPr>
              <p:cNvPr id="175" name="Rectangle 3"/>
              <p:cNvSpPr>
                <a:spLocks noChangeArrowheads="1"/>
              </p:cNvSpPr>
              <p:nvPr/>
            </p:nvSpPr>
            <p:spPr bwMode="auto">
              <a:xfrm>
                <a:off x="4631364" y="6324846"/>
                <a:ext cx="2594930" cy="30321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90000" tIns="0" rIns="9000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913607"/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사업수행간 자료 유출 및 보안사고 발생 </a:t>
                </a:r>
              </a:p>
            </p:txBody>
          </p:sp>
          <p:sp>
            <p:nvSpPr>
              <p:cNvPr id="176" name="Rectangle 4"/>
              <p:cNvSpPr>
                <a:spLocks noChangeArrowheads="1"/>
              </p:cNvSpPr>
              <p:nvPr/>
            </p:nvSpPr>
            <p:spPr bwMode="auto">
              <a:xfrm>
                <a:off x="4545241" y="6021634"/>
                <a:ext cx="2681053" cy="303212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90000" tIns="0" rIns="9000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913607"/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요구사항 누락여부 </a:t>
                </a:r>
              </a:p>
            </p:txBody>
          </p:sp>
          <p:sp>
            <p:nvSpPr>
              <p:cNvPr id="177" name="Rectangle 5"/>
              <p:cNvSpPr>
                <a:spLocks noChangeArrowheads="1"/>
              </p:cNvSpPr>
              <p:nvPr/>
            </p:nvSpPr>
            <p:spPr bwMode="auto">
              <a:xfrm>
                <a:off x="4545241" y="5718421"/>
                <a:ext cx="2681053" cy="30321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7000">
                    <a:schemeClr val="bg1"/>
                  </a:gs>
                  <a:gs pos="83000">
                    <a:srgbClr val="ECECEC"/>
                  </a:gs>
                  <a:gs pos="100000">
                    <a:schemeClr val="bg1"/>
                  </a:gs>
                </a:gsLst>
                <a:lin ang="5400000" scaled="0"/>
              </a:gra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innerShdw blurRad="50800">
                  <a:prstClr val="black">
                    <a:alpha val="6000"/>
                  </a:prstClr>
                </a:innerShdw>
              </a:effectLst>
            </p:spPr>
            <p:txBody>
              <a:bodyPr lIns="90000" tIns="0" rIns="90000" bIns="0" anchor="ctr">
                <a:scene3d>
                  <a:camera prst="orthographicFront"/>
                  <a:lightRig rig="threePt" dir="t"/>
                </a:scene3d>
                <a:sp3d>
                  <a:bevelT w="1270"/>
                  <a:contourClr>
                    <a:schemeClr val="bg1"/>
                  </a:contourClr>
                </a:sp3d>
              </a:bodyPr>
              <a:lstStyle/>
              <a:p>
                <a:pPr algn="ctr" defTabSz="913607"/>
                <a:r>
                  <a:rPr lang="ko-KR" altLang="ko-KR" sz="1200" dirty="0">
                    <a:latin typeface="굴림" panose="020B0600000101010101" pitchFamily="50" charset="-127"/>
                    <a:ea typeface="굴림" panose="020B0600000101010101" pitchFamily="50" charset="-127"/>
                  </a:rPr>
                  <a:t>요구사항간 충돌 </a:t>
                </a:r>
              </a:p>
            </p:txBody>
          </p:sp>
        </p:grpSp>
        <p:pic>
          <p:nvPicPr>
            <p:cNvPr id="178" name="Picture 2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457673" y="1472495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9" name="Picture 2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7496648" y="1372382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0" name="그룹 179"/>
            <p:cNvGrpSpPr/>
            <p:nvPr/>
          </p:nvGrpSpPr>
          <p:grpSpPr>
            <a:xfrm>
              <a:off x="553093" y="2350806"/>
              <a:ext cx="6773775" cy="2329864"/>
              <a:chOff x="553083" y="2223086"/>
              <a:chExt cx="6773775" cy="2329864"/>
            </a:xfrm>
          </p:grpSpPr>
          <p:sp>
            <p:nvSpPr>
              <p:cNvPr id="181" name="직사각형 180"/>
              <p:cNvSpPr/>
              <p:nvPr/>
            </p:nvSpPr>
            <p:spPr>
              <a:xfrm>
                <a:off x="553083" y="2223086"/>
                <a:ext cx="6773775" cy="23298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algn="ctr">
                <a:noFill/>
                <a:round/>
                <a:headEnd/>
                <a:tailEnd/>
              </a:ln>
              <a:effectLst>
                <a:innerShdw blurRad="50800">
                  <a:schemeClr val="bg1">
                    <a:lumMod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/>
                <a:endParaRPr lang="ko-KR" altLang="en-US" sz="16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82" name="그룹 181"/>
              <p:cNvGrpSpPr/>
              <p:nvPr/>
            </p:nvGrpSpPr>
            <p:grpSpPr>
              <a:xfrm>
                <a:off x="685381" y="2376413"/>
                <a:ext cx="6509178" cy="2025523"/>
                <a:chOff x="667162" y="2376413"/>
                <a:chExt cx="6509178" cy="2025523"/>
              </a:xfrm>
            </p:grpSpPr>
            <p:sp>
              <p:nvSpPr>
                <p:cNvPr id="183" name="AutoShape 279"/>
                <p:cNvSpPr>
                  <a:spLocks noChangeArrowheads="1"/>
                </p:cNvSpPr>
                <p:nvPr/>
              </p:nvSpPr>
              <p:spPr bwMode="auto">
                <a:xfrm>
                  <a:off x="2032562" y="3075414"/>
                  <a:ext cx="5143778" cy="629116"/>
                </a:xfrm>
                <a:prstGeom prst="roundRect">
                  <a:avLst>
                    <a:gd name="adj" fmla="val 2277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defTabSz="913607"/>
                  <a:endParaRPr lang="ko-KR" altLang="ko-KR" sz="18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85" name="TextBox 184"/>
                <p:cNvSpPr txBox="1"/>
                <p:nvPr/>
              </p:nvSpPr>
              <p:spPr bwMode="auto">
                <a:xfrm>
                  <a:off x="1468562" y="3013620"/>
                  <a:ext cx="51296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>
                  <a:defPPr>
                    <a:defRPr lang="ko-KR"/>
                  </a:defPPr>
                  <a:lvl1pPr algn="ctr" defTabSz="914327" latinLnBrk="0">
                    <a:defRPr sz="1000">
                      <a:latin typeface="Rix모던고딕 B" panose="02020603020101020101" pitchFamily="18" charset="-127"/>
                      <a:ea typeface="Rix모던고딕 B" panose="02020603020101020101" pitchFamily="18" charset="-127"/>
                    </a:defRPr>
                  </a:lvl1pPr>
                </a:lstStyle>
                <a:p>
                  <a:r>
                    <a:rPr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상시</a:t>
                  </a:r>
                  <a:endParaRPr lang="en-US" altLang="ko-KR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  <a:p>
                  <a:r>
                    <a:rPr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모니터링</a:t>
                  </a:r>
                </a:p>
              </p:txBody>
            </p:sp>
            <p:sp>
              <p:nvSpPr>
                <p:cNvPr id="186" name="AutoShape 225"/>
                <p:cNvSpPr>
                  <a:spLocks noChangeArrowheads="1"/>
                </p:cNvSpPr>
                <p:nvPr/>
              </p:nvSpPr>
              <p:spPr bwMode="auto">
                <a:xfrm>
                  <a:off x="667162" y="2827648"/>
                  <a:ext cx="742538" cy="968417"/>
                </a:xfrm>
                <a:prstGeom prst="roundRect">
                  <a:avLst>
                    <a:gd name="adj" fmla="val 11824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defTabSz="913607"/>
                  <a:endParaRPr lang="ko-KR" altLang="en-US" sz="18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87" name="직사각형 186"/>
                <p:cNvSpPr/>
                <p:nvPr/>
              </p:nvSpPr>
              <p:spPr bwMode="auto">
                <a:xfrm>
                  <a:off x="880535" y="3547039"/>
                  <a:ext cx="35907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defTabSz="913607" latinLnBrk="0"/>
                  <a:r>
                    <a:rPr lang="ko-KR" altLang="en-US" sz="1200" dirty="0">
                      <a:solidFill>
                        <a:srgbClr val="21212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고객 </a:t>
                  </a:r>
                </a:p>
              </p:txBody>
            </p:sp>
            <p:sp>
              <p:nvSpPr>
                <p:cNvPr id="188" name="양쪽 모서리가 둥근 사각형 187"/>
                <p:cNvSpPr/>
                <p:nvPr/>
              </p:nvSpPr>
              <p:spPr bwMode="auto">
                <a:xfrm>
                  <a:off x="2028622" y="2798689"/>
                  <a:ext cx="1184755" cy="273598"/>
                </a:xfrm>
                <a:prstGeom prst="round2SameRect">
                  <a:avLst>
                    <a:gd name="adj1" fmla="val 37911"/>
                    <a:gd name="adj2" fmla="val 0"/>
                  </a:avLst>
                </a:prstGeom>
                <a:solidFill>
                  <a:srgbClr val="4371BB"/>
                </a:solidFill>
                <a:ln w="12700">
                  <a:solidFill>
                    <a:schemeClr val="accent1">
                      <a:lumMod val="75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algn="ctr" defTabSz="913607"/>
                  <a:r>
                    <a:rPr lang="en-US" altLang="ko-KR" sz="1400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MZ-PMM</a:t>
                  </a:r>
                  <a:endParaRPr lang="ko-KR" altLang="en-US" sz="14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 bwMode="auto">
                <a:xfrm>
                  <a:off x="4029921" y="2827648"/>
                  <a:ext cx="81272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>
                  <a:defPPr>
                    <a:defRPr lang="ko-KR"/>
                  </a:defPPr>
                  <a:lvl1pPr algn="ctr" defTabSz="914327" latinLnBrk="0">
                    <a:defRPr sz="1000">
                      <a:latin typeface="Rix모던고딕 B" panose="02020603020101020101" pitchFamily="18" charset="-127"/>
                      <a:ea typeface="Rix모던고딕 B" panose="02020603020101020101" pitchFamily="18" charset="-127"/>
                    </a:defRPr>
                  </a:lvl1pPr>
                </a:lstStyle>
                <a:p>
                  <a:r>
                    <a:rPr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상시 모니터링</a:t>
                  </a:r>
                </a:p>
              </p:txBody>
            </p:sp>
            <p:sp>
              <p:nvSpPr>
                <p:cNvPr id="190" name="AutoShape 195" descr="1"/>
                <p:cNvSpPr>
                  <a:spLocks noChangeArrowheads="1"/>
                </p:cNvSpPr>
                <p:nvPr/>
              </p:nvSpPr>
              <p:spPr bwMode="auto">
                <a:xfrm>
                  <a:off x="3374820" y="2386091"/>
                  <a:ext cx="1089848" cy="36992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 lIns="0" tIns="0" rIns="14400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r" defTabSz="913607"/>
                  <a:r>
                    <a:rPr lang="ko-KR" altLang="en-US" sz="1100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     수행조직</a:t>
                  </a:r>
                </a:p>
              </p:txBody>
            </p:sp>
            <p:sp>
              <p:nvSpPr>
                <p:cNvPr id="191" name="AutoShape 195" descr="1"/>
                <p:cNvSpPr>
                  <a:spLocks noChangeArrowheads="1"/>
                </p:cNvSpPr>
                <p:nvPr/>
              </p:nvSpPr>
              <p:spPr bwMode="auto">
                <a:xfrm>
                  <a:off x="5335750" y="2376413"/>
                  <a:ext cx="1134370" cy="36992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 lIns="0" tIns="0" rIns="14400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r" defTabSz="913607"/>
                  <a:r>
                    <a:rPr lang="ko-KR" altLang="en-US" sz="1100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         수행조직</a:t>
                  </a:r>
                </a:p>
              </p:txBody>
            </p:sp>
            <p:sp>
              <p:nvSpPr>
                <p:cNvPr id="192" name="왼쪽/오른쪽 화살표 191"/>
                <p:cNvSpPr/>
                <p:nvPr/>
              </p:nvSpPr>
              <p:spPr bwMode="gray">
                <a:xfrm rot="5400000">
                  <a:off x="3802406" y="3785318"/>
                  <a:ext cx="294233" cy="140398"/>
                </a:xfrm>
                <a:prstGeom prst="leftRightArrow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ffectLst/>
              </p:spPr>
              <p:txBody>
                <a:bodyPr vert="eaVert" wrap="none" anchor="ctr"/>
                <a:lstStyle/>
                <a:p>
                  <a:pPr latinLnBrk="0"/>
                  <a:endPara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93" name="TextBox 192"/>
                <p:cNvSpPr txBox="1"/>
                <p:nvPr/>
              </p:nvSpPr>
              <p:spPr bwMode="auto">
                <a:xfrm>
                  <a:off x="4036355" y="3790227"/>
                  <a:ext cx="81272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>
                  <a:defPPr>
                    <a:defRPr lang="ko-KR"/>
                  </a:defPPr>
                  <a:lvl1pPr algn="ctr" defTabSz="914327" latinLnBrk="0">
                    <a:defRPr sz="1000">
                      <a:solidFill>
                        <a:srgbClr val="21212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</a:defRPr>
                  </a:lvl1pPr>
                </a:lstStyle>
                <a:p>
                  <a:r>
                    <a:rPr lang="ko-KR" altLang="en-US" dirty="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상시 모니터링</a:t>
                  </a:r>
                </a:p>
              </p:txBody>
            </p:sp>
            <p:sp>
              <p:nvSpPr>
                <p:cNvPr id="194" name="왼쪽/오른쪽 화살표 193"/>
                <p:cNvSpPr/>
                <p:nvPr/>
              </p:nvSpPr>
              <p:spPr bwMode="gray">
                <a:xfrm rot="5400000">
                  <a:off x="3800091" y="2855391"/>
                  <a:ext cx="294233" cy="141940"/>
                </a:xfrm>
                <a:prstGeom prst="leftRightArrow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ffectLst/>
              </p:spPr>
              <p:txBody>
                <a:bodyPr vert="eaVert" wrap="none" anchor="ctr"/>
                <a:lstStyle/>
                <a:p>
                  <a:pPr latinLnBrk="0"/>
                  <a:endPara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95" name="TextBox 194"/>
                <p:cNvSpPr txBox="1"/>
                <p:nvPr/>
              </p:nvSpPr>
              <p:spPr bwMode="auto">
                <a:xfrm>
                  <a:off x="5990851" y="2827648"/>
                  <a:ext cx="81272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>
                  <a:defPPr>
                    <a:defRPr lang="ko-KR"/>
                  </a:defPPr>
                  <a:lvl1pPr algn="ctr" defTabSz="914327" latinLnBrk="0">
                    <a:defRPr sz="1000">
                      <a:latin typeface="Rix모던고딕 B" panose="02020603020101020101" pitchFamily="18" charset="-127"/>
                      <a:ea typeface="Rix모던고딕 B" panose="02020603020101020101" pitchFamily="18" charset="-127"/>
                    </a:defRPr>
                  </a:lvl1pPr>
                </a:lstStyle>
                <a:p>
                  <a:r>
                    <a:rPr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상시 모니터링</a:t>
                  </a:r>
                </a:p>
              </p:txBody>
            </p:sp>
            <p:sp>
              <p:nvSpPr>
                <p:cNvPr id="196" name="왼쪽/오른쪽 화살표 195"/>
                <p:cNvSpPr/>
                <p:nvPr/>
              </p:nvSpPr>
              <p:spPr bwMode="gray">
                <a:xfrm rot="5400000">
                  <a:off x="5769310" y="2844745"/>
                  <a:ext cx="296169" cy="141940"/>
                </a:xfrm>
                <a:prstGeom prst="leftRightArrow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ffectLst/>
              </p:spPr>
              <p:txBody>
                <a:bodyPr vert="eaVert" wrap="none" anchor="ctr"/>
                <a:lstStyle/>
                <a:p>
                  <a:pPr latinLnBrk="0"/>
                  <a:endPara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97" name="왼쪽/오른쪽 화살표 196"/>
                <p:cNvSpPr/>
                <p:nvPr/>
              </p:nvSpPr>
              <p:spPr bwMode="gray">
                <a:xfrm rot="5400000">
                  <a:off x="5762564" y="3784547"/>
                  <a:ext cx="294233" cy="141940"/>
                </a:xfrm>
                <a:prstGeom prst="leftRightArrow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ffectLst/>
              </p:spPr>
              <p:txBody>
                <a:bodyPr vert="eaVert" wrap="none" anchor="ctr"/>
                <a:lstStyle/>
                <a:p>
                  <a:pPr latinLnBrk="0"/>
                  <a:endPara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98" name="TextBox 197"/>
                <p:cNvSpPr txBox="1"/>
                <p:nvPr/>
              </p:nvSpPr>
              <p:spPr bwMode="auto">
                <a:xfrm>
                  <a:off x="5995480" y="3790227"/>
                  <a:ext cx="81272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>
                  <a:defPPr>
                    <a:defRPr lang="ko-KR"/>
                  </a:defPPr>
                  <a:lvl1pPr algn="ctr" defTabSz="914327" latinLnBrk="0">
                    <a:defRPr sz="1000">
                      <a:latin typeface="Rix모던고딕 B" panose="02020603020101020101" pitchFamily="18" charset="-127"/>
                      <a:ea typeface="Rix모던고딕 B" panose="02020603020101020101" pitchFamily="18" charset="-127"/>
                    </a:defRPr>
                  </a:lvl1pPr>
                </a:lstStyle>
                <a:p>
                  <a:r>
                    <a:rPr lang="ko-KR" altLang="en-US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상시 모니터링</a:t>
                  </a:r>
                </a:p>
              </p:txBody>
            </p:sp>
            <p:grpSp>
              <p:nvGrpSpPr>
                <p:cNvPr id="200" name="그룹 199"/>
                <p:cNvGrpSpPr/>
                <p:nvPr/>
              </p:nvGrpSpPr>
              <p:grpSpPr>
                <a:xfrm>
                  <a:off x="796703" y="3022247"/>
                  <a:ext cx="483458" cy="422714"/>
                  <a:chOff x="737270" y="2882047"/>
                  <a:chExt cx="619125" cy="541337"/>
                </a:xfrm>
              </p:grpSpPr>
              <p:pic>
                <p:nvPicPr>
                  <p:cNvPr id="214" name="그림 172" descr="6.png"/>
                  <p:cNvPicPr>
                    <a:picLocks noChangeAspect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7158" t="13248"/>
                  <a:stretch>
                    <a:fillRect/>
                  </a:stretch>
                </p:blipFill>
                <p:spPr bwMode="auto">
                  <a:xfrm>
                    <a:off x="737270" y="2882047"/>
                    <a:ext cx="304800" cy="4270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15" name="그림 172" descr="6.png"/>
                  <p:cNvPicPr>
                    <a:picLocks noChangeAspect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7158" t="13248"/>
                  <a:stretch>
                    <a:fillRect/>
                  </a:stretch>
                </p:blipFill>
                <p:spPr bwMode="auto">
                  <a:xfrm>
                    <a:off x="1051595" y="2882047"/>
                    <a:ext cx="304800" cy="4270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16" name="그림 172" descr="6.png"/>
                  <p:cNvPicPr>
                    <a:picLocks noChangeAspect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7158" t="13248"/>
                  <a:stretch>
                    <a:fillRect/>
                  </a:stretch>
                </p:blipFill>
                <p:spPr bwMode="auto">
                  <a:xfrm>
                    <a:off x="870620" y="2996347"/>
                    <a:ext cx="304800" cy="4270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pic>
              <p:nvPicPr>
                <p:cNvPr id="201" name="Picture 2" descr="D:\Documents and Settings\jp\바탕 화면\Untitled-2.png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27162" y="2393989"/>
                  <a:ext cx="343804" cy="3779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02" name="Picture 2" descr="D:\Documents and Settings\jp\바탕 화면\Untitled-2.png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97721" y="2376413"/>
                  <a:ext cx="343804" cy="3779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3" name="AutoShape 195" descr="1"/>
                <p:cNvSpPr>
                  <a:spLocks noChangeArrowheads="1"/>
                </p:cNvSpPr>
                <p:nvPr/>
              </p:nvSpPr>
              <p:spPr bwMode="auto">
                <a:xfrm>
                  <a:off x="3374820" y="4032011"/>
                  <a:ext cx="1080000" cy="36992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 wrap="none" lIns="0" tIns="0" rIns="14400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defTabSz="913607">
                    <a:lnSpc>
                      <a:spcPts val="1200"/>
                    </a:lnSpc>
                    <a:spcBef>
                      <a:spcPts val="300"/>
                    </a:spcBef>
                    <a:buClr>
                      <a:srgbClr val="808080"/>
                    </a:buClr>
                    <a:buSzPct val="80000"/>
                    <a:defRPr/>
                  </a:pPr>
                  <a:r>
                    <a:rPr lang="ko-KR" altLang="en-US" sz="1100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         사업관리</a:t>
                  </a:r>
                </a:p>
              </p:txBody>
            </p:sp>
            <p:sp>
              <p:nvSpPr>
                <p:cNvPr id="204" name="AutoShape 195" descr="1"/>
                <p:cNvSpPr>
                  <a:spLocks noChangeArrowheads="1"/>
                </p:cNvSpPr>
                <p:nvPr/>
              </p:nvSpPr>
              <p:spPr bwMode="auto">
                <a:xfrm>
                  <a:off x="5335750" y="4022333"/>
                  <a:ext cx="1283410" cy="36992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>
                  <a:outerShdw blurRad="25400" algn="ctr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 lIns="0" tIns="0" rIns="144000" bIns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 defTabSz="913607"/>
                  <a:r>
                    <a:rPr lang="en-US" altLang="ko-KR" sz="1100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           </a:t>
                  </a:r>
                  <a:r>
                    <a:rPr lang="ko-KR" altLang="en-US" sz="1100" dirty="0"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품질관리</a:t>
                  </a:r>
                </a:p>
              </p:txBody>
            </p:sp>
            <p:cxnSp>
              <p:nvCxnSpPr>
                <p:cNvPr id="205" name="AutoShape 88"/>
                <p:cNvCxnSpPr>
                  <a:cxnSpLocks noChangeShapeType="1"/>
                  <a:stCxn id="213" idx="2"/>
                  <a:endCxn id="211" idx="2"/>
                </p:cNvCxnSpPr>
                <p:nvPr/>
              </p:nvCxnSpPr>
              <p:spPr bwMode="auto">
                <a:xfrm rot="5400000">
                  <a:off x="5272857" y="2397708"/>
                  <a:ext cx="12700" cy="2249760"/>
                </a:xfrm>
                <a:prstGeom prst="bentConnector3">
                  <a:avLst>
                    <a:gd name="adj1" fmla="val 1800000"/>
                  </a:avLst>
                </a:prstGeom>
                <a:noFill/>
                <a:ln w="12700">
                  <a:solidFill>
                    <a:srgbClr val="336699"/>
                  </a:solidFill>
                  <a:prstDash val="sysDot"/>
                  <a:miter lim="800000"/>
                  <a:headEnd/>
                  <a:tailEnd type="triangle" w="med" len="med"/>
                </a:ln>
              </p:spPr>
            </p:cxnSp>
            <p:sp>
              <p:nvSpPr>
                <p:cNvPr id="206" name="왼쪽/오른쪽 화살표 205"/>
                <p:cNvSpPr/>
                <p:nvPr/>
              </p:nvSpPr>
              <p:spPr bwMode="gray">
                <a:xfrm rot="10800000">
                  <a:off x="1409699" y="3319968"/>
                  <a:ext cx="604442" cy="141941"/>
                </a:xfrm>
                <a:prstGeom prst="leftRightArrow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ffectLst/>
              </p:spPr>
              <p:txBody>
                <a:bodyPr vert="eaVert" wrap="none" anchor="ctr"/>
                <a:lstStyle/>
                <a:p>
                  <a:pPr latinLnBrk="0"/>
                  <a:endParaRPr lang="ko-KR" altLang="en-US" sz="11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grpSp>
              <p:nvGrpSpPr>
                <p:cNvPr id="207" name="그룹 206"/>
                <p:cNvGrpSpPr/>
                <p:nvPr/>
              </p:nvGrpSpPr>
              <p:grpSpPr>
                <a:xfrm>
                  <a:off x="2196061" y="3159369"/>
                  <a:ext cx="4875145" cy="363219"/>
                  <a:chOff x="2199743" y="3078481"/>
                  <a:chExt cx="4749648" cy="363219"/>
                </a:xfrm>
              </p:grpSpPr>
              <p:sp>
                <p:nvSpPr>
                  <p:cNvPr id="210" name="오각형 209"/>
                  <p:cNvSpPr/>
                  <p:nvPr/>
                </p:nvSpPr>
                <p:spPr>
                  <a:xfrm>
                    <a:off x="2199743" y="3078481"/>
                    <a:ext cx="1404916" cy="363219"/>
                  </a:xfrm>
                  <a:prstGeom prst="homePlate">
                    <a:avLst/>
                  </a:prstGeom>
                  <a:gradFill flip="none" rotWithShape="1">
                    <a:gsLst>
                      <a:gs pos="6000">
                        <a:srgbClr val="B2CCEC"/>
                      </a:gs>
                      <a:gs pos="73000">
                        <a:srgbClr val="94BCE8"/>
                      </a:gs>
                      <a:gs pos="7000">
                        <a:srgbClr val="5896DA"/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rgbClr val="365B96"/>
                      </a:contourClr>
                    </a:sp3d>
                  </a:bodyPr>
                  <a:lstStyle/>
                  <a:p>
                    <a:pPr algn="ctr" defTabSz="913607"/>
                    <a:r>
                      <a: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위험요소 식별</a:t>
                    </a:r>
                  </a:p>
                </p:txBody>
              </p:sp>
              <p:sp>
                <p:nvSpPr>
                  <p:cNvPr id="211" name="갈매기형 수장 210"/>
                  <p:cNvSpPr/>
                  <p:nvPr/>
                </p:nvSpPr>
                <p:spPr>
                  <a:xfrm>
                    <a:off x="3494541" y="3078481"/>
                    <a:ext cx="1390676" cy="363219"/>
                  </a:xfrm>
                  <a:prstGeom prst="chevron">
                    <a:avLst/>
                  </a:prstGeom>
                  <a:gradFill flip="none" rotWithShape="1">
                    <a:gsLst>
                      <a:gs pos="6000">
                        <a:schemeClr val="tx2">
                          <a:lumMod val="40000"/>
                          <a:lumOff val="60000"/>
                        </a:schemeClr>
                      </a:gs>
                      <a:gs pos="73000">
                        <a:srgbClr val="72A6E0"/>
                      </a:gs>
                      <a:gs pos="7000">
                        <a:srgbClr val="2B73C3"/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rgbClr val="365B96"/>
                      </a:contourClr>
                    </a:sp3d>
                  </a:bodyPr>
                  <a:lstStyle/>
                  <a:p>
                    <a:pPr algn="ctr" defTabSz="913607"/>
                    <a:r>
                      <a: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영향 평가</a:t>
                    </a:r>
                  </a:p>
                </p:txBody>
              </p:sp>
              <p:sp>
                <p:nvSpPr>
                  <p:cNvPr id="212" name="갈매기형 수장 211"/>
                  <p:cNvSpPr/>
                  <p:nvPr/>
                </p:nvSpPr>
                <p:spPr>
                  <a:xfrm>
                    <a:off x="4781973" y="3078481"/>
                    <a:ext cx="1135331" cy="363219"/>
                  </a:xfrm>
                  <a:prstGeom prst="chevron">
                    <a:avLst/>
                  </a:prstGeom>
                  <a:gradFill flip="none" rotWithShape="1">
                    <a:gsLst>
                      <a:gs pos="6000">
                        <a:srgbClr val="72A2DC"/>
                      </a:gs>
                      <a:gs pos="73000">
                        <a:srgbClr val="2D7BD1"/>
                      </a:gs>
                      <a:gs pos="7000">
                        <a:srgbClr val="2665AA"/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rgbClr val="365B96"/>
                      </a:contourClr>
                    </a:sp3d>
                  </a:bodyPr>
                  <a:lstStyle/>
                  <a:p>
                    <a:pPr algn="ctr" defTabSz="913607"/>
                    <a:r>
                      <a: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분  석</a:t>
                    </a:r>
                  </a:p>
                </p:txBody>
              </p:sp>
              <p:sp>
                <p:nvSpPr>
                  <p:cNvPr id="213" name="갈매기형 수장 212"/>
                  <p:cNvSpPr/>
                  <p:nvPr/>
                </p:nvSpPr>
                <p:spPr>
                  <a:xfrm>
                    <a:off x="5814060" y="3078481"/>
                    <a:ext cx="1135331" cy="363219"/>
                  </a:xfrm>
                  <a:prstGeom prst="chevron">
                    <a:avLst/>
                  </a:prstGeom>
                  <a:gradFill flip="none" rotWithShape="1">
                    <a:gsLst>
                      <a:gs pos="0">
                        <a:srgbClr val="4785D1"/>
                      </a:gs>
                      <a:gs pos="73000">
                        <a:srgbClr val="4371BB"/>
                      </a:gs>
                      <a:gs pos="3000">
                        <a:schemeClr val="accent1">
                          <a:lumMod val="5000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noFill/>
                  </a:ln>
                  <a:effectLst>
                    <a:innerShdw blurRad="38100">
                      <a:schemeClr val="bg1"/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>
                    <a:scene3d>
                      <a:camera prst="orthographicFront"/>
                      <a:lightRig rig="threePt" dir="t"/>
                    </a:scene3d>
                    <a:sp3d contourW="25400">
                      <a:bevelT w="1270"/>
                      <a:contourClr>
                        <a:schemeClr val="accent1">
                          <a:lumMod val="50000"/>
                        </a:schemeClr>
                      </a:contourClr>
                    </a:sp3d>
                  </a:bodyPr>
                  <a:lstStyle/>
                  <a:p>
                    <a:pPr algn="ctr" defTabSz="913607"/>
                    <a:r>
                      <a:rPr lang="ko-KR" altLang="en-US" sz="1200" dirty="0">
                        <a:solidFill>
                          <a:schemeClr val="bg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rPr>
                      <a:t>대책수립</a:t>
                    </a:r>
                  </a:p>
                </p:txBody>
              </p:sp>
            </p:grpSp>
            <p:pic>
              <p:nvPicPr>
                <p:cNvPr id="208" name="Picture 13" descr="D:\Documents and Settings\jp\바탕 화면\아이콘 준호대리님작업\png\58.png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70256" y="4061136"/>
                  <a:ext cx="327708" cy="292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09" name="Picture 4" descr="D:\Documents and Settings\jp\바탕 화면\아이콘 준호대리님작업\png\31.png"/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07554" y="4045216"/>
                  <a:ext cx="369964" cy="308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217" name="Picture 262" descr="중간원"/>
            <p:cNvPicPr>
              <a:picLocks noChangeAspect="1" noChangeArrowheads="1"/>
            </p:cNvPicPr>
            <p:nvPr/>
          </p:nvPicPr>
          <p:blipFill>
            <a:blip r:embed="rId11">
              <a:lum brigh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7212" y="5473529"/>
              <a:ext cx="1327150" cy="1238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8" name="그룹 52"/>
            <p:cNvGrpSpPr>
              <a:grpSpLocks/>
            </p:cNvGrpSpPr>
            <p:nvPr/>
          </p:nvGrpSpPr>
          <p:grpSpPr bwMode="auto">
            <a:xfrm>
              <a:off x="3437270" y="5596182"/>
              <a:ext cx="1005404" cy="1005369"/>
              <a:chOff x="3357838" y="3379397"/>
              <a:chExt cx="1956637" cy="1925024"/>
            </a:xfrm>
          </p:grpSpPr>
          <p:grpSp>
            <p:nvGrpSpPr>
              <p:cNvPr id="219" name="그룹 126"/>
              <p:cNvGrpSpPr>
                <a:grpSpLocks/>
              </p:cNvGrpSpPr>
              <p:nvPr/>
            </p:nvGrpSpPr>
            <p:grpSpPr bwMode="auto">
              <a:xfrm>
                <a:off x="3358365" y="3379397"/>
                <a:ext cx="1939055" cy="1925024"/>
                <a:chOff x="7471690" y="1908279"/>
                <a:chExt cx="1939055" cy="1925024"/>
              </a:xfrm>
            </p:grpSpPr>
            <p:sp>
              <p:nvSpPr>
                <p:cNvPr id="221" name="타원 220"/>
                <p:cNvSpPr/>
                <p:nvPr/>
              </p:nvSpPr>
              <p:spPr>
                <a:xfrm>
                  <a:off x="7486967" y="1908279"/>
                  <a:ext cx="1923778" cy="1925024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</a:ln>
                <a:effectLst>
                  <a:outerShdw blurRad="50800" sx="101000" sy="101000" algn="ctr" rotWithShape="0">
                    <a:prstClr val="black">
                      <a:alpha val="5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6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22" name="타원 221"/>
                <p:cNvSpPr/>
                <p:nvPr/>
              </p:nvSpPr>
              <p:spPr>
                <a:xfrm>
                  <a:off x="7471690" y="1949796"/>
                  <a:ext cx="1841990" cy="1841989"/>
                </a:xfrm>
                <a:prstGeom prst="ellipse">
                  <a:avLst/>
                </a:prstGeom>
                <a:solidFill>
                  <a:srgbClr val="66A31D"/>
                </a:solidFill>
                <a:ln w="12700">
                  <a:noFill/>
                </a:ln>
                <a:effectLst>
                  <a:innerShdw blurRad="114300">
                    <a:schemeClr val="tx1">
                      <a:lumMod val="65000"/>
                      <a:lumOff val="35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6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23" name="타원 222"/>
                <p:cNvSpPr/>
                <p:nvPr/>
              </p:nvSpPr>
              <p:spPr>
                <a:xfrm>
                  <a:off x="7517614" y="1994314"/>
                  <a:ext cx="1748888" cy="1752956"/>
                </a:xfrm>
                <a:prstGeom prst="ellipse">
                  <a:avLst/>
                </a:prstGeom>
                <a:noFill/>
                <a:ln w="6350">
                  <a:solidFill>
                    <a:srgbClr val="CDE2FB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607">
                    <a:defRPr/>
                  </a:pPr>
                  <a:endParaRPr lang="ko-KR" altLang="en-US" sz="1600" dirty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  <p:sp>
            <p:nvSpPr>
              <p:cNvPr id="220" name="TextBox 219"/>
              <p:cNvSpPr txBox="1"/>
              <p:nvPr/>
            </p:nvSpPr>
            <p:spPr>
              <a:xfrm>
                <a:off x="3357838" y="4017794"/>
                <a:ext cx="1956637" cy="64824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  <a:scene3d>
                  <a:camera prst="orthographicFront"/>
                  <a:lightRig rig="threePt" dir="t"/>
                </a:scene3d>
                <a:sp3d contourW="25400">
                  <a:bevelT w="2540"/>
                </a:sp3d>
              </a:bodyPr>
              <a:lstStyle/>
              <a:p>
                <a:pPr algn="ctr" defTabSz="91368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ko-KR" sz="1600" dirty="0">
                    <a:solidFill>
                      <a:schemeClr val="bg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굴림" panose="020B0600000101010101" pitchFamily="50" charset="-127"/>
                  </a:rPr>
                  <a:t>위험요소</a:t>
                </a:r>
                <a:endParaRPr kumimoji="1" lang="ko-KR" altLang="ko-KR" sz="2500" dirty="0">
                  <a:latin typeface="굴림" panose="020B0600000101010101" pitchFamily="50" charset="-127"/>
                  <a:ea typeface="굴림" panose="020B0600000101010101" pitchFamily="50" charset="-127"/>
                  <a:cs typeface="굴림" panose="020B060000010101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7019883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360024" y="215900"/>
            <a:ext cx="10709840" cy="6717977"/>
            <a:chOff x="318765" y="248649"/>
            <a:chExt cx="10709840" cy="6717977"/>
          </a:xfrm>
        </p:grpSpPr>
        <p:pic>
          <p:nvPicPr>
            <p:cNvPr id="53" name="Picture 2" descr="D:\작업한이미지\[2013.05.21]071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8199240" y="850319"/>
              <a:ext cx="736094" cy="3296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2" descr="D:\작업한이미지\[2013.05.21]071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8199240" y="2217002"/>
              <a:ext cx="736094" cy="3296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2" descr="D:\작업한이미지\[2013.05.21]071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8199240" y="3583685"/>
              <a:ext cx="736094" cy="3296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:\작업한이미지\[2013.05.21]071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8199240" y="4950369"/>
              <a:ext cx="736094" cy="3296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2" name="직사각형 91"/>
            <p:cNvSpPr/>
            <p:nvPr/>
          </p:nvSpPr>
          <p:spPr bwMode="auto">
            <a:xfrm>
              <a:off x="4301341" y="1562147"/>
              <a:ext cx="6192575" cy="109497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rgbClr val="F9F9F9"/>
                </a:gs>
              </a:gsLst>
              <a:lin ang="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3" tIns="45716" rIns="91433" bIns="45716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 bwMode="auto">
            <a:xfrm>
              <a:off x="4301341" y="2938663"/>
              <a:ext cx="6192575" cy="109497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rgbClr val="F9F9F9"/>
                </a:gs>
              </a:gsLst>
              <a:lin ang="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3" tIns="45716" rIns="91433" bIns="45716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 bwMode="auto">
            <a:xfrm>
              <a:off x="4301341" y="4315179"/>
              <a:ext cx="6192575" cy="109497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rgbClr val="F9F9F9"/>
                </a:gs>
              </a:gsLst>
              <a:lin ang="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3" tIns="45716" rIns="91433" bIns="45716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 bwMode="auto">
            <a:xfrm>
              <a:off x="4301340" y="5712542"/>
              <a:ext cx="6192575" cy="109497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rgbClr val="F9F9F9"/>
                </a:gs>
              </a:gsLst>
              <a:lin ang="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3" tIns="45716" rIns="91433" bIns="45716" anchor="ctr"/>
            <a:lstStyle/>
            <a:p>
              <a:pPr algn="ctr" latinLnBrk="0">
                <a:defRPr/>
              </a:pPr>
              <a:endParaRPr lang="ko-KR" altLang="en-US" dirty="0">
                <a:solidFill>
                  <a:prstClr val="white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119" name="Picture 2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428331" y="1478331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TextBox 97"/>
            <p:cNvSpPr txBox="1"/>
            <p:nvPr/>
          </p:nvSpPr>
          <p:spPr>
            <a:xfrm>
              <a:off x="318765" y="568950"/>
              <a:ext cx="10709840" cy="492368"/>
            </a:xfrm>
            <a:prstGeom prst="rect">
              <a:avLst/>
            </a:prstGeom>
            <a:noFill/>
          </p:spPr>
          <p:txBody>
            <a:bodyPr wrap="none" lIns="91369" tIns="45683" rIns="91369" bIns="45683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2550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국방</a:t>
              </a:r>
              <a:r>
                <a:rPr lang="en-US" altLang="ko-KR" sz="2550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IT</a:t>
              </a:r>
              <a:r>
                <a:rPr lang="ko-KR" altLang="en-US" sz="2550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전문기업과 웹 및 모바일 전문 업체의 협업으로 성공적 사업 보장</a:t>
              </a:r>
              <a:r>
                <a:rPr lang="en-US" altLang="ko-KR" sz="2550" b="1" dirty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45000">
                        <a:srgbClr val="4F81BD">
                          <a:lumMod val="75000"/>
                        </a:srgbClr>
                      </a:gs>
                      <a:gs pos="55000">
                        <a:srgbClr val="4F81BD">
                          <a:lumMod val="75000"/>
                        </a:srgbClr>
                      </a:gs>
                      <a:gs pos="100000">
                        <a:srgbClr val="1F497D">
                          <a:lumMod val="75000"/>
                        </a:srgbClr>
                      </a:gs>
                    </a:gsLst>
                    <a:lin ang="5400000" scaled="0"/>
                  </a:gradFill>
                  <a:latin typeface="굴림" panose="020B0600000101010101" pitchFamily="50" charset="-127"/>
                  <a:ea typeface="굴림" panose="020B0600000101010101" pitchFamily="50" charset="-127"/>
                </a:rPr>
                <a:t>!</a:t>
              </a:r>
              <a:endParaRPr lang="ko-KR" altLang="en-US" sz="2550" b="1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45000">
                      <a:srgbClr val="4F81BD">
                        <a:lumMod val="75000"/>
                      </a:srgbClr>
                    </a:gs>
                    <a:gs pos="55000">
                      <a:srgbClr val="4F81BD">
                        <a:lumMod val="75000"/>
                      </a:srgbClr>
                    </a:gs>
                    <a:gs pos="10000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118" name="Picture 2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3820978" y="1614531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7" name="Picture 2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3510434" y="1618744"/>
              <a:ext cx="793732" cy="34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2" name="TextBox 121"/>
            <p:cNvSpPr txBox="1"/>
            <p:nvPr/>
          </p:nvSpPr>
          <p:spPr>
            <a:xfrm>
              <a:off x="372427" y="248649"/>
              <a:ext cx="1484558" cy="338479"/>
            </a:xfrm>
            <a:prstGeom prst="rect">
              <a:avLst/>
            </a:prstGeom>
            <a:noFill/>
          </p:spPr>
          <p:txBody>
            <a:bodyPr wrap="none" lIns="91369" tIns="45683" rIns="91369" bIns="45683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defTabSz="1083443">
                <a:defRPr/>
              </a:pPr>
              <a:r>
                <a:rPr lang="ko-KR" altLang="en-US" sz="1600" dirty="0">
                  <a:solidFill>
                    <a:srgbClr val="707B8E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제안의 특장점</a:t>
              </a: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3734627" y="1553764"/>
              <a:ext cx="1153780" cy="1153430"/>
              <a:chOff x="2654926" y="2152012"/>
              <a:chExt cx="1153780" cy="1153430"/>
            </a:xfrm>
          </p:grpSpPr>
          <p:sp>
            <p:nvSpPr>
              <p:cNvPr id="269" name="타원 268"/>
              <p:cNvSpPr/>
              <p:nvPr/>
            </p:nvSpPr>
            <p:spPr bwMode="auto">
              <a:xfrm>
                <a:off x="2654926" y="2152012"/>
                <a:ext cx="1153780" cy="115343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  <a:effectLst>
                <a:outerShdw blurRad="50800" sx="101000" sy="101000" algn="ctr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68" name="Rectangle 44"/>
              <p:cNvSpPr>
                <a:spLocks noChangeArrowheads="1"/>
              </p:cNvSpPr>
              <p:nvPr/>
            </p:nvSpPr>
            <p:spPr bwMode="auto">
              <a:xfrm>
                <a:off x="2770154" y="2419855"/>
                <a:ext cx="923331" cy="579646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dirty="0" err="1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유사체계</a:t>
                </a:r>
                <a:endParaRPr lang="ko-KR" altLang="en-US" sz="18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dirty="0" err="1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구축경험</a:t>
                </a:r>
                <a:endParaRPr lang="ko-KR" altLang="en-US" sz="18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4" name="그룹 3"/>
            <p:cNvGrpSpPr/>
            <p:nvPr/>
          </p:nvGrpSpPr>
          <p:grpSpPr>
            <a:xfrm>
              <a:off x="3734627" y="2925791"/>
              <a:ext cx="1153780" cy="1153430"/>
              <a:chOff x="4063097" y="3243919"/>
              <a:chExt cx="1153780" cy="1153430"/>
            </a:xfrm>
          </p:grpSpPr>
          <p:sp>
            <p:nvSpPr>
              <p:cNvPr id="240" name="타원 239"/>
              <p:cNvSpPr/>
              <p:nvPr/>
            </p:nvSpPr>
            <p:spPr bwMode="auto">
              <a:xfrm>
                <a:off x="4063097" y="3243919"/>
                <a:ext cx="1153780" cy="115343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  <a:effectLst>
                <a:outerShdw blurRad="50800" sx="101000" sy="101000" algn="ctr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39" name="Rectangle 44"/>
              <p:cNvSpPr>
                <a:spLocks noChangeArrowheads="1"/>
              </p:cNvSpPr>
              <p:nvPr/>
            </p:nvSpPr>
            <p:spPr bwMode="auto">
              <a:xfrm>
                <a:off x="4216539" y="3530810"/>
                <a:ext cx="846899" cy="579646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spc="-149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국방</a:t>
                </a:r>
                <a:r>
                  <a:rPr lang="en-US" altLang="ko-KR" sz="1800" spc="-149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IT</a:t>
                </a:r>
              </a:p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spc="-149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전문기업</a:t>
                </a:r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3734627" y="5669846"/>
              <a:ext cx="1153780" cy="1153430"/>
              <a:chOff x="3409249" y="4878219"/>
              <a:chExt cx="1153780" cy="1153430"/>
            </a:xfrm>
          </p:grpSpPr>
          <p:sp>
            <p:nvSpPr>
              <p:cNvPr id="252" name="타원 251"/>
              <p:cNvSpPr/>
              <p:nvPr/>
            </p:nvSpPr>
            <p:spPr bwMode="auto">
              <a:xfrm>
                <a:off x="3409249" y="4878219"/>
                <a:ext cx="1153780" cy="115343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  <a:effectLst>
                <a:outerShdw blurRad="50800" sx="101000" sy="101000" algn="ctr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51" name="Rectangle 44"/>
              <p:cNvSpPr>
                <a:spLocks noChangeArrowheads="1"/>
              </p:cNvSpPr>
              <p:nvPr/>
            </p:nvSpPr>
            <p:spPr bwMode="auto">
              <a:xfrm>
                <a:off x="3486004" y="5013786"/>
                <a:ext cx="1000274" cy="882293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국방</a:t>
                </a:r>
              </a:p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ko-KR" altLang="en-US" sz="1800" dirty="0" err="1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연동기술</a:t>
                </a:r>
                <a:endParaRPr lang="ko-KR" altLang="en-US" sz="180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적용</a:t>
                </a:r>
              </a:p>
            </p:txBody>
          </p:sp>
        </p:grpSp>
        <p:grpSp>
          <p:nvGrpSpPr>
            <p:cNvPr id="2" name="그룹 1"/>
            <p:cNvGrpSpPr/>
            <p:nvPr/>
          </p:nvGrpSpPr>
          <p:grpSpPr>
            <a:xfrm>
              <a:off x="3734627" y="4297818"/>
              <a:ext cx="1153780" cy="1153430"/>
              <a:chOff x="1220811" y="3243919"/>
              <a:chExt cx="1153780" cy="1153430"/>
            </a:xfrm>
          </p:grpSpPr>
          <p:sp>
            <p:nvSpPr>
              <p:cNvPr id="232" name="타원 231"/>
              <p:cNvSpPr/>
              <p:nvPr/>
            </p:nvSpPr>
            <p:spPr bwMode="auto">
              <a:xfrm>
                <a:off x="1220811" y="3243919"/>
                <a:ext cx="1153780" cy="115343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  <a:effectLst>
                <a:outerShdw blurRad="50800" sx="101000" sy="101000" algn="ctr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800" dirty="0">
                  <a:solidFill>
                    <a:prstClr val="white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231" name="Rectangle 44"/>
              <p:cNvSpPr>
                <a:spLocks noChangeArrowheads="1"/>
              </p:cNvSpPr>
              <p:nvPr/>
            </p:nvSpPr>
            <p:spPr bwMode="auto">
              <a:xfrm>
                <a:off x="1336036" y="3682133"/>
                <a:ext cx="923331" cy="276999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/>
              <a:p>
                <a:pPr marL="0" lvl="1" algn="ctr" eaLnBrk="0" fontAlgn="base" latinLnBrk="0" hangingPunct="0">
                  <a:spcAft>
                    <a:spcPts val="200"/>
                  </a:spcAft>
                  <a:buClr>
                    <a:srgbClr val="777777"/>
                  </a:buClr>
                  <a:buSzPct val="65000"/>
                </a:pPr>
                <a:r>
                  <a:rPr lang="ko-KR" altLang="en-US" sz="1800" dirty="0"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sym typeface="Monotype Sorts"/>
                  </a:rPr>
                  <a:t>개발기술</a:t>
                </a: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804879" y="1905106"/>
              <a:ext cx="2939907" cy="1442530"/>
              <a:chOff x="556387" y="1905106"/>
              <a:chExt cx="2939907" cy="1442530"/>
            </a:xfrm>
          </p:grpSpPr>
          <p:sp>
            <p:nvSpPr>
              <p:cNvPr id="278" name="TextBox 277"/>
              <p:cNvSpPr txBox="1"/>
              <p:nvPr/>
            </p:nvSpPr>
            <p:spPr bwMode="auto">
              <a:xfrm>
                <a:off x="556387" y="1999543"/>
                <a:ext cx="2939907" cy="1101840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defTabSz="1018286">
                  <a:spcBef>
                    <a:spcPts val="300"/>
                  </a:spcBef>
                  <a:defRPr sz="2800" spc="-50">
                    <a:solidFill>
                      <a:srgbClr val="0070C0"/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lvl="1" indent="-142863" algn="ctr" defTabSz="761940" eaLnBrk="0" hangingPunct="0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7876" algn="l"/>
                  </a:tabLst>
                  <a:defRPr/>
                </a:pPr>
                <a:r>
                  <a:rPr lang="ko-KR" altLang="en-US" sz="2000" dirty="0">
                    <a:ln w="11430">
                      <a:noFill/>
                    </a:ln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사업의 성공을 인도하는</a:t>
                </a:r>
                <a:r>
                  <a:rPr lang="en-US" altLang="ko-KR" sz="2400" dirty="0">
                    <a:ln w="11430">
                      <a:noFill/>
                    </a:ln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/>
                </a:r>
                <a:br>
                  <a:rPr lang="en-US" altLang="ko-KR" sz="2400" dirty="0">
                    <a:ln w="11430">
                      <a:noFill/>
                    </a:ln>
                    <a:solidFill>
                      <a:prstClr val="black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</a:br>
                <a:r>
                  <a:rPr lang="ko-KR" altLang="en-US" sz="2400" dirty="0">
                    <a:ln w="11430">
                      <a:noFill/>
                    </a:ln>
                    <a:solidFill>
                      <a:srgbClr val="FF66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 국방동원체계 연동 </a:t>
                </a:r>
                <a:r>
                  <a:rPr lang="en-US" altLang="ko-KR" sz="2400" dirty="0">
                    <a:ln w="11430">
                      <a:noFill/>
                    </a:ln>
                    <a:solidFill>
                      <a:srgbClr val="FF66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/>
                </a:r>
                <a:br>
                  <a:rPr lang="en-US" altLang="ko-KR" sz="2400" dirty="0">
                    <a:ln w="11430">
                      <a:noFill/>
                    </a:ln>
                    <a:solidFill>
                      <a:srgbClr val="FF66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</a:br>
                <a:r>
                  <a:rPr lang="ko-KR" altLang="en-US" sz="2400" dirty="0">
                    <a:ln w="11430">
                      <a:noFill/>
                    </a:ln>
                    <a:solidFill>
                      <a:srgbClr val="FF6600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기반기술 적용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 bwMode="auto">
              <a:xfrm>
                <a:off x="701766" y="1905106"/>
                <a:ext cx="128240" cy="2974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defTabSz="1018286">
                  <a:spcBef>
                    <a:spcPts val="300"/>
                  </a:spcBef>
                  <a:defRPr sz="2800" spc="-50">
                    <a:solidFill>
                      <a:srgbClr val="0070C0"/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lvl="1" indent="-142863" algn="ctr" defTabSz="761940" eaLnBrk="0" hangingPunct="0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7876" algn="l"/>
                  </a:tabLst>
                  <a:defRPr/>
                </a:pPr>
                <a:r>
                  <a:rPr lang="en-US" altLang="ko-KR" sz="2000" dirty="0">
                    <a:ln w="11430"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“</a:t>
                </a:r>
                <a:endParaRPr lang="ko-KR" altLang="en-US" sz="2400" dirty="0">
                  <a:ln w="1143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 bwMode="auto">
              <a:xfrm>
                <a:off x="3071858" y="3050182"/>
                <a:ext cx="128240" cy="29745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>
                <a:spAutoFit/>
                <a:scene3d>
                  <a:camera prst="orthographicFront"/>
                  <a:lightRig rig="threePt" dir="t"/>
                </a:scene3d>
                <a:sp3d contourW="38100">
                  <a:bevelT w="127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defTabSz="1018286">
                  <a:spcBef>
                    <a:spcPts val="300"/>
                  </a:spcBef>
                  <a:defRPr sz="2800" spc="-50">
                    <a:solidFill>
                      <a:srgbClr val="0070C0"/>
                    </a:solidFill>
                    <a:latin typeface="나눔고딕 ExtraBold" pitchFamily="50" charset="-127"/>
                    <a:ea typeface="나눔고딕 ExtraBold" pitchFamily="50" charset="-127"/>
                  </a:defRPr>
                </a:lvl1pPr>
              </a:lstStyle>
              <a:p>
                <a:pPr marL="0" lvl="1" indent="-142863" algn="ctr" defTabSz="761940" eaLnBrk="0" hangingPunct="0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7876" algn="l"/>
                  </a:tabLst>
                  <a:defRPr/>
                </a:pPr>
                <a:r>
                  <a:rPr lang="en-US" altLang="ko-KR" sz="2000" dirty="0">
                    <a:ln w="11430"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itchFamily="34" charset="0"/>
                  </a:rPr>
                  <a:t>”</a:t>
                </a:r>
                <a:endParaRPr lang="ko-KR" altLang="en-US" sz="2400" dirty="0">
                  <a:ln w="1143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42" name="직사각형 41"/>
            <p:cNvSpPr/>
            <p:nvPr/>
          </p:nvSpPr>
          <p:spPr>
            <a:xfrm>
              <a:off x="4923859" y="4351744"/>
              <a:ext cx="5308489" cy="987450"/>
            </a:xfrm>
            <a:prstGeom prst="rect">
              <a:avLst/>
            </a:prstGeom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5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FontTx/>
                <a:buBlip>
                  <a:blip r:embed="rId7"/>
                </a:buBlip>
              </a:pP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전자정부프레임워크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5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웹표준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/</a:t>
              </a:r>
              <a:r>
                <a:rPr kumimoji="1" lang="ko-KR" altLang="en-US" sz="15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웹접근성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5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시큐어코딩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 취약점 개선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서버 구축 등 핵심 필요 웹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/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앱 개발 기술 보유</a:t>
              </a:r>
            </a:p>
            <a:p>
              <a:pPr marL="177660" indent="-177660" defTabSz="1066904" fontAlgn="base" latinLnBrk="0">
                <a:spcBef>
                  <a:spcPts val="5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FontTx/>
                <a:buBlip>
                  <a:blip r:embed="rId7"/>
                </a:buBlip>
              </a:pP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</a:t>
              </a:r>
              <a:r>
                <a:rPr kumimoji="1" lang="ko-KR" altLang="en-US" sz="15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하이브리드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앱 개발 및 이미지 최적화 기술 등 서비스 성능 향상을 위한 기술 적용</a:t>
              </a: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909335" y="5988426"/>
              <a:ext cx="5380553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5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FontTx/>
                <a:buBlip>
                  <a:blip r:embed="rId7"/>
                </a:buBlip>
              </a:pP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국방동원체계의  예정계획인 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『 ICT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기반 스마트 예비군훈련 관리체계 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』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와의 </a:t>
              </a:r>
              <a:r>
                <a:rPr kumimoji="1" lang="ko-KR" altLang="en-US" sz="15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연동기술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기반기술 적용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4912306" y="1703396"/>
              <a:ext cx="5525861" cy="756617"/>
            </a:xfrm>
            <a:prstGeom prst="rect">
              <a:avLst/>
            </a:prstGeom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5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FontTx/>
                <a:buBlip>
                  <a:blip r:embed="rId7"/>
                </a:buBlip>
              </a:pP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『ICT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기반 스마트 예비군훈련 관리체계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』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사업의 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SW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개발 경험 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/>
              </a:r>
              <a:b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</a:b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보유 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(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웹 포탈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모바일 중심의 체계구축 사업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)</a:t>
              </a:r>
              <a:endParaRPr kumimoji="1" lang="ko-KR" altLang="en-US" sz="1500" kern="0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endParaRPr>
            </a:p>
            <a:p>
              <a:pPr marL="177660" indent="-177660" defTabSz="1066904" fontAlgn="base" latinLnBrk="0">
                <a:spcBef>
                  <a:spcPts val="5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FontTx/>
                <a:buBlip>
                  <a:blip r:embed="rId7"/>
                </a:buBlip>
              </a:pP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『 ICT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기반 스마트예비군훈련 관리체계 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』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사업 </a:t>
              </a:r>
              <a:r>
                <a:rPr kumimoji="1" lang="ko-KR" altLang="en-US" sz="15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참여인력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투입</a:t>
              </a: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4922035" y="3121342"/>
              <a:ext cx="5571881" cy="692497"/>
            </a:xfrm>
            <a:prstGeom prst="rect">
              <a:avLst/>
            </a:prstGeom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77660" indent="-177660" defTabSz="1066904" fontAlgn="base" latinLnBrk="0">
                <a:spcBef>
                  <a:spcPts val="500"/>
                </a:spcBef>
                <a:spcAft>
                  <a:spcPct val="0"/>
                </a:spcAft>
                <a:buClr>
                  <a:srgbClr val="777777"/>
                </a:buClr>
                <a:buSzPct val="65000"/>
                <a:buFontTx/>
                <a:buBlip>
                  <a:blip r:embed="rId7"/>
                </a:buBlip>
              </a:pP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10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년 이상 다수의 국방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IT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관련 사업 수행 경험으로 기술적 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/>
              </a:r>
              <a:b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</a:b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Know-How 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축적 및 </a:t>
              </a:r>
              <a:r>
                <a:rPr kumimoji="1" lang="ko-KR" altLang="en-US" sz="1500" kern="0" dirty="0" err="1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국방사업에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 특화된 국방기술표준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, </a:t>
              </a:r>
              <a:b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</a:b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체계적인 사업</a:t>
              </a:r>
              <a:r>
                <a:rPr kumimoji="1" lang="en-US" altLang="ko-KR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/</a:t>
              </a:r>
              <a:r>
                <a:rPr kumimoji="1" lang="ko-KR" altLang="en-US" sz="1500" kern="0" dirty="0">
                  <a:solidFill>
                    <a:prstClr val="black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Times New Roman" pitchFamily="18" charset="0"/>
                </a:rPr>
                <a:t>품질관리 절차 등 국방사업 전문 역량 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454815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9" y="0"/>
            <a:ext cx="10917927" cy="7777163"/>
            <a:chOff x="0" y="0"/>
            <a:chExt cx="10917927" cy="7777163"/>
          </a:xfrm>
        </p:grpSpPr>
        <p:pic>
          <p:nvPicPr>
            <p:cNvPr id="159748" name="Picture 4" descr="C:\Users\kms\Desktop\신급여\설명회\템플릿 시안\시안2-감사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917927" cy="7777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4" descr="C:\Users\kms\Desktop\신급여\설명회\템플릿 시안\시안2-감사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409" t="-2" r="31705" b="93338"/>
            <a:stretch/>
          </p:blipFill>
          <p:spPr bwMode="auto">
            <a:xfrm>
              <a:off x="6916420" y="1"/>
              <a:ext cx="3992880" cy="51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C:\Users\kms\Desktop\신급여\설명회\템플릿 시안\시안2-질의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72" t="33811" r="80450" b="54059"/>
            <a:stretch/>
          </p:blipFill>
          <p:spPr bwMode="auto">
            <a:xfrm flipH="1">
              <a:off x="337886" y="2956560"/>
              <a:ext cx="2861669" cy="3337559"/>
            </a:xfrm>
            <a:prstGeom prst="chord">
              <a:avLst>
                <a:gd name="adj1" fmla="val 14640580"/>
                <a:gd name="adj2" fmla="val 6148381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제목 5"/>
          <p:cNvSpPr>
            <a:spLocks noGrp="1"/>
          </p:cNvSpPr>
          <p:nvPr/>
        </p:nvSpPr>
        <p:spPr>
          <a:xfrm>
            <a:off x="6080009" y="236641"/>
            <a:ext cx="4775241" cy="248108"/>
          </a:xfrm>
          <a:prstGeom prst="rect">
            <a:avLst/>
          </a:prstGeom>
        </p:spPr>
        <p:txBody>
          <a:bodyPr vert="horz" lIns="101834" tIns="50915" rIns="101834" bIns="50915" rtlCol="0" anchor="t">
            <a:noAutofit/>
            <a:scene3d>
              <a:camera prst="orthographicFront"/>
              <a:lightRig rig="threePt" dir="t"/>
            </a:scene3d>
            <a:sp3d>
              <a:bevelT w="0"/>
              <a:contourClr>
                <a:schemeClr val="tx2">
                  <a:lumMod val="50000"/>
                </a:schemeClr>
              </a:contourClr>
            </a:sp3d>
          </a:bodyPr>
          <a:lstStyle>
            <a:lvl1pPr algn="l" defTabSz="914275" rtl="0" eaLnBrk="1" latinLnBrk="1" hangingPunct="1">
              <a:spcBef>
                <a:spcPct val="0"/>
              </a:spcBef>
              <a:buNone/>
              <a:defRPr sz="2600" b="0" kern="1200" cap="none" spc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  <a:cs typeface="+mj-cs"/>
              </a:defRPr>
            </a:lvl1pPr>
          </a:lstStyle>
          <a:p>
            <a:pPr algn="r">
              <a:spcBef>
                <a:spcPts val="500"/>
              </a:spcBef>
            </a:pPr>
            <a:r>
              <a:rPr lang="ko-KR" altLang="en-US" sz="1400" b="1" spc="-67" dirty="0" err="1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학군교</a:t>
            </a:r>
            <a:r>
              <a:rPr lang="ko-KR" altLang="en-US" sz="1400" b="1" spc="-67" dirty="0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교육정보종합시스템 </a:t>
            </a:r>
            <a:r>
              <a:rPr lang="en-US" altLang="ko-KR" sz="1400" b="1" spc="-67" dirty="0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SW </a:t>
            </a:r>
            <a:r>
              <a:rPr lang="ko-KR" altLang="en-US" sz="1400" b="1" spc="-67" dirty="0">
                <a:solidFill>
                  <a:prstClr val="black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개발 사업</a:t>
            </a:r>
          </a:p>
        </p:txBody>
      </p:sp>
    </p:spTree>
    <p:extLst>
      <p:ext uri="{BB962C8B-B14F-4D97-AF65-F5344CB8AC3E}">
        <p14:creationId xmlns:p14="http://schemas.microsoft.com/office/powerpoint/2010/main" val="2595905353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ouUZEdb5Eq1vTrmBY4sB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ouUZEdb5Eq1vTrmBY4sB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BtzpHZ5HES9LmsrK.Dxy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BtzpHZ5HES9LmsrK.Dxy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ouUZEdb5Eq1vTrmBY4sBQ"/>
</p:tagLst>
</file>

<file path=ppt/theme/theme1.xml><?xml version="1.0" encoding="utf-8"?>
<a:theme xmlns:a="http://schemas.openxmlformats.org/drawingml/2006/main" name="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Rix모던고딕 B"/>
        <a:ea typeface="Rix모던고딕 EB"/>
        <a:cs typeface=""/>
      </a:majorFont>
      <a:minorFont>
        <a:latin typeface="Rix모던고딕 B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 algn="ctr">
          <a:noFill/>
          <a:round/>
          <a:headEnd/>
          <a:tailEnd/>
        </a:ln>
        <a:effectLst>
          <a:innerShdw blurRad="50800">
            <a:schemeClr val="bg1">
              <a:lumMod val="50000"/>
            </a:schemeClr>
          </a:innerShdw>
        </a:effec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  <a:scene3d>
          <a:camera prst="orthographicFront"/>
          <a:lightRig rig="threePt" dir="t"/>
        </a:scene3d>
        <a:sp3d>
          <a:bevelT w="0"/>
        </a:sp3d>
      </a:bodyPr>
      <a:lstStyle>
        <a:defPPr marL="0" algn="ctr">
          <a:defRPr sz="1600" dirty="0">
            <a:solidFill>
              <a:schemeClr val="tx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흰바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41254</TotalTime>
  <Words>5143</Words>
  <Application>Microsoft Office PowerPoint</Application>
  <PresentationFormat>사용자 지정</PresentationFormat>
  <Paragraphs>1799</Paragraphs>
  <Slides>32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32</vt:i4>
      </vt:variant>
    </vt:vector>
  </HeadingPairs>
  <TitlesOfParts>
    <vt:vector size="49" baseType="lpstr">
      <vt:lpstr>Rix고딕 B</vt:lpstr>
      <vt:lpstr>Rix모던고딕 B</vt:lpstr>
      <vt:lpstr>Rix모던고딕 EB</vt:lpstr>
      <vt:lpstr>Yoon 윤명조 540_TT</vt:lpstr>
      <vt:lpstr>굴림</vt:lpstr>
      <vt:lpstr>나눔고딕 Bold</vt:lpstr>
      <vt:lpstr>나눔명조OTF Bold</vt:lpstr>
      <vt:lpstr>맑은 고딕</vt:lpstr>
      <vt:lpstr>산돌신문제비B</vt:lpstr>
      <vt:lpstr>Arial</vt:lpstr>
      <vt:lpstr>Monotype Sorts</vt:lpstr>
      <vt:lpstr>Segoe UI</vt:lpstr>
      <vt:lpstr>Times New Roman</vt:lpstr>
      <vt:lpstr>Wingdings</vt:lpstr>
      <vt:lpstr>Wingdings 2</vt:lpstr>
      <vt:lpstr>8_Office 테마</vt:lpstr>
      <vt:lpstr>흰바탕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kjcha99</dc:creator>
  <cp:lastModifiedBy>admin</cp:lastModifiedBy>
  <cp:revision>4268</cp:revision>
  <cp:lastPrinted>2017-04-17T11:20:11Z</cp:lastPrinted>
  <dcterms:created xsi:type="dcterms:W3CDTF">2013-06-08T01:08:10Z</dcterms:created>
  <dcterms:modified xsi:type="dcterms:W3CDTF">2018-11-22T05:23:58Z</dcterms:modified>
</cp:coreProperties>
</file>